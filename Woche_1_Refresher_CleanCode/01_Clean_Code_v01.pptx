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0" r:id="rId1"/>
  </p:sldMasterIdLst>
  <p:handoutMasterIdLst>
    <p:handoutMasterId r:id="rId36"/>
  </p:handoutMasterIdLst>
  <p:sldIdLst>
    <p:sldId id="312" r:id="rId2"/>
    <p:sldId id="313" r:id="rId3"/>
    <p:sldId id="314" r:id="rId4"/>
    <p:sldId id="315" r:id="rId5"/>
    <p:sldId id="316" r:id="rId6"/>
    <p:sldId id="317" r:id="rId7"/>
    <p:sldId id="318" r:id="rId8"/>
    <p:sldId id="319" r:id="rId9"/>
    <p:sldId id="320" r:id="rId10"/>
    <p:sldId id="321" r:id="rId11"/>
    <p:sldId id="322" r:id="rId12"/>
    <p:sldId id="323" r:id="rId13"/>
    <p:sldId id="324" r:id="rId14"/>
    <p:sldId id="325" r:id="rId15"/>
    <p:sldId id="326" r:id="rId16"/>
    <p:sldId id="327" r:id="rId17"/>
    <p:sldId id="328" r:id="rId18"/>
    <p:sldId id="329" r:id="rId19"/>
    <p:sldId id="330" r:id="rId20"/>
    <p:sldId id="331" r:id="rId21"/>
    <p:sldId id="332" r:id="rId22"/>
    <p:sldId id="333" r:id="rId23"/>
    <p:sldId id="334" r:id="rId24"/>
    <p:sldId id="335" r:id="rId25"/>
    <p:sldId id="336" r:id="rId26"/>
    <p:sldId id="337" r:id="rId27"/>
    <p:sldId id="338" r:id="rId28"/>
    <p:sldId id="339" r:id="rId29"/>
    <p:sldId id="340" r:id="rId30"/>
    <p:sldId id="341" r:id="rId31"/>
    <p:sldId id="342" r:id="rId32"/>
    <p:sldId id="343" r:id="rId33"/>
    <p:sldId id="344" r:id="rId34"/>
    <p:sldId id="345" r:id="rId35"/>
  </p:sldIdLst>
  <p:sldSz cx="6858000" cy="51435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handoutView">
  <p:normalViewPr>
    <p:restoredLeft sz="14436" autoAdjust="0"/>
    <p:restoredTop sz="94694" autoAdjust="0"/>
  </p:normalViewPr>
  <p:slideViewPr>
    <p:cSldViewPr snapToGrid="0" snapToObjects="1">
      <p:cViewPr varScale="1">
        <p:scale>
          <a:sx n="138" d="100"/>
          <a:sy n="138" d="100"/>
        </p:scale>
        <p:origin x="1896" y="120"/>
      </p:cViewPr>
      <p:guideLst>
        <p:guide orient="horz" pos="1620"/>
        <p:guide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notesViewPr>
    <p:cSldViewPr snapToGrid="0" snapToObjects="1">
      <p:cViewPr varScale="1">
        <p:scale>
          <a:sx n="84" d="100"/>
          <a:sy n="84" d="100"/>
        </p:scale>
        <p:origin x="3912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eter Bernhardt" userId="f2333933-0b12-4d6e-972f-f87625423892" providerId="ADAL" clId="{2C628E33-589C-449E-BBA5-ED05E3E5CC01}"/>
    <pc:docChg chg="custSel modHandout">
      <pc:chgData name="Peter Bernhardt" userId="f2333933-0b12-4d6e-972f-f87625423892" providerId="ADAL" clId="{2C628E33-589C-449E-BBA5-ED05E3E5CC01}" dt="2026-04-21T11:31:32.408" v="0" actId="478"/>
      <pc:docMkLst>
        <pc:docMk/>
      </pc:docMkLst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F327EB1D-86E4-5FFD-9DEE-FE4D388C49C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D7D95B1-466A-708F-F5DF-0CE22EFD920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92A8533-649C-179E-2C79-939BDAB6D87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5E6BA0-B6F9-4E1B-B2C3-CF57F34F74F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8974436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787" y="4800600"/>
            <a:ext cx="6856214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0" y="4750737"/>
            <a:ext cx="6856214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7220" y="569214"/>
            <a:ext cx="5657850" cy="267462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4800" spc="-38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18779" y="3341716"/>
            <a:ext cx="5657850" cy="85725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1800" cap="all" spc="150" baseline="0">
                <a:solidFill>
                  <a:schemeClr val="tx2"/>
                </a:solidFill>
                <a:latin typeface="+mj-lt"/>
              </a:defRPr>
            </a:lvl1pPr>
            <a:lvl2pPr marL="342900" indent="0" algn="ctr">
              <a:buNone/>
              <a:defRPr sz="18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679308" y="3257550"/>
            <a:ext cx="555498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2138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228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787" y="4800600"/>
            <a:ext cx="6856214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0" y="4750737"/>
            <a:ext cx="6856214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569214"/>
            <a:ext cx="5657850" cy="267462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3200" b="1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7220" y="3339846"/>
            <a:ext cx="5657850" cy="85725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1800" cap="all" spc="150" baseline="0">
                <a:solidFill>
                  <a:schemeClr val="tx2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679308" y="3257550"/>
            <a:ext cx="555498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50656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617220" y="214953"/>
            <a:ext cx="5657850" cy="108806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17220" y="1384302"/>
            <a:ext cx="2777490" cy="301751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97580" y="1384301"/>
            <a:ext cx="2777490" cy="301752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3396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617220" y="214953"/>
            <a:ext cx="5657850" cy="108806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7220" y="1384539"/>
            <a:ext cx="2777490" cy="55221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1500" b="0" cap="all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" y="1936751"/>
            <a:ext cx="2777490" cy="246507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97580" y="1384539"/>
            <a:ext cx="2777490" cy="55221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1500" b="0" cap="all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97580" y="1936751"/>
            <a:ext cx="2777490" cy="246507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5470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716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787" y="4800600"/>
            <a:ext cx="6856214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0" y="4750737"/>
            <a:ext cx="6856214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07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0" y="0"/>
            <a:ext cx="227857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2272540" y="0"/>
            <a:ext cx="36005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445769"/>
            <a:ext cx="1800225" cy="1714500"/>
          </a:xfrm>
        </p:spPr>
        <p:txBody>
          <a:bodyPr anchor="b">
            <a:normAutofit/>
          </a:bodyPr>
          <a:lstStyle>
            <a:lvl1pPr>
              <a:defRPr sz="27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00338" y="548640"/>
            <a:ext cx="3651885" cy="39433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7175" y="2194560"/>
            <a:ext cx="1800225" cy="2534343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61851" y="4844840"/>
            <a:ext cx="1472912" cy="273844"/>
          </a:xfrm>
        </p:spPr>
        <p:txBody>
          <a:bodyPr/>
          <a:lstStyle>
            <a:lvl1pPr algn="l">
              <a:defRPr/>
            </a:lvl1pPr>
          </a:lstStyle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700337" y="4844840"/>
            <a:ext cx="2614613" cy="273844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459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" y="3714750"/>
            <a:ext cx="6856214" cy="14287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0" y="3686307"/>
            <a:ext cx="6856214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3806190"/>
            <a:ext cx="5692140" cy="617220"/>
          </a:xfrm>
        </p:spPr>
        <p:txBody>
          <a:bodyPr tIns="0" bIns="0" anchor="b">
            <a:noAutofit/>
          </a:bodyPr>
          <a:lstStyle>
            <a:lvl1pPr>
              <a:defRPr sz="27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" y="0"/>
            <a:ext cx="6857992" cy="3686307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7220" y="4430268"/>
            <a:ext cx="5692140" cy="44577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450"/>
              </a:spcAft>
              <a:buNone/>
              <a:defRPr sz="1125">
                <a:solidFill>
                  <a:srgbClr val="FFFFFF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8303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937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787" y="4800600"/>
            <a:ext cx="6856214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0" y="4750737"/>
            <a:ext cx="6856214" cy="48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309226"/>
            <a:ext cx="1478756" cy="4319924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309226"/>
            <a:ext cx="4350544" cy="4319924"/>
          </a:xfrm>
        </p:spPr>
        <p:txBody>
          <a:bodyPr vert="eaVert" lIns="45720" tIns="0" rIns="45720" bIns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169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800600"/>
            <a:ext cx="6858001" cy="34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0" y="4750737"/>
            <a:ext cx="6858001" cy="4986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17220" y="214953"/>
            <a:ext cx="5657850" cy="82042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7219" y="1103179"/>
            <a:ext cx="5657851" cy="3603318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17221" y="4844840"/>
            <a:ext cx="1390652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>
                <a:solidFill>
                  <a:srgbClr val="FFFFFF"/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73480" y="4844840"/>
            <a:ext cx="271282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5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569009" y="4844840"/>
            <a:ext cx="73801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671362" y="1058938"/>
            <a:ext cx="5606415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5007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1" r:id="rId1"/>
    <p:sldLayoutId id="2147483752" r:id="rId2"/>
    <p:sldLayoutId id="2147483753" r:id="rId3"/>
    <p:sldLayoutId id="2147483754" r:id="rId4"/>
    <p:sldLayoutId id="2147483755" r:id="rId5"/>
    <p:sldLayoutId id="2147483756" r:id="rId6"/>
    <p:sldLayoutId id="2147483757" r:id="rId7"/>
    <p:sldLayoutId id="2147483758" r:id="rId8"/>
    <p:sldLayoutId id="2147483759" r:id="rId9"/>
    <p:sldLayoutId id="2147483760" r:id="rId10"/>
    <p:sldLayoutId id="214748376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2800" b="1" kern="1200" spc="-38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68580" indent="-68580" algn="l" defTabSz="685800" rtl="0" eaLnBrk="1" latinLnBrk="0" hangingPunct="1">
        <a:lnSpc>
          <a:spcPct val="90000"/>
        </a:lnSpc>
        <a:spcBef>
          <a:spcPts val="900"/>
        </a:spcBef>
        <a:spcAft>
          <a:spcPts val="15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5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28803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3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42519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56235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699516" indent="-13716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82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97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12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275000" indent="-17145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Calibri" pitchFamily="34" charset="0"/>
        <a:buChar char="◦"/>
        <a:defRPr sz="105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 err="1"/>
              <a:t>Objektorientierte</a:t>
            </a:r>
            <a:r>
              <a:rPr dirty="0"/>
              <a:t> </a:t>
            </a:r>
            <a:r>
              <a:rPr dirty="0" err="1"/>
              <a:t>Programmierung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Woche 1: Refresher &amp; Clean Code</a:t>
            </a:r>
            <a:br/>
            <a:br/>
            <a:r>
              <a:t>Peter Bernhardt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lvl="0" indent="0">
              <a:buNone/>
            </a:pPr>
            <a:r>
              <a:t>März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Teil 1: Einleitung &amp; Die Relevanz von Code-Qualität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D63386B-EBA3-9B81-3CD0-6DCA7352DF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20" y="214953"/>
            <a:ext cx="5657850" cy="820429"/>
          </a:xfrm>
        </p:spPr>
        <p:txBody>
          <a:bodyPr/>
          <a:lstStyle/>
          <a:p>
            <a:pPr lvl="0"/>
            <a:r>
              <a:rPr lang="de-DE"/>
              <a:t>Willkommen zum Vertiefungsfach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538" y="1103313"/>
            <a:ext cx="6056146" cy="3603625"/>
          </a:xfrm>
        </p:spPr>
        <p:txBody>
          <a:bodyPr>
            <a:normAutofit/>
          </a:bodyPr>
          <a:lstStyle/>
          <a:p>
            <a:pPr lvl="0"/>
            <a:r>
              <a:rPr lang="de-DE" dirty="0"/>
              <a:t>In </a:t>
            </a:r>
            <a:r>
              <a:rPr lang="de-DE" dirty="0" err="1"/>
              <a:t>diesem</a:t>
            </a:r>
            <a:r>
              <a:rPr lang="de-DE" dirty="0"/>
              <a:t> Semester </a:t>
            </a:r>
            <a:r>
              <a:rPr lang="de-DE" dirty="0" err="1"/>
              <a:t>bewegen</a:t>
            </a:r>
            <a:r>
              <a:rPr lang="de-DE" dirty="0"/>
              <a:t> </a:t>
            </a:r>
            <a:r>
              <a:rPr lang="de-DE" dirty="0" err="1"/>
              <a:t>wir</a:t>
            </a:r>
            <a:r>
              <a:rPr lang="de-DE" dirty="0"/>
              <a:t> </a:t>
            </a:r>
            <a:r>
              <a:rPr lang="de-DE" dirty="0" err="1"/>
              <a:t>uns</a:t>
            </a:r>
            <a:r>
              <a:rPr lang="de-DE" dirty="0"/>
              <a:t> </a:t>
            </a:r>
            <a:r>
              <a:rPr lang="de-DE" dirty="0" err="1"/>
              <a:t>weg</a:t>
            </a:r>
            <a:r>
              <a:rPr lang="de-DE" dirty="0"/>
              <a:t> von der rein </a:t>
            </a:r>
            <a:r>
              <a:rPr lang="de-DE" dirty="0" err="1"/>
              <a:t>funktionalen</a:t>
            </a:r>
            <a:r>
              <a:rPr lang="de-DE" dirty="0"/>
              <a:t> </a:t>
            </a:r>
            <a:r>
              <a:rPr lang="de-DE" dirty="0" err="1"/>
              <a:t>Programmierung</a:t>
            </a:r>
            <a:r>
              <a:rPr lang="de-DE" dirty="0"/>
              <a:t> (“Es </a:t>
            </a:r>
            <a:r>
              <a:rPr lang="de-DE" dirty="0" err="1"/>
              <a:t>läuft</a:t>
            </a:r>
            <a:r>
              <a:rPr lang="de-DE" dirty="0"/>
              <a:t>”) </a:t>
            </a:r>
            <a:r>
              <a:rPr lang="de-DE" dirty="0" err="1"/>
              <a:t>hin</a:t>
            </a:r>
            <a:r>
              <a:rPr lang="de-DE" dirty="0"/>
              <a:t> </a:t>
            </a:r>
            <a:r>
              <a:rPr lang="de-DE" dirty="0" err="1"/>
              <a:t>zum</a:t>
            </a:r>
            <a:r>
              <a:rPr lang="de-DE" dirty="0"/>
              <a:t> Software-Engineering. </a:t>
            </a:r>
          </a:p>
          <a:p>
            <a:pPr lvl="0"/>
            <a:r>
              <a:rPr lang="de-DE" dirty="0"/>
              <a:t>Wir </a:t>
            </a:r>
            <a:r>
              <a:rPr lang="de-DE" dirty="0" err="1"/>
              <a:t>betrachten</a:t>
            </a:r>
            <a:r>
              <a:rPr lang="de-DE" dirty="0"/>
              <a:t> Software </a:t>
            </a:r>
            <a:r>
              <a:rPr lang="de-DE" dirty="0" err="1"/>
              <a:t>als</a:t>
            </a:r>
            <a:r>
              <a:rPr lang="de-DE" dirty="0"/>
              <a:t> </a:t>
            </a:r>
            <a:r>
              <a:rPr lang="de-DE" dirty="0" err="1"/>
              <a:t>ein</a:t>
            </a:r>
            <a:r>
              <a:rPr lang="de-DE" dirty="0"/>
              <a:t> </a:t>
            </a:r>
            <a:r>
              <a:rPr lang="de-DE" dirty="0" err="1"/>
              <a:t>langlebiges</a:t>
            </a:r>
            <a:r>
              <a:rPr lang="de-DE" dirty="0"/>
              <a:t> </a:t>
            </a:r>
            <a:r>
              <a:rPr lang="de-DE" dirty="0" err="1"/>
              <a:t>Produkt</a:t>
            </a:r>
            <a:r>
              <a:rPr lang="de-DE" dirty="0"/>
              <a:t>, das </a:t>
            </a:r>
            <a:r>
              <a:rPr lang="de-DE" dirty="0" err="1"/>
              <a:t>über</a:t>
            </a:r>
            <a:r>
              <a:rPr lang="de-DE" dirty="0"/>
              <a:t> Jahre </a:t>
            </a:r>
            <a:r>
              <a:rPr lang="de-DE" dirty="0" err="1"/>
              <a:t>oder</a:t>
            </a:r>
            <a:r>
              <a:rPr lang="de-DE" dirty="0"/>
              <a:t> </a:t>
            </a:r>
            <a:r>
              <a:rPr lang="de-DE" dirty="0" err="1"/>
              <a:t>Jahrzehnte</a:t>
            </a:r>
            <a:r>
              <a:rPr lang="de-DE" dirty="0"/>
              <a:t> </a:t>
            </a:r>
            <a:r>
              <a:rPr lang="de-DE" dirty="0" err="1"/>
              <a:t>gewartet</a:t>
            </a:r>
            <a:r>
              <a:rPr lang="de-DE" dirty="0"/>
              <a:t> und </a:t>
            </a:r>
            <a:r>
              <a:rPr lang="de-DE" dirty="0" err="1"/>
              <a:t>erweitert</a:t>
            </a:r>
            <a:r>
              <a:rPr lang="de-DE" dirty="0"/>
              <a:t> </a:t>
            </a:r>
            <a:r>
              <a:rPr lang="de-DE" dirty="0" err="1"/>
              <a:t>werden</a:t>
            </a:r>
            <a:r>
              <a:rPr lang="de-DE" dirty="0"/>
              <a:t> muss.</a:t>
            </a:r>
          </a:p>
          <a:p>
            <a:pPr lvl="0"/>
            <a:r>
              <a:rPr lang="de-DE" b="1" dirty="0" err="1"/>
              <a:t>Lernziele</a:t>
            </a:r>
            <a:r>
              <a:rPr lang="de-DE" b="1" dirty="0"/>
              <a:t> für </a:t>
            </a:r>
            <a:r>
              <a:rPr lang="de-DE" b="1" dirty="0" err="1"/>
              <a:t>heute</a:t>
            </a:r>
            <a:r>
              <a:rPr lang="de-DE" b="1" dirty="0"/>
              <a:t>: </a:t>
            </a:r>
          </a:p>
          <a:p>
            <a:pPr marL="363456" lvl="1" indent="-144000">
              <a:lnSpc>
                <a:spcPct val="110000"/>
              </a:lnSpc>
              <a:spcBef>
                <a:spcPts val="0"/>
              </a:spcBef>
              <a:buFont typeface="Symbol" panose="05050102010706020507" pitchFamily="18" charset="2"/>
              <a:buChar char="-"/>
            </a:pPr>
            <a:r>
              <a:rPr lang="de-DE" dirty="0"/>
              <a:t>Den </a:t>
            </a:r>
            <a:r>
              <a:rPr lang="de-DE" dirty="0" err="1"/>
              <a:t>Übergang</a:t>
            </a:r>
            <a:r>
              <a:rPr lang="de-DE" dirty="0"/>
              <a:t> </a:t>
            </a:r>
            <a:r>
              <a:rPr lang="de-DE" dirty="0" err="1"/>
              <a:t>vom</a:t>
            </a:r>
            <a:r>
              <a:rPr lang="de-DE" dirty="0"/>
              <a:t> </a:t>
            </a:r>
            <a:r>
              <a:rPr lang="de-DE" dirty="0" err="1"/>
              <a:t>skriptbasierten</a:t>
            </a:r>
            <a:r>
              <a:rPr lang="de-DE" dirty="0"/>
              <a:t> </a:t>
            </a:r>
            <a:r>
              <a:rPr lang="de-DE" dirty="0" err="1"/>
              <a:t>zum</a:t>
            </a:r>
            <a:r>
              <a:rPr lang="de-DE" dirty="0"/>
              <a:t> </a:t>
            </a:r>
            <a:r>
              <a:rPr lang="de-DE" dirty="0" err="1"/>
              <a:t>objektorientierten</a:t>
            </a:r>
            <a:r>
              <a:rPr lang="de-DE" dirty="0"/>
              <a:t> Denken </a:t>
            </a:r>
            <a:r>
              <a:rPr lang="de-DE" dirty="0" err="1"/>
              <a:t>meistern</a:t>
            </a:r>
            <a:r>
              <a:rPr lang="de-DE" dirty="0"/>
              <a:t>. </a:t>
            </a:r>
          </a:p>
          <a:p>
            <a:pPr marL="363456" lvl="1" indent="-1440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Symbol" panose="05050102010706020507" pitchFamily="18" charset="2"/>
              <a:buChar char="-"/>
            </a:pPr>
            <a:r>
              <a:rPr lang="de-DE" dirty="0"/>
              <a:t>Die </a:t>
            </a:r>
            <a:r>
              <a:rPr lang="de-DE" dirty="0" err="1"/>
              <a:t>Prinzipien</a:t>
            </a:r>
            <a:r>
              <a:rPr lang="de-DE" dirty="0"/>
              <a:t> von Clean Code verstehen und </a:t>
            </a:r>
            <a:r>
              <a:rPr lang="de-DE" dirty="0" err="1"/>
              <a:t>anwenden</a:t>
            </a:r>
            <a:r>
              <a:rPr lang="de-DE" dirty="0"/>
              <a:t> </a:t>
            </a:r>
            <a:r>
              <a:rPr lang="de-DE" dirty="0" err="1"/>
              <a:t>können</a:t>
            </a:r>
            <a:r>
              <a:rPr lang="de-DE" dirty="0"/>
              <a:t>. </a:t>
            </a:r>
          </a:p>
          <a:p>
            <a:pPr marL="363456" lvl="1" indent="-144000">
              <a:lnSpc>
                <a:spcPct val="110000"/>
              </a:lnSpc>
              <a:spcBef>
                <a:spcPts val="0"/>
              </a:spcBef>
              <a:buFont typeface="Symbol" panose="05050102010706020507" pitchFamily="18" charset="2"/>
              <a:buChar char="-"/>
            </a:pPr>
            <a:r>
              <a:rPr lang="de-DE" dirty="0"/>
              <a:t>Code-</a:t>
            </a:r>
            <a:r>
              <a:rPr lang="de-DE" dirty="0" err="1"/>
              <a:t>Gerüche</a:t>
            </a:r>
            <a:r>
              <a:rPr lang="de-DE" dirty="0"/>
              <a:t> (Code Smells) </a:t>
            </a:r>
            <a:r>
              <a:rPr lang="de-DE" dirty="0" err="1"/>
              <a:t>identifizieren</a:t>
            </a:r>
            <a:r>
              <a:rPr lang="de-DE" dirty="0"/>
              <a:t> und </a:t>
            </a:r>
            <a:r>
              <a:rPr lang="de-DE" dirty="0" err="1"/>
              <a:t>durch</a:t>
            </a:r>
            <a:r>
              <a:rPr lang="de-DE" dirty="0"/>
              <a:t> Refactoring </a:t>
            </a:r>
            <a:r>
              <a:rPr lang="de-DE" dirty="0" err="1"/>
              <a:t>beseitigen</a:t>
            </a:r>
            <a:r>
              <a:rPr lang="de-DE" dirty="0"/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Warum “Clean Code” in der Verwaltungsinformatik?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In der </a:t>
            </a:r>
            <a:r>
              <a:rPr dirty="0" err="1"/>
              <a:t>öffentlichen</a:t>
            </a:r>
            <a:r>
              <a:rPr dirty="0"/>
              <a:t> Verwaltung </a:t>
            </a:r>
            <a:r>
              <a:rPr dirty="0" err="1"/>
              <a:t>begegnen</a:t>
            </a:r>
            <a:r>
              <a:rPr dirty="0"/>
              <a:t> </a:t>
            </a:r>
            <a:r>
              <a:rPr dirty="0" err="1"/>
              <a:t>uns</a:t>
            </a:r>
            <a:r>
              <a:rPr dirty="0"/>
              <a:t> oft </a:t>
            </a:r>
            <a:r>
              <a:rPr dirty="0" err="1"/>
              <a:t>Altsysteme</a:t>
            </a:r>
            <a:r>
              <a:rPr dirty="0"/>
              <a:t> (Legacy Code), die </a:t>
            </a:r>
            <a:r>
              <a:rPr dirty="0" err="1"/>
              <a:t>schwer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ändern</a:t>
            </a:r>
            <a:r>
              <a:rPr dirty="0"/>
              <a:t> </a:t>
            </a:r>
            <a:r>
              <a:rPr dirty="0" err="1"/>
              <a:t>sind</a:t>
            </a:r>
            <a:r>
              <a:rPr dirty="0"/>
              <a:t>. </a:t>
            </a:r>
            <a:endParaRPr lang="de-DE" dirty="0"/>
          </a:p>
          <a:p>
            <a:pPr marL="0" lvl="0" indent="0">
              <a:buNone/>
            </a:pPr>
            <a:r>
              <a:rPr dirty="0"/>
              <a:t>Schlechter Code </a:t>
            </a:r>
            <a:r>
              <a:rPr dirty="0" err="1"/>
              <a:t>führt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: </a:t>
            </a:r>
            <a:endParaRPr lang="de-DE" dirty="0"/>
          </a:p>
          <a:p>
            <a:pPr marL="363456" lvl="1" indent="-1440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Symbol" panose="05050102010706020507" pitchFamily="18" charset="2"/>
              <a:buChar char="-"/>
            </a:pPr>
            <a:r>
              <a:rPr b="1" dirty="0" err="1"/>
              <a:t>Technischen</a:t>
            </a:r>
            <a:r>
              <a:rPr b="1" dirty="0"/>
              <a:t> </a:t>
            </a:r>
            <a:r>
              <a:rPr b="1" dirty="0" err="1"/>
              <a:t>Schulden</a:t>
            </a:r>
            <a:r>
              <a:rPr b="1" dirty="0"/>
              <a:t>:</a:t>
            </a:r>
            <a:r>
              <a:rPr dirty="0"/>
              <a:t> </a:t>
            </a:r>
            <a:r>
              <a:rPr dirty="0" err="1"/>
              <a:t>Jede</a:t>
            </a:r>
            <a:r>
              <a:rPr dirty="0"/>
              <a:t> </a:t>
            </a:r>
            <a:r>
              <a:rPr dirty="0" err="1"/>
              <a:t>schnelle</a:t>
            </a:r>
            <a:r>
              <a:rPr dirty="0"/>
              <a:t>, </a:t>
            </a:r>
            <a:r>
              <a:rPr dirty="0" err="1"/>
              <a:t>unsaubere</a:t>
            </a:r>
            <a:r>
              <a:rPr dirty="0"/>
              <a:t> </a:t>
            </a:r>
            <a:r>
              <a:rPr dirty="0" err="1"/>
              <a:t>Lösung</a:t>
            </a:r>
            <a:r>
              <a:rPr dirty="0"/>
              <a:t> </a:t>
            </a:r>
            <a:r>
              <a:rPr dirty="0" err="1"/>
              <a:t>kostet</a:t>
            </a:r>
            <a:r>
              <a:rPr dirty="0"/>
              <a:t> </a:t>
            </a:r>
            <a:r>
              <a:rPr dirty="0" err="1"/>
              <a:t>uns</a:t>
            </a:r>
            <a:r>
              <a:rPr dirty="0"/>
              <a:t> </a:t>
            </a:r>
            <a:r>
              <a:rPr dirty="0" err="1"/>
              <a:t>später</a:t>
            </a:r>
            <a:r>
              <a:rPr dirty="0"/>
              <a:t> </a:t>
            </a:r>
            <a:r>
              <a:rPr dirty="0" err="1"/>
              <a:t>doppelt</a:t>
            </a:r>
            <a:r>
              <a:rPr dirty="0"/>
              <a:t> so </a:t>
            </a:r>
            <a:r>
              <a:rPr dirty="0" err="1"/>
              <a:t>viel</a:t>
            </a:r>
            <a:r>
              <a:rPr dirty="0"/>
              <a:t> Zeit. </a:t>
            </a:r>
            <a:endParaRPr lang="de-DE" dirty="0"/>
          </a:p>
          <a:p>
            <a:pPr marL="363456" lvl="1" indent="-1440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Symbol" panose="05050102010706020507" pitchFamily="18" charset="2"/>
              <a:buChar char="-"/>
            </a:pPr>
            <a:r>
              <a:rPr b="1" dirty="0" err="1"/>
              <a:t>Fehleranfälligkeit</a:t>
            </a:r>
            <a:r>
              <a:rPr b="1" dirty="0"/>
              <a:t>:</a:t>
            </a:r>
            <a:r>
              <a:rPr dirty="0"/>
              <a:t> </a:t>
            </a:r>
            <a:r>
              <a:rPr dirty="0" err="1"/>
              <a:t>Unübersichtlicher</a:t>
            </a:r>
            <a:r>
              <a:rPr dirty="0"/>
              <a:t> Code </a:t>
            </a:r>
            <a:r>
              <a:rPr dirty="0" err="1"/>
              <a:t>versteckt</a:t>
            </a:r>
            <a:r>
              <a:rPr dirty="0"/>
              <a:t> Bugs </a:t>
            </a:r>
            <a:r>
              <a:rPr dirty="0" err="1"/>
              <a:t>effektiver</a:t>
            </a:r>
            <a:r>
              <a:rPr dirty="0"/>
              <a:t>. </a:t>
            </a:r>
            <a:endParaRPr lang="de-DE" dirty="0"/>
          </a:p>
          <a:p>
            <a:pPr marL="363456" lvl="1" indent="-1440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Symbol" panose="05050102010706020507" pitchFamily="18" charset="2"/>
              <a:buChar char="-"/>
            </a:pPr>
            <a:r>
              <a:rPr b="1" dirty="0" err="1"/>
              <a:t>Wartungskosten</a:t>
            </a:r>
            <a:r>
              <a:rPr b="1" dirty="0"/>
              <a:t>:</a:t>
            </a:r>
            <a:r>
              <a:rPr dirty="0"/>
              <a:t> In der IT </a:t>
            </a:r>
            <a:r>
              <a:rPr dirty="0" err="1"/>
              <a:t>entfallen</a:t>
            </a:r>
            <a:r>
              <a:rPr dirty="0"/>
              <a:t> oft bis </a:t>
            </a:r>
            <a:r>
              <a:rPr dirty="0" err="1"/>
              <a:t>zu</a:t>
            </a:r>
            <a:r>
              <a:rPr dirty="0"/>
              <a:t> 80% der </a:t>
            </a:r>
            <a:r>
              <a:rPr dirty="0" err="1"/>
              <a:t>Gesamtkosten</a:t>
            </a:r>
            <a:r>
              <a:rPr dirty="0"/>
              <a:t> auf die </a:t>
            </a:r>
            <a:r>
              <a:rPr dirty="0" err="1"/>
              <a:t>Wartung</a:t>
            </a:r>
            <a:r>
              <a:rPr dirty="0"/>
              <a:t> </a:t>
            </a:r>
            <a:r>
              <a:rPr dirty="0" err="1"/>
              <a:t>nach</a:t>
            </a:r>
            <a:r>
              <a:rPr dirty="0"/>
              <a:t> dem Release.</a:t>
            </a:r>
          </a:p>
          <a:p>
            <a:pPr marL="0" lvl="0" indent="0">
              <a:buNone/>
            </a:pPr>
            <a:r>
              <a:rPr dirty="0"/>
              <a:t>Clean Code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kein</a:t>
            </a:r>
            <a:r>
              <a:rPr dirty="0"/>
              <a:t> </a:t>
            </a:r>
            <a:r>
              <a:rPr dirty="0" err="1"/>
              <a:t>Selbstzweck</a:t>
            </a:r>
            <a:r>
              <a:rPr dirty="0"/>
              <a:t>, </a:t>
            </a:r>
            <a:r>
              <a:rPr dirty="0" err="1"/>
              <a:t>sondern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ökonomische</a:t>
            </a:r>
            <a:r>
              <a:rPr dirty="0"/>
              <a:t> </a:t>
            </a:r>
            <a:r>
              <a:rPr dirty="0" err="1"/>
              <a:t>Notwendigkeit</a:t>
            </a:r>
            <a:r>
              <a:rPr dirty="0"/>
              <a:t> für </a:t>
            </a:r>
            <a:r>
              <a:rPr dirty="0" err="1"/>
              <a:t>nachhaltige</a:t>
            </a:r>
            <a:r>
              <a:rPr dirty="0"/>
              <a:t> </a:t>
            </a:r>
            <a:r>
              <a:rPr dirty="0" err="1"/>
              <a:t>Digitalisierung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Das “Broken Window” Prinzip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dirty="0"/>
              <a:t>Dieses </a:t>
            </a:r>
            <a:r>
              <a:rPr b="1" dirty="0" err="1"/>
              <a:t>Konzept</a:t>
            </a:r>
            <a:r>
              <a:rPr b="1" dirty="0"/>
              <a:t> </a:t>
            </a:r>
            <a:r>
              <a:rPr b="1" dirty="0" err="1"/>
              <a:t>aus</a:t>
            </a:r>
            <a:r>
              <a:rPr b="1" dirty="0"/>
              <a:t> der </a:t>
            </a:r>
            <a:r>
              <a:rPr b="1" dirty="0" err="1"/>
              <a:t>Kriminologie</a:t>
            </a:r>
            <a:r>
              <a:rPr b="1" dirty="0"/>
              <a:t> </a:t>
            </a:r>
            <a:r>
              <a:rPr dirty="0" err="1"/>
              <a:t>lässt</a:t>
            </a:r>
            <a:r>
              <a:rPr dirty="0"/>
              <a:t> </a:t>
            </a:r>
            <a:r>
              <a:rPr dirty="0" err="1"/>
              <a:t>sich</a:t>
            </a:r>
            <a:r>
              <a:rPr dirty="0"/>
              <a:t> </a:t>
            </a:r>
            <a:r>
              <a:rPr dirty="0" err="1"/>
              <a:t>perfekt</a:t>
            </a:r>
            <a:r>
              <a:rPr dirty="0"/>
              <a:t> auf die </a:t>
            </a:r>
            <a:r>
              <a:rPr dirty="0" err="1"/>
              <a:t>Softwareentwicklung</a:t>
            </a:r>
            <a:r>
              <a:rPr dirty="0"/>
              <a:t> </a:t>
            </a:r>
            <a:r>
              <a:rPr dirty="0" err="1"/>
              <a:t>übertragen</a:t>
            </a:r>
            <a:r>
              <a:rPr dirty="0"/>
              <a:t>: </a:t>
            </a:r>
            <a:endParaRPr lang="de-DE" dirty="0"/>
          </a:p>
          <a:p>
            <a:pPr marL="219456" lvl="1" inden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sz="1800" i="1" dirty="0"/>
              <a:t>Ein </a:t>
            </a:r>
            <a:r>
              <a:rPr sz="1800" i="1" dirty="0" err="1"/>
              <a:t>ungepflegtes</a:t>
            </a:r>
            <a:r>
              <a:rPr sz="1800" i="1" dirty="0"/>
              <a:t> </a:t>
            </a:r>
            <a:r>
              <a:rPr sz="1800" i="1" dirty="0" err="1"/>
              <a:t>Gebäude</a:t>
            </a:r>
            <a:r>
              <a:rPr sz="1800" i="1" dirty="0"/>
              <a:t> </a:t>
            </a:r>
            <a:r>
              <a:rPr sz="1800" i="1" dirty="0" err="1"/>
              <a:t>mit</a:t>
            </a:r>
            <a:r>
              <a:rPr sz="1800" i="1" dirty="0"/>
              <a:t> </a:t>
            </a:r>
            <a:r>
              <a:rPr sz="1800" i="1" dirty="0" err="1"/>
              <a:t>einem</a:t>
            </a:r>
            <a:r>
              <a:rPr sz="1800" i="1" dirty="0"/>
              <a:t> </a:t>
            </a:r>
            <a:r>
              <a:rPr sz="1800" i="1" dirty="0" err="1"/>
              <a:t>kaputten</a:t>
            </a:r>
            <a:r>
              <a:rPr sz="1800" i="1" dirty="0"/>
              <a:t> Fenster </a:t>
            </a:r>
            <a:r>
              <a:rPr sz="1800" i="1" dirty="0" err="1"/>
              <a:t>signalisiert</a:t>
            </a:r>
            <a:r>
              <a:rPr sz="1800" i="1" dirty="0"/>
              <a:t>: “Hier </a:t>
            </a:r>
            <a:r>
              <a:rPr sz="1800" i="1" dirty="0" err="1"/>
              <a:t>kümmert</a:t>
            </a:r>
            <a:r>
              <a:rPr sz="1800" i="1" dirty="0"/>
              <a:t> </a:t>
            </a:r>
            <a:r>
              <a:rPr sz="1800" i="1" dirty="0" err="1"/>
              <a:t>sich</a:t>
            </a:r>
            <a:r>
              <a:rPr sz="1800" i="1" dirty="0"/>
              <a:t> </a:t>
            </a:r>
            <a:r>
              <a:rPr sz="1800" i="1" dirty="0" err="1"/>
              <a:t>niemand</a:t>
            </a:r>
            <a:r>
              <a:rPr sz="1800" i="1" dirty="0"/>
              <a:t>”. Bald </a:t>
            </a:r>
            <a:r>
              <a:rPr sz="1800" i="1" dirty="0" err="1"/>
              <a:t>folgen</a:t>
            </a:r>
            <a:r>
              <a:rPr sz="1800" i="1" dirty="0"/>
              <a:t> </a:t>
            </a:r>
            <a:r>
              <a:rPr sz="1800" i="1" dirty="0" err="1"/>
              <a:t>weitere</a:t>
            </a:r>
            <a:r>
              <a:rPr sz="1800" i="1" dirty="0"/>
              <a:t> Fenster und </a:t>
            </a:r>
            <a:r>
              <a:rPr sz="1800" i="1" dirty="0" err="1"/>
              <a:t>Vandalismus</a:t>
            </a:r>
            <a:r>
              <a:rPr sz="1800" i="1" dirty="0"/>
              <a:t>. </a:t>
            </a:r>
            <a:endParaRPr lang="de-DE" sz="1800" i="1" dirty="0"/>
          </a:p>
          <a:p>
            <a:pPr marL="0" lvl="0" inden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b="1" dirty="0" err="1"/>
              <a:t>Übertragung</a:t>
            </a:r>
            <a:r>
              <a:rPr b="1" dirty="0"/>
              <a:t> auf Code:</a:t>
            </a:r>
            <a:r>
              <a:rPr dirty="0"/>
              <a:t> Wenn </a:t>
            </a:r>
            <a:r>
              <a:rPr dirty="0" err="1"/>
              <a:t>ein</a:t>
            </a:r>
            <a:r>
              <a:rPr dirty="0"/>
              <a:t> Modul </a:t>
            </a:r>
            <a:r>
              <a:rPr dirty="0" err="1"/>
              <a:t>bereits</a:t>
            </a:r>
            <a:r>
              <a:rPr dirty="0"/>
              <a:t> </a:t>
            </a:r>
            <a:r>
              <a:rPr dirty="0" err="1"/>
              <a:t>unordentlich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, </a:t>
            </a:r>
            <a:r>
              <a:rPr dirty="0" err="1"/>
              <a:t>neigen</a:t>
            </a:r>
            <a:r>
              <a:rPr dirty="0"/>
              <a:t> </a:t>
            </a:r>
            <a:r>
              <a:rPr dirty="0" err="1"/>
              <a:t>Entwickler</a:t>
            </a:r>
            <a:r>
              <a:rPr dirty="0"/>
              <a:t> </a:t>
            </a:r>
            <a:r>
              <a:rPr dirty="0" err="1"/>
              <a:t>dazu</a:t>
            </a:r>
            <a:r>
              <a:rPr dirty="0"/>
              <a:t>, </a:t>
            </a:r>
            <a:r>
              <a:rPr dirty="0" err="1"/>
              <a:t>ihren</a:t>
            </a:r>
            <a:r>
              <a:rPr dirty="0"/>
              <a:t> </a:t>
            </a:r>
            <a:r>
              <a:rPr dirty="0" err="1"/>
              <a:t>neuen</a:t>
            </a:r>
            <a:r>
              <a:rPr dirty="0"/>
              <a:t> Code </a:t>
            </a:r>
            <a:r>
              <a:rPr dirty="0" err="1"/>
              <a:t>ebenfalls</a:t>
            </a:r>
            <a:r>
              <a:rPr dirty="0"/>
              <a:t> </a:t>
            </a:r>
            <a:r>
              <a:rPr dirty="0" err="1"/>
              <a:t>unsauber</a:t>
            </a:r>
            <a:r>
              <a:rPr dirty="0"/>
              <a:t> </a:t>
            </a:r>
            <a:r>
              <a:rPr dirty="0" err="1"/>
              <a:t>hinzuzufügen</a:t>
            </a:r>
            <a:r>
              <a:rPr dirty="0"/>
              <a:t> (“Auf das </a:t>
            </a:r>
            <a:r>
              <a:rPr dirty="0" err="1"/>
              <a:t>bisschen</a:t>
            </a:r>
            <a:r>
              <a:rPr dirty="0"/>
              <a:t> Chaos </a:t>
            </a:r>
            <a:r>
              <a:rPr dirty="0" err="1"/>
              <a:t>kommt</a:t>
            </a:r>
            <a:r>
              <a:rPr dirty="0"/>
              <a:t> es </a:t>
            </a:r>
            <a:r>
              <a:rPr dirty="0" err="1"/>
              <a:t>auch</a:t>
            </a:r>
            <a:r>
              <a:rPr dirty="0"/>
              <a:t> nicht </a:t>
            </a:r>
            <a:r>
              <a:rPr dirty="0" err="1"/>
              <a:t>mehr</a:t>
            </a:r>
            <a:r>
              <a:rPr dirty="0"/>
              <a:t> an”). </a:t>
            </a:r>
            <a:endParaRPr lang="de-DE" dirty="0"/>
          </a:p>
          <a:p>
            <a:pPr marL="0" lvl="0" indent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b="1" dirty="0" err="1"/>
              <a:t>Gegenmaßnahme</a:t>
            </a:r>
            <a:r>
              <a:rPr b="1" dirty="0"/>
              <a:t>:</a:t>
            </a:r>
            <a:r>
              <a:rPr dirty="0"/>
              <a:t> </a:t>
            </a:r>
            <a:r>
              <a:rPr dirty="0" err="1"/>
              <a:t>Halten</a:t>
            </a:r>
            <a:r>
              <a:rPr dirty="0"/>
              <a:t> Sie den Code von Anfang an </a:t>
            </a:r>
            <a:r>
              <a:rPr dirty="0" err="1"/>
              <a:t>sauber</a:t>
            </a:r>
            <a:r>
              <a:rPr dirty="0"/>
              <a:t>. </a:t>
            </a:r>
            <a:r>
              <a:rPr dirty="0" err="1"/>
              <a:t>Reparieren</a:t>
            </a:r>
            <a:r>
              <a:rPr dirty="0"/>
              <a:t> Sie “</a:t>
            </a:r>
            <a:r>
              <a:rPr dirty="0" err="1"/>
              <a:t>kaputte</a:t>
            </a:r>
            <a:r>
              <a:rPr dirty="0"/>
              <a:t> Fenster” </a:t>
            </a:r>
            <a:r>
              <a:rPr dirty="0" err="1"/>
              <a:t>sofort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Teil 2: Der Mindset-Shift zur OOP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5C0326A-A5D8-0BA5-24D2-B7E30EF624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Prozedurales vs. Objektorientiertes Denken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19" y="1103179"/>
            <a:ext cx="6080402" cy="3603318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Viele </a:t>
            </a:r>
            <a:r>
              <a:rPr dirty="0" err="1"/>
              <a:t>Studierende</a:t>
            </a:r>
            <a:r>
              <a:rPr dirty="0"/>
              <a:t> </a:t>
            </a:r>
            <a:r>
              <a:rPr dirty="0" err="1"/>
              <a:t>kommen</a:t>
            </a:r>
            <a:r>
              <a:rPr dirty="0"/>
              <a:t> </a:t>
            </a:r>
            <a:r>
              <a:rPr dirty="0" err="1"/>
              <a:t>aus</a:t>
            </a:r>
            <a:r>
              <a:rPr dirty="0"/>
              <a:t> der Welt der </a:t>
            </a:r>
            <a:r>
              <a:rPr dirty="0" err="1"/>
              <a:t>Skripte</a:t>
            </a:r>
            <a:r>
              <a:rPr dirty="0"/>
              <a:t> (Python, C, JavaScript-Snippets). Dort </a:t>
            </a:r>
            <a:r>
              <a:rPr dirty="0" err="1"/>
              <a:t>ist</a:t>
            </a:r>
            <a:r>
              <a:rPr dirty="0"/>
              <a:t> der Code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lineare</a:t>
            </a:r>
            <a:r>
              <a:rPr dirty="0"/>
              <a:t> </a:t>
            </a:r>
            <a:r>
              <a:rPr dirty="0" err="1"/>
              <a:t>Abfolge</a:t>
            </a:r>
            <a:r>
              <a:rPr dirty="0"/>
              <a:t> von </a:t>
            </a:r>
            <a:r>
              <a:rPr dirty="0" err="1"/>
              <a:t>Befehlen</a:t>
            </a:r>
            <a:r>
              <a:rPr dirty="0"/>
              <a:t>.</a:t>
            </a:r>
          </a:p>
          <a:p>
            <a:pPr marL="0" lvl="0" indent="0">
              <a:buNone/>
            </a:pPr>
            <a:r>
              <a:rPr b="1" dirty="0"/>
              <a:t>Das </a:t>
            </a:r>
            <a:r>
              <a:rPr b="1" dirty="0" err="1"/>
              <a:t>prozedurale</a:t>
            </a:r>
            <a:r>
              <a:rPr b="1" dirty="0"/>
              <a:t> </a:t>
            </a:r>
            <a:r>
              <a:rPr b="1" dirty="0" err="1"/>
              <a:t>Paradigma</a:t>
            </a:r>
            <a:r>
              <a:rPr b="1" dirty="0"/>
              <a:t>:</a:t>
            </a:r>
            <a:r>
              <a:rPr dirty="0"/>
              <a:t> </a:t>
            </a:r>
            <a:endParaRPr lang="de-DE" dirty="0"/>
          </a:p>
          <a:p>
            <a:pPr marL="144000" indent="-1440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Symbol" panose="05050102010706020507" pitchFamily="18" charset="2"/>
              <a:buChar char="-"/>
            </a:pPr>
            <a:r>
              <a:rPr dirty="0" err="1"/>
              <a:t>Fokus</a:t>
            </a:r>
            <a:r>
              <a:rPr dirty="0"/>
              <a:t> auf den </a:t>
            </a:r>
            <a:r>
              <a:rPr dirty="0" err="1"/>
              <a:t>Algorithmus</a:t>
            </a:r>
            <a:r>
              <a:rPr dirty="0"/>
              <a:t>: “Was muss </a:t>
            </a:r>
            <a:r>
              <a:rPr dirty="0" err="1"/>
              <a:t>nacheinander</a:t>
            </a:r>
            <a:r>
              <a:rPr dirty="0"/>
              <a:t> </a:t>
            </a:r>
            <a:r>
              <a:rPr dirty="0" err="1"/>
              <a:t>passieren</a:t>
            </a:r>
            <a:r>
              <a:rPr dirty="0"/>
              <a:t>?” </a:t>
            </a:r>
            <a:endParaRPr lang="de-DE" dirty="0"/>
          </a:p>
          <a:p>
            <a:pPr marL="144000" indent="-1440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Symbol" panose="05050102010706020507" pitchFamily="18" charset="2"/>
              <a:buChar char="-"/>
            </a:pPr>
            <a:r>
              <a:rPr dirty="0" err="1"/>
              <a:t>Daten</a:t>
            </a:r>
            <a:r>
              <a:rPr dirty="0"/>
              <a:t> (</a:t>
            </a:r>
            <a:r>
              <a:rPr dirty="0" err="1"/>
              <a:t>Variablen</a:t>
            </a:r>
            <a:r>
              <a:rPr dirty="0"/>
              <a:t>) und </a:t>
            </a:r>
            <a:r>
              <a:rPr dirty="0" err="1"/>
              <a:t>Funktionen</a:t>
            </a:r>
            <a:r>
              <a:rPr dirty="0"/>
              <a:t> (Logik) </a:t>
            </a:r>
            <a:r>
              <a:rPr dirty="0" err="1"/>
              <a:t>sind</a:t>
            </a:r>
            <a:r>
              <a:rPr dirty="0"/>
              <a:t> </a:t>
            </a:r>
            <a:r>
              <a:rPr dirty="0" err="1"/>
              <a:t>getrennt</a:t>
            </a:r>
            <a:r>
              <a:rPr dirty="0"/>
              <a:t>.</a:t>
            </a:r>
          </a:p>
          <a:p>
            <a:pPr marL="0" lvl="0" indent="0">
              <a:buNone/>
            </a:pPr>
            <a:endParaRPr lang="de-DE" b="1" dirty="0"/>
          </a:p>
          <a:p>
            <a:pPr marL="0" lvl="0" indent="0">
              <a:buNone/>
            </a:pPr>
            <a:r>
              <a:rPr b="1" dirty="0"/>
              <a:t>Das </a:t>
            </a:r>
            <a:r>
              <a:rPr b="1" dirty="0" err="1"/>
              <a:t>objektorientierte</a:t>
            </a:r>
            <a:r>
              <a:rPr b="1" dirty="0"/>
              <a:t> </a:t>
            </a:r>
            <a:r>
              <a:rPr b="1" dirty="0" err="1"/>
              <a:t>Paradigma</a:t>
            </a:r>
            <a:r>
              <a:rPr b="1" dirty="0"/>
              <a:t>:</a:t>
            </a:r>
            <a:r>
              <a:rPr dirty="0"/>
              <a:t> </a:t>
            </a:r>
            <a:endParaRPr lang="de-DE" dirty="0"/>
          </a:p>
          <a:p>
            <a:pPr marL="144000" indent="-1440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Symbol" panose="05050102010706020507" pitchFamily="18" charset="2"/>
              <a:buChar char="-"/>
            </a:pPr>
            <a:r>
              <a:rPr dirty="0" err="1"/>
              <a:t>Fokus</a:t>
            </a:r>
            <a:r>
              <a:rPr dirty="0"/>
              <a:t> auf die </a:t>
            </a:r>
            <a:r>
              <a:rPr dirty="0" err="1"/>
              <a:t>Domäne</a:t>
            </a:r>
            <a:r>
              <a:rPr dirty="0"/>
              <a:t>: “</a:t>
            </a:r>
            <a:r>
              <a:rPr dirty="0" err="1"/>
              <a:t>Welche</a:t>
            </a:r>
            <a:r>
              <a:rPr dirty="0"/>
              <a:t> </a:t>
            </a:r>
            <a:r>
              <a:rPr dirty="0" err="1"/>
              <a:t>Akteure</a:t>
            </a:r>
            <a:r>
              <a:rPr dirty="0"/>
              <a:t> (</a:t>
            </a:r>
            <a:r>
              <a:rPr dirty="0" err="1"/>
              <a:t>Objekte</a:t>
            </a:r>
            <a:r>
              <a:rPr dirty="0"/>
              <a:t>) </a:t>
            </a:r>
            <a:r>
              <a:rPr dirty="0" err="1"/>
              <a:t>gibt</a:t>
            </a:r>
            <a:r>
              <a:rPr dirty="0"/>
              <a:t> es und was </a:t>
            </a:r>
            <a:r>
              <a:rPr dirty="0" err="1"/>
              <a:t>ist</a:t>
            </a:r>
            <a:r>
              <a:rPr dirty="0"/>
              <a:t> </a:t>
            </a:r>
            <a:r>
              <a:rPr dirty="0" err="1"/>
              <a:t>ihre</a:t>
            </a:r>
            <a:r>
              <a:rPr dirty="0"/>
              <a:t> </a:t>
            </a:r>
            <a:r>
              <a:rPr dirty="0" err="1"/>
              <a:t>Verantwortung</a:t>
            </a:r>
            <a:r>
              <a:rPr dirty="0"/>
              <a:t>?” </a:t>
            </a:r>
            <a:endParaRPr lang="de-DE" dirty="0"/>
          </a:p>
          <a:p>
            <a:pPr marL="144000" indent="-1440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Symbol" panose="05050102010706020507" pitchFamily="18" charset="2"/>
              <a:buChar char="-"/>
            </a:pPr>
            <a:r>
              <a:rPr dirty="0" err="1"/>
              <a:t>Daten</a:t>
            </a:r>
            <a:r>
              <a:rPr dirty="0"/>
              <a:t> und die Logik, die </a:t>
            </a:r>
            <a:r>
              <a:rPr dirty="0" err="1"/>
              <a:t>diese</a:t>
            </a:r>
            <a:r>
              <a:rPr dirty="0"/>
              <a:t> </a:t>
            </a:r>
            <a:r>
              <a:rPr dirty="0" err="1"/>
              <a:t>manipuliert</a:t>
            </a:r>
            <a:r>
              <a:rPr dirty="0"/>
              <a:t>, </a:t>
            </a:r>
            <a:r>
              <a:rPr dirty="0" err="1"/>
              <a:t>bilden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Einheit (</a:t>
            </a:r>
            <a:r>
              <a:rPr dirty="0" err="1"/>
              <a:t>Kapselung</a:t>
            </a:r>
            <a:r>
              <a:rPr dirty="0"/>
              <a:t>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Beispiel: Der prozedurale Ansatz (Anti-Pattern)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Oft </a:t>
            </a:r>
            <a:r>
              <a:rPr dirty="0" err="1"/>
              <a:t>sieht</a:t>
            </a:r>
            <a:r>
              <a:rPr dirty="0"/>
              <a:t> man Code, </a:t>
            </a:r>
            <a:r>
              <a:rPr dirty="0" err="1"/>
              <a:t>bei</a:t>
            </a:r>
            <a:r>
              <a:rPr dirty="0"/>
              <a:t> dem </a:t>
            </a:r>
            <a:r>
              <a:rPr dirty="0" err="1"/>
              <a:t>Daten</a:t>
            </a:r>
            <a:r>
              <a:rPr dirty="0"/>
              <a:t> lose </a:t>
            </a:r>
            <a:r>
              <a:rPr dirty="0" err="1"/>
              <a:t>als</a:t>
            </a:r>
            <a:r>
              <a:rPr dirty="0"/>
              <a:t> Arrays </a:t>
            </a:r>
            <a:r>
              <a:rPr dirty="0" err="1"/>
              <a:t>oder</a:t>
            </a:r>
            <a:r>
              <a:rPr dirty="0"/>
              <a:t> </a:t>
            </a:r>
            <a:r>
              <a:rPr dirty="0" err="1"/>
              <a:t>einfache</a:t>
            </a:r>
            <a:r>
              <a:rPr dirty="0"/>
              <a:t> </a:t>
            </a:r>
            <a:r>
              <a:rPr dirty="0" err="1"/>
              <a:t>Variablen</a:t>
            </a:r>
            <a:r>
              <a:rPr dirty="0"/>
              <a:t> </a:t>
            </a:r>
            <a:r>
              <a:rPr dirty="0" err="1"/>
              <a:t>verwaltet</a:t>
            </a:r>
            <a:r>
              <a:rPr dirty="0"/>
              <a:t> </a:t>
            </a:r>
            <a:r>
              <a:rPr dirty="0" err="1"/>
              <a:t>werden</a:t>
            </a:r>
            <a:r>
              <a:rPr dirty="0"/>
              <a:t>. Das </a:t>
            </a:r>
            <a:r>
              <a:rPr dirty="0" err="1"/>
              <a:t>führt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unübersichtlichen</a:t>
            </a:r>
            <a:r>
              <a:rPr dirty="0"/>
              <a:t> </a:t>
            </a:r>
            <a:r>
              <a:rPr dirty="0" err="1"/>
              <a:t>Methodenaufrufen</a:t>
            </a:r>
            <a:r>
              <a:rPr dirty="0"/>
              <a:t>:</a:t>
            </a:r>
          </a:p>
          <a:p>
            <a:pPr lv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// </a:t>
            </a:r>
            <a:r>
              <a:rPr sz="1200" i="1" dirty="0" err="1">
                <a:solidFill>
                  <a:srgbClr val="60A0B0"/>
                </a:solidFill>
                <a:latin typeface="Consolas" panose="020B0609020204030204" pitchFamily="49" charset="0"/>
              </a:rPr>
              <a:t>Daten</a:t>
            </a:r>
            <a:r>
              <a:rPr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 </a:t>
            </a:r>
            <a:r>
              <a:rPr sz="1200" i="1" dirty="0" err="1">
                <a:solidFill>
                  <a:srgbClr val="60A0B0"/>
                </a:solidFill>
                <a:latin typeface="Consolas" panose="020B0609020204030204" pitchFamily="49" charset="0"/>
              </a:rPr>
              <a:t>sind</a:t>
            </a:r>
            <a:r>
              <a:rPr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 lose</a:t>
            </a:r>
            <a:br>
              <a:rPr sz="1200" dirty="0">
                <a:latin typeface="Consolas" panose="020B0609020204030204" pitchFamily="49" charset="0"/>
              </a:rPr>
            </a:br>
            <a:r>
              <a:rPr sz="1200" dirty="0">
                <a:solidFill>
                  <a:srgbClr val="902000"/>
                </a:solidFill>
                <a:latin typeface="Consolas" panose="020B0609020204030204" pitchFamily="49" charset="0"/>
              </a:rPr>
              <a:t>string</a:t>
            </a:r>
            <a:r>
              <a:rPr sz="1200" dirty="0">
                <a:latin typeface="Consolas" panose="020B0609020204030204" pitchFamily="49" charset="0"/>
              </a:rPr>
              <a:t> </a:t>
            </a:r>
            <a:r>
              <a:rPr sz="1200" dirty="0" err="1">
                <a:latin typeface="Consolas" panose="020B0609020204030204" pitchFamily="49" charset="0"/>
              </a:rPr>
              <a:t>vorname</a:t>
            </a:r>
            <a:r>
              <a:rPr sz="1200" dirty="0">
                <a:latin typeface="Consolas" panose="020B0609020204030204" pitchFamily="49" charset="0"/>
              </a:rPr>
              <a:t> </a:t>
            </a:r>
            <a:r>
              <a:rPr sz="1200" dirty="0">
                <a:solidFill>
                  <a:srgbClr val="666666"/>
                </a:solidFill>
                <a:latin typeface="Consolas" panose="020B0609020204030204" pitchFamily="49" charset="0"/>
              </a:rPr>
              <a:t>=</a:t>
            </a:r>
            <a:r>
              <a:rPr sz="1200" dirty="0">
                <a:latin typeface="Consolas" panose="020B0609020204030204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Consolas" panose="020B0609020204030204" pitchFamily="49" charset="0"/>
              </a:rPr>
              <a:t>"Max"</a:t>
            </a:r>
            <a:r>
              <a:rPr sz="1200" dirty="0">
                <a:solidFill>
                  <a:srgbClr val="666666"/>
                </a:solidFill>
                <a:latin typeface="Consolas" panose="020B0609020204030204" pitchFamily="49" charset="0"/>
              </a:rPr>
              <a:t>;</a:t>
            </a:r>
            <a:br>
              <a:rPr sz="1200" dirty="0">
                <a:latin typeface="Consolas" panose="020B0609020204030204" pitchFamily="49" charset="0"/>
              </a:rPr>
            </a:br>
            <a:r>
              <a:rPr sz="1200" dirty="0">
                <a:solidFill>
                  <a:srgbClr val="902000"/>
                </a:solidFill>
                <a:latin typeface="Consolas" panose="020B0609020204030204" pitchFamily="49" charset="0"/>
              </a:rPr>
              <a:t>string</a:t>
            </a:r>
            <a:r>
              <a:rPr sz="1200" dirty="0">
                <a:latin typeface="Consolas" panose="020B0609020204030204" pitchFamily="49" charset="0"/>
              </a:rPr>
              <a:t> </a:t>
            </a:r>
            <a:r>
              <a:rPr sz="1200" dirty="0" err="1">
                <a:latin typeface="Consolas" panose="020B0609020204030204" pitchFamily="49" charset="0"/>
              </a:rPr>
              <a:t>nachname</a:t>
            </a:r>
            <a:r>
              <a:rPr sz="1200" dirty="0">
                <a:latin typeface="Consolas" panose="020B0609020204030204" pitchFamily="49" charset="0"/>
              </a:rPr>
              <a:t> </a:t>
            </a:r>
            <a:r>
              <a:rPr sz="1200" dirty="0">
                <a:solidFill>
                  <a:srgbClr val="666666"/>
                </a:solidFill>
                <a:latin typeface="Consolas" panose="020B0609020204030204" pitchFamily="49" charset="0"/>
              </a:rPr>
              <a:t>=</a:t>
            </a:r>
            <a:r>
              <a:rPr sz="1200" dirty="0">
                <a:latin typeface="Consolas" panose="020B0609020204030204" pitchFamily="49" charset="0"/>
              </a:rPr>
              <a:t> </a:t>
            </a:r>
            <a:r>
              <a:rPr sz="1200" dirty="0">
                <a:solidFill>
                  <a:srgbClr val="4070A0"/>
                </a:solidFill>
                <a:latin typeface="Consolas" panose="020B0609020204030204" pitchFamily="49" charset="0"/>
              </a:rPr>
              <a:t>"</a:t>
            </a:r>
            <a:r>
              <a:rPr sz="1200" dirty="0" err="1">
                <a:solidFill>
                  <a:srgbClr val="4070A0"/>
                </a:solidFill>
                <a:latin typeface="Consolas" panose="020B0609020204030204" pitchFamily="49" charset="0"/>
              </a:rPr>
              <a:t>Mustermann</a:t>
            </a:r>
            <a:r>
              <a:rPr sz="1200" dirty="0">
                <a:solidFill>
                  <a:srgbClr val="4070A0"/>
                </a:solidFill>
                <a:latin typeface="Consolas" panose="020B0609020204030204" pitchFamily="49" charset="0"/>
              </a:rPr>
              <a:t>"</a:t>
            </a:r>
            <a:r>
              <a:rPr sz="1200" dirty="0">
                <a:solidFill>
                  <a:srgbClr val="666666"/>
                </a:solidFill>
                <a:latin typeface="Consolas" panose="020B0609020204030204" pitchFamily="49" charset="0"/>
              </a:rPr>
              <a:t>;</a:t>
            </a:r>
            <a:br>
              <a:rPr sz="1200" dirty="0">
                <a:latin typeface="Consolas" panose="020B0609020204030204" pitchFamily="49" charset="0"/>
              </a:rPr>
            </a:br>
            <a:r>
              <a:rPr sz="1200" dirty="0">
                <a:solidFill>
                  <a:srgbClr val="902000"/>
                </a:solidFill>
                <a:latin typeface="Consolas" panose="020B0609020204030204" pitchFamily="49" charset="0"/>
              </a:rPr>
              <a:t>int</a:t>
            </a:r>
            <a:r>
              <a:rPr sz="1200" dirty="0">
                <a:latin typeface="Consolas" panose="020B0609020204030204" pitchFamily="49" charset="0"/>
              </a:rPr>
              <a:t> alter </a:t>
            </a:r>
            <a:r>
              <a:rPr sz="1200" dirty="0">
                <a:solidFill>
                  <a:srgbClr val="666666"/>
                </a:solidFill>
                <a:latin typeface="Consolas" panose="020B0609020204030204" pitchFamily="49" charset="0"/>
              </a:rPr>
              <a:t>=</a:t>
            </a:r>
            <a:r>
              <a:rPr sz="1200" dirty="0">
                <a:latin typeface="Consolas" panose="020B0609020204030204" pitchFamily="49" charset="0"/>
              </a:rPr>
              <a:t> </a:t>
            </a:r>
            <a:r>
              <a:rPr sz="1200" dirty="0">
                <a:solidFill>
                  <a:srgbClr val="40A070"/>
                </a:solidFill>
                <a:latin typeface="Consolas" panose="020B0609020204030204" pitchFamily="49" charset="0"/>
              </a:rPr>
              <a:t>25</a:t>
            </a:r>
            <a:r>
              <a:rPr sz="1200" dirty="0">
                <a:solidFill>
                  <a:srgbClr val="666666"/>
                </a:solidFill>
                <a:latin typeface="Consolas" panose="020B0609020204030204" pitchFamily="49" charset="0"/>
              </a:rPr>
              <a:t>;</a:t>
            </a:r>
            <a:br>
              <a:rPr sz="1200" dirty="0">
                <a:latin typeface="Consolas" panose="020B0609020204030204" pitchFamily="49" charset="0"/>
              </a:rPr>
            </a:br>
            <a:br>
              <a:rPr sz="1200" dirty="0">
                <a:latin typeface="Consolas" panose="020B0609020204030204" pitchFamily="49" charset="0"/>
              </a:rPr>
            </a:br>
            <a:r>
              <a:rPr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// Die Logik </a:t>
            </a:r>
            <a:r>
              <a:rPr sz="1200" i="1" dirty="0" err="1">
                <a:solidFill>
                  <a:srgbClr val="60A0B0"/>
                </a:solidFill>
                <a:latin typeface="Consolas" panose="020B0609020204030204" pitchFamily="49" charset="0"/>
              </a:rPr>
              <a:t>schwebt</a:t>
            </a:r>
            <a:r>
              <a:rPr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 </a:t>
            </a:r>
            <a:r>
              <a:rPr sz="1200" i="1" dirty="0" err="1">
                <a:solidFill>
                  <a:srgbClr val="60A0B0"/>
                </a:solidFill>
                <a:latin typeface="Consolas" panose="020B0609020204030204" pitchFamily="49" charset="0"/>
              </a:rPr>
              <a:t>frei</a:t>
            </a:r>
            <a:r>
              <a:rPr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 </a:t>
            </a:r>
            <a:r>
              <a:rPr sz="1200" i="1" dirty="0" err="1">
                <a:solidFill>
                  <a:srgbClr val="60A0B0"/>
                </a:solidFill>
                <a:latin typeface="Consolas" panose="020B0609020204030204" pitchFamily="49" charset="0"/>
              </a:rPr>
              <a:t>im</a:t>
            </a:r>
            <a:r>
              <a:rPr sz="1200" i="1" dirty="0">
                <a:solidFill>
                  <a:srgbClr val="60A0B0"/>
                </a:solidFill>
                <a:latin typeface="Consolas" panose="020B0609020204030204" pitchFamily="49" charset="0"/>
              </a:rPr>
              <a:t> Raum</a:t>
            </a:r>
            <a:br>
              <a:rPr sz="1200" dirty="0">
                <a:latin typeface="Consolas" panose="020B0609020204030204" pitchFamily="49" charset="0"/>
              </a:rPr>
            </a:br>
            <a:r>
              <a:rPr sz="1200" dirty="0">
                <a:solidFill>
                  <a:srgbClr val="902000"/>
                </a:solidFill>
                <a:latin typeface="Consolas" panose="020B0609020204030204" pitchFamily="49" charset="0"/>
              </a:rPr>
              <a:t>void</a:t>
            </a:r>
            <a:r>
              <a:rPr sz="1200" dirty="0">
                <a:latin typeface="Consolas" panose="020B0609020204030204" pitchFamily="49" charset="0"/>
              </a:rPr>
              <a:t> </a:t>
            </a:r>
            <a:r>
              <a:rPr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DruckeBuerger</a:t>
            </a:r>
            <a:r>
              <a:rPr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sz="1200" dirty="0">
                <a:solidFill>
                  <a:srgbClr val="902000"/>
                </a:solidFill>
                <a:latin typeface="Consolas" panose="020B0609020204030204" pitchFamily="49" charset="0"/>
              </a:rPr>
              <a:t>string</a:t>
            </a:r>
            <a:r>
              <a:rPr sz="1200" dirty="0">
                <a:latin typeface="Consolas" panose="020B0609020204030204" pitchFamily="49" charset="0"/>
              </a:rPr>
              <a:t> v</a:t>
            </a:r>
            <a:r>
              <a:rPr sz="1200" dirty="0">
                <a:solidFill>
                  <a:srgbClr val="666666"/>
                </a:solidFill>
                <a:latin typeface="Consolas" panose="020B0609020204030204" pitchFamily="49" charset="0"/>
              </a:rPr>
              <a:t>,</a:t>
            </a:r>
            <a:r>
              <a:rPr sz="1200" dirty="0">
                <a:latin typeface="Consolas" panose="020B0609020204030204" pitchFamily="49" charset="0"/>
              </a:rPr>
              <a:t> </a:t>
            </a:r>
            <a:r>
              <a:rPr sz="1200" dirty="0">
                <a:solidFill>
                  <a:srgbClr val="902000"/>
                </a:solidFill>
                <a:latin typeface="Consolas" panose="020B0609020204030204" pitchFamily="49" charset="0"/>
              </a:rPr>
              <a:t>string</a:t>
            </a:r>
            <a:r>
              <a:rPr sz="1200" dirty="0">
                <a:latin typeface="Consolas" panose="020B0609020204030204" pitchFamily="49" charset="0"/>
              </a:rPr>
              <a:t> n</a:t>
            </a:r>
            <a:r>
              <a:rPr sz="1200" dirty="0">
                <a:solidFill>
                  <a:srgbClr val="666666"/>
                </a:solidFill>
                <a:latin typeface="Consolas" panose="020B0609020204030204" pitchFamily="49" charset="0"/>
              </a:rPr>
              <a:t>,</a:t>
            </a:r>
            <a:r>
              <a:rPr sz="1200" dirty="0">
                <a:latin typeface="Consolas" panose="020B0609020204030204" pitchFamily="49" charset="0"/>
              </a:rPr>
              <a:t> </a:t>
            </a:r>
            <a:r>
              <a:rPr sz="1200" dirty="0">
                <a:solidFill>
                  <a:srgbClr val="902000"/>
                </a:solidFill>
                <a:latin typeface="Consolas" panose="020B0609020204030204" pitchFamily="49" charset="0"/>
              </a:rPr>
              <a:t>int</a:t>
            </a:r>
            <a:r>
              <a:rPr sz="1200" dirty="0">
                <a:latin typeface="Consolas" panose="020B0609020204030204" pitchFamily="49" charset="0"/>
              </a:rPr>
              <a:t> a</a:t>
            </a:r>
            <a:r>
              <a:rPr sz="1200" dirty="0">
                <a:solidFill>
                  <a:srgbClr val="666666"/>
                </a:solidFill>
                <a:latin typeface="Consolas" panose="020B0609020204030204" pitchFamily="49" charset="0"/>
              </a:rPr>
              <a:t>)</a:t>
            </a:r>
            <a:r>
              <a:rPr sz="1200" dirty="0">
                <a:latin typeface="Consolas" panose="020B0609020204030204" pitchFamily="49" charset="0"/>
              </a:rPr>
              <a:t> </a:t>
            </a:r>
            <a:r>
              <a:rPr sz="1200" dirty="0">
                <a:solidFill>
                  <a:srgbClr val="666666"/>
                </a:solidFill>
                <a:latin typeface="Consolas" panose="020B0609020204030204" pitchFamily="49" charset="0"/>
              </a:rPr>
              <a:t>{</a:t>
            </a:r>
            <a:br>
              <a:rPr sz="1200" dirty="0">
                <a:latin typeface="Consolas" panose="020B0609020204030204" pitchFamily="49" charset="0"/>
              </a:rPr>
            </a:br>
            <a:r>
              <a:rPr sz="1200" dirty="0">
                <a:latin typeface="Consolas" panose="020B0609020204030204" pitchFamily="49" charset="0"/>
              </a:rPr>
              <a:t>    </a:t>
            </a:r>
            <a:r>
              <a:rPr sz="1200" dirty="0" err="1">
                <a:latin typeface="Consolas" panose="020B0609020204030204" pitchFamily="49" charset="0"/>
              </a:rPr>
              <a:t>Console</a:t>
            </a:r>
            <a:r>
              <a:rPr sz="1200" dirty="0" err="1">
                <a:solidFill>
                  <a:srgbClr val="666666"/>
                </a:solidFill>
                <a:latin typeface="Consolas" panose="020B0609020204030204" pitchFamily="49" charset="0"/>
              </a:rPr>
              <a:t>.</a:t>
            </a:r>
            <a:r>
              <a:rPr sz="1200" dirty="0" err="1">
                <a:solidFill>
                  <a:srgbClr val="06287E"/>
                </a:solidFill>
                <a:latin typeface="Consolas" panose="020B0609020204030204" pitchFamily="49" charset="0"/>
              </a:rPr>
              <a:t>WriteLine</a:t>
            </a:r>
            <a:r>
              <a:rPr sz="12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sz="1200" dirty="0">
                <a:latin typeface="Consolas" panose="020B0609020204030204" pitchFamily="49" charset="0"/>
              </a:rPr>
              <a:t>$</a:t>
            </a:r>
            <a:r>
              <a:rPr sz="1200" dirty="0">
                <a:solidFill>
                  <a:srgbClr val="4070A0"/>
                </a:solidFill>
                <a:latin typeface="Consolas" panose="020B0609020204030204" pitchFamily="49" charset="0"/>
              </a:rPr>
              <a:t>"{v} {n}, {a} Jahre"</a:t>
            </a:r>
            <a:r>
              <a:rPr sz="1200" dirty="0">
                <a:solidFill>
                  <a:srgbClr val="666666"/>
                </a:solidFill>
                <a:latin typeface="Consolas" panose="020B0609020204030204" pitchFamily="49" charset="0"/>
              </a:rPr>
              <a:t>);</a:t>
            </a:r>
            <a:br>
              <a:rPr sz="1200" dirty="0">
                <a:latin typeface="Consolas" panose="020B0609020204030204" pitchFamily="49" charset="0"/>
              </a:rPr>
            </a:br>
            <a:r>
              <a:rPr sz="1200" dirty="0">
                <a:solidFill>
                  <a:srgbClr val="666666"/>
                </a:solidFill>
                <a:latin typeface="Consolas" panose="020B0609020204030204" pitchFamily="49" charset="0"/>
              </a:rPr>
              <a:t>}</a:t>
            </a:r>
          </a:p>
          <a:p>
            <a:pPr marL="0" lvl="0" indent="0">
              <a:buNone/>
            </a:pPr>
            <a:r>
              <a:rPr b="1" dirty="0"/>
              <a:t>Problem:</a:t>
            </a:r>
            <a:r>
              <a:rPr dirty="0"/>
              <a:t> Wenn </a:t>
            </a:r>
            <a:r>
              <a:rPr dirty="0" err="1"/>
              <a:t>wir</a:t>
            </a:r>
            <a:r>
              <a:rPr dirty="0"/>
              <a:t> </a:t>
            </a:r>
            <a:r>
              <a:rPr dirty="0" err="1"/>
              <a:t>ein</a:t>
            </a:r>
            <a:r>
              <a:rPr dirty="0"/>
              <a:t> </a:t>
            </a:r>
            <a:r>
              <a:rPr dirty="0" err="1"/>
              <a:t>neues</a:t>
            </a:r>
            <a:r>
              <a:rPr dirty="0"/>
              <a:t> Datum (</a:t>
            </a:r>
            <a:r>
              <a:rPr dirty="0" err="1"/>
              <a:t>z.B.</a:t>
            </a:r>
            <a:r>
              <a:rPr dirty="0"/>
              <a:t> </a:t>
            </a:r>
            <a:r>
              <a:rPr dirty="0" err="1"/>
              <a:t>Adresse</a:t>
            </a:r>
            <a:r>
              <a:rPr dirty="0"/>
              <a:t>) </a:t>
            </a:r>
            <a:r>
              <a:rPr dirty="0" err="1"/>
              <a:t>hinzufügen</a:t>
            </a:r>
            <a:r>
              <a:rPr dirty="0"/>
              <a:t>, </a:t>
            </a:r>
            <a:r>
              <a:rPr dirty="0" err="1"/>
              <a:t>müssen</a:t>
            </a:r>
            <a:r>
              <a:rPr dirty="0"/>
              <a:t> </a:t>
            </a:r>
            <a:r>
              <a:rPr dirty="0" err="1"/>
              <a:t>wir</a:t>
            </a:r>
            <a:r>
              <a:rPr dirty="0"/>
              <a:t> alle </a:t>
            </a:r>
            <a:r>
              <a:rPr dirty="0" err="1"/>
              <a:t>Methodenköpfe</a:t>
            </a:r>
            <a:r>
              <a:rPr dirty="0"/>
              <a:t> </a:t>
            </a:r>
            <a:r>
              <a:rPr dirty="0" err="1"/>
              <a:t>im</a:t>
            </a:r>
            <a:r>
              <a:rPr dirty="0"/>
              <a:t> </a:t>
            </a:r>
            <a:r>
              <a:rPr dirty="0" err="1"/>
              <a:t>gesamten</a:t>
            </a:r>
            <a:r>
              <a:rPr dirty="0"/>
              <a:t> </a:t>
            </a:r>
            <a:r>
              <a:rPr dirty="0" err="1"/>
              <a:t>Programm</a:t>
            </a:r>
            <a:r>
              <a:rPr dirty="0"/>
              <a:t> </a:t>
            </a:r>
            <a:r>
              <a:rPr dirty="0" err="1"/>
              <a:t>ändern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Beispiel: Der objektorientierte Ansatz (Ziel)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19" y="1103179"/>
            <a:ext cx="5975078" cy="3603318"/>
          </a:xfrm>
        </p:spPr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dirty="0"/>
              <a:t>Wir </a:t>
            </a:r>
            <a:r>
              <a:rPr dirty="0" err="1"/>
              <a:t>bündeln</a:t>
            </a:r>
            <a:r>
              <a:rPr dirty="0"/>
              <a:t> </a:t>
            </a:r>
            <a:r>
              <a:rPr dirty="0" err="1"/>
              <a:t>Daten</a:t>
            </a:r>
            <a:r>
              <a:rPr dirty="0"/>
              <a:t> und Logik </a:t>
            </a:r>
            <a:r>
              <a:rPr dirty="0" err="1"/>
              <a:t>dort</a:t>
            </a:r>
            <a:r>
              <a:rPr dirty="0"/>
              <a:t>, wo </a:t>
            </a:r>
            <a:r>
              <a:rPr dirty="0" err="1"/>
              <a:t>sie</a:t>
            </a:r>
            <a:r>
              <a:rPr dirty="0"/>
              <a:t> </a:t>
            </a:r>
            <a:r>
              <a:rPr dirty="0" err="1"/>
              <a:t>hingehören</a:t>
            </a:r>
            <a:r>
              <a:rPr dirty="0"/>
              <a:t>: In das </a:t>
            </a:r>
            <a:r>
              <a:rPr dirty="0" err="1"/>
              <a:t>Objekt</a:t>
            </a:r>
            <a:r>
              <a:rPr dirty="0"/>
              <a:t> </a:t>
            </a:r>
            <a:r>
              <a:rPr dirty="0" err="1"/>
              <a:t>selbst</a:t>
            </a:r>
            <a:r>
              <a:rPr dirty="0"/>
              <a:t>.</a:t>
            </a:r>
            <a:br>
              <a:rPr lang="de-DE" dirty="0"/>
            </a:br>
            <a:endParaRPr dirty="0"/>
          </a:p>
          <a:p>
            <a:pPr lv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dirty="0">
                <a:solidFill>
                  <a:srgbClr val="007020"/>
                </a:solidFill>
                <a:latin typeface="Consolas" panose="020B0609020204030204" pitchFamily="49" charset="0"/>
              </a:rPr>
              <a:t>public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b="1" dirty="0">
                <a:solidFill>
                  <a:srgbClr val="007020"/>
                </a:solidFill>
                <a:latin typeface="Consolas" panose="020B0609020204030204" pitchFamily="49" charset="0"/>
              </a:rPr>
              <a:t>class</a:t>
            </a:r>
            <a:r>
              <a:rPr sz="1300" dirty="0">
                <a:latin typeface="Consolas" panose="020B0609020204030204" pitchFamily="49" charset="0"/>
              </a:rPr>
              <a:t> Buerger 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{</a:t>
            </a:r>
            <a:br>
              <a:rPr sz="1300" dirty="0">
                <a:latin typeface="Consolas" panose="020B0609020204030204" pitchFamily="49" charset="0"/>
              </a:rPr>
            </a:br>
            <a:r>
              <a:rPr sz="1300" dirty="0">
                <a:latin typeface="Consolas" panose="020B0609020204030204" pitchFamily="49" charset="0"/>
              </a:rPr>
              <a:t>    </a:t>
            </a:r>
            <a:r>
              <a:rPr sz="1300" b="1" dirty="0">
                <a:solidFill>
                  <a:srgbClr val="007020"/>
                </a:solidFill>
                <a:latin typeface="Consolas" panose="020B0609020204030204" pitchFamily="49" charset="0"/>
              </a:rPr>
              <a:t>public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dirty="0">
                <a:solidFill>
                  <a:srgbClr val="902000"/>
                </a:solidFill>
                <a:latin typeface="Consolas" panose="020B0609020204030204" pitchFamily="49" charset="0"/>
              </a:rPr>
              <a:t>string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dirty="0" err="1">
                <a:latin typeface="Consolas" panose="020B0609020204030204" pitchFamily="49" charset="0"/>
              </a:rPr>
              <a:t>Vorname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{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b="1" dirty="0">
                <a:solidFill>
                  <a:srgbClr val="007020"/>
                </a:solidFill>
                <a:latin typeface="Consolas" panose="020B0609020204030204" pitchFamily="49" charset="0"/>
              </a:rPr>
              <a:t>get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;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b="1" dirty="0">
                <a:solidFill>
                  <a:srgbClr val="007020"/>
                </a:solidFill>
                <a:latin typeface="Consolas" panose="020B0609020204030204" pitchFamily="49" charset="0"/>
              </a:rPr>
              <a:t>set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;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}</a:t>
            </a:r>
            <a:br>
              <a:rPr sz="1300" dirty="0">
                <a:latin typeface="Consolas" panose="020B0609020204030204" pitchFamily="49" charset="0"/>
              </a:rPr>
            </a:br>
            <a:r>
              <a:rPr sz="1300" dirty="0">
                <a:latin typeface="Consolas" panose="020B0609020204030204" pitchFamily="49" charset="0"/>
              </a:rPr>
              <a:t>    </a:t>
            </a:r>
            <a:r>
              <a:rPr sz="1300" b="1" dirty="0">
                <a:solidFill>
                  <a:srgbClr val="007020"/>
                </a:solidFill>
                <a:latin typeface="Consolas" panose="020B0609020204030204" pitchFamily="49" charset="0"/>
              </a:rPr>
              <a:t>public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dirty="0">
                <a:solidFill>
                  <a:srgbClr val="902000"/>
                </a:solidFill>
                <a:latin typeface="Consolas" panose="020B0609020204030204" pitchFamily="49" charset="0"/>
              </a:rPr>
              <a:t>string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dirty="0" err="1">
                <a:latin typeface="Consolas" panose="020B0609020204030204" pitchFamily="49" charset="0"/>
              </a:rPr>
              <a:t>Nachname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{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b="1" dirty="0">
                <a:solidFill>
                  <a:srgbClr val="007020"/>
                </a:solidFill>
                <a:latin typeface="Consolas" panose="020B0609020204030204" pitchFamily="49" charset="0"/>
              </a:rPr>
              <a:t>get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;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b="1" dirty="0">
                <a:solidFill>
                  <a:srgbClr val="007020"/>
                </a:solidFill>
                <a:latin typeface="Consolas" panose="020B0609020204030204" pitchFamily="49" charset="0"/>
              </a:rPr>
              <a:t>set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;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}</a:t>
            </a:r>
            <a:br>
              <a:rPr sz="1300" dirty="0">
                <a:latin typeface="Consolas" panose="020B0609020204030204" pitchFamily="49" charset="0"/>
              </a:rPr>
            </a:br>
            <a:r>
              <a:rPr sz="1300" dirty="0">
                <a:latin typeface="Consolas" panose="020B0609020204030204" pitchFamily="49" charset="0"/>
              </a:rPr>
              <a:t>    </a:t>
            </a:r>
            <a:r>
              <a:rPr sz="1300" b="1" dirty="0">
                <a:solidFill>
                  <a:srgbClr val="007020"/>
                </a:solidFill>
                <a:latin typeface="Consolas" panose="020B0609020204030204" pitchFamily="49" charset="0"/>
              </a:rPr>
              <a:t>public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dirty="0">
                <a:solidFill>
                  <a:srgbClr val="902000"/>
                </a:solidFill>
                <a:latin typeface="Consolas" panose="020B0609020204030204" pitchFamily="49" charset="0"/>
              </a:rPr>
              <a:t>int</a:t>
            </a:r>
            <a:r>
              <a:rPr sz="1300" dirty="0">
                <a:latin typeface="Consolas" panose="020B0609020204030204" pitchFamily="49" charset="0"/>
              </a:rPr>
              <a:t> Alter 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{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b="1" dirty="0">
                <a:solidFill>
                  <a:srgbClr val="007020"/>
                </a:solidFill>
                <a:latin typeface="Consolas" panose="020B0609020204030204" pitchFamily="49" charset="0"/>
              </a:rPr>
              <a:t>get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;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b="1" dirty="0">
                <a:solidFill>
                  <a:srgbClr val="007020"/>
                </a:solidFill>
                <a:latin typeface="Consolas" panose="020B0609020204030204" pitchFamily="49" charset="0"/>
              </a:rPr>
              <a:t>set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;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}</a:t>
            </a:r>
            <a:br>
              <a:rPr sz="1300" dirty="0">
                <a:latin typeface="Consolas" panose="020B0609020204030204" pitchFamily="49" charset="0"/>
              </a:rPr>
            </a:br>
            <a:br>
              <a:rPr sz="1300" dirty="0">
                <a:latin typeface="Consolas" panose="020B0609020204030204" pitchFamily="49" charset="0"/>
              </a:rPr>
            </a:br>
            <a:r>
              <a:rPr sz="1300" dirty="0">
                <a:latin typeface="Consolas" panose="020B0609020204030204" pitchFamily="49" charset="0"/>
              </a:rPr>
              <a:t>    </a:t>
            </a:r>
            <a:r>
              <a:rPr sz="1300" b="1" dirty="0">
                <a:solidFill>
                  <a:srgbClr val="007020"/>
                </a:solidFill>
                <a:latin typeface="Consolas" panose="020B0609020204030204" pitchFamily="49" charset="0"/>
              </a:rPr>
              <a:t>public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dirty="0">
                <a:solidFill>
                  <a:srgbClr val="902000"/>
                </a:solidFill>
                <a:latin typeface="Consolas" panose="020B0609020204030204" pitchFamily="49" charset="0"/>
              </a:rPr>
              <a:t>void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dirty="0" err="1">
                <a:solidFill>
                  <a:srgbClr val="06287E"/>
                </a:solidFill>
                <a:latin typeface="Consolas" panose="020B0609020204030204" pitchFamily="49" charset="0"/>
              </a:rPr>
              <a:t>Drucken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()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{</a:t>
            </a:r>
            <a:br>
              <a:rPr sz="1300" dirty="0">
                <a:latin typeface="Consolas" panose="020B0609020204030204" pitchFamily="49" charset="0"/>
              </a:rPr>
            </a:br>
            <a:r>
              <a:rPr sz="1300" dirty="0">
                <a:latin typeface="Consolas" panose="020B0609020204030204" pitchFamily="49" charset="0"/>
              </a:rPr>
              <a:t>        </a:t>
            </a:r>
            <a:r>
              <a:rPr sz="1300" dirty="0" err="1">
                <a:latin typeface="Consolas" panose="020B0609020204030204" pitchFamily="49" charset="0"/>
              </a:rPr>
              <a:t>Console</a:t>
            </a:r>
            <a:r>
              <a:rPr sz="1300" dirty="0" err="1">
                <a:solidFill>
                  <a:srgbClr val="666666"/>
                </a:solidFill>
                <a:latin typeface="Consolas" panose="020B0609020204030204" pitchFamily="49" charset="0"/>
              </a:rPr>
              <a:t>.</a:t>
            </a:r>
            <a:r>
              <a:rPr sz="1300" dirty="0" err="1">
                <a:solidFill>
                  <a:srgbClr val="06287E"/>
                </a:solidFill>
                <a:latin typeface="Consolas" panose="020B0609020204030204" pitchFamily="49" charset="0"/>
              </a:rPr>
              <a:t>WriteLine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sz="1300" dirty="0">
                <a:latin typeface="Consolas" panose="020B0609020204030204" pitchFamily="49" charset="0"/>
              </a:rPr>
              <a:t>$</a:t>
            </a:r>
            <a:r>
              <a:rPr sz="1300" dirty="0">
                <a:solidFill>
                  <a:srgbClr val="4070A0"/>
                </a:solidFill>
                <a:latin typeface="Consolas" panose="020B0609020204030204" pitchFamily="49" charset="0"/>
              </a:rPr>
              <a:t>"{</a:t>
            </a:r>
            <a:r>
              <a:rPr sz="1300" dirty="0" err="1">
                <a:solidFill>
                  <a:srgbClr val="4070A0"/>
                </a:solidFill>
                <a:latin typeface="Consolas" panose="020B0609020204030204" pitchFamily="49" charset="0"/>
              </a:rPr>
              <a:t>Vorname</a:t>
            </a:r>
            <a:r>
              <a:rPr sz="1300" dirty="0">
                <a:solidFill>
                  <a:srgbClr val="4070A0"/>
                </a:solidFill>
                <a:latin typeface="Consolas" panose="020B0609020204030204" pitchFamily="49" charset="0"/>
              </a:rPr>
              <a:t>} {</a:t>
            </a:r>
            <a:r>
              <a:rPr sz="1300" dirty="0" err="1">
                <a:solidFill>
                  <a:srgbClr val="4070A0"/>
                </a:solidFill>
                <a:latin typeface="Consolas" panose="020B0609020204030204" pitchFamily="49" charset="0"/>
              </a:rPr>
              <a:t>Nachname</a:t>
            </a:r>
            <a:r>
              <a:rPr sz="1300" dirty="0">
                <a:solidFill>
                  <a:srgbClr val="4070A0"/>
                </a:solidFill>
                <a:latin typeface="Consolas" panose="020B0609020204030204" pitchFamily="49" charset="0"/>
              </a:rPr>
              <a:t>}, {Alter} Jahre"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);</a:t>
            </a:r>
            <a:br>
              <a:rPr sz="1300" dirty="0">
                <a:latin typeface="Consolas" panose="020B0609020204030204" pitchFamily="49" charset="0"/>
              </a:rPr>
            </a:br>
            <a:r>
              <a:rPr sz="1300" dirty="0">
                <a:latin typeface="Consolas" panose="020B0609020204030204" pitchFamily="49" charset="0"/>
              </a:rPr>
              <a:t>    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}</a:t>
            </a:r>
            <a:br>
              <a:rPr sz="1300" dirty="0">
                <a:latin typeface="Consolas" panose="020B0609020204030204" pitchFamily="49" charset="0"/>
              </a:rPr>
            </a:b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}</a:t>
            </a:r>
            <a:br>
              <a:rPr sz="1300" dirty="0">
                <a:latin typeface="Consolas" panose="020B0609020204030204" pitchFamily="49" charset="0"/>
              </a:rPr>
            </a:br>
            <a:br>
              <a:rPr sz="1300" dirty="0">
                <a:latin typeface="Consolas" panose="020B0609020204030204" pitchFamily="49" charset="0"/>
              </a:rPr>
            </a:br>
            <a:r>
              <a:rPr sz="1300" i="1" dirty="0">
                <a:solidFill>
                  <a:srgbClr val="60A0B0"/>
                </a:solidFill>
                <a:latin typeface="Consolas" panose="020B0609020204030204" pitchFamily="49" charset="0"/>
              </a:rPr>
              <a:t>// </a:t>
            </a:r>
            <a:r>
              <a:rPr sz="1300" i="1" dirty="0" err="1">
                <a:solidFill>
                  <a:srgbClr val="60A0B0"/>
                </a:solidFill>
                <a:latin typeface="Consolas" panose="020B0609020204030204" pitchFamily="49" charset="0"/>
              </a:rPr>
              <a:t>Nutzung</a:t>
            </a:r>
            <a:br>
              <a:rPr sz="1300" dirty="0">
                <a:latin typeface="Consolas" panose="020B0609020204030204" pitchFamily="49" charset="0"/>
              </a:rPr>
            </a:br>
            <a:r>
              <a:rPr sz="1300" dirty="0">
                <a:solidFill>
                  <a:srgbClr val="902000"/>
                </a:solidFill>
                <a:latin typeface="Consolas" panose="020B0609020204030204" pitchFamily="49" charset="0"/>
              </a:rPr>
              <a:t>var</a:t>
            </a:r>
            <a:r>
              <a:rPr sz="1300" dirty="0">
                <a:latin typeface="Consolas" panose="020B0609020204030204" pitchFamily="49" charset="0"/>
              </a:rPr>
              <a:t> person 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=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b="1" dirty="0">
                <a:solidFill>
                  <a:srgbClr val="007020"/>
                </a:solidFill>
                <a:latin typeface="Consolas" panose="020B0609020204030204" pitchFamily="49" charset="0"/>
              </a:rPr>
              <a:t>new</a:t>
            </a:r>
            <a:r>
              <a:rPr sz="1300" dirty="0">
                <a:latin typeface="Consolas" panose="020B0609020204030204" pitchFamily="49" charset="0"/>
              </a:rPr>
              <a:t> Buerger 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{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dirty="0" err="1">
                <a:latin typeface="Consolas" panose="020B0609020204030204" pitchFamily="49" charset="0"/>
              </a:rPr>
              <a:t>Vorname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=</a:t>
            </a:r>
            <a:r>
              <a:rPr sz="1300" dirty="0">
                <a:solidFill>
                  <a:srgbClr val="4070A0"/>
                </a:solidFill>
                <a:latin typeface="Consolas" panose="020B0609020204030204" pitchFamily="49" charset="0"/>
              </a:rPr>
              <a:t>"Max"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,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dirty="0" err="1">
                <a:latin typeface="Consolas" panose="020B0609020204030204" pitchFamily="49" charset="0"/>
              </a:rPr>
              <a:t>Nachname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=</a:t>
            </a:r>
            <a:r>
              <a:rPr sz="1300" dirty="0">
                <a:solidFill>
                  <a:srgbClr val="4070A0"/>
                </a:solidFill>
                <a:latin typeface="Consolas" panose="020B0609020204030204" pitchFamily="49" charset="0"/>
              </a:rPr>
              <a:t>"</a:t>
            </a:r>
            <a:r>
              <a:rPr sz="1300" dirty="0" err="1">
                <a:solidFill>
                  <a:srgbClr val="4070A0"/>
                </a:solidFill>
                <a:latin typeface="Consolas" panose="020B0609020204030204" pitchFamily="49" charset="0"/>
              </a:rPr>
              <a:t>Mustermann</a:t>
            </a:r>
            <a:r>
              <a:rPr sz="1300" dirty="0">
                <a:solidFill>
                  <a:srgbClr val="4070A0"/>
                </a:solidFill>
                <a:latin typeface="Consolas" panose="020B0609020204030204" pitchFamily="49" charset="0"/>
              </a:rPr>
              <a:t>"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,</a:t>
            </a:r>
            <a:r>
              <a:rPr sz="1300" dirty="0">
                <a:latin typeface="Consolas" panose="020B0609020204030204" pitchFamily="49" charset="0"/>
              </a:rPr>
              <a:t> Alter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=</a:t>
            </a:r>
            <a:r>
              <a:rPr sz="1300" dirty="0">
                <a:solidFill>
                  <a:srgbClr val="40A070"/>
                </a:solidFill>
                <a:latin typeface="Consolas" panose="020B0609020204030204" pitchFamily="49" charset="0"/>
              </a:rPr>
              <a:t>25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};</a:t>
            </a:r>
            <a:br>
              <a:rPr sz="1300" dirty="0">
                <a:latin typeface="Consolas" panose="020B0609020204030204" pitchFamily="49" charset="0"/>
              </a:rPr>
            </a:br>
            <a:r>
              <a:rPr sz="1300" dirty="0" err="1">
                <a:latin typeface="Consolas" panose="020B0609020204030204" pitchFamily="49" charset="0"/>
              </a:rPr>
              <a:t>person</a:t>
            </a:r>
            <a:r>
              <a:rPr sz="1300" dirty="0" err="1">
                <a:solidFill>
                  <a:srgbClr val="666666"/>
                </a:solidFill>
                <a:latin typeface="Consolas" panose="020B0609020204030204" pitchFamily="49" charset="0"/>
              </a:rPr>
              <a:t>.</a:t>
            </a:r>
            <a:r>
              <a:rPr sz="1300" dirty="0" err="1">
                <a:solidFill>
                  <a:srgbClr val="06287E"/>
                </a:solidFill>
                <a:latin typeface="Consolas" panose="020B0609020204030204" pitchFamily="49" charset="0"/>
              </a:rPr>
              <a:t>Drucken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();</a:t>
            </a:r>
            <a:br>
              <a:rPr lang="de-DE" sz="1300" dirty="0">
                <a:solidFill>
                  <a:srgbClr val="666666"/>
                </a:solidFill>
                <a:latin typeface="Consolas" panose="020B0609020204030204" pitchFamily="49" charset="0"/>
              </a:rPr>
            </a:br>
            <a:endParaRPr sz="1300" dirty="0">
              <a:solidFill>
                <a:srgbClr val="666666"/>
              </a:solidFill>
              <a:latin typeface="Consolas" panose="020B0609020204030204" pitchFamily="49" charset="0"/>
            </a:endParaRPr>
          </a:p>
          <a:p>
            <a:pPr marL="0" lvl="0" indent="0">
              <a:buNone/>
            </a:pPr>
            <a:r>
              <a:rPr dirty="0"/>
              <a:t>Das </a:t>
            </a:r>
            <a:r>
              <a:rPr dirty="0" err="1"/>
              <a:t>Objekt</a:t>
            </a:r>
            <a:r>
              <a:rPr dirty="0"/>
              <a:t> </a:t>
            </a:r>
            <a:r>
              <a:rPr dirty="0" err="1"/>
              <a:t>verwaltet</a:t>
            </a:r>
            <a:r>
              <a:rPr dirty="0"/>
              <a:t> seinen </a:t>
            </a:r>
            <a:r>
              <a:rPr dirty="0" err="1"/>
              <a:t>eigenen</a:t>
            </a:r>
            <a:r>
              <a:rPr dirty="0"/>
              <a:t> </a:t>
            </a:r>
            <a:r>
              <a:rPr dirty="0" err="1"/>
              <a:t>Zustand</a:t>
            </a:r>
            <a:r>
              <a:rPr dirty="0"/>
              <a:t> und </a:t>
            </a:r>
            <a:r>
              <a:rPr dirty="0" err="1"/>
              <a:t>bietet</a:t>
            </a:r>
            <a:r>
              <a:rPr dirty="0"/>
              <a:t> </a:t>
            </a:r>
            <a:r>
              <a:rPr dirty="0" err="1"/>
              <a:t>Dienstleistungen</a:t>
            </a:r>
            <a:r>
              <a:rPr dirty="0"/>
              <a:t> (</a:t>
            </a:r>
            <a:r>
              <a:rPr dirty="0" err="1"/>
              <a:t>Methoden</a:t>
            </a:r>
            <a:r>
              <a:rPr dirty="0"/>
              <a:t>) an.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Teil 3: C# Refresher – Die Bausteine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CE2FEFE-C30A-8772-F382-C1DD0DC313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Klassen und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218" y="1103179"/>
            <a:ext cx="6240781" cy="3603318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Properties </a:t>
            </a:r>
            <a:r>
              <a:rPr dirty="0" err="1"/>
              <a:t>sind</a:t>
            </a:r>
            <a:r>
              <a:rPr dirty="0"/>
              <a:t> in C# das </a:t>
            </a:r>
            <a:r>
              <a:rPr dirty="0" err="1"/>
              <a:t>Standardwerkzeug</a:t>
            </a:r>
            <a:r>
              <a:rPr dirty="0"/>
              <a:t> für den </a:t>
            </a:r>
            <a:r>
              <a:rPr dirty="0" err="1"/>
              <a:t>Datenzugriff</a:t>
            </a:r>
            <a:r>
              <a:rPr dirty="0"/>
              <a:t>. </a:t>
            </a:r>
            <a:r>
              <a:rPr dirty="0" err="1"/>
              <a:t>Vermeiden</a:t>
            </a:r>
            <a:r>
              <a:rPr dirty="0"/>
              <a:t> Sie </a:t>
            </a:r>
            <a:r>
              <a:rPr dirty="0" err="1"/>
              <a:t>öffentliche</a:t>
            </a:r>
            <a:r>
              <a:rPr dirty="0"/>
              <a:t> Felder (Fields)!</a:t>
            </a:r>
          </a:p>
          <a:p>
            <a:pPr lv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dirty="0">
                <a:solidFill>
                  <a:srgbClr val="007020"/>
                </a:solidFill>
                <a:latin typeface="Consolas" panose="020B0609020204030204" pitchFamily="49" charset="0"/>
              </a:rPr>
              <a:t>public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b="1" dirty="0">
                <a:solidFill>
                  <a:srgbClr val="007020"/>
                </a:solidFill>
                <a:latin typeface="Consolas" panose="020B0609020204030204" pitchFamily="49" charset="0"/>
              </a:rPr>
              <a:t>class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dirty="0" err="1">
                <a:latin typeface="Consolas" panose="020B0609020204030204" pitchFamily="49" charset="0"/>
              </a:rPr>
              <a:t>Antrag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{</a:t>
            </a:r>
            <a:br>
              <a:rPr sz="1300" dirty="0">
                <a:latin typeface="Consolas" panose="020B0609020204030204" pitchFamily="49" charset="0"/>
              </a:rPr>
            </a:br>
            <a:r>
              <a:rPr sz="1300" dirty="0">
                <a:latin typeface="Consolas" panose="020B0609020204030204" pitchFamily="49" charset="0"/>
              </a:rPr>
              <a:t>    </a:t>
            </a:r>
            <a:r>
              <a:rPr sz="1300" i="1" dirty="0">
                <a:solidFill>
                  <a:srgbClr val="60A0B0"/>
                </a:solidFill>
                <a:latin typeface="Consolas" panose="020B0609020204030204" pitchFamily="49" charset="0"/>
              </a:rPr>
              <a:t>// Auto-Property: Compiler </a:t>
            </a:r>
            <a:r>
              <a:rPr sz="1300" i="1" dirty="0" err="1">
                <a:solidFill>
                  <a:srgbClr val="60A0B0"/>
                </a:solidFill>
                <a:latin typeface="Consolas" panose="020B0609020204030204" pitchFamily="49" charset="0"/>
              </a:rPr>
              <a:t>erstellt</a:t>
            </a:r>
            <a:r>
              <a:rPr sz="1300" i="1" dirty="0">
                <a:solidFill>
                  <a:srgbClr val="60A0B0"/>
                </a:solidFill>
                <a:latin typeface="Consolas" panose="020B0609020204030204" pitchFamily="49" charset="0"/>
              </a:rPr>
              <a:t> das Feld </a:t>
            </a:r>
            <a:r>
              <a:rPr sz="1300" i="1" dirty="0" err="1">
                <a:solidFill>
                  <a:srgbClr val="60A0B0"/>
                </a:solidFill>
                <a:latin typeface="Consolas" panose="020B0609020204030204" pitchFamily="49" charset="0"/>
              </a:rPr>
              <a:t>im</a:t>
            </a:r>
            <a:r>
              <a:rPr sz="1300" i="1" dirty="0">
                <a:solidFill>
                  <a:srgbClr val="60A0B0"/>
                </a:solidFill>
                <a:latin typeface="Consolas" panose="020B0609020204030204" pitchFamily="49" charset="0"/>
              </a:rPr>
              <a:t> </a:t>
            </a:r>
            <a:r>
              <a:rPr sz="1300" i="1" dirty="0" err="1">
                <a:solidFill>
                  <a:srgbClr val="60A0B0"/>
                </a:solidFill>
                <a:latin typeface="Consolas" panose="020B0609020204030204" pitchFamily="49" charset="0"/>
              </a:rPr>
              <a:t>Hintergrund</a:t>
            </a:r>
            <a:br>
              <a:rPr sz="1300" dirty="0">
                <a:latin typeface="Consolas" panose="020B0609020204030204" pitchFamily="49" charset="0"/>
              </a:rPr>
            </a:br>
            <a:r>
              <a:rPr sz="1300" dirty="0">
                <a:latin typeface="Consolas" panose="020B0609020204030204" pitchFamily="49" charset="0"/>
              </a:rPr>
              <a:t>    </a:t>
            </a:r>
            <a:r>
              <a:rPr sz="1300" b="1" dirty="0">
                <a:solidFill>
                  <a:srgbClr val="007020"/>
                </a:solidFill>
                <a:latin typeface="Consolas" panose="020B0609020204030204" pitchFamily="49" charset="0"/>
              </a:rPr>
              <a:t>public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dirty="0" err="1">
                <a:latin typeface="Consolas" panose="020B0609020204030204" pitchFamily="49" charset="0"/>
              </a:rPr>
              <a:t>DateTime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dirty="0" err="1">
                <a:latin typeface="Consolas" panose="020B0609020204030204" pitchFamily="49" charset="0"/>
              </a:rPr>
              <a:t>Eingangsdatum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{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b="1" dirty="0">
                <a:solidFill>
                  <a:srgbClr val="007020"/>
                </a:solidFill>
                <a:latin typeface="Consolas" panose="020B0609020204030204" pitchFamily="49" charset="0"/>
              </a:rPr>
              <a:t>get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;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b="1" dirty="0">
                <a:solidFill>
                  <a:srgbClr val="007020"/>
                </a:solidFill>
                <a:latin typeface="Consolas" panose="020B0609020204030204" pitchFamily="49" charset="0"/>
              </a:rPr>
              <a:t>set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;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}</a:t>
            </a:r>
            <a:br>
              <a:rPr sz="1300" dirty="0">
                <a:latin typeface="Consolas" panose="020B0609020204030204" pitchFamily="49" charset="0"/>
              </a:rPr>
            </a:br>
            <a:br>
              <a:rPr sz="1300" dirty="0">
                <a:latin typeface="Consolas" panose="020B0609020204030204" pitchFamily="49" charset="0"/>
              </a:rPr>
            </a:br>
            <a:r>
              <a:rPr sz="1300" dirty="0">
                <a:latin typeface="Consolas" panose="020B0609020204030204" pitchFamily="49" charset="0"/>
              </a:rPr>
              <a:t>    </a:t>
            </a:r>
            <a:r>
              <a:rPr sz="1300" i="1" dirty="0">
                <a:solidFill>
                  <a:srgbClr val="60A0B0"/>
                </a:solidFill>
                <a:latin typeface="Consolas" panose="020B0609020204030204" pitchFamily="49" charset="0"/>
              </a:rPr>
              <a:t>// Property </a:t>
            </a:r>
            <a:r>
              <a:rPr sz="1300" i="1" dirty="0" err="1">
                <a:solidFill>
                  <a:srgbClr val="60A0B0"/>
                </a:solidFill>
                <a:latin typeface="Consolas" panose="020B0609020204030204" pitchFamily="49" charset="0"/>
              </a:rPr>
              <a:t>mit</a:t>
            </a:r>
            <a:r>
              <a:rPr sz="1300" i="1" dirty="0">
                <a:solidFill>
                  <a:srgbClr val="60A0B0"/>
                </a:solidFill>
                <a:latin typeface="Consolas" panose="020B0609020204030204" pitchFamily="49" charset="0"/>
              </a:rPr>
              <a:t> Logik (Validation)</a:t>
            </a:r>
            <a:br>
              <a:rPr sz="1300" dirty="0">
                <a:latin typeface="Consolas" panose="020B0609020204030204" pitchFamily="49" charset="0"/>
              </a:rPr>
            </a:br>
            <a:r>
              <a:rPr sz="1300" dirty="0">
                <a:latin typeface="Consolas" panose="020B0609020204030204" pitchFamily="49" charset="0"/>
              </a:rPr>
              <a:t>    </a:t>
            </a:r>
            <a:r>
              <a:rPr sz="1300" b="1" dirty="0">
                <a:solidFill>
                  <a:srgbClr val="007020"/>
                </a:solidFill>
                <a:latin typeface="Consolas" panose="020B0609020204030204" pitchFamily="49" charset="0"/>
              </a:rPr>
              <a:t>private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dirty="0">
                <a:solidFill>
                  <a:srgbClr val="902000"/>
                </a:solidFill>
                <a:latin typeface="Consolas" panose="020B0609020204030204" pitchFamily="49" charset="0"/>
              </a:rPr>
              <a:t>string</a:t>
            </a:r>
            <a:r>
              <a:rPr sz="1300" dirty="0">
                <a:latin typeface="Consolas" panose="020B0609020204030204" pitchFamily="49" charset="0"/>
              </a:rPr>
              <a:t> _</a:t>
            </a:r>
            <a:r>
              <a:rPr sz="1300" dirty="0" err="1">
                <a:latin typeface="Consolas" panose="020B0609020204030204" pitchFamily="49" charset="0"/>
              </a:rPr>
              <a:t>steuerId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;</a:t>
            </a:r>
            <a:br>
              <a:rPr sz="1300" dirty="0">
                <a:latin typeface="Consolas" panose="020B0609020204030204" pitchFamily="49" charset="0"/>
              </a:rPr>
            </a:br>
            <a:r>
              <a:rPr sz="1300" dirty="0">
                <a:latin typeface="Consolas" panose="020B0609020204030204" pitchFamily="49" charset="0"/>
              </a:rPr>
              <a:t>    </a:t>
            </a:r>
            <a:r>
              <a:rPr sz="1300" b="1" dirty="0">
                <a:solidFill>
                  <a:srgbClr val="007020"/>
                </a:solidFill>
                <a:latin typeface="Consolas" panose="020B0609020204030204" pitchFamily="49" charset="0"/>
              </a:rPr>
              <a:t>public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dirty="0">
                <a:solidFill>
                  <a:srgbClr val="902000"/>
                </a:solidFill>
                <a:latin typeface="Consolas" panose="020B0609020204030204" pitchFamily="49" charset="0"/>
              </a:rPr>
              <a:t>string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dirty="0" err="1">
                <a:latin typeface="Consolas" panose="020B0609020204030204" pitchFamily="49" charset="0"/>
              </a:rPr>
              <a:t>SteuerId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{</a:t>
            </a:r>
            <a:br>
              <a:rPr sz="1300" dirty="0">
                <a:latin typeface="Consolas" panose="020B0609020204030204" pitchFamily="49" charset="0"/>
              </a:rPr>
            </a:br>
            <a:r>
              <a:rPr sz="1300" dirty="0">
                <a:latin typeface="Consolas" panose="020B0609020204030204" pitchFamily="49" charset="0"/>
              </a:rPr>
              <a:t>        get 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=&gt;</a:t>
            </a:r>
            <a:r>
              <a:rPr sz="1300" dirty="0">
                <a:latin typeface="Consolas" panose="020B0609020204030204" pitchFamily="49" charset="0"/>
              </a:rPr>
              <a:t> _</a:t>
            </a:r>
            <a:r>
              <a:rPr sz="1300" dirty="0" err="1">
                <a:latin typeface="Consolas" panose="020B0609020204030204" pitchFamily="49" charset="0"/>
              </a:rPr>
              <a:t>steuerId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;</a:t>
            </a:r>
            <a:br>
              <a:rPr sz="1300" dirty="0">
                <a:latin typeface="Consolas" panose="020B0609020204030204" pitchFamily="49" charset="0"/>
              </a:rPr>
            </a:br>
            <a:r>
              <a:rPr sz="1300" dirty="0">
                <a:latin typeface="Consolas" panose="020B0609020204030204" pitchFamily="49" charset="0"/>
              </a:rPr>
              <a:t>        </a:t>
            </a:r>
            <a:r>
              <a:rPr sz="1300" b="1" dirty="0">
                <a:solidFill>
                  <a:srgbClr val="007020"/>
                </a:solidFill>
                <a:latin typeface="Consolas" panose="020B0609020204030204" pitchFamily="49" charset="0"/>
              </a:rPr>
              <a:t>set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{</a:t>
            </a:r>
            <a:br>
              <a:rPr sz="1300" dirty="0">
                <a:latin typeface="Consolas" panose="020B0609020204030204" pitchFamily="49" charset="0"/>
              </a:rPr>
            </a:br>
            <a:r>
              <a:rPr sz="1300" dirty="0">
                <a:latin typeface="Consolas" panose="020B0609020204030204" pitchFamily="49" charset="0"/>
              </a:rPr>
              <a:t>            </a:t>
            </a:r>
            <a:r>
              <a:rPr sz="1300" b="1" dirty="0">
                <a:solidFill>
                  <a:srgbClr val="007020"/>
                </a:solidFill>
                <a:latin typeface="Consolas" panose="020B0609020204030204" pitchFamily="49" charset="0"/>
              </a:rPr>
              <a:t>if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sz="1300" dirty="0" err="1">
                <a:latin typeface="Consolas" panose="020B0609020204030204" pitchFamily="49" charset="0"/>
              </a:rPr>
              <a:t>value</a:t>
            </a:r>
            <a:r>
              <a:rPr sz="1300" dirty="0" err="1">
                <a:solidFill>
                  <a:srgbClr val="666666"/>
                </a:solidFill>
                <a:latin typeface="Consolas" panose="020B0609020204030204" pitchFamily="49" charset="0"/>
              </a:rPr>
              <a:t>.</a:t>
            </a:r>
            <a:r>
              <a:rPr sz="1300" dirty="0" err="1">
                <a:solidFill>
                  <a:srgbClr val="06287E"/>
                </a:solidFill>
                <a:latin typeface="Consolas" panose="020B0609020204030204" pitchFamily="49" charset="0"/>
              </a:rPr>
              <a:t>Length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!=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dirty="0">
                <a:solidFill>
                  <a:srgbClr val="40A070"/>
                </a:solidFill>
                <a:latin typeface="Consolas" panose="020B0609020204030204" pitchFamily="49" charset="0"/>
              </a:rPr>
              <a:t>11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)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b="1" dirty="0">
                <a:solidFill>
                  <a:srgbClr val="007020"/>
                </a:solidFill>
                <a:latin typeface="Consolas" panose="020B0609020204030204" pitchFamily="49" charset="0"/>
              </a:rPr>
              <a:t>throw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b="1" dirty="0">
                <a:solidFill>
                  <a:srgbClr val="007020"/>
                </a:solidFill>
                <a:latin typeface="Consolas" panose="020B0609020204030204" pitchFamily="49" charset="0"/>
              </a:rPr>
              <a:t>new</a:t>
            </a:r>
            <a:r>
              <a:rPr lang="de-DE" sz="1300" b="1" dirty="0">
                <a:solidFill>
                  <a:srgbClr val="007020"/>
                </a:solidFill>
                <a:latin typeface="Consolas" panose="020B0609020204030204" pitchFamily="49" charset="0"/>
              </a:rPr>
              <a:t>  </a:t>
            </a:r>
          </a:p>
          <a:p>
            <a:pPr lv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de-DE" sz="1300" b="1" dirty="0">
                <a:solidFill>
                  <a:srgbClr val="007020"/>
                </a:solidFill>
                <a:latin typeface="Consolas" panose="020B0609020204030204" pitchFamily="49" charset="0"/>
              </a:rPr>
              <a:t>                                       </a:t>
            </a:r>
            <a:r>
              <a:rPr sz="1300" dirty="0" err="1">
                <a:solidFill>
                  <a:srgbClr val="06287E"/>
                </a:solidFill>
                <a:latin typeface="Consolas" panose="020B0609020204030204" pitchFamily="49" charset="0"/>
              </a:rPr>
              <a:t>ArgumentException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(</a:t>
            </a:r>
            <a:r>
              <a:rPr sz="1300" dirty="0">
                <a:solidFill>
                  <a:srgbClr val="4070A0"/>
                </a:solidFill>
                <a:latin typeface="Consolas" panose="020B0609020204030204" pitchFamily="49" charset="0"/>
              </a:rPr>
              <a:t>"</a:t>
            </a:r>
            <a:r>
              <a:rPr sz="1300" dirty="0" err="1">
                <a:solidFill>
                  <a:srgbClr val="4070A0"/>
                </a:solidFill>
                <a:latin typeface="Consolas" panose="020B0609020204030204" pitchFamily="49" charset="0"/>
              </a:rPr>
              <a:t>Ungültig</a:t>
            </a:r>
            <a:r>
              <a:rPr sz="1300" dirty="0">
                <a:solidFill>
                  <a:srgbClr val="4070A0"/>
                </a:solidFill>
                <a:latin typeface="Consolas" panose="020B0609020204030204" pitchFamily="49" charset="0"/>
              </a:rPr>
              <a:t>"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);</a:t>
            </a:r>
            <a:br>
              <a:rPr sz="1300" dirty="0">
                <a:latin typeface="Consolas" panose="020B0609020204030204" pitchFamily="49" charset="0"/>
              </a:rPr>
            </a:br>
            <a:r>
              <a:rPr sz="1300" dirty="0">
                <a:latin typeface="Consolas" panose="020B0609020204030204" pitchFamily="49" charset="0"/>
              </a:rPr>
              <a:t>            _</a:t>
            </a:r>
            <a:r>
              <a:rPr sz="1300" dirty="0" err="1">
                <a:latin typeface="Consolas" panose="020B0609020204030204" pitchFamily="49" charset="0"/>
              </a:rPr>
              <a:t>steuerId</a:t>
            </a:r>
            <a:r>
              <a:rPr sz="1300" dirty="0">
                <a:latin typeface="Consolas" panose="020B0609020204030204" pitchFamily="49" charset="0"/>
              </a:rPr>
              <a:t> 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=</a:t>
            </a:r>
            <a:r>
              <a:rPr sz="1300" dirty="0">
                <a:latin typeface="Consolas" panose="020B0609020204030204" pitchFamily="49" charset="0"/>
              </a:rPr>
              <a:t> value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;</a:t>
            </a:r>
            <a:br>
              <a:rPr sz="1300" dirty="0">
                <a:latin typeface="Consolas" panose="020B0609020204030204" pitchFamily="49" charset="0"/>
              </a:rPr>
            </a:br>
            <a:r>
              <a:rPr sz="1300" dirty="0">
                <a:latin typeface="Consolas" panose="020B0609020204030204" pitchFamily="49" charset="0"/>
              </a:rPr>
              <a:t>        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}</a:t>
            </a:r>
            <a:br>
              <a:rPr sz="1300" dirty="0">
                <a:latin typeface="Consolas" panose="020B0609020204030204" pitchFamily="49" charset="0"/>
              </a:rPr>
            </a:br>
            <a:r>
              <a:rPr sz="1300" dirty="0">
                <a:latin typeface="Consolas" panose="020B0609020204030204" pitchFamily="49" charset="0"/>
              </a:rPr>
              <a:t>    </a:t>
            </a: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}</a:t>
            </a:r>
            <a:br>
              <a:rPr sz="1300" dirty="0">
                <a:latin typeface="Consolas" panose="020B0609020204030204" pitchFamily="49" charset="0"/>
              </a:rPr>
            </a:br>
            <a:r>
              <a:rPr sz="1300" dirty="0">
                <a:solidFill>
                  <a:srgbClr val="666666"/>
                </a:solidFill>
                <a:latin typeface="Consolas" panose="020B0609020204030204" pitchFamily="49" charset="0"/>
              </a:rPr>
              <a:t>}</a:t>
            </a:r>
          </a:p>
          <a:p>
            <a:pPr marL="0" lvl="0" indent="0">
              <a:buNone/>
            </a:pPr>
            <a:r>
              <a:rPr dirty="0"/>
              <a:t>Properties </a:t>
            </a:r>
            <a:r>
              <a:rPr dirty="0" err="1"/>
              <a:t>ermöglichen</a:t>
            </a:r>
            <a:r>
              <a:rPr dirty="0"/>
              <a:t> es </a:t>
            </a:r>
            <a:r>
              <a:rPr dirty="0" err="1"/>
              <a:t>uns</a:t>
            </a:r>
            <a:r>
              <a:rPr dirty="0"/>
              <a:t>, </a:t>
            </a:r>
            <a:r>
              <a:rPr dirty="0" err="1"/>
              <a:t>später</a:t>
            </a:r>
            <a:r>
              <a:rPr dirty="0"/>
              <a:t> Logik </a:t>
            </a:r>
            <a:r>
              <a:rPr dirty="0" err="1"/>
              <a:t>hinzuzufügen</a:t>
            </a:r>
            <a:r>
              <a:rPr dirty="0"/>
              <a:t>, </a:t>
            </a:r>
            <a:r>
              <a:rPr dirty="0" err="1"/>
              <a:t>ohne</a:t>
            </a:r>
            <a:r>
              <a:rPr dirty="0"/>
              <a:t> die </a:t>
            </a:r>
            <a:r>
              <a:rPr dirty="0" err="1"/>
              <a:t>Schnittstelle</a:t>
            </a:r>
            <a:r>
              <a:rPr dirty="0"/>
              <a:t> der Klasse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brechen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Kapselung und Sichtbarkeiten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Das Geheimnisprinzip (Information Hiding) besagt, dass ein Objekt seine internen Details verbergen sollte.</a:t>
            </a:r>
          </a:p>
          <a:p>
            <a:pPr lvl="0"/>
            <a:r>
              <a:rPr>
                <a:latin typeface="Courier"/>
              </a:rPr>
              <a:t>private</a:t>
            </a:r>
            <a:r>
              <a:t>: Standard für alle Felder. Nur die Klasse selbst kennt diese Daten.</a:t>
            </a:r>
          </a:p>
          <a:p>
            <a:pPr lvl="0"/>
            <a:r>
              <a:rPr>
                <a:latin typeface="Courier"/>
              </a:rPr>
              <a:t>public</a:t>
            </a:r>
            <a:r>
              <a:t>: Die öffentliche Schnittstelle der Klasse (der “Vertrag” mit der Außenwelt).</a:t>
            </a:r>
          </a:p>
          <a:p>
            <a:pPr lvl="0"/>
            <a:r>
              <a:rPr>
                <a:latin typeface="Courier"/>
              </a:rPr>
              <a:t>protected</a:t>
            </a:r>
            <a:r>
              <a:t>: Erlaubt Erben (Subklassen), auf Details zuzugreifen, hält sie aber vor dem Rest der Welt verborgen.</a:t>
            </a:r>
          </a:p>
          <a:p>
            <a:pPr lvl="0"/>
            <a:r>
              <a:rPr>
                <a:latin typeface="Courier"/>
              </a:rPr>
              <a:t>internal</a:t>
            </a:r>
            <a:r>
              <a:t>: Sichtbar innerhalb des gleichen Projekts/Assemblies.</a:t>
            </a:r>
          </a:p>
          <a:p>
            <a:pPr marL="0" lvl="0" indent="0">
              <a:buNone/>
            </a:pPr>
            <a:r>
              <a:rPr b="1"/>
              <a:t>Regel:</a:t>
            </a:r>
            <a:r>
              <a:t> So restriktiv wie möglich, so offen wie nötig.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Die Rolle von Konstruktoren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t>Ein Objekt sollte zu jedem Zeitpunkt in einem gültigen Zustand sein. Ein Konstruktor erzwingt die Bereitstellung von Pflichtdaten.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public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 Akte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public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902000"/>
                </a:solidFill>
                <a:latin typeface="Courier"/>
              </a:rPr>
              <a:t>string</a:t>
            </a:r>
            <a:r>
              <a:rPr>
                <a:latin typeface="Courier"/>
              </a:rPr>
              <a:t> Aktenzeichen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get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// Konstruktor erzwingt das Aktenzeichen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public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Akte</a:t>
            </a:r>
            <a:r>
              <a:rPr>
                <a:solidFill>
                  <a:srgbClr val="666666"/>
                </a:solidFill>
                <a:latin typeface="Courier"/>
              </a:rPr>
              <a:t>(</a:t>
            </a:r>
            <a:r>
              <a:rPr>
                <a:solidFill>
                  <a:srgbClr val="902000"/>
                </a:solidFill>
                <a:latin typeface="Courier"/>
              </a:rPr>
              <a:t>string</a:t>
            </a:r>
            <a:r>
              <a:rPr>
                <a:latin typeface="Courier"/>
              </a:rPr>
              <a:t> az</a:t>
            </a:r>
            <a:r>
              <a:rPr>
                <a:solidFill>
                  <a:srgbClr val="666666"/>
                </a:solidFill>
                <a:latin typeface="Courier"/>
              </a:rPr>
              <a:t>)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{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(</a:t>
            </a:r>
            <a:r>
              <a:rPr>
                <a:solidFill>
                  <a:srgbClr val="902000"/>
                </a:solidFill>
                <a:latin typeface="Courier"/>
              </a:rPr>
              <a:t>string</a:t>
            </a:r>
            <a:r>
              <a:rPr>
                <a:solidFill>
                  <a:srgbClr val="666666"/>
                </a:solidFill>
                <a:latin typeface="Courier"/>
              </a:rPr>
              <a:t>.</a:t>
            </a:r>
            <a:r>
              <a:rPr>
                <a:solidFill>
                  <a:srgbClr val="06287E"/>
                </a:solidFill>
                <a:latin typeface="Courier"/>
              </a:rPr>
              <a:t>IsNullOrWhiteSpace</a:t>
            </a:r>
            <a:r>
              <a:rPr>
                <a:solidFill>
                  <a:srgbClr val="666666"/>
                </a:solidFill>
                <a:latin typeface="Courier"/>
              </a:rPr>
              <a:t>(</a:t>
            </a:r>
            <a:r>
              <a:rPr>
                <a:latin typeface="Courier"/>
              </a:rPr>
              <a:t>az</a:t>
            </a:r>
            <a:r>
              <a:rPr>
                <a:solidFill>
                  <a:srgbClr val="666666"/>
                </a:solidFill>
                <a:latin typeface="Courier"/>
              </a:rPr>
              <a:t>))</a:t>
            </a:r>
            <a:r>
              <a:rPr>
                <a:latin typeface="Courier"/>
              </a:rPr>
              <a:t> </a:t>
            </a:r>
            <a:br/>
            <a:r>
              <a:rPr>
                <a:latin typeface="Courier"/>
              </a:rPr>
              <a:t>            </a:t>
            </a:r>
            <a:r>
              <a:rPr b="1">
                <a:solidFill>
                  <a:srgbClr val="007020"/>
                </a:solidFill>
                <a:latin typeface="Courier"/>
              </a:rPr>
              <a:t>throw</a:t>
            </a:r>
            <a:r>
              <a:rPr>
                <a:latin typeface="Courier"/>
              </a:rPr>
              <a:t> </a:t>
            </a:r>
            <a:r>
              <a:rPr b="1">
                <a:solidFill>
                  <a:srgbClr val="007020"/>
                </a:solidFill>
                <a:latin typeface="Courier"/>
              </a:rPr>
              <a:t>new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ArgumentException</a:t>
            </a:r>
            <a:r>
              <a:rPr>
                <a:solidFill>
                  <a:srgbClr val="666666"/>
                </a:solidFill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"Az darf nicht leer sein."</a:t>
            </a:r>
            <a:r>
              <a:rPr>
                <a:solidFill>
                  <a:srgbClr val="666666"/>
                </a:solidFill>
                <a:latin typeface="Courier"/>
              </a:rPr>
              <a:t>);</a:t>
            </a:r>
            <a:br/>
            <a:r>
              <a:rPr>
                <a:latin typeface="Courier"/>
              </a:rPr>
              <a:t>        Aktenzeichen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az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666666"/>
                </a:solidFill>
                <a:latin typeface="Courier"/>
              </a:rPr>
              <a:t>}</a:t>
            </a:r>
            <a:br/>
            <a:r>
              <a:rPr>
                <a:solidFill>
                  <a:srgbClr val="666666"/>
                </a:solidFill>
                <a:latin typeface="Courier"/>
              </a:rPr>
              <a:t>}</a:t>
            </a:r>
          </a:p>
          <a:p>
            <a:pPr marL="0" lvl="0" indent="0">
              <a:buNone/>
            </a:pPr>
            <a:r>
              <a:t>Ohne Konstruktor könnte jemand eine </a:t>
            </a:r>
            <a:r>
              <a:rPr>
                <a:latin typeface="Courier"/>
              </a:rPr>
              <a:t>Akte</a:t>
            </a:r>
            <a:r>
              <a:t> ohne </a:t>
            </a:r>
            <a:r>
              <a:rPr>
                <a:latin typeface="Courier"/>
              </a:rPr>
              <a:t>Aktenzeichen</a:t>
            </a:r>
            <a:r>
              <a:t> erstellen – ein logischer Fehler in unserem System.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Teil 4: Clean Code – Die Kunst der Namensgebung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6733553-45E4-B6ED-4538-A37C8B7ED3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Namen als Dokumentation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Guter Code benötigt kaum Kommentare, weil die Namen der Variablen, Methoden und Klassen die Absicht des Autors erklären.</a:t>
            </a:r>
          </a:p>
          <a:p>
            <a:pPr marL="0" lvl="0" indent="0">
              <a:buNone/>
            </a:pPr>
            <a:r>
              <a:rPr b="1"/>
              <a:t>Die goldene Regel:</a:t>
            </a:r>
            <a:r>
              <a:t> Wählen Sie Namen, die das “Warum” und “Was” erklären, nicht das “Wie”.</a:t>
            </a:r>
          </a:p>
          <a:p>
            <a:pPr lvl="0"/>
            <a:r>
              <a:rPr b="1"/>
              <a:t>Schlecht:</a:t>
            </a:r>
            <a:r>
              <a:t> </a:t>
            </a:r>
            <a:r>
              <a:rPr>
                <a:latin typeface="Courier"/>
              </a:rPr>
              <a:t>List&lt;string&gt; sList = new List&lt;string&gt;();</a:t>
            </a:r>
            <a:r>
              <a:t> (Sagt nur etwas über den Typ aus).</a:t>
            </a:r>
          </a:p>
          <a:p>
            <a:pPr lvl="0"/>
            <a:r>
              <a:rPr b="1"/>
              <a:t>Gut:</a:t>
            </a:r>
            <a:r>
              <a:t> </a:t>
            </a:r>
            <a:r>
              <a:rPr>
                <a:latin typeface="Courier"/>
              </a:rPr>
              <a:t>List&lt;string&gt; angemeldeteTeilnehmer = new List&lt;string&gt;();</a:t>
            </a:r>
            <a:r>
              <a:t> (Sagt etwas über den fachlichen Inhalt aus).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Keine Angst vor langen Namen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In der modernen Softwareentwicklung (mit Auto-Completion) sind kurze, kryptische Namen ein Hindernis.</a:t>
            </a:r>
          </a:p>
          <a:p>
            <a:pPr lvl="0"/>
            <a:r>
              <a:rPr b="1"/>
              <a:t>Vermeiden:</a:t>
            </a:r>
            <a:r>
              <a:t> </a:t>
            </a:r>
            <a:r>
              <a:rPr>
                <a:latin typeface="Courier"/>
              </a:rPr>
              <a:t>int d;</a:t>
            </a:r>
            <a:r>
              <a:t>, </a:t>
            </a:r>
            <a:r>
              <a:rPr>
                <a:latin typeface="Courier"/>
              </a:rPr>
              <a:t>var ret = true;</a:t>
            </a:r>
            <a:r>
              <a:t>, </a:t>
            </a:r>
            <a:r>
              <a:rPr>
                <a:latin typeface="Courier"/>
              </a:rPr>
              <a:t>void Proc(int i);</a:t>
            </a:r>
          </a:p>
          <a:p>
            <a:pPr lvl="0"/>
            <a:r>
              <a:rPr b="1"/>
              <a:t>Bevorzugen:</a:t>
            </a:r>
            <a:r>
              <a:t> </a:t>
            </a:r>
            <a:r>
              <a:rPr>
                <a:latin typeface="Courier"/>
              </a:rPr>
              <a:t>int tageSeitAntragseingang;</a:t>
            </a:r>
            <a:r>
              <a:t>, </a:t>
            </a:r>
            <a:r>
              <a:rPr>
                <a:latin typeface="Courier"/>
              </a:rPr>
              <a:t>var istWahlberechtigt = true;</a:t>
            </a:r>
            <a:r>
              <a:t>, </a:t>
            </a:r>
            <a:r>
              <a:rPr>
                <a:latin typeface="Courier"/>
              </a:rPr>
              <a:t>void RegistriereBuerger(int buergerId);</a:t>
            </a:r>
          </a:p>
          <a:p>
            <a:pPr marL="0" lvl="0" indent="0">
              <a:buNone/>
            </a:pPr>
            <a:r>
              <a:t>Besonders in der Verwaltung sind Fachbegriffe (z.B. </a:t>
            </a:r>
            <a:r>
              <a:rPr>
                <a:latin typeface="Courier"/>
              </a:rPr>
              <a:t>Verwaltungsverfahrensgesetz</a:t>
            </a:r>
            <a:r>
              <a:t>) oft lang. Schreiben Sie diese aus, statt eigene, unklare Abkürzungen zu erfinden.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Namenskonventionen in 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Halten Sie sich an den Microsoft-Standard für Konsistenz:</a:t>
            </a:r>
          </a:p>
          <a:p>
            <a:pPr lvl="0"/>
            <a:r>
              <a:rPr b="1"/>
              <a:t>PascalCase:</a:t>
            </a:r>
            <a:r>
              <a:t> Für Klassen, Methoden und Properties (</a:t>
            </a:r>
            <a:r>
              <a:rPr>
                <a:latin typeface="Courier"/>
              </a:rPr>
              <a:t>BuergerService</a:t>
            </a:r>
            <a:r>
              <a:t>, </a:t>
            </a:r>
            <a:r>
              <a:rPr>
                <a:latin typeface="Courier"/>
              </a:rPr>
              <a:t>BerechneBetrag</a:t>
            </a:r>
            <a:r>
              <a:t>, </a:t>
            </a:r>
            <a:r>
              <a:rPr>
                <a:latin typeface="Courier"/>
              </a:rPr>
              <a:t>Name</a:t>
            </a:r>
            <a:r>
              <a:t>).</a:t>
            </a:r>
          </a:p>
          <a:p>
            <a:pPr lvl="0"/>
            <a:r>
              <a:rPr b="1"/>
              <a:t>camelCase:</a:t>
            </a:r>
            <a:r>
              <a:t> Für lokale Variablen und Parameter (</a:t>
            </a:r>
            <a:r>
              <a:rPr>
                <a:latin typeface="Courier"/>
              </a:rPr>
              <a:t>aktuellerAntrag</a:t>
            </a:r>
            <a:r>
              <a:t>, </a:t>
            </a:r>
            <a:r>
              <a:rPr>
                <a:latin typeface="Courier"/>
              </a:rPr>
              <a:t>id</a:t>
            </a:r>
            <a:r>
              <a:t>).</a:t>
            </a:r>
          </a:p>
          <a:p>
            <a:pPr lvl="0"/>
            <a:r>
              <a:t>**_camelCase (mit Unterstrich):** Für private Felder (</a:t>
            </a:r>
            <a:r>
              <a:rPr>
                <a:latin typeface="Courier"/>
              </a:rPr>
              <a:t>_datenbankVerbindung</a:t>
            </a:r>
            <a:r>
              <a:t>).</a:t>
            </a:r>
          </a:p>
          <a:p>
            <a:pPr marL="0" lvl="0" indent="0">
              <a:buNone/>
            </a:pPr>
            <a:r>
              <a:t>Einheitlichkeit reduziert die kognitive Last beim Lesen von fremdem Code enorm.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Teil 5: Funktionen und Methoden-Design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A2A242D-3F5A-09AB-7CD8-B16625515E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Die “Do One Thing” Regel (SRP)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Eine Methode sollte genau eine Aufgabe erfüllen und diese vollständig erledigen. Wenn Sie eine Methode mit “Und” beschreiben müssen, ist sie wahrscheinlich zu groß.</a:t>
            </a:r>
          </a:p>
          <a:p>
            <a:pPr lvl="0"/>
            <a:r>
              <a:rPr b="1"/>
              <a:t>Schlecht:</a:t>
            </a:r>
            <a:r>
              <a:t> </a:t>
            </a:r>
            <a:r>
              <a:rPr>
                <a:latin typeface="Courier"/>
              </a:rPr>
              <a:t>void ValidierenUndSpeichern(Antrag a)</a:t>
            </a:r>
          </a:p>
          <a:p>
            <a:pPr lvl="0"/>
            <a:r>
              <a:rPr b="1"/>
              <a:t>Besser:</a:t>
            </a:r>
            <a:r>
              <a:t> Trennen in </a:t>
            </a:r>
            <a:r>
              <a:rPr>
                <a:latin typeface="Courier"/>
              </a:rPr>
              <a:t>bool IstAntragValide(Antrag a)</a:t>
            </a:r>
            <a:r>
              <a:t> und </a:t>
            </a:r>
            <a:r>
              <a:rPr>
                <a:latin typeface="Courier"/>
              </a:rPr>
              <a:t>void SpeichereAntrag(Antrag a)</a:t>
            </a:r>
            <a:r>
              <a:t>.</a:t>
            </a:r>
          </a:p>
          <a:p>
            <a:pPr marL="0" lvl="0" indent="0">
              <a:buNone/>
            </a:pPr>
            <a:r>
              <a:t>Kleine Methoden sind leichter zu verstehen, einfacher zu testen und fördern die Wiederverwendbarkeit.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Die optimale Länge einer Methode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Es </a:t>
            </a:r>
            <a:r>
              <a:rPr dirty="0" err="1"/>
              <a:t>gibt</a:t>
            </a:r>
            <a:r>
              <a:rPr dirty="0"/>
              <a:t> </a:t>
            </a:r>
            <a:r>
              <a:rPr dirty="0" err="1"/>
              <a:t>keine</a:t>
            </a:r>
            <a:r>
              <a:rPr dirty="0"/>
              <a:t> </a:t>
            </a:r>
            <a:r>
              <a:rPr dirty="0" err="1"/>
              <a:t>harte</a:t>
            </a:r>
            <a:r>
              <a:rPr dirty="0"/>
              <a:t> </a:t>
            </a:r>
            <a:r>
              <a:rPr dirty="0" err="1"/>
              <a:t>Grenze</a:t>
            </a:r>
            <a:r>
              <a:rPr dirty="0"/>
              <a:t>, </a:t>
            </a:r>
            <a:r>
              <a:rPr dirty="0" err="1"/>
              <a:t>aber</a:t>
            </a:r>
            <a:r>
              <a:rPr dirty="0"/>
              <a:t> </a:t>
            </a:r>
            <a:r>
              <a:rPr dirty="0" err="1"/>
              <a:t>eine</a:t>
            </a:r>
            <a:r>
              <a:rPr dirty="0"/>
              <a:t> </a:t>
            </a:r>
            <a:r>
              <a:rPr dirty="0" err="1"/>
              <a:t>gute</a:t>
            </a:r>
            <a:r>
              <a:rPr dirty="0"/>
              <a:t> </a:t>
            </a:r>
            <a:r>
              <a:rPr dirty="0" err="1"/>
              <a:t>Faustregel</a:t>
            </a:r>
            <a:r>
              <a:rPr dirty="0"/>
              <a:t> </a:t>
            </a:r>
            <a:r>
              <a:rPr dirty="0" err="1"/>
              <a:t>ist</a:t>
            </a:r>
            <a:r>
              <a:rPr dirty="0"/>
              <a:t>: </a:t>
            </a:r>
            <a:endParaRPr lang="de-DE" dirty="0"/>
          </a:p>
          <a:p>
            <a:pPr marL="0" lvl="0" indent="0">
              <a:buNone/>
            </a:pPr>
            <a:endParaRPr lang="de-DE" dirty="0"/>
          </a:p>
          <a:p>
            <a:pPr marL="144000" indent="-144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Symbol" panose="05050102010706020507" pitchFamily="18" charset="2"/>
              <a:buChar char="-"/>
            </a:pPr>
            <a:r>
              <a:rPr dirty="0"/>
              <a:t>Eine Methode </a:t>
            </a:r>
            <a:r>
              <a:rPr dirty="0" err="1"/>
              <a:t>sollte</a:t>
            </a:r>
            <a:r>
              <a:rPr dirty="0"/>
              <a:t> </a:t>
            </a:r>
            <a:r>
              <a:rPr dirty="0" err="1"/>
              <a:t>idealerweise</a:t>
            </a:r>
            <a:r>
              <a:rPr dirty="0"/>
              <a:t> auf </a:t>
            </a:r>
            <a:r>
              <a:rPr dirty="0" err="1"/>
              <a:t>einen</a:t>
            </a:r>
            <a:r>
              <a:rPr dirty="0"/>
              <a:t> </a:t>
            </a:r>
            <a:r>
              <a:rPr dirty="0" err="1"/>
              <a:t>Bildschirm</a:t>
            </a:r>
            <a:r>
              <a:rPr dirty="0"/>
              <a:t> </a:t>
            </a:r>
            <a:r>
              <a:rPr dirty="0" err="1"/>
              <a:t>passen</a:t>
            </a:r>
            <a:r>
              <a:rPr dirty="0"/>
              <a:t>, </a:t>
            </a:r>
            <a:r>
              <a:rPr dirty="0" err="1"/>
              <a:t>ohne</a:t>
            </a:r>
            <a:r>
              <a:rPr dirty="0"/>
              <a:t> </a:t>
            </a:r>
            <a:r>
              <a:rPr dirty="0" err="1"/>
              <a:t>dass</a:t>
            </a:r>
            <a:r>
              <a:rPr dirty="0"/>
              <a:t> man </a:t>
            </a:r>
            <a:r>
              <a:rPr dirty="0" err="1"/>
              <a:t>scrollen</a:t>
            </a:r>
            <a:r>
              <a:rPr dirty="0"/>
              <a:t> muss (ca. 5 </a:t>
            </a:r>
            <a:r>
              <a:rPr lang="de-DE" dirty="0"/>
              <a:t>–</a:t>
            </a:r>
            <a:r>
              <a:rPr dirty="0"/>
              <a:t> </a:t>
            </a:r>
            <a:r>
              <a:rPr lang="de-DE" dirty="0"/>
              <a:t>20 </a:t>
            </a:r>
            <a:r>
              <a:rPr dirty="0" err="1"/>
              <a:t>Zeilen</a:t>
            </a:r>
            <a:r>
              <a:rPr dirty="0"/>
              <a:t>). </a:t>
            </a:r>
            <a:endParaRPr lang="de-DE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  <a:p>
            <a:pPr marL="144000" indent="-144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Symbol" panose="05050102010706020507" pitchFamily="18" charset="2"/>
              <a:buChar char="-"/>
            </a:pPr>
            <a:r>
              <a:rPr dirty="0"/>
              <a:t>Wenn </a:t>
            </a:r>
            <a:r>
              <a:rPr dirty="0" err="1"/>
              <a:t>eine</a:t>
            </a:r>
            <a:r>
              <a:rPr dirty="0"/>
              <a:t> Methode 50 </a:t>
            </a:r>
            <a:r>
              <a:rPr dirty="0" err="1"/>
              <a:t>oder</a:t>
            </a:r>
            <a:r>
              <a:rPr dirty="0"/>
              <a:t> 100 </a:t>
            </a:r>
            <a:r>
              <a:rPr dirty="0" err="1"/>
              <a:t>Zeilen</a:t>
            </a:r>
            <a:r>
              <a:rPr dirty="0"/>
              <a:t> hat, </a:t>
            </a:r>
            <a:r>
              <a:rPr dirty="0" err="1"/>
              <a:t>enthält</a:t>
            </a:r>
            <a:r>
              <a:rPr dirty="0"/>
              <a:t> </a:t>
            </a:r>
            <a:r>
              <a:rPr dirty="0" err="1"/>
              <a:t>sie</a:t>
            </a:r>
            <a:r>
              <a:rPr dirty="0"/>
              <a:t> fast immer </a:t>
            </a:r>
            <a:r>
              <a:rPr dirty="0" err="1"/>
              <a:t>mehrere</a:t>
            </a:r>
            <a:r>
              <a:rPr dirty="0"/>
              <a:t> </a:t>
            </a:r>
            <a:r>
              <a:rPr dirty="0" err="1"/>
              <a:t>Verantwortlichkeiten</a:t>
            </a:r>
            <a:r>
              <a:rPr dirty="0"/>
              <a:t>, die </a:t>
            </a:r>
            <a:r>
              <a:rPr dirty="0" err="1"/>
              <a:t>extrahiert</a:t>
            </a:r>
            <a:r>
              <a:rPr dirty="0"/>
              <a:t> </a:t>
            </a:r>
            <a:r>
              <a:rPr dirty="0" err="1"/>
              <a:t>werden</a:t>
            </a:r>
            <a:r>
              <a:rPr dirty="0"/>
              <a:t> </a:t>
            </a:r>
            <a:r>
              <a:rPr dirty="0" err="1"/>
              <a:t>sollten</a:t>
            </a:r>
            <a:r>
              <a:rPr dirty="0"/>
              <a:t> (Refactoring: Extract Method).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Abstraktionsebenen in Methoden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Mischen Sie nicht verschiedene logische Ebenen in einer Funktion.</a:t>
            </a:r>
          </a:p>
          <a:p>
            <a:pPr lvl="0"/>
            <a:r>
              <a:rPr b="1"/>
              <a:t>High-Level:</a:t>
            </a:r>
            <a:r>
              <a:t> “Prüfe, ob der Bürger förderfähig ist.”</a:t>
            </a:r>
          </a:p>
          <a:p>
            <a:pPr lvl="0"/>
            <a:r>
              <a:rPr b="1"/>
              <a:t>Low-Level:</a:t>
            </a:r>
            <a:r>
              <a:t> “Suche in der SQL-Datenbank nach der ID 42.”</a:t>
            </a:r>
          </a:p>
          <a:p>
            <a:pPr marL="0" lvl="0" indent="0">
              <a:buNone/>
            </a:pPr>
            <a:r>
              <a:t>Eine gute Methode liest sich wie ein Inhaltsverzeichnis: Sie ruft andere spezialisierte Methoden auf, statt selbst alle Details zu implementieren.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Die Anzahl der Parameter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Je mehr Parameter eine Methode hat, desto schwerer ist sie zu verstehen und zu testen.</a:t>
            </a:r>
          </a:p>
          <a:p>
            <a:pPr lvl="0"/>
            <a:r>
              <a:rPr b="1"/>
              <a:t>0-2 Parameter:</a:t>
            </a:r>
            <a:r>
              <a:t> Ideal.</a:t>
            </a:r>
          </a:p>
          <a:p>
            <a:pPr lvl="0"/>
            <a:r>
              <a:rPr b="1"/>
              <a:t>3 Parameter:</a:t>
            </a:r>
            <a:r>
              <a:t> Akzeptabel, wenn nötig.</a:t>
            </a:r>
          </a:p>
          <a:p>
            <a:pPr lvl="0"/>
            <a:r>
              <a:rPr b="1"/>
              <a:t>4+ Parameter:</a:t>
            </a:r>
            <a:r>
              <a:t> Warnsignal! Fassen Sie zusammengehörige Parameter in einer eigenen Klasse oder Struktur zusammen (Parameter Object).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Teil 6: Code Smells und Anti-Patterns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77E0251-921D-F4CF-B049-C68110E185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Magic Numbers und Magic 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Zahlen oder Texte, die ohne Erklärung im Code stehen, nennt man “magisch”. Sie sind gefährlich, weil ihre Bedeutung unklar ist.</a:t>
            </a:r>
          </a:p>
          <a:p>
            <a:pPr lvl="0"/>
            <a:r>
              <a:rPr b="1"/>
              <a:t>Schlecht:</a:t>
            </a:r>
            <a:r>
              <a:t> </a:t>
            </a:r>
            <a:r>
              <a:rPr>
                <a:latin typeface="Courier"/>
              </a:rPr>
              <a:t>if (antrag.Status == 4) { ... }</a:t>
            </a:r>
            <a:r>
              <a:t> (Was ist 4?)</a:t>
            </a:r>
          </a:p>
          <a:p>
            <a:pPr lvl="0"/>
            <a:r>
              <a:rPr b="1"/>
              <a:t>Lösung:</a:t>
            </a:r>
            <a:r>
              <a:t> Nutzen Sie </a:t>
            </a:r>
            <a:r>
              <a:rPr>
                <a:latin typeface="Courier"/>
              </a:rPr>
              <a:t>Enums</a:t>
            </a:r>
            <a:r>
              <a:t>.</a:t>
            </a:r>
          </a:p>
          <a:p>
            <a:pPr lvl="0"/>
            <a:r>
              <a:rPr b="1"/>
              <a:t>Besser:</a:t>
            </a:r>
            <a:r>
              <a:t> </a:t>
            </a:r>
            <a:r>
              <a:rPr>
                <a:latin typeface="Courier"/>
              </a:rPr>
              <a:t>if (antrag.Status == Status.Abgelehnt) { ... }</a:t>
            </a:r>
          </a:p>
          <a:p>
            <a:pPr marL="0" lvl="0" indent="0">
              <a:buNone/>
            </a:pPr>
            <a:r>
              <a:t>Enums bieten Typsicherheit und machen den Code lesbar wie einen englischen (oder deutschen) Satz.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DRY – Don’t Repeat Yourself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Wiederholen Sie sich nicht. Redundanter Code ist die größte Fehlerquelle bei späteren Änderungen.</a:t>
            </a:r>
          </a:p>
          <a:p>
            <a:pPr marL="0" lvl="0" indent="0">
              <a:buNone/>
            </a:pPr>
            <a:r>
              <a:t>Wenn Sie die gleiche Logik (z.B. die Berechnung der Mehrwertsteuer) an drei Stellen haben, werden Sie bei einer Gesetzesänderung garantiert eine Stelle vergessen zu aktualisieren. </a:t>
            </a:r>
            <a:r>
              <a:rPr b="1"/>
              <a:t>Lösung:</a:t>
            </a:r>
            <a:r>
              <a:t> Logik in eine zentrale Methode oder Klasse auslagern.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KISS – Keep It Simple, Stupid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Wählen Sie immer die einfachste Lösung, die das Problem löst. Vermeiden Sie “Over-Engineering”.</a:t>
            </a:r>
          </a:p>
          <a:p>
            <a:pPr marL="0" lvl="0" indent="0">
              <a:buNone/>
            </a:pPr>
            <a:r>
              <a:t>Schreiben Sie keinen hochkomplexen, generischen Algorithmus, wenn eine einfache Schleife ausreicht. “Schlauer” Code ist oft schwer zu warten. Ihr Ziel ist </a:t>
            </a:r>
            <a:r>
              <a:rPr b="1"/>
              <a:t>klarer</a:t>
            </a:r>
            <a:r>
              <a:t> Code, kein beeindruckend komplizierter Code.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Teil 7: Kommentare und Dokumentation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5C3889D-2894-4931-2791-8ED4859367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Der Mythos vom “selbstdokumentierenden Code”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Code kann nie das “Warum” einer geschäftlichen Entscheidung erklären, aber er sollte immer das “Was” erklären können.</a:t>
            </a:r>
          </a:p>
          <a:p>
            <a:pPr lvl="0"/>
            <a:r>
              <a:rPr b="1"/>
              <a:t>Vermeiden:</a:t>
            </a:r>
            <a:r>
              <a:t> Kommentare, die den Code nur wiederholen. </a:t>
            </a:r>
            <a:r>
              <a:rPr>
                <a:latin typeface="Courier"/>
              </a:rPr>
              <a:t>i++; // i um eins erhöhen</a:t>
            </a:r>
          </a:p>
          <a:p>
            <a:pPr lvl="0"/>
            <a:r>
              <a:rPr b="1"/>
              <a:t>Vermeiden:</a:t>
            </a:r>
            <a:r>
              <a:t> Kommentare, die schlechten Code rechtfertigen. </a:t>
            </a:r>
            <a:r>
              <a:rPr>
                <a:latin typeface="Courier"/>
              </a:rPr>
              <a:t>// Dieser Teil ist etwas unübersichtlich, aber er funktioniert...</a:t>
            </a:r>
            <a:r>
              <a:t> -&gt; </a:t>
            </a:r>
            <a:r>
              <a:rPr b="1"/>
              <a:t>Lösung: Refactoring!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Wann sind Kommentare sinnvoll?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 err="1"/>
              <a:t>Nutzen</a:t>
            </a:r>
            <a:r>
              <a:rPr dirty="0"/>
              <a:t> Sie </a:t>
            </a:r>
            <a:r>
              <a:rPr dirty="0" err="1"/>
              <a:t>Kommentare</a:t>
            </a:r>
            <a:r>
              <a:rPr dirty="0"/>
              <a:t> </a:t>
            </a:r>
            <a:r>
              <a:rPr dirty="0" err="1"/>
              <a:t>sparsam</a:t>
            </a:r>
            <a:r>
              <a:rPr dirty="0"/>
              <a:t> und </a:t>
            </a:r>
            <a:r>
              <a:rPr dirty="0" err="1"/>
              <a:t>gezielt</a:t>
            </a:r>
            <a:r>
              <a:rPr dirty="0"/>
              <a:t> für: </a:t>
            </a:r>
            <a:endParaRPr lang="de-DE" dirty="0"/>
          </a:p>
          <a:p>
            <a:pPr marL="342900" lvl="0" indent="-342900">
              <a:buFont typeface="+mj-lt"/>
              <a:buAutoNum type="arabicPeriod"/>
            </a:pPr>
            <a:r>
              <a:rPr b="1" dirty="0" err="1"/>
              <a:t>Rechtliche</a:t>
            </a:r>
            <a:r>
              <a:rPr b="1" dirty="0"/>
              <a:t> </a:t>
            </a:r>
            <a:r>
              <a:rPr b="1" dirty="0" err="1"/>
              <a:t>Hinweise</a:t>
            </a:r>
            <a:r>
              <a:rPr b="1" dirty="0"/>
              <a:t>:</a:t>
            </a:r>
            <a:r>
              <a:rPr dirty="0"/>
              <a:t> </a:t>
            </a:r>
            <a:r>
              <a:rPr dirty="0" err="1"/>
              <a:t>Lizenzen</a:t>
            </a:r>
            <a:r>
              <a:rPr dirty="0"/>
              <a:t>, Copyright. </a:t>
            </a:r>
            <a:endParaRPr lang="de-DE" dirty="0"/>
          </a:p>
          <a:p>
            <a:pPr marL="342900" lvl="0" indent="-342900">
              <a:buFont typeface="+mj-lt"/>
              <a:buAutoNum type="arabicPeriod"/>
            </a:pPr>
            <a:r>
              <a:rPr b="1" dirty="0" err="1"/>
              <a:t>Warnungen</a:t>
            </a:r>
            <a:r>
              <a:rPr b="1" dirty="0"/>
              <a:t>:</a:t>
            </a:r>
            <a:r>
              <a:rPr dirty="0"/>
              <a:t> </a:t>
            </a:r>
            <a:br>
              <a:rPr lang="de-DE" dirty="0"/>
            </a:br>
            <a:r>
              <a:rPr dirty="0">
                <a:latin typeface="Courier"/>
              </a:rPr>
              <a:t>// Achtung: Der </a:t>
            </a:r>
            <a:r>
              <a:rPr dirty="0" err="1">
                <a:latin typeface="Courier"/>
              </a:rPr>
              <a:t>Aufruf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dauert</a:t>
            </a:r>
            <a:r>
              <a:rPr dirty="0">
                <a:latin typeface="Courier"/>
              </a:rPr>
              <a:t> ca. 30 </a:t>
            </a:r>
            <a:r>
              <a:rPr dirty="0" err="1">
                <a:latin typeface="Courier"/>
              </a:rPr>
              <a:t>Sekunden</a:t>
            </a:r>
            <a:r>
              <a:rPr dirty="0">
                <a:latin typeface="Courier"/>
              </a:rPr>
              <a:t> (API-Limit)</a:t>
            </a:r>
            <a:r>
              <a:rPr dirty="0"/>
              <a:t>. </a:t>
            </a:r>
            <a:endParaRPr lang="de-DE" dirty="0"/>
          </a:p>
          <a:p>
            <a:pPr marL="342900" lvl="0" indent="-342900">
              <a:buFont typeface="+mj-lt"/>
              <a:buAutoNum type="arabicPeriod"/>
            </a:pPr>
            <a:r>
              <a:rPr b="1" dirty="0" err="1"/>
              <a:t>Absichtserklärung</a:t>
            </a:r>
            <a:r>
              <a:rPr b="1" dirty="0"/>
              <a:t> (Das </a:t>
            </a:r>
            <a:r>
              <a:rPr b="1" dirty="0" err="1"/>
              <a:t>Warum</a:t>
            </a:r>
            <a:r>
              <a:rPr b="1" dirty="0"/>
              <a:t>):</a:t>
            </a:r>
            <a:r>
              <a:rPr dirty="0"/>
              <a:t> </a:t>
            </a:r>
            <a:br>
              <a:rPr lang="de-DE" dirty="0"/>
            </a:br>
            <a:r>
              <a:rPr dirty="0">
                <a:latin typeface="Courier"/>
              </a:rPr>
              <a:t>// Wir </a:t>
            </a:r>
            <a:r>
              <a:rPr dirty="0" err="1">
                <a:latin typeface="Courier"/>
              </a:rPr>
              <a:t>nutzen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hier</a:t>
            </a:r>
            <a:r>
              <a:rPr dirty="0">
                <a:latin typeface="Courier"/>
              </a:rPr>
              <a:t> den </a:t>
            </a:r>
            <a:r>
              <a:rPr dirty="0" err="1">
                <a:latin typeface="Courier"/>
              </a:rPr>
              <a:t>Algorithmus</a:t>
            </a:r>
            <a:r>
              <a:rPr dirty="0">
                <a:latin typeface="Courier"/>
              </a:rPr>
              <a:t> X, um </a:t>
            </a:r>
            <a:r>
              <a:rPr dirty="0" err="1">
                <a:latin typeface="Courier"/>
              </a:rPr>
              <a:t>Kompatibilität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mit</a:t>
            </a:r>
            <a:r>
              <a:rPr dirty="0">
                <a:latin typeface="Courier"/>
              </a:rPr>
              <a:t> System Y </a:t>
            </a:r>
            <a:r>
              <a:rPr dirty="0" err="1">
                <a:latin typeface="Courier"/>
              </a:rPr>
              <a:t>zu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gewährleisten</a:t>
            </a:r>
            <a:r>
              <a:rPr dirty="0"/>
              <a:t>. </a:t>
            </a:r>
            <a:endParaRPr lang="de-DE" dirty="0"/>
          </a:p>
          <a:p>
            <a:pPr marL="342900" lvl="0" indent="-342900">
              <a:buFont typeface="+mj-lt"/>
              <a:buAutoNum type="arabicPeriod"/>
            </a:pPr>
            <a:r>
              <a:rPr b="1" dirty="0"/>
              <a:t>TODOs:</a:t>
            </a:r>
            <a:r>
              <a:rPr dirty="0"/>
              <a:t> Um </a:t>
            </a:r>
            <a:r>
              <a:rPr dirty="0" err="1"/>
              <a:t>geplante</a:t>
            </a:r>
            <a:r>
              <a:rPr dirty="0"/>
              <a:t> </a:t>
            </a:r>
            <a:r>
              <a:rPr dirty="0" err="1"/>
              <a:t>Aufgaben</a:t>
            </a:r>
            <a:r>
              <a:rPr dirty="0"/>
              <a:t> </a:t>
            </a:r>
            <a:r>
              <a:rPr dirty="0" err="1"/>
              <a:t>temporär</a:t>
            </a:r>
            <a:r>
              <a:rPr dirty="0"/>
              <a:t> </a:t>
            </a:r>
            <a:r>
              <a:rPr dirty="0" err="1"/>
              <a:t>zu</a:t>
            </a:r>
            <a:r>
              <a:rPr dirty="0"/>
              <a:t> </a:t>
            </a:r>
            <a:r>
              <a:rPr dirty="0" err="1"/>
              <a:t>markieren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Teil 8: Refactoring in der Praxis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20D7610-F3BE-1E9A-1BE8-3B0E9E82CB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Was ist Refactoring genau?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Refactoring bedeutet: Die interne Struktur des Codes verbessern, </a:t>
            </a:r>
            <a:r>
              <a:rPr b="1"/>
              <a:t>ohne</a:t>
            </a:r>
            <a:r>
              <a:t> das beobachtbare äußere Verhalten zu ändern.</a:t>
            </a:r>
          </a:p>
          <a:p>
            <a:pPr marL="0" lvl="0" indent="0">
              <a:buNone/>
            </a:pPr>
            <a:r>
              <a:t>Es ist wie das Aufräumen einer Küche während des Kochens: Es dauert kurzzeitig länger, verhindert aber, dass man später im Chaos versinkt und die Bestellung (das Release) verpasst.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Die Boy Scout Rule (Pfadfinder-Regel)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“Hinterlasse den Code immer ein Stück sauberer, als du ihn vorgefunden hast.”</a:t>
            </a:r>
          </a:p>
          <a:p>
            <a:pPr marL="0" lvl="0" indent="0">
              <a:buNone/>
            </a:pPr>
            <a:r>
              <a:t>Wenn jeder Entwickler bei jeder Änderung nur eine kleine Variable besser benennt oder eine zu lange Methode aufteilt, verbessert sich die Code-Qualität kontinuierlich, statt langsam zu verrotten.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Teil 9: </a:t>
            </a:r>
            <a:r>
              <a:rPr dirty="0" err="1"/>
              <a:t>Zusammenfassung</a:t>
            </a:r>
            <a:endParaRPr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D089290-0A3B-CCF9-E37A-56528B7880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Die 5 wichtigsten Takeaways für heute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buAutoNum type="arabicPeriod"/>
            </a:pPr>
            <a:r>
              <a:t>Code wird für Menschen geschrieben, nicht nur für den Compiler.</a:t>
            </a:r>
          </a:p>
          <a:p>
            <a:pPr marL="342900" lvl="0" indent="-342900">
              <a:buAutoNum type="arabicPeriod"/>
            </a:pPr>
            <a:r>
              <a:t>Namen sind Ihre wichtigste Dokumentation.</a:t>
            </a:r>
          </a:p>
          <a:p>
            <a:pPr marL="342900" lvl="0" indent="-342900">
              <a:buAutoNum type="arabicPeriod"/>
            </a:pPr>
            <a:r>
              <a:t>Methoden sollten klein sein und nur eine Aufgabe haben.</a:t>
            </a:r>
          </a:p>
          <a:p>
            <a:pPr marL="342900" lvl="0" indent="-342900">
              <a:buAutoNum type="arabicPeriod"/>
            </a:pPr>
            <a:r>
              <a:t>Vermeiden Sie Redundanz (DRY) und magische Werte (Enums nutzen).</a:t>
            </a:r>
          </a:p>
          <a:p>
            <a:pPr marL="342900" lvl="0" indent="-342900">
              <a:buAutoNum type="arabicPeriod"/>
            </a:pPr>
            <a:r>
              <a:t>Refactoring ist ein integraler Bestandteil der täglichen Arbeit.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ückblick">
  <a:themeElements>
    <a:clrScheme name="Rückblick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ückblick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ückblick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9CC26709-368C-4D72-9060-94E5B3FF3CD6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2025</Words>
  <Application>Microsoft Office PowerPoint</Application>
  <PresentationFormat>Benutzerdefiniert</PresentationFormat>
  <Paragraphs>135</Paragraphs>
  <Slides>34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34</vt:i4>
      </vt:variant>
    </vt:vector>
  </HeadingPairs>
  <TitlesOfParts>
    <vt:vector size="41" baseType="lpstr">
      <vt:lpstr>Aptos</vt:lpstr>
      <vt:lpstr>Calibri</vt:lpstr>
      <vt:lpstr>Calibri Light</vt:lpstr>
      <vt:lpstr>Consolas</vt:lpstr>
      <vt:lpstr>Courier</vt:lpstr>
      <vt:lpstr>Symbol</vt:lpstr>
      <vt:lpstr>Rückblick</vt:lpstr>
      <vt:lpstr>Objektorientierte Programmierung</vt:lpstr>
      <vt:lpstr>Teil 1: Einleitung &amp; Die Relevanz von Code-Qualität</vt:lpstr>
      <vt:lpstr>Willkommen zum Vertiefungsfach</vt:lpstr>
      <vt:lpstr>Warum “Clean Code” in der Verwaltungsinformatik?</vt:lpstr>
      <vt:lpstr>Das “Broken Window” Prinzip</vt:lpstr>
      <vt:lpstr>Teil 2: Der Mindset-Shift zur OOP</vt:lpstr>
      <vt:lpstr>Prozedurales vs. Objektorientiertes Denken</vt:lpstr>
      <vt:lpstr>Beispiel: Der prozedurale Ansatz (Anti-Pattern)</vt:lpstr>
      <vt:lpstr>Beispiel: Der objektorientierte Ansatz (Ziel)</vt:lpstr>
      <vt:lpstr>Teil 3: C# Refresher – Die Bausteine</vt:lpstr>
      <vt:lpstr>Klassen und Properties</vt:lpstr>
      <vt:lpstr>Kapselung und Sichtbarkeiten</vt:lpstr>
      <vt:lpstr>Die Rolle von Konstruktoren</vt:lpstr>
      <vt:lpstr>Teil 4: Clean Code – Die Kunst der Namensgebung</vt:lpstr>
      <vt:lpstr>Namen als Dokumentation</vt:lpstr>
      <vt:lpstr>Keine Angst vor langen Namen</vt:lpstr>
      <vt:lpstr>Namenskonventionen in C</vt:lpstr>
      <vt:lpstr>Teil 5: Funktionen und Methoden-Design</vt:lpstr>
      <vt:lpstr>Die “Do One Thing” Regel (SRP)</vt:lpstr>
      <vt:lpstr>Die optimale Länge einer Methode</vt:lpstr>
      <vt:lpstr>Abstraktionsebenen in Methoden</vt:lpstr>
      <vt:lpstr>Die Anzahl der Parameter</vt:lpstr>
      <vt:lpstr>Teil 6: Code Smells und Anti-Patterns</vt:lpstr>
      <vt:lpstr>Magic Numbers und Magic Strings</vt:lpstr>
      <vt:lpstr>DRY – Don’t Repeat Yourself</vt:lpstr>
      <vt:lpstr>KISS – Keep It Simple, Stupid</vt:lpstr>
      <vt:lpstr>Teil 7: Kommentare und Dokumentation</vt:lpstr>
      <vt:lpstr>Der Mythos vom “selbstdokumentierenden Code”</vt:lpstr>
      <vt:lpstr>Wann sind Kommentare sinnvoll?</vt:lpstr>
      <vt:lpstr>Teil 8: Refactoring in der Praxis</vt:lpstr>
      <vt:lpstr>Was ist Refactoring genau?</vt:lpstr>
      <vt:lpstr>Die Boy Scout Rule (Pfadfinder-Regel)</vt:lpstr>
      <vt:lpstr>Teil 9: Zusammenfassung</vt:lpstr>
      <vt:lpstr>Die 5 wichtigsten Takeaways für heute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Entwicklung langlebiger Software</dc:title>
  <dc:creator>Peter Bernhardt</dc:creator>
  <cp:keywords/>
  <cp:lastModifiedBy>Peter Bernhardt</cp:lastModifiedBy>
  <cp:revision>1</cp:revision>
  <dcterms:created xsi:type="dcterms:W3CDTF">2026-03-18T16:32:38Z</dcterms:created>
  <dcterms:modified xsi:type="dcterms:W3CDTF">2026-04-21T11:31:34Z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2026</vt:lpwstr>
  </property>
  <property fmtid="{D5CDD505-2E9C-101B-9397-08002B2CF9AE}" pid="3" name="subtitle">
    <vt:lpwstr>Woche 1: Die Dimension Zeit &amp; Software-Erosion</vt:lpwstr>
  </property>
</Properties>
</file>