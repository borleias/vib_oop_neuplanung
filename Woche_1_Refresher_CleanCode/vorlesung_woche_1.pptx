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Objektorientierte Programmierung (Vertiefung)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Woche 1: Refresher &amp; Clean Code</a:t>
            </a:r>
            <a:br/>
            <a:br/>
            <a:r>
              <a:rPr/>
              <a:t>Dr. 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März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1: Einleitung &amp; Die Relevanz von Code-Qualität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Willkommen zum Vertiefungsfach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diesem Semester bewegen wir uns weg von der rein funktionalen Programmierung (“Es läuft”) hin zum Software-Engineering. Wir betrachten Software als ein langlebiges Produkt, das über Jahre oder Jahrzehnte gewartet und erweitert werden muss.</a:t>
            </a:r>
          </a:p>
          <a:p>
            <a:pPr lvl="0" indent="0" marL="0">
              <a:buNone/>
            </a:pPr>
            <a:r>
              <a:rPr b="1"/>
              <a:t>Lernziele für heute:</a:t>
            </a:r>
            <a:r>
              <a:rPr/>
              <a:t> - Den Übergang vom skriptbasierten zum objektorientierten Denken meistern. - Die Prinzipien von Clean Code verstehen und anwenden können. - Code-Gerüche (Code Smells) identifizieren und durch Refactoring beseitigen.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“Clean Code” in der Verwaltungsinformatik?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der öffentlichen Verwaltung begegnen uns oft Altsysteme (Legacy Code), die schwer zu ändern sind. Schlechter Code führt zu: - </a:t>
            </a:r>
            <a:r>
              <a:rPr b="1"/>
              <a:t>Technischen Schulden:</a:t>
            </a:r>
            <a:r>
              <a:rPr/>
              <a:t> Jede schnelle, unsaubere Lösung kostet uns später doppelt so viel Zeit. - </a:t>
            </a:r>
            <a:r>
              <a:rPr b="1"/>
              <a:t>Fehleranfälligkeit:</a:t>
            </a:r>
            <a:r>
              <a:rPr/>
              <a:t> Unübersichtlicher Code versteckt Bugs effektiver. - </a:t>
            </a:r>
            <a:r>
              <a:rPr b="1"/>
              <a:t>Wartungskosten:</a:t>
            </a:r>
            <a:r>
              <a:rPr/>
              <a:t> In der IT entfallen oft bis zu 80% der Gesamtkosten auf die Wartung nach dem Release.</a:t>
            </a:r>
          </a:p>
          <a:p>
            <a:pPr lvl="0" indent="0" marL="0">
              <a:buNone/>
            </a:pPr>
            <a:r>
              <a:rPr/>
              <a:t>Clean Code ist kein Selbstzweck, sondern eine ökonomische Notwendigkeit für nachhaltige Digitalisierung.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“Broken Window” Prinzip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Dieses Konzept aus der Kriminologie lässt sich perfekt auf die Softwareentwicklung übertragen: - Ein ungepflegtes Gebäude mit einem kaputten Fenster signalisiert: “Hier kümmert sich niemand”. Bald folgen weitere Fenster und Vandalismus. - </a:t>
            </a:r>
            <a:r>
              <a:rPr b="1"/>
              <a:t>Übertragung auf Code:</a:t>
            </a:r>
            <a:r>
              <a:rPr/>
              <a:t> Wenn ein Modul bereits unordentlich ist, neigen Entwickler dazu, ihren neuen Code ebenfalls unsauber hinzuzufügen (“Auf das bisschen Chaos kommt es auch nicht mehr an”). - </a:t>
            </a:r>
            <a:r>
              <a:rPr b="1"/>
              <a:t>Gegenmaßnahme:</a:t>
            </a:r>
            <a:r>
              <a:rPr/>
              <a:t> Halten Sie den Code von Anfang an sauber. Reparieren Sie “kaputte Fenster” sofort.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2: Der Mindset-Shift zur OOP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Prozedurales vs. Objektorientiertes Denken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Viele Studierende kommen aus der Welt der Skripte (Python, C, JavaScript-Snippets). Dort ist der Code eine lineare Abfolge von Befehlen.</a:t>
            </a:r>
          </a:p>
          <a:p>
            <a:pPr lvl="0" indent="0" marL="0">
              <a:buNone/>
            </a:pPr>
            <a:r>
              <a:rPr b="1"/>
              <a:t>Das prozedurale Paradigma:</a:t>
            </a:r>
            <a:r>
              <a:rPr/>
              <a:t> - Fokus auf den Algorithmus: “Was muss nacheinander passieren?” - Daten (Variablen) und Funktionen (Logik) sind getrennt.</a:t>
            </a:r>
          </a:p>
          <a:p>
            <a:pPr lvl="0" indent="0" marL="0">
              <a:buNone/>
            </a:pPr>
            <a:r>
              <a:rPr b="1"/>
              <a:t>Das objektorientierte Paradigma:</a:t>
            </a:r>
            <a:r>
              <a:rPr/>
              <a:t> - Fokus auf die Domäne: “Welche Akteure (Objekte) gibt es und was ist ihre Verantwortung?” - Daten und die Logik, die diese manipuliert, bilden eine Einheit (Kapselung).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Beispiel: Der prozedurale Ansatz (Anti-Pattern)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 sieht man Code, bei dem Daten lose als Arrays oder einfache Variablen verwaltet werden. Das führt zu unübersichtlichen Methodenaufrufen: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Daten sind lose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vorname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"Max"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nachname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"Mustermann"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alter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Die Logik schwebt frei im Raum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DruckeBuerger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v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"{v} {n}, {a} Jahre"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Problem:</a:t>
            </a:r>
            <a:r>
              <a:rPr/>
              <a:t> Wenn wir ein neues Datum (z.B. Adresse) hinzufügen, müssen wir alle Methodenköpfe im gesamten Programm ändern.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Beispiel: Der objektorientierte Ansatz (Ziel)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Wir bündeln Daten und Logik dort, wo sie hingehören: In das Objekt selbst.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Buerger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Vorname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Nachname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Drucken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"{Vorname} {Nachname}, {Alter} Jahre"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Nutzung</a:t>
            </a:r>
            <a:br/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person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Buerger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Vorname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"Max"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Nachname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"Mustermann"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Alter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Drucken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</a:p>
          <a:p>
            <a:pPr lvl="0" indent="0" marL="0">
              <a:buNone/>
            </a:pPr>
            <a:r>
              <a:rPr/>
              <a:t>Das Objekt verwaltet seinen eigenen Zustand und bietet Dienstleistungen (Methoden) an.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3: C# Refresher – Die Bausteine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Klassen und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Properties sind in C# das Standardwerkzeug für den Datenzugriff. Vermeiden Sie öffentliche Felder (Fields)!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Antrag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Auto-Property: Compiler erstellt das Feld im Hintergrund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Eingangsdatum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Property mit Logik (Validation)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_steuerId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SteuerId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get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_steuerId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ArgumentException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"Ungültig"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    _steuerId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Properties ermöglichen es uns, später Logik hinzuzufügen, ohne die Schnittstelle der Klasse zu brechen.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Kapselung und Sichtbarkeiten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Geheimnisprinzip (Information Hiding) besagt, dass ein Objekt seine internen Details verbergen sollte.</a:t>
            </a:r>
          </a:p>
          <a:p>
            <a:pPr lvl="0"/>
            <a:r>
              <a:rPr>
                <a:latin typeface="Courier"/>
              </a:rPr>
              <a:t>private</a:t>
            </a:r>
            <a:r>
              <a:rPr/>
              <a:t>: Standard für alle Felder. Nur die Klasse selbst kennt diese Daten.</a:t>
            </a:r>
          </a:p>
          <a:p>
            <a:pPr lvl="0"/>
            <a:r>
              <a:rPr>
                <a:latin typeface="Courier"/>
              </a:rPr>
              <a:t>public</a:t>
            </a:r>
            <a:r>
              <a:rPr/>
              <a:t>: Die öffentliche Schnittstelle der Klasse (der “Vertrag” mit der Außenwelt).</a:t>
            </a:r>
          </a:p>
          <a:p>
            <a:pPr lvl="0"/>
            <a:r>
              <a:rPr>
                <a:latin typeface="Courier"/>
              </a:rPr>
              <a:t>protected</a:t>
            </a:r>
            <a:r>
              <a:rPr/>
              <a:t>: Erlaubt Erben (Subklassen), auf Details zuzugreifen, hält sie aber vor dem Rest der Welt verborgen.</a:t>
            </a:r>
          </a:p>
          <a:p>
            <a:pPr lvl="0"/>
            <a:r>
              <a:rPr>
                <a:latin typeface="Courier"/>
              </a:rPr>
              <a:t>internal</a:t>
            </a:r>
            <a:r>
              <a:rPr/>
              <a:t>: Sichtbar innerhalb des gleichen Projekts/Assemblies.</a:t>
            </a:r>
          </a:p>
          <a:p>
            <a:pPr lvl="0" indent="0" marL="0">
              <a:buNone/>
            </a:pPr>
            <a:r>
              <a:rPr b="1"/>
              <a:t>Regel:</a:t>
            </a:r>
            <a:r>
              <a:rPr/>
              <a:t> So restriktiv wie möglich, so offen wie nötig.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Rolle von Konstruktoren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 Objekt sollte zu jedem Zeitpunkt in einem gültigen Zustand sein. Ein Konstruktor erzwingt die Bereitstellung von Pflichtdaten.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Akte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Aktenzeichen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Konstruktor erzwingt das Aktenzeichen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Akte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az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IsNullOrWhiteSpace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az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ArgumentException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"Az darf nicht leer sein."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Aktenzeichen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az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Ohne Konstruktor könnte jemand eine </a:t>
            </a:r>
            <a:r>
              <a:rPr>
                <a:latin typeface="Courier"/>
              </a:rPr>
              <a:t>Akte</a:t>
            </a:r>
            <a:r>
              <a:rPr/>
              <a:t> ohne </a:t>
            </a:r>
            <a:r>
              <a:rPr>
                <a:latin typeface="Courier"/>
              </a:rPr>
              <a:t>Aktenzeichen</a:t>
            </a:r>
            <a:r>
              <a:rPr/>
              <a:t> erstellen – ein logischer Fehler in unserem System.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4: Clean Code – Die Kunst der Namensgebung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Namen als Dokumentation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Guter Code benötigt kaum Kommentare, weil die Namen der Variablen, Methoden und Klassen die Absicht des Autors erklären.</a:t>
            </a:r>
          </a:p>
          <a:p>
            <a:pPr lvl="0" indent="0" marL="0">
              <a:buNone/>
            </a:pPr>
            <a:r>
              <a:rPr b="1"/>
              <a:t>Die goldene Regel:</a:t>
            </a:r>
            <a:r>
              <a:rPr/>
              <a:t> Wählen Sie Namen, die das “Warum” und “Was” erklären, nicht das “Wie”.</a:t>
            </a:r>
          </a:p>
          <a:p>
            <a:pPr lvl="0"/>
            <a:r>
              <a:rPr b="1"/>
              <a:t>Schlecht:</a:t>
            </a:r>
            <a:r>
              <a:rPr/>
              <a:t> </a:t>
            </a:r>
            <a:r>
              <a:rPr>
                <a:latin typeface="Courier"/>
              </a:rPr>
              <a:t>List&lt;string&gt; sList = new List&lt;string&gt;();</a:t>
            </a:r>
            <a:r>
              <a:rPr/>
              <a:t> (Sagt nur etwas über den Typ aus).</a:t>
            </a:r>
          </a:p>
          <a:p>
            <a:pPr lvl="0"/>
            <a:r>
              <a:rPr b="1"/>
              <a:t>Gut:</a:t>
            </a:r>
            <a:r>
              <a:rPr/>
              <a:t> </a:t>
            </a:r>
            <a:r>
              <a:rPr>
                <a:latin typeface="Courier"/>
              </a:rPr>
              <a:t>List&lt;string&gt; angemeldeteTeilnehmer = new List&lt;string&gt;();</a:t>
            </a:r>
            <a:r>
              <a:rPr/>
              <a:t> (Sagt etwas über den fachlichen Inhalt aus).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Keine Angst vor langen Namen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der modernen Softwareentwicklung (mit Auto-Completion) sind kurze, kryptische Namen ein Hindernis.</a:t>
            </a:r>
          </a:p>
          <a:p>
            <a:pPr lvl="0"/>
            <a:r>
              <a:rPr b="1"/>
              <a:t>Vermeiden:</a:t>
            </a:r>
            <a:r>
              <a:rPr/>
              <a:t> </a:t>
            </a:r>
            <a:r>
              <a:rPr>
                <a:latin typeface="Courier"/>
              </a:rPr>
              <a:t>int d;</a:t>
            </a:r>
            <a:r>
              <a:rPr/>
              <a:t>, </a:t>
            </a:r>
            <a:r>
              <a:rPr>
                <a:latin typeface="Courier"/>
              </a:rPr>
              <a:t>var ret = true;</a:t>
            </a:r>
            <a:r>
              <a:rPr/>
              <a:t>, </a:t>
            </a:r>
            <a:r>
              <a:rPr>
                <a:latin typeface="Courier"/>
              </a:rPr>
              <a:t>void Proc(int i);</a:t>
            </a:r>
          </a:p>
          <a:p>
            <a:pPr lvl="0"/>
            <a:r>
              <a:rPr b="1"/>
              <a:t>Bevorzugen:</a:t>
            </a:r>
            <a:r>
              <a:rPr/>
              <a:t> </a:t>
            </a:r>
            <a:r>
              <a:rPr>
                <a:latin typeface="Courier"/>
              </a:rPr>
              <a:t>int tageSeitAntragseingang;</a:t>
            </a:r>
            <a:r>
              <a:rPr/>
              <a:t>, </a:t>
            </a:r>
            <a:r>
              <a:rPr>
                <a:latin typeface="Courier"/>
              </a:rPr>
              <a:t>var istWahlberechtigt = true;</a:t>
            </a:r>
            <a:r>
              <a:rPr/>
              <a:t>, </a:t>
            </a:r>
            <a:r>
              <a:rPr>
                <a:latin typeface="Courier"/>
              </a:rPr>
              <a:t>void RegistriereBuerger(int buergerId);</a:t>
            </a:r>
          </a:p>
          <a:p>
            <a:pPr lvl="0" indent="0" marL="0">
              <a:buNone/>
            </a:pPr>
            <a:r>
              <a:rPr/>
              <a:t>Besonders in der Verwaltung sind Fachbegriffe (z.B. </a:t>
            </a:r>
            <a:r>
              <a:rPr>
                <a:latin typeface="Courier"/>
              </a:rPr>
              <a:t>Verwaltungsverfahrensgesetz</a:t>
            </a:r>
            <a:r>
              <a:rPr/>
              <a:t>) oft lang. Schreiben Sie diese aus, statt eigene, unklare Abkürzungen zu erfinden.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Namenskonventionen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Halten Sie sich an den Microsoft-Standard für Konsistenz:</a:t>
            </a:r>
          </a:p>
          <a:p>
            <a:pPr lvl="0"/>
            <a:r>
              <a:rPr b="1"/>
              <a:t>PascalCase:</a:t>
            </a:r>
            <a:r>
              <a:rPr/>
              <a:t> Für Klassen, Methoden und Properties (</a:t>
            </a:r>
            <a:r>
              <a:rPr>
                <a:latin typeface="Courier"/>
              </a:rPr>
              <a:t>BuergerService</a:t>
            </a:r>
            <a:r>
              <a:rPr/>
              <a:t>, </a:t>
            </a:r>
            <a:r>
              <a:rPr>
                <a:latin typeface="Courier"/>
              </a:rPr>
              <a:t>BerechneBetrag</a:t>
            </a:r>
            <a:r>
              <a:rPr/>
              <a:t>, </a:t>
            </a:r>
            <a:r>
              <a:rPr>
                <a:latin typeface="Courier"/>
              </a:rPr>
              <a:t>Name</a:t>
            </a:r>
            <a:r>
              <a:rPr/>
              <a:t>).</a:t>
            </a:r>
          </a:p>
          <a:p>
            <a:pPr lvl="0"/>
            <a:r>
              <a:rPr b="1"/>
              <a:t>camelCase:</a:t>
            </a:r>
            <a:r>
              <a:rPr/>
              <a:t> Für lokale Variablen und Parameter (</a:t>
            </a:r>
            <a:r>
              <a:rPr>
                <a:latin typeface="Courier"/>
              </a:rPr>
              <a:t>aktuellerAntrag</a:t>
            </a:r>
            <a:r>
              <a:rPr/>
              <a:t>, </a:t>
            </a:r>
            <a:r>
              <a:rPr>
                <a:latin typeface="Courier"/>
              </a:rPr>
              <a:t>id</a:t>
            </a:r>
            <a:r>
              <a:rPr/>
              <a:t>).</a:t>
            </a:r>
          </a:p>
          <a:p>
            <a:pPr lvl="0"/>
            <a:r>
              <a:rPr/>
              <a:t>**_camelCase (mit Unterstrich):** Für private Felder (</a:t>
            </a:r>
            <a:r>
              <a:rPr>
                <a:latin typeface="Courier"/>
              </a:rPr>
              <a:t>_datenbankVerbindung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Einheitlichkeit reduziert die kognitive Last beim Lesen von fremdem Code enorm.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5: Funktionen und Methoden-Design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“Do One Thing” Regel (SRP)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Eine Methode sollte genau eine Aufgabe erfüllen und diese vollständig erledigen. Wenn Sie eine Methode mit “Und” beschreiben müssen, ist sie wahrscheinlich zu groß.</a:t>
            </a:r>
          </a:p>
          <a:p>
            <a:pPr lvl="0"/>
            <a:r>
              <a:rPr b="1"/>
              <a:t>Schlecht:</a:t>
            </a:r>
            <a:r>
              <a:rPr/>
              <a:t> </a:t>
            </a:r>
            <a:r>
              <a:rPr>
                <a:latin typeface="Courier"/>
              </a:rPr>
              <a:t>void ValidierenUndSpeichern(Antrag a)</a:t>
            </a:r>
          </a:p>
          <a:p>
            <a:pPr lvl="0"/>
            <a:r>
              <a:rPr b="1"/>
              <a:t>Besser:</a:t>
            </a:r>
            <a:r>
              <a:rPr/>
              <a:t> Trennen in </a:t>
            </a:r>
            <a:r>
              <a:rPr>
                <a:latin typeface="Courier"/>
              </a:rPr>
              <a:t>bool IstAntragValide(Antrag a)</a:t>
            </a:r>
            <a:r>
              <a:rPr/>
              <a:t> und </a:t>
            </a:r>
            <a:r>
              <a:rPr>
                <a:latin typeface="Courier"/>
              </a:rPr>
              <a:t>void SpeichereAntrag(Antrag a)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Kleine Methoden sind leichter zu verstehen, einfacher zu testen und fördern die Wiederverwendbarkeit.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optimale Länge einer Methode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 gibt keine harte Grenze, aber eine gute Faustregel ist: - Eine Methode sollte idealerweise auf einen Bildschirm passen, ohne dass man scrollen muss (ca. 5 - 15 Zeilen). - Wenn eine Methode 50 oder 100 Zeilen hat, enthält sie fast immer mehrere Verantwortlichkeiten, die extrahiert werden sollten (Refactoring: Extract Method).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Abstraktionsebenen in Methoden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Mischen Sie nicht verschiedene logische Ebenen in einer Funktion.</a:t>
            </a:r>
          </a:p>
          <a:p>
            <a:pPr lvl="0"/>
            <a:r>
              <a:rPr b="1"/>
              <a:t>High-Level:</a:t>
            </a:r>
            <a:r>
              <a:rPr/>
              <a:t> “Prüfe, ob der Bürger förderfähig ist.”</a:t>
            </a:r>
          </a:p>
          <a:p>
            <a:pPr lvl="0"/>
            <a:r>
              <a:rPr b="1"/>
              <a:t>Low-Level:</a:t>
            </a:r>
            <a:r>
              <a:rPr/>
              <a:t> “Suche in der SQL-Datenbank nach der ID 42.”</a:t>
            </a:r>
          </a:p>
          <a:p>
            <a:pPr lvl="0" indent="0" marL="0">
              <a:buNone/>
            </a:pPr>
            <a:r>
              <a:rPr/>
              <a:t>Eine gute Methode liest sich wie ein Inhaltsverzeichnis: Sie ruft andere spezialisierte Methoden auf, statt selbst alle Details zu implementieren.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Anzahl der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 mehr Parameter eine Methode hat, desto schwerer ist sie zu verstehen und zu testen.</a:t>
            </a:r>
          </a:p>
          <a:p>
            <a:pPr lvl="0"/>
            <a:r>
              <a:rPr b="1"/>
              <a:t>0-2 Parameter:</a:t>
            </a:r>
            <a:r>
              <a:rPr/>
              <a:t> Ideal.</a:t>
            </a:r>
          </a:p>
          <a:p>
            <a:pPr lvl="0"/>
            <a:r>
              <a:rPr b="1"/>
              <a:t>3 Parameter:</a:t>
            </a:r>
            <a:r>
              <a:rPr/>
              <a:t> Akzeptabel, wenn nötig.</a:t>
            </a:r>
          </a:p>
          <a:p>
            <a:pPr lvl="0"/>
            <a:r>
              <a:rPr b="1"/>
              <a:t>4+ Parameter:</a:t>
            </a:r>
            <a:r>
              <a:rPr/>
              <a:t> Warnsignal! Fassen Sie zusammengehörige Parameter in einer eigenen Klasse oder Struktur zusammen (Parameter Object).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6: Code Smells und Anti-Patterns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Magic Numbers und Magic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Zahlen oder Texte, die ohne Erklärung im Code stehen, nennt man “magisch”. Sie sind gefährlich, weil ihre Bedeutung unklar ist.</a:t>
            </a:r>
          </a:p>
          <a:p>
            <a:pPr lvl="0"/>
            <a:r>
              <a:rPr b="1"/>
              <a:t>Schlecht:</a:t>
            </a:r>
            <a:r>
              <a:rPr/>
              <a:t> </a:t>
            </a:r>
            <a:r>
              <a:rPr>
                <a:latin typeface="Courier"/>
              </a:rPr>
              <a:t>if (antrag.Status == 4) { ... }</a:t>
            </a:r>
            <a:r>
              <a:rPr/>
              <a:t> (Was ist 4?)</a:t>
            </a:r>
          </a:p>
          <a:p>
            <a:pPr lvl="0"/>
            <a:r>
              <a:rPr b="1"/>
              <a:t>Lösung:</a:t>
            </a:r>
            <a:r>
              <a:rPr/>
              <a:t> Nutzen Sie </a:t>
            </a:r>
            <a:r>
              <a:rPr>
                <a:latin typeface="Courier"/>
              </a:rPr>
              <a:t>Enums</a:t>
            </a:r>
            <a:r>
              <a:rPr/>
              <a:t>.</a:t>
            </a:r>
          </a:p>
          <a:p>
            <a:pPr lvl="0"/>
            <a:r>
              <a:rPr b="1"/>
              <a:t>Besser:</a:t>
            </a:r>
            <a:r>
              <a:rPr/>
              <a:t> </a:t>
            </a:r>
            <a:r>
              <a:rPr>
                <a:latin typeface="Courier"/>
              </a:rPr>
              <a:t>if (antrag.Status == Status.Abgelehnt) { ... }</a:t>
            </a:r>
          </a:p>
          <a:p>
            <a:pPr lvl="0" indent="0" marL="0">
              <a:buNone/>
            </a:pPr>
            <a:r>
              <a:rPr/>
              <a:t>Enums bieten Typsicherheit und machen den Code lesbar wie einen englischen (oder deutschen) Satz.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DRY – Don’t Repeat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Wiederholen Sie sich nicht. Redundanter Code ist die größte Fehlerquelle bei späteren Änderungen.</a:t>
            </a:r>
          </a:p>
          <a:p>
            <a:pPr lvl="0" indent="0" marL="0">
              <a:buNone/>
            </a:pPr>
            <a:r>
              <a:rPr/>
              <a:t>Wenn Sie die gleiche Logik (z.B. die Berechnung der Mehrwertsteuer) an drei Stellen haben, werden Sie bei einer Gesetzesänderung garantiert eine Stelle vergessen zu aktualisieren. </a:t>
            </a:r>
            <a:r>
              <a:rPr b="1"/>
              <a:t>Lösung:</a:t>
            </a:r>
            <a:r>
              <a:rPr/>
              <a:t> Logik in eine zentrale Methode oder Klasse auslagern.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KISS – Keep It Simple, Stupid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Wählen Sie immer die einfachste Lösung, die das Problem löst. Vermeiden Sie “Over-Engineering”.</a:t>
            </a:r>
          </a:p>
          <a:p>
            <a:pPr lvl="0" indent="0" marL="0">
              <a:buNone/>
            </a:pPr>
            <a:r>
              <a:rPr/>
              <a:t>Schreiben Sie keinen hochkomplexen, generischen Algorithmus, wenn eine einfache Schleife ausreicht. “Schlauer” Code ist oft schwer zu warten. Ihr Ziel ist </a:t>
            </a:r>
            <a:r>
              <a:rPr b="1"/>
              <a:t>klarer</a:t>
            </a:r>
            <a:r>
              <a:rPr/>
              <a:t> Code, kein beeindruckend komplizierter Code.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7: Kommentare und Dokumentation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 Mythos vom “selbstdokumentierenden Code”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kann nie das “Warum” einer geschäftlichen Entscheidung erklären, aber er sollte immer das “Was” erklären können.</a:t>
            </a:r>
          </a:p>
          <a:p>
            <a:pPr lvl="0"/>
            <a:r>
              <a:rPr b="1"/>
              <a:t>Vermeiden:</a:t>
            </a:r>
            <a:r>
              <a:rPr/>
              <a:t> Kommentare, die den Code nur wiederholen. </a:t>
            </a:r>
            <a:r>
              <a:rPr>
                <a:latin typeface="Courier"/>
              </a:rPr>
              <a:t>i++; // i um eins erhöhen</a:t>
            </a:r>
          </a:p>
          <a:p>
            <a:pPr lvl="0"/>
            <a:r>
              <a:rPr b="1"/>
              <a:t>Vermeiden:</a:t>
            </a:r>
            <a:r>
              <a:rPr/>
              <a:t> Kommentare, die schlechten Code rechtfertigen. </a:t>
            </a:r>
            <a:r>
              <a:rPr>
                <a:latin typeface="Courier"/>
              </a:rPr>
              <a:t>// Dieser Teil ist etwas unübersichtlich, aber er funktioniert...</a:t>
            </a:r>
            <a:r>
              <a:rPr/>
              <a:t> -&gt; </a:t>
            </a:r>
            <a:r>
              <a:rPr b="1"/>
              <a:t>Lösung: Refactoring!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Wann sind Kommentare sinnvoll?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Nutzen Sie Kommentare sparsam und gezielt für: 1. </a:t>
            </a:r>
            <a:r>
              <a:rPr b="1"/>
              <a:t>Rechtliche Hinweise:</a:t>
            </a:r>
            <a:r>
              <a:rPr/>
              <a:t> Lizenzen, Copyright. 2. </a:t>
            </a:r>
            <a:r>
              <a:rPr b="1"/>
              <a:t>Warnungen:</a:t>
            </a:r>
            <a:r>
              <a:rPr/>
              <a:t> </a:t>
            </a:r>
            <a:r>
              <a:rPr>
                <a:latin typeface="Courier"/>
              </a:rPr>
              <a:t>// Achtung: Der Aufruf dauert ca. 30 Sekunden (API-Limit)</a:t>
            </a:r>
            <a:r>
              <a:rPr/>
              <a:t>. 3. </a:t>
            </a:r>
            <a:r>
              <a:rPr b="1"/>
              <a:t>Absichtserklärung (Das Warum):</a:t>
            </a:r>
            <a:r>
              <a:rPr/>
              <a:t> </a:t>
            </a:r>
            <a:r>
              <a:rPr>
                <a:latin typeface="Courier"/>
              </a:rPr>
              <a:t>// Wir nutzen hier den Algorithmus X, um Kompatibilität mit System Y zu gewährleisten</a:t>
            </a:r>
            <a:r>
              <a:rPr/>
              <a:t>. 4. </a:t>
            </a:r>
            <a:r>
              <a:rPr b="1"/>
              <a:t>TODOs:</a:t>
            </a:r>
            <a:r>
              <a:rPr/>
              <a:t> Um geplante Aufgaben temporär zu markieren.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8: Refactoring in der Praxis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Refactoring genau?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Refactoring bedeutet: Die interne Struktur des Codes verbessern, </a:t>
            </a:r>
            <a:r>
              <a:rPr b="1"/>
              <a:t>ohne</a:t>
            </a:r>
            <a:r>
              <a:rPr/>
              <a:t> das beobachtbare äußere Verhalten zu ändern.</a:t>
            </a:r>
          </a:p>
          <a:p>
            <a:pPr lvl="0" indent="0" marL="0">
              <a:buNone/>
            </a:pPr>
            <a:r>
              <a:rPr/>
              <a:t>Es ist wie das Aufräumen einer Küche während des Kochens: Es dauert kurzzeitig länger, verhindert aber, dass man später im Chaos versinkt und die Bestellung (das Release) verpasst.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Boy Scout Rule (Pfadfinder-Regel)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“Hinterlasse den Code immer ein Stück sauberer, als du ihn vorgefunden hast.”</a:t>
            </a:r>
          </a:p>
          <a:p>
            <a:pPr lvl="0" indent="0" marL="0">
              <a:buNone/>
            </a:pPr>
            <a:r>
              <a:rPr/>
              <a:t>Wenn jeder Entwickler bei jeder Änderung nur eine kleine Variable besser benennt oder eine zu lange Methode aufteilt, verbessert sich die Code-Qualität kontinuierlich, statt langsam zu verrotten.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Teil 9: Zusammenfassung und Übung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5 wichtigsten Takeaways für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Code wird für Menschen geschrieben, nicht nur für den Compiler.</a:t>
            </a:r>
          </a:p>
          <a:p>
            <a:pPr lvl="0" indent="-342900" marL="342900">
              <a:buAutoNum type="arabicPeriod"/>
            </a:pPr>
            <a:r>
              <a:rPr/>
              <a:t>Namen sind Ihre wichtigste Dokumentation.</a:t>
            </a:r>
          </a:p>
          <a:p>
            <a:pPr lvl="0" indent="-342900" marL="342900">
              <a:buAutoNum type="arabicPeriod"/>
            </a:pPr>
            <a:r>
              <a:rPr/>
              <a:t>Methoden sollten klein sein und nur eine Aufgabe haben.</a:t>
            </a:r>
          </a:p>
          <a:p>
            <a:pPr lvl="0" indent="-342900" marL="342900">
              <a:buAutoNum type="arabicPeriod"/>
            </a:pPr>
            <a:r>
              <a:rPr/>
              <a:t>Vermeiden Sie Redundanz (DRY) und magische Werte (Enums nutzen).</a:t>
            </a:r>
          </a:p>
          <a:p>
            <a:pPr lvl="0" indent="-342900" marL="342900">
              <a:buAutoNum type="arabicPeriod"/>
            </a:pPr>
            <a:r>
              <a:rPr/>
              <a:t>Refactoring ist ein integraler Bestandteil der täglichen Arbeit.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auf die Übung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der heutigen Übung werden Sie das “Dirty Library System” kennenlernen – ein Programm, das funktioniert, aber gegen fast alle Regeln verstößt, die wir heute besprochen haben.</a:t>
            </a:r>
          </a:p>
          <a:p>
            <a:pPr lvl="0" indent="0" marL="0">
              <a:buNone/>
            </a:pPr>
            <a:r>
              <a:rPr b="1"/>
              <a:t>Ihre Aufgabe:</a:t>
            </a:r>
            <a:r>
              <a:rPr/>
              <a:t> - Identifizieren Sie die Schwachstellen. - Führen Sie schrittweise Klassen für </a:t>
            </a:r>
            <a:r>
              <a:rPr>
                <a:latin typeface="Courier"/>
              </a:rPr>
              <a:t>Buch</a:t>
            </a:r>
            <a:r>
              <a:rPr/>
              <a:t> und </a:t>
            </a:r>
            <a:r>
              <a:rPr>
                <a:latin typeface="Courier"/>
              </a:rPr>
              <a:t>Nutzer</a:t>
            </a:r>
            <a:r>
              <a:rPr/>
              <a:t> ein. - Lagern Sie die Verwaltungslogik in spezialisierte Methoden aus. - Machen Sie den Code “sauber”.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Vielen Dank für Ihre Aufmerksamkeit!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Noch Fragen?</a:t>
            </a:r>
          </a:p>
          <a:p>
            <a:pPr lvl="0" indent="0" marL="0">
              <a:buNone/>
            </a:pPr>
            <a:r>
              <a:rPr/>
              <a:t>Falls nicht: Viel Erfolg beim Refactoring und beim Meistern der ersten Woche!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Objektorientierte Programmierung (Vertiefung)</dc:title>
  <dc:creator>Dr. Peter Bernhardt</dc:creator>
  <cp:keywords/>
  <dcterms:created xsi:type="dcterms:W3CDTF">2026-03-05T14:22:51Z</dcterms:created>
  <dcterms:modified xsi:type="dcterms:W3CDTF">2026-03-05T14:22:51Z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März 2026</vt:lpwstr>
  </property>
  <property fmtid="{D5CDD505-2E9C-101B-9397-08002B2CF9AE}" pid="3" name="section-titles">
    <vt:lpwstr>True</vt:lpwstr>
  </property>
  <property fmtid="{D5CDD505-2E9C-101B-9397-08002B2CF9AE}" pid="4" name="subtitle">
    <vt:lpwstr>Woche 1: Refresher &amp; Clean Code</vt:lpwstr>
  </property>
</Properties>
</file>