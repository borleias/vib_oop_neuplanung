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7" Type="http://schemas.openxmlformats.org/officeDocument/2006/relationships/viewProps" Target="viewProps.xml" /><Relationship Id="rId56" Type="http://schemas.openxmlformats.org/officeDocument/2006/relationships/presProps" Target="presProps.xml" /><Relationship Id="rId1" Type="http://schemas.openxmlformats.org/officeDocument/2006/relationships/slideMaster" Target="slideMasters/slideMaster1.xml" /><Relationship Id="rId59" Type="http://schemas.openxmlformats.org/officeDocument/2006/relationships/tableStyles" Target="tableStyles.xml" /><Relationship Id="rId5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Objektorientierte Programmierung (Vertiefung)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Woche 2: Design Patterns I – Struktur und Erzeugung</a:t>
            </a:r>
            <a:br/>
            <a:br/>
            <a:r>
              <a:rPr/>
              <a:t>Peter Bernhardt</a:t>
            </a:r>
          </a:p>
        </p:txBody>
      </p:sp>
      <p:sp>
        <p:nvSpPr>
          <p:cNvPr id="4" name="Date Placeholder 3"/>
          <p:cNvSpPr>
            <a:spLocks noGrp="1"/>
          </p:cNvSpPr>
          <p:nvPr>
            <p:ph idx="10" sz="half" type="dt"/>
          </p:nvPr>
        </p:nvSpPr>
        <p:spPr/>
        <p:txBody>
          <a:bodyPr/>
          <a:lstStyle/>
          <a:p>
            <a:pPr lvl="0" indent="0" marL="0">
              <a:buNone/>
            </a:pPr>
            <a:r>
              <a:rPr/>
              <a:t>März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1: Einführung in Design Patterns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Willkommen zu Woche 2</a:t>
            </a:r>
          </a:p>
        </p:txBody>
      </p:sp>
      <p:sp>
        <p:nvSpPr>
          <p:cNvPr id="3" name="Content Placeholder 2"/>
          <p:cNvSpPr>
            <a:spLocks noGrp="1"/>
          </p:cNvSpPr>
          <p:nvPr>
            <p:ph idx="1"/>
          </p:nvPr>
        </p:nvSpPr>
        <p:spPr/>
        <p:txBody>
          <a:bodyPr/>
          <a:lstStyle/>
          <a:p>
            <a:pPr lvl="0" indent="0" marL="0">
              <a:buNone/>
            </a:pPr>
            <a:r>
              <a:rPr/>
              <a:t>Nachdem wir uns in der ersten Woche mit Clean Code beschäftigt haben, gehen wir nun einen Schritt weiter: zum Software-Design. Wir schauen uns an, wie man architektonische Probleme löst, die immer wieder auftreten.</a:t>
            </a:r>
          </a:p>
          <a:p>
            <a:pPr lvl="0" indent="0" marL="0">
              <a:buNone/>
            </a:pPr>
            <a:r>
              <a:rPr b="1"/>
              <a:t>Lernziele:</a:t>
            </a:r>
          </a:p>
          <a:p>
            <a:pPr lvl="0"/>
            <a:r>
              <a:rPr/>
              <a:t>Das Konzept der Design Patterns verstehen.</a:t>
            </a:r>
          </a:p>
          <a:p>
            <a:pPr lvl="0"/>
            <a:r>
              <a:rPr/>
              <a:t>Erzeugungsmuster (Singleton, Factory Method) anwenden.</a:t>
            </a:r>
          </a:p>
          <a:p>
            <a:pPr lvl="0"/>
            <a:r>
              <a:rPr/>
              <a:t>Strukturmuster (Adapter, Decorator) in der Praxis nutzen.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Was sind Design Patterns?</a:t>
            </a:r>
          </a:p>
        </p:txBody>
      </p:sp>
      <p:sp>
        <p:nvSpPr>
          <p:cNvPr id="3" name="Content Placeholder 2"/>
          <p:cNvSpPr>
            <a:spLocks noGrp="1"/>
          </p:cNvSpPr>
          <p:nvPr>
            <p:ph idx="1"/>
          </p:nvPr>
        </p:nvSpPr>
        <p:spPr/>
        <p:txBody>
          <a:bodyPr/>
          <a:lstStyle/>
          <a:p>
            <a:pPr lvl="0" indent="0" marL="0">
              <a:buNone/>
            </a:pPr>
            <a:r>
              <a:rPr/>
              <a:t>Design Patterns (Entwurfsmuster) sind bewährte Lösungsschablonen für wiederkehrende Probleme im Software-Design.</a:t>
            </a:r>
          </a:p>
          <a:p>
            <a:pPr lvl="0"/>
            <a:r>
              <a:rPr/>
              <a:t>Sie wurden maßgeblich durch die “Gang of Four” (GoF) im Jahr 1994 formalisiert.</a:t>
            </a:r>
          </a:p>
          <a:p>
            <a:pPr lvl="0"/>
            <a:r>
              <a:rPr/>
              <a:t>Es sind keine fertigen Code-Schnipsel, sondern abstrakte Konzepte.</a:t>
            </a:r>
          </a:p>
          <a:p>
            <a:pPr lvl="0"/>
            <a:r>
              <a:rPr/>
              <a:t>Sie bilden ein gemeinsames Vokabular für Entwickler.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Warum Design Patterns in der Verwaltung?</a:t>
            </a:r>
          </a:p>
        </p:txBody>
      </p:sp>
      <p:sp>
        <p:nvSpPr>
          <p:cNvPr id="3" name="Content Placeholder 2"/>
          <p:cNvSpPr>
            <a:spLocks noGrp="1"/>
          </p:cNvSpPr>
          <p:nvPr>
            <p:ph idx="1"/>
          </p:nvPr>
        </p:nvSpPr>
        <p:spPr/>
        <p:txBody>
          <a:bodyPr/>
          <a:lstStyle/>
          <a:p>
            <a:pPr lvl="0" indent="0" marL="0">
              <a:buNone/>
            </a:pPr>
            <a:r>
              <a:rPr/>
              <a:t>Gerade in der Verwaltungsinformatik baut man Systeme für die “Ewigkeit”.</a:t>
            </a:r>
          </a:p>
          <a:p>
            <a:pPr lvl="0"/>
            <a:r>
              <a:rPr b="1"/>
              <a:t>Lange “Lebensdauer:</a:t>
            </a:r>
            <a:r>
              <a:rPr/>
              <a:t> Begrenzte Mittel bedingen lange Lebenszyklen.</a:t>
            </a:r>
          </a:p>
          <a:p>
            <a:pPr lvl="0"/>
            <a:r>
              <a:rPr b="1"/>
              <a:t>Gesetzesänderungen:</a:t>
            </a:r>
            <a:r>
              <a:rPr/>
              <a:t> Algorithmen ändern sich, das System muss flexibel bleiben.</a:t>
            </a:r>
          </a:p>
          <a:p>
            <a:pPr lvl="0"/>
            <a:r>
              <a:rPr b="1"/>
              <a:t>Legacy-Systeme:</a:t>
            </a:r>
            <a:r>
              <a:rPr/>
              <a:t> Wir müssen oft alte mit neuen Systemen verbinden.</a:t>
            </a:r>
          </a:p>
          <a:p>
            <a:pPr lvl="0"/>
            <a:r>
              <a:rPr/>
              <a:t>Patterns helfen uns, robuste, erweiterbare und wartbare Architekturen zu schaffen.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Drei Kategorien von Mustern</a:t>
            </a:r>
          </a:p>
        </p:txBody>
      </p:sp>
      <p:sp>
        <p:nvSpPr>
          <p:cNvPr id="3" name="Content Placeholder 2"/>
          <p:cNvSpPr>
            <a:spLocks noGrp="1"/>
          </p:cNvSpPr>
          <p:nvPr>
            <p:ph idx="1"/>
          </p:nvPr>
        </p:nvSpPr>
        <p:spPr/>
        <p:txBody>
          <a:bodyPr/>
          <a:lstStyle/>
          <a:p>
            <a:pPr lvl="0" indent="0" marL="0">
              <a:buNone/>
            </a:pPr>
            <a:r>
              <a:rPr/>
              <a:t>Die GoF unterteilt Muster in drei Hauptkategorien:</a:t>
            </a:r>
          </a:p>
          <a:p>
            <a:pPr lvl="0" indent="-342900" marL="342900">
              <a:buAutoNum type="arabicPeriod"/>
            </a:pPr>
            <a:r>
              <a:rPr b="1"/>
              <a:t>Erzeugungsmuster (Creational):</a:t>
            </a:r>
            <a:r>
              <a:rPr/>
              <a:t> Wie werden Objekte flexibel erzeugt?</a:t>
            </a:r>
          </a:p>
          <a:p>
            <a:pPr lvl="0" indent="-342900" marL="342900">
              <a:buAutoNum type="arabicPeriod"/>
            </a:pPr>
            <a:r>
              <a:rPr b="1"/>
              <a:t>Strukturmuster (Structural):</a:t>
            </a:r>
            <a:r>
              <a:rPr/>
              <a:t> Wie werden Klassen und Objekte zu größeren Strukturen zusammengefügt?</a:t>
            </a:r>
          </a:p>
          <a:p>
            <a:pPr lvl="0" indent="-342900" marL="342900">
              <a:buAutoNum type="arabicPeriod"/>
            </a:pPr>
            <a:r>
              <a:rPr b="1"/>
              <a:t>Verhaltensmuster (Behavioral):</a:t>
            </a:r>
            <a:r>
              <a:rPr/>
              <a:t> Wie kommunizieren Objekte effizient miteinander?</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Keine “Copy-Paste” Lösungen</a:t>
            </a:r>
          </a:p>
        </p:txBody>
      </p:sp>
      <p:sp>
        <p:nvSpPr>
          <p:cNvPr id="3" name="Content Placeholder 2"/>
          <p:cNvSpPr>
            <a:spLocks noGrp="1"/>
          </p:cNvSpPr>
          <p:nvPr>
            <p:ph idx="1"/>
          </p:nvPr>
        </p:nvSpPr>
        <p:spPr/>
        <p:txBody>
          <a:bodyPr/>
          <a:lstStyle/>
          <a:p>
            <a:pPr lvl="0" indent="0" marL="0">
              <a:buNone/>
            </a:pPr>
            <a:r>
              <a:rPr/>
              <a:t>Wichtig: Ein Design Pattern ist keine Bibliothek, die man einbindet.</a:t>
            </a:r>
          </a:p>
          <a:p>
            <a:pPr lvl="0"/>
            <a:r>
              <a:rPr/>
              <a:t>Sie müssen das Muster an Ihre spezifische Domäne (z.B. das Meldewesen) anpassen.</a:t>
            </a:r>
          </a:p>
          <a:p>
            <a:pPr lvl="0"/>
            <a:r>
              <a:rPr/>
              <a:t>Setzen Sie Muster nur ein, wenn Sie das entsprechende Problem haben (Vermeidung von Over-Engineering!).</a:t>
            </a:r>
          </a:p>
          <a:p>
            <a:pPr lvl="0"/>
            <a:r>
              <a:rPr/>
              <a:t>Die Abgenzung der Muster ist nicht immer einfach. Es sind keine “Schablonen”…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2: Das Singleton Pattern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Einführung: Singleton</a:t>
            </a:r>
          </a:p>
        </p:txBody>
      </p:sp>
      <p:sp>
        <p:nvSpPr>
          <p:cNvPr id="3" name="Content Placeholder 2"/>
          <p:cNvSpPr>
            <a:spLocks noGrp="1"/>
          </p:cNvSpPr>
          <p:nvPr>
            <p:ph idx="1"/>
          </p:nvPr>
        </p:nvSpPr>
        <p:spPr/>
        <p:txBody>
          <a:bodyPr/>
          <a:lstStyle/>
          <a:p>
            <a:pPr lvl="0" indent="0" marL="0">
              <a:buNone/>
            </a:pPr>
            <a:r>
              <a:rPr/>
              <a:t>Das Singleton-Muster gehört zu den </a:t>
            </a:r>
            <a:r>
              <a:rPr i="1"/>
              <a:t>Erzeugungsmustern</a:t>
            </a:r>
            <a:r>
              <a:rPr/>
              <a:t>. Es stellt sicher, dass von einer Klasse </a:t>
            </a:r>
            <a:r>
              <a:rPr b="1"/>
              <a:t>genau eine einzige Instanz</a:t>
            </a:r>
            <a:r>
              <a:rPr/>
              <a:t> existiert und bietet einen globalen Zugriffspunkt darauf.</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Problemstellung</a:t>
            </a:r>
          </a:p>
        </p:txBody>
      </p:sp>
      <p:sp>
        <p:nvSpPr>
          <p:cNvPr id="3" name="Content Placeholder 2"/>
          <p:cNvSpPr>
            <a:spLocks noGrp="1"/>
          </p:cNvSpPr>
          <p:nvPr>
            <p:ph idx="1"/>
          </p:nvPr>
        </p:nvSpPr>
        <p:spPr/>
        <p:txBody>
          <a:bodyPr/>
          <a:lstStyle/>
          <a:p>
            <a:pPr lvl="0" indent="0" marL="0">
              <a:buNone/>
            </a:pPr>
            <a:r>
              <a:rPr/>
              <a:t>Oft gibt es Ressourcen in einem System, die nur einmal vorhanden sein dürfen. Wenn Sie beispielsweise eine Konfigurationsdatei (Datenbankanbindung, etc.) nutzen, wollen Sie nicht, dass 10 verschiedene Module 10 verschiedene Kopien dieser Konfiguration im Speicher halten.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Anwendung in der Verwaltung (Konfigurationsmanager)</a:t>
            </a:r>
          </a:p>
        </p:txBody>
      </p:sp>
      <p:sp>
        <p:nvSpPr>
          <p:cNvPr id="3" name="Content Placeholder 2"/>
          <p:cNvSpPr>
            <a:spLocks noGrp="1"/>
          </p:cNvSpPr>
          <p:nvPr>
            <p:ph idx="1"/>
          </p:nvPr>
        </p:nvSpPr>
        <p:spPr/>
        <p:txBody>
          <a:bodyPr/>
          <a:lstStyle/>
          <a:p>
            <a:pPr lvl="0" indent="0" marL="0">
              <a:buNone/>
            </a:pPr>
            <a:r>
              <a:rPr/>
              <a:t>Stellen Sie sich ein Fachverfahren vor. Es gibt zentrale Einstellungen:</a:t>
            </a:r>
          </a:p>
          <a:p>
            <a:pPr lvl="0"/>
            <a:r>
              <a:rPr/>
              <a:t>URL des zentralen Melderegisters</a:t>
            </a:r>
          </a:p>
          <a:p>
            <a:pPr lvl="0"/>
            <a:r>
              <a:rPr/>
              <a:t>Aktuelle Mehrwertsteuersätze</a:t>
            </a:r>
          </a:p>
          <a:p>
            <a:pPr lvl="0"/>
            <a:r>
              <a:rPr/>
              <a:t>Name der ausführenden Behörde</a:t>
            </a:r>
          </a:p>
          <a:p>
            <a:pPr lvl="0" indent="0" marL="0">
              <a:buNone/>
            </a:pPr>
            <a:r>
              <a:rPr/>
              <a:t>Ein </a:t>
            </a:r>
            <a:r>
              <a:rPr>
                <a:latin typeface="Courier"/>
              </a:rPr>
              <a:t>KonfigurationsManager</a:t>
            </a:r>
            <a:r>
              <a:rPr/>
              <a:t> als Singleton stellt sicher, dass alle Module exakt denselben Stand dieser Daten nutzen.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Die Eigenschaften</a:t>
            </a:r>
          </a:p>
        </p:txBody>
      </p:sp>
      <p:sp>
        <p:nvSpPr>
          <p:cNvPr id="3" name="Content Placeholder 2"/>
          <p:cNvSpPr>
            <a:spLocks noGrp="1"/>
          </p:cNvSpPr>
          <p:nvPr>
            <p:ph idx="1"/>
          </p:nvPr>
        </p:nvSpPr>
        <p:spPr/>
        <p:txBody>
          <a:bodyPr/>
          <a:lstStyle/>
          <a:p>
            <a:pPr lvl="0" indent="0" marL="0">
              <a:buNone/>
            </a:pPr>
            <a:r>
              <a:rPr/>
              <a:t>Wie erreicht man, dass eine Klasse nur einmal instanziiert werden kann?</a:t>
            </a:r>
          </a:p>
          <a:p>
            <a:pPr lvl="0" indent="-342900" marL="342900">
              <a:buAutoNum type="arabicPeriod"/>
            </a:pPr>
            <a:r>
              <a:rPr/>
              <a:t>Ein </a:t>
            </a:r>
            <a:r>
              <a:rPr b="1"/>
              <a:t>privater Konstruktor</a:t>
            </a:r>
            <a:r>
              <a:rPr/>
              <a:t> verhindert, dass jemand von außen </a:t>
            </a:r>
            <a:r>
              <a:rPr>
                <a:latin typeface="Courier"/>
              </a:rPr>
              <a:t>new</a:t>
            </a:r>
            <a:r>
              <a:rPr/>
              <a:t> aufruft.</a:t>
            </a:r>
          </a:p>
          <a:p>
            <a:pPr lvl="0" indent="-342900" marL="342900">
              <a:buAutoNum type="arabicPeriod"/>
            </a:pPr>
            <a:r>
              <a:rPr/>
              <a:t>Eine </a:t>
            </a:r>
            <a:r>
              <a:rPr b="1"/>
              <a:t>statische Variable</a:t>
            </a:r>
            <a:r>
              <a:rPr/>
              <a:t> hält die einzige Instanz.</a:t>
            </a:r>
          </a:p>
          <a:p>
            <a:pPr lvl="0" indent="-342900" marL="342900">
              <a:buAutoNum type="arabicPeriod"/>
            </a:pPr>
            <a:r>
              <a:rPr/>
              <a:t>Eine </a:t>
            </a:r>
            <a:r>
              <a:rPr b="1"/>
              <a:t>öffentliche statische Eigenschaft</a:t>
            </a:r>
            <a:r>
              <a:rPr/>
              <a:t> liefert diese Instanz zurück.</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Code (Felder &amp; Konstruktor)</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sealed</a:t>
            </a:r>
            <a:r>
              <a:rPr>
                <a:latin typeface="Courier"/>
              </a:rPr>
              <a:t> </a:t>
            </a:r>
            <a:r>
              <a:rPr b="1">
                <a:solidFill>
                  <a:srgbClr val="007020"/>
                </a:solidFill>
                <a:latin typeface="Courier"/>
              </a:rPr>
              <a:t>class</a:t>
            </a:r>
            <a:r>
              <a:rPr>
                <a:latin typeface="Courier"/>
              </a:rPr>
              <a:t> KonfigurationsManager</a:t>
            </a:r>
            <a:b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static</a:t>
            </a:r>
            <a:r>
              <a:rPr>
                <a:latin typeface="Courier"/>
              </a:rPr>
              <a:t> KonfigurationsManager _instance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static</a:t>
            </a:r>
            <a:r>
              <a:rPr>
                <a:latin typeface="Courier"/>
              </a:rPr>
              <a:t> </a:t>
            </a:r>
            <a:r>
              <a:rPr b="1">
                <a:solidFill>
                  <a:srgbClr val="007020"/>
                </a:solidFill>
                <a:latin typeface="Courier"/>
              </a:rPr>
              <a:t>readonly</a:t>
            </a:r>
            <a:r>
              <a:rPr>
                <a:latin typeface="Courier"/>
              </a:rPr>
              <a:t> </a:t>
            </a:r>
            <a:r>
              <a:rPr>
                <a:solidFill>
                  <a:srgbClr val="902000"/>
                </a:solidFill>
                <a:latin typeface="Courier"/>
              </a:rPr>
              <a:t>object</a:t>
            </a:r>
            <a:r>
              <a:rPr>
                <a:latin typeface="Courier"/>
              </a:rPr>
              <a:t> _lock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902000"/>
                </a:solidFill>
                <a:latin typeface="Courier"/>
              </a:rPr>
              <a:t>object</a:t>
            </a:r>
            <a:r>
              <a:rPr>
                <a:solidFill>
                  <a:srgbClr val="666666"/>
                </a:solidFill>
                <a:latin typeface="Courier"/>
              </a:rPr>
              <a:t>();</a:t>
            </a:r>
            <a:br/>
            <a:br/>
            <a:r>
              <a:rPr>
                <a:latin typeface="Courier"/>
              </a:rPr>
              <a:t>    </a:t>
            </a:r>
            <a:r>
              <a:rPr i="1">
                <a:solidFill>
                  <a:srgbClr val="60A0B0"/>
                </a:solidFill>
                <a:latin typeface="Courier"/>
              </a:rPr>
              <a:t>// Privater Konstruktor verhindert Instanziierung von außen</a:t>
            </a:r>
            <a:br/>
            <a:r>
              <a:rPr>
                <a:latin typeface="Courier"/>
              </a:rPr>
              <a:t>    </a:t>
            </a:r>
            <a:r>
              <a:rPr b="1">
                <a:solidFill>
                  <a:srgbClr val="007020"/>
                </a:solidFill>
                <a:latin typeface="Courier"/>
              </a:rPr>
              <a:t>private</a:t>
            </a:r>
            <a:r>
              <a:rPr>
                <a:latin typeface="Courier"/>
              </a:rPr>
              <a:t> </a:t>
            </a:r>
            <a:r>
              <a:rPr>
                <a:solidFill>
                  <a:srgbClr val="06287E"/>
                </a:solidFill>
                <a:latin typeface="Courier"/>
              </a:rPr>
              <a:t>KonfigurationsManager</a:t>
            </a:r>
            <a:r>
              <a:rPr>
                <a:solidFill>
                  <a:srgbClr val="666666"/>
                </a:solidFill>
                <a:latin typeface="Courier"/>
              </a:rPr>
              <a:t>()</a:t>
            </a:r>
            <a:r>
              <a:rPr>
                <a:latin typeface="Courier"/>
              </a:rPr>
              <a:t> </a:t>
            </a:r>
            <a:br/>
            <a:r>
              <a:rPr>
                <a:latin typeface="Courier"/>
              </a:rPr>
              <a:t>    </a:t>
            </a:r>
            <a:r>
              <a:rPr>
                <a:solidFill>
                  <a:srgbClr val="666666"/>
                </a:solidFill>
                <a:latin typeface="Courier"/>
              </a:rPr>
              <a:t>{</a:t>
            </a:r>
            <a:br/>
            <a:r>
              <a:rPr>
                <a:latin typeface="Courier"/>
              </a:rPr>
              <a:t>        RegisterUrl </a:t>
            </a:r>
            <a:r>
              <a:rPr>
                <a:solidFill>
                  <a:srgbClr val="666666"/>
                </a:solidFill>
                <a:latin typeface="Courier"/>
              </a:rPr>
              <a:t>=</a:t>
            </a:r>
            <a:r>
              <a:rPr>
                <a:latin typeface="Courier"/>
              </a:rPr>
              <a:t> </a:t>
            </a:r>
            <a:r>
              <a:rPr>
                <a:solidFill>
                  <a:srgbClr val="4070A0"/>
                </a:solidFill>
                <a:latin typeface="Courier"/>
              </a:rPr>
              <a:t>"https://zentralregister.behoerde.de/api"</a:t>
            </a:r>
            <a:r>
              <a:rPr>
                <a:solidFill>
                  <a:srgbClr val="666666"/>
                </a:solidFill>
                <a:latin typeface="Courier"/>
              </a:rPr>
              <a:t>;</a:t>
            </a:r>
            <a:br/>
            <a:r>
              <a:rPr>
                <a:latin typeface="Courier"/>
              </a:rPr>
              <a:t>        BehoerdenName </a:t>
            </a:r>
            <a:r>
              <a:rPr>
                <a:solidFill>
                  <a:srgbClr val="666666"/>
                </a:solidFill>
                <a:latin typeface="Courier"/>
              </a:rPr>
              <a:t>=</a:t>
            </a:r>
            <a:r>
              <a:rPr>
                <a:latin typeface="Courier"/>
              </a:rPr>
              <a:t> </a:t>
            </a:r>
            <a:r>
              <a:rPr>
                <a:solidFill>
                  <a:srgbClr val="4070A0"/>
                </a:solidFill>
                <a:latin typeface="Courier"/>
              </a:rPr>
              <a:t>"Landesamt für Digitalisierung"</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string</a:t>
            </a:r>
            <a:r>
              <a:rPr>
                <a:latin typeface="Courier"/>
              </a:rPr>
              <a:t> RegisterUrl </a:t>
            </a:r>
            <a:r>
              <a:rPr>
                <a:solidFill>
                  <a:srgbClr val="666666"/>
                </a:solidFill>
                <a:latin typeface="Courier"/>
              </a:rPr>
              <a:t>{</a:t>
            </a:r>
            <a:r>
              <a:rPr>
                <a:latin typeface="Courier"/>
              </a:rPr>
              <a:t> </a:t>
            </a:r>
            <a:r>
              <a:rPr b="1">
                <a:solidFill>
                  <a:srgbClr val="007020"/>
                </a:solidFill>
                <a:latin typeface="Courier"/>
              </a:rPr>
              <a:t>get</a:t>
            </a:r>
            <a:r>
              <a:rPr>
                <a:solidFill>
                  <a:srgbClr val="666666"/>
                </a:solidFill>
                <a:latin typeface="Courier"/>
              </a:rPr>
              <a:t>;</a:t>
            </a:r>
            <a:r>
              <a:rPr>
                <a:latin typeface="Courier"/>
              </a:rPr>
              <a:t> </a:t>
            </a:r>
            <a:r>
              <a:rPr b="1">
                <a:solidFill>
                  <a:srgbClr val="007020"/>
                </a:solidFill>
                <a:latin typeface="Courier"/>
              </a:rPr>
              <a:t>set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string</a:t>
            </a:r>
            <a:r>
              <a:rPr>
                <a:latin typeface="Courier"/>
              </a:rPr>
              <a:t> BehoerdenName </a:t>
            </a:r>
            <a:r>
              <a:rPr>
                <a:solidFill>
                  <a:srgbClr val="666666"/>
                </a:solidFill>
                <a:latin typeface="Courier"/>
              </a:rPr>
              <a:t>{</a:t>
            </a:r>
            <a:r>
              <a:rPr>
                <a:latin typeface="Courier"/>
              </a:rPr>
              <a:t> </a:t>
            </a:r>
            <a:r>
              <a:rPr b="1">
                <a:solidFill>
                  <a:srgbClr val="007020"/>
                </a:solidFill>
                <a:latin typeface="Courier"/>
              </a:rPr>
              <a:t>get</a:t>
            </a:r>
            <a:r>
              <a:rPr>
                <a:solidFill>
                  <a:srgbClr val="666666"/>
                </a:solidFill>
                <a:latin typeface="Courier"/>
              </a:rPr>
              <a:t>;</a:t>
            </a:r>
            <a:r>
              <a:rPr>
                <a:latin typeface="Courier"/>
              </a:rPr>
              <a:t> </a:t>
            </a:r>
            <a:r>
              <a:rPr b="1">
                <a:solidFill>
                  <a:srgbClr val="007020"/>
                </a:solidFill>
                <a:latin typeface="Courier"/>
              </a:rPr>
              <a:t>set</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Code (Thread-Safe Instance)</a:t>
            </a:r>
          </a:p>
        </p:txBody>
      </p:sp>
      <p:sp>
        <p:nvSpPr>
          <p:cNvPr id="3" name="Content Placeholder 2"/>
          <p:cNvSpPr>
            <a:spLocks noGrp="1"/>
          </p:cNvSpPr>
          <p:nvPr>
            <p:ph idx="1"/>
          </p:nvPr>
        </p:nvSpPr>
        <p:spPr/>
        <p:txBody>
          <a:bodyPr/>
          <a:lstStyle/>
          <a:p>
            <a:pPr lvl="0" indent="0">
              <a:buNone/>
            </a:pPr>
            <a:r>
              <a:rPr>
                <a:latin typeface="Courier"/>
              </a:rPr>
              <a:t>    </a:t>
            </a:r>
            <a:r>
              <a:rPr b="1">
                <a:solidFill>
                  <a:srgbClr val="007020"/>
                </a:solidFill>
                <a:latin typeface="Courier"/>
              </a:rPr>
              <a:t>public</a:t>
            </a:r>
            <a:r>
              <a:rPr>
                <a:latin typeface="Courier"/>
              </a:rPr>
              <a:t> </a:t>
            </a:r>
            <a:r>
              <a:rPr b="1">
                <a:solidFill>
                  <a:srgbClr val="007020"/>
                </a:solidFill>
                <a:latin typeface="Courier"/>
              </a:rPr>
              <a:t>static</a:t>
            </a:r>
            <a:r>
              <a:rPr>
                <a:latin typeface="Courier"/>
              </a:rPr>
              <a:t> KonfigurationsManager Instance</a:t>
            </a:r>
            <a:br/>
            <a:r>
              <a:rPr>
                <a:latin typeface="Courier"/>
              </a:rPr>
              <a:t>    </a:t>
            </a:r>
            <a:r>
              <a:rPr>
                <a:solidFill>
                  <a:srgbClr val="666666"/>
                </a:solidFill>
                <a:latin typeface="Courier"/>
              </a:rPr>
              <a:t>{</a:t>
            </a:r>
            <a:br/>
            <a:r>
              <a:rPr>
                <a:latin typeface="Courier"/>
              </a:rPr>
              <a:t>        get</a:t>
            </a:r>
            <a:br/>
            <a:r>
              <a:rPr>
                <a:latin typeface="Courier"/>
              </a:rPr>
              <a:t>        </a:t>
            </a:r>
            <a:r>
              <a:rPr>
                <a:solidFill>
                  <a:srgbClr val="666666"/>
                </a:solidFill>
                <a:latin typeface="Courier"/>
              </a:rPr>
              <a:t>{</a:t>
            </a:r>
            <a:br/>
            <a:r>
              <a:rPr>
                <a:latin typeface="Courier"/>
              </a:rPr>
              <a:t>            </a:t>
            </a:r>
            <a:r>
              <a:rPr i="1">
                <a:solidFill>
                  <a:srgbClr val="60A0B0"/>
                </a:solidFill>
                <a:latin typeface="Courier"/>
              </a:rPr>
              <a:t>// Thread-safe Implementierung (Double-Check Locking)</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_instance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lock</a:t>
            </a:r>
            <a:r>
              <a:rPr>
                <a:latin typeface="Courier"/>
              </a:rPr>
              <a:t> </a:t>
            </a:r>
            <a:r>
              <a:rPr>
                <a:solidFill>
                  <a:srgbClr val="666666"/>
                </a:solidFill>
                <a:latin typeface="Courier"/>
              </a:rPr>
              <a:t>(</a:t>
            </a:r>
            <a:r>
              <a:rPr>
                <a:latin typeface="Courier"/>
              </a:rPr>
              <a:t>_lock</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_instance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br/>
            <a:r>
              <a:rPr>
                <a:latin typeface="Courier"/>
              </a:rPr>
              <a:t>                    </a:t>
            </a:r>
            <a:r>
              <a:rPr>
                <a:solidFill>
                  <a:srgbClr val="666666"/>
                </a:solidFill>
                <a:latin typeface="Courier"/>
              </a:rPr>
              <a:t>{</a:t>
            </a:r>
            <a:br/>
            <a:r>
              <a:rPr>
                <a:latin typeface="Courier"/>
              </a:rPr>
              <a:t>                        _instance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KonfigurationsManager</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_instance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Kritik am Singleton</a:t>
            </a:r>
          </a:p>
        </p:txBody>
      </p:sp>
      <p:sp>
        <p:nvSpPr>
          <p:cNvPr id="3" name="Content Placeholder 2"/>
          <p:cNvSpPr>
            <a:spLocks noGrp="1"/>
          </p:cNvSpPr>
          <p:nvPr>
            <p:ph idx="1"/>
          </p:nvPr>
        </p:nvSpPr>
        <p:spPr/>
        <p:txBody>
          <a:bodyPr/>
          <a:lstStyle/>
          <a:p>
            <a:pPr lvl="0" indent="0" marL="0">
              <a:buNone/>
            </a:pPr>
            <a:r>
              <a:rPr/>
              <a:t>Das Singleton wird oft als “Anti-Pattern” bezeichnet. Warum?</a:t>
            </a:r>
          </a:p>
          <a:p>
            <a:pPr lvl="0"/>
            <a:r>
              <a:rPr/>
              <a:t>Es führt einen </a:t>
            </a:r>
            <a:r>
              <a:rPr b="1"/>
              <a:t>globalen Zustand</a:t>
            </a:r>
            <a:r>
              <a:rPr/>
              <a:t> (Global State) ein, der von überall geändert werden kann.</a:t>
            </a:r>
          </a:p>
          <a:p>
            <a:pPr lvl="0"/>
            <a:r>
              <a:rPr/>
              <a:t>Es verdeckt Abhängigkeiten: Eine Klasse, die das Singleton nutzt, zeigt dies nicht in ihrem Konstruktor.</a:t>
            </a:r>
          </a:p>
          <a:p>
            <a:pPr lvl="0"/>
            <a:r>
              <a:rPr/>
              <a:t>Es erschwert das </a:t>
            </a:r>
            <a:r>
              <a:rPr b="1"/>
              <a:t>Unit Testing</a:t>
            </a:r>
            <a:r>
              <a:rPr/>
              <a:t> (Mocking), da man die feste Instanz nur schwer durch einen Fake ersetzen kann.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Wann man es (wirklich) nutzen sollte</a:t>
            </a:r>
          </a:p>
        </p:txBody>
      </p:sp>
      <p:sp>
        <p:nvSpPr>
          <p:cNvPr id="3" name="Content Placeholder 2"/>
          <p:cNvSpPr>
            <a:spLocks noGrp="1"/>
          </p:cNvSpPr>
          <p:nvPr>
            <p:ph idx="1"/>
          </p:nvPr>
        </p:nvSpPr>
        <p:spPr/>
        <p:txBody>
          <a:bodyPr/>
          <a:lstStyle/>
          <a:p>
            <a:pPr lvl="0" indent="0" marL="0">
              <a:buNone/>
            </a:pPr>
            <a:r>
              <a:rPr/>
              <a:t>Nutzen Sie Singleton nur, wenn die Instanzierung wirklich systemweit streng limitiert sein </a:t>
            </a:r>
            <a:r>
              <a:rPr b="1"/>
              <a:t>muss</a:t>
            </a:r>
            <a:r>
              <a:rPr/>
              <a:t> (z.B. Hardware-Treiber, Logging-Dienste in kleinen Systemen). In modernen Web-Anwendungen überlässt man diese Aufgabe oft dem “Dependency Injection Container” (dazu mehr in Woche 4).</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3: Factory Method Pattern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Einführung: Factory Method</a:t>
            </a:r>
          </a:p>
        </p:txBody>
      </p:sp>
      <p:sp>
        <p:nvSpPr>
          <p:cNvPr id="3" name="Content Placeholder 2"/>
          <p:cNvSpPr>
            <a:spLocks noGrp="1"/>
          </p:cNvSpPr>
          <p:nvPr>
            <p:ph idx="1"/>
          </p:nvPr>
        </p:nvSpPr>
        <p:spPr/>
        <p:txBody>
          <a:bodyPr/>
          <a:lstStyle/>
          <a:p>
            <a:pPr lvl="0" indent="0" marL="0">
              <a:buNone/>
            </a:pPr>
            <a:r>
              <a:rPr/>
              <a:t>Auch dieses Muster gehört zu den </a:t>
            </a:r>
            <a:r>
              <a:rPr i="1"/>
              <a:t>Erzeugungsmustern</a:t>
            </a:r>
            <a:r>
              <a:rPr/>
              <a:t>. Das Factory Method Pattern definiert ein Interface zur Erstellung eines Objekts. Die Entscheidung, </a:t>
            </a:r>
            <a:r>
              <a:rPr b="1"/>
              <a:t>welche</a:t>
            </a:r>
            <a:r>
              <a:rPr/>
              <a:t> konkrete Klasse instanziiert wird, wird jedoch an die Unterklassen delegiert.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Problemstellung: Harte Verdrahtung</a:t>
            </a:r>
          </a:p>
        </p:txBody>
      </p:sp>
      <p:sp>
        <p:nvSpPr>
          <p:cNvPr id="3" name="Content Placeholder 2"/>
          <p:cNvSpPr>
            <a:spLocks noGrp="1"/>
          </p:cNvSpPr>
          <p:nvPr>
            <p:ph idx="1"/>
          </p:nvPr>
        </p:nvSpPr>
        <p:spPr/>
        <p:txBody>
          <a:bodyPr/>
          <a:lstStyle/>
          <a:p>
            <a:pPr lvl="0" indent="0" marL="0">
              <a:buNone/>
            </a:pPr>
            <a:r>
              <a:rPr/>
              <a:t>Wenn Sie überall im Code </a:t>
            </a:r>
            <a:r>
              <a:rPr>
                <a:latin typeface="Courier"/>
              </a:rPr>
              <a:t>new BewilligungsBescheid()</a:t>
            </a:r>
            <a:r>
              <a:rPr/>
              <a:t> schreiben, koppeln Sie Ihre Logik eng an diese konkrete Klasse. Was passiert, wenn sich der Prozess zur Erstellung ändert oder neue Bescheid-Arten oder -Varianten hinzukommen? Der Code wird unflexibel. Eine **lose Kopplung* ist die Lösung.</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Anwendung: Erstellung von Bescheid-Typen</a:t>
            </a:r>
          </a:p>
        </p:txBody>
      </p:sp>
      <p:sp>
        <p:nvSpPr>
          <p:cNvPr id="3" name="Content Placeholder 2"/>
          <p:cNvSpPr>
            <a:spLocks noGrp="1"/>
          </p:cNvSpPr>
          <p:nvPr>
            <p:ph idx="1"/>
          </p:nvPr>
        </p:nvSpPr>
        <p:spPr/>
        <p:txBody>
          <a:bodyPr/>
          <a:lstStyle/>
          <a:p>
            <a:pPr lvl="0" indent="0" marL="0">
              <a:buNone/>
            </a:pPr>
            <a:r>
              <a:rPr/>
              <a:t>Ein Fachverfahren muss verschiedene Arten von Bescheiden erzeugen:</a:t>
            </a:r>
          </a:p>
          <a:p>
            <a:pPr lvl="0"/>
            <a:r>
              <a:rPr/>
              <a:t>Bewilligungsbescheid</a:t>
            </a:r>
          </a:p>
          <a:p>
            <a:pPr lvl="0"/>
            <a:r>
              <a:rPr/>
              <a:t>Ablehnungsbescheid</a:t>
            </a:r>
          </a:p>
          <a:p>
            <a:pPr lvl="0"/>
            <a:r>
              <a:rPr/>
              <a:t>Gebührenbescheid</a:t>
            </a:r>
          </a:p>
          <a:p>
            <a:pPr lvl="0" indent="0" marL="0">
              <a:buNone/>
            </a:pPr>
            <a:r>
              <a:rPr/>
              <a:t>Der Versandprozess (Drucken, Kuvertieren, Porto) ist bei allen gleich, nur der Inhalt variiert. Es können jedoch in Zukunft weitere Bescheide hinzukommen.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Produkt-Klassen (Code)</a:t>
            </a:r>
          </a:p>
        </p:txBody>
      </p:sp>
      <p:sp>
        <p:nvSpPr>
          <p:cNvPr id="3" name="Content Placeholder 2"/>
          <p:cNvSpPr>
            <a:spLocks noGrp="1"/>
          </p:cNvSpPr>
          <p:nvPr>
            <p:ph idx="1"/>
          </p:nvPr>
        </p:nvSpPr>
        <p:spPr/>
        <p:txBody>
          <a:bodyPr/>
          <a:lstStyle/>
          <a:p>
            <a:pPr lvl="0" indent="0" marL="0">
              <a:buNone/>
            </a:pPr>
            <a:r>
              <a:rPr/>
              <a:t>Wir definieren ein abstraktes Produkt und konkrete Implementierungen:</a:t>
            </a:r>
          </a:p>
          <a:p>
            <a:pPr lvl="0" indent="0">
              <a:buNone/>
            </a:pPr>
            <a:r>
              <a:rPr i="1">
                <a:solidFill>
                  <a:srgbClr val="60A0B0"/>
                </a:solidFill>
                <a:latin typeface="Courier"/>
              </a:rPr>
              <a:t>// Das Produkt-Interface / abstrakte Basisklasse</a:t>
            </a:r>
            <a:br/>
            <a:r>
              <a:rPr b="1">
                <a:solidFill>
                  <a:srgbClr val="007020"/>
                </a:solidFill>
                <a:latin typeface="Courier"/>
              </a:rPr>
              <a:t>public</a:t>
            </a:r>
            <a:r>
              <a:rPr>
                <a:latin typeface="Courier"/>
              </a:rPr>
              <a:t> </a:t>
            </a:r>
            <a:r>
              <a:rPr b="1">
                <a:solidFill>
                  <a:srgbClr val="007020"/>
                </a:solidFill>
                <a:latin typeface="Courier"/>
              </a:rPr>
              <a:t>abstract</a:t>
            </a:r>
            <a:r>
              <a:rPr>
                <a:latin typeface="Courier"/>
              </a:rPr>
              <a:t> </a:t>
            </a:r>
            <a:r>
              <a:rPr b="1">
                <a:solidFill>
                  <a:srgbClr val="007020"/>
                </a:solidFill>
                <a:latin typeface="Courier"/>
              </a:rPr>
              <a:t>class</a:t>
            </a:r>
            <a:r>
              <a:rPr>
                <a:latin typeface="Courier"/>
              </a:rPr>
              <a:t> Bescheid</a:t>
            </a:r>
            <a:b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b="1">
                <a:solidFill>
                  <a:srgbClr val="007020"/>
                </a:solidFill>
                <a:latin typeface="Courier"/>
              </a:rPr>
              <a:t>abstract</a:t>
            </a:r>
            <a:r>
              <a:rPr>
                <a:latin typeface="Courier"/>
              </a:rPr>
              <a:t> </a:t>
            </a:r>
            <a:r>
              <a:rPr>
                <a:solidFill>
                  <a:srgbClr val="902000"/>
                </a:solidFill>
                <a:latin typeface="Courier"/>
              </a:rPr>
              <a:t>void</a:t>
            </a:r>
            <a:r>
              <a:rPr>
                <a:latin typeface="Courier"/>
              </a:rPr>
              <a:t> </a:t>
            </a:r>
            <a:r>
              <a:rPr>
                <a:solidFill>
                  <a:srgbClr val="06287E"/>
                </a:solidFill>
                <a:latin typeface="Courier"/>
              </a:rPr>
              <a:t>GeneriereInhalt</a:t>
            </a:r>
            <a:r>
              <a:rPr>
                <a:solidFill>
                  <a:srgbClr val="666666"/>
                </a:solidFill>
                <a:latin typeface="Courier"/>
              </a:rPr>
              <a:t>();</a:t>
            </a:r>
            <a:br/>
            <a:r>
              <a:rPr>
                <a:solidFill>
                  <a:srgbClr val="666666"/>
                </a:solidFill>
                <a:latin typeface="Courier"/>
              </a:rPr>
              <a:t>}</a:t>
            </a:r>
            <a:br/>
            <a:br/>
            <a:r>
              <a:rPr i="1">
                <a:solidFill>
                  <a:srgbClr val="60A0B0"/>
                </a:solidFill>
                <a:latin typeface="Courier"/>
              </a:rPr>
              <a:t>// Konkrete Produkte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BewilligungsBescheid </a:t>
            </a:r>
            <a:r>
              <a:rPr>
                <a:solidFill>
                  <a:srgbClr val="666666"/>
                </a:solidFill>
                <a:latin typeface="Courier"/>
              </a:rPr>
              <a:t>:</a:t>
            </a:r>
            <a:r>
              <a:rPr>
                <a:latin typeface="Courier"/>
              </a:rPr>
              <a:t> Bescheid</a:t>
            </a:r>
            <a:b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b="1">
                <a:solidFill>
                  <a:srgbClr val="007020"/>
                </a:solidFill>
                <a:latin typeface="Courier"/>
              </a:rPr>
              <a:t>override</a:t>
            </a:r>
            <a:r>
              <a:rPr>
                <a:latin typeface="Courier"/>
              </a:rPr>
              <a:t> </a:t>
            </a:r>
            <a:r>
              <a:rPr>
                <a:solidFill>
                  <a:srgbClr val="902000"/>
                </a:solidFill>
                <a:latin typeface="Courier"/>
              </a:rPr>
              <a:t>void</a:t>
            </a:r>
            <a:r>
              <a:rPr>
                <a:latin typeface="Courier"/>
              </a:rPr>
              <a:t> </a:t>
            </a:r>
            <a:r>
              <a:rPr>
                <a:solidFill>
                  <a:srgbClr val="06287E"/>
                </a:solidFill>
                <a:latin typeface="Courier"/>
              </a:rPr>
              <a:t>GeneriereInhalt</a:t>
            </a:r>
            <a:r>
              <a:rPr>
                <a:solidFill>
                  <a:srgbClr val="666666"/>
                </a:solidFill>
                <a:latin typeface="Courier"/>
              </a:rPr>
              <a:t>()</a:t>
            </a:r>
            <a:r>
              <a:rPr>
                <a:latin typeface="Courier"/>
              </a:rPr>
              <a:t> </a:t>
            </a:r>
            <a:br/>
            <a:r>
              <a:rPr>
                <a:latin typeface="Courier"/>
              </a:rPr>
              <a:t>        </a:t>
            </a:r>
            <a:r>
              <a:rPr>
                <a:solidFill>
                  <a:srgbClr val="666666"/>
                </a:solidFill>
                <a:latin typeface="Courier"/>
              </a:rPr>
              <a:t>=&gt;</a:t>
            </a:r>
            <a:r>
              <a:rPr>
                <a:latin typeface="Courier"/>
              </a:rPr>
              <a:t> Console</a:t>
            </a:r>
            <a:r>
              <a:rPr>
                <a:solidFill>
                  <a:srgbClr val="666666"/>
                </a:solidFill>
                <a:latin typeface="Courier"/>
              </a:rPr>
              <a:t>.</a:t>
            </a:r>
            <a:r>
              <a:rPr>
                <a:solidFill>
                  <a:srgbClr val="06287E"/>
                </a:solidFill>
                <a:latin typeface="Courier"/>
              </a:rPr>
              <a:t>WriteLine</a:t>
            </a:r>
            <a:r>
              <a:rPr>
                <a:solidFill>
                  <a:srgbClr val="666666"/>
                </a:solidFill>
                <a:latin typeface="Courier"/>
              </a:rPr>
              <a:t>(</a:t>
            </a:r>
            <a:r>
              <a:rPr>
                <a:solidFill>
                  <a:srgbClr val="4070A0"/>
                </a:solidFill>
                <a:latin typeface="Courier"/>
              </a:rPr>
              <a:t>"Ihr Antrag wurde bewilligt."</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AblehnungsBescheid </a:t>
            </a:r>
            <a:r>
              <a:rPr>
                <a:solidFill>
                  <a:srgbClr val="666666"/>
                </a:solidFill>
                <a:latin typeface="Courier"/>
              </a:rPr>
              <a:t>:</a:t>
            </a:r>
            <a:r>
              <a:rPr>
                <a:latin typeface="Courier"/>
              </a:rPr>
              <a:t> Bescheid</a:t>
            </a:r>
            <a:b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b="1">
                <a:solidFill>
                  <a:srgbClr val="007020"/>
                </a:solidFill>
                <a:latin typeface="Courier"/>
              </a:rPr>
              <a:t>override</a:t>
            </a:r>
            <a:r>
              <a:rPr>
                <a:latin typeface="Courier"/>
              </a:rPr>
              <a:t> </a:t>
            </a:r>
            <a:r>
              <a:rPr>
                <a:solidFill>
                  <a:srgbClr val="902000"/>
                </a:solidFill>
                <a:latin typeface="Courier"/>
              </a:rPr>
              <a:t>void</a:t>
            </a:r>
            <a:r>
              <a:rPr>
                <a:latin typeface="Courier"/>
              </a:rPr>
              <a:t> </a:t>
            </a:r>
            <a:r>
              <a:rPr>
                <a:solidFill>
                  <a:srgbClr val="06287E"/>
                </a:solidFill>
                <a:latin typeface="Courier"/>
              </a:rPr>
              <a:t>GeneriereInhalt</a:t>
            </a:r>
            <a:r>
              <a:rPr>
                <a:solidFill>
                  <a:srgbClr val="666666"/>
                </a:solidFill>
                <a:latin typeface="Courier"/>
              </a:rPr>
              <a:t>()</a:t>
            </a:r>
            <a:r>
              <a:rPr>
                <a:latin typeface="Courier"/>
              </a:rPr>
              <a:t> </a:t>
            </a:r>
            <a:br/>
            <a:r>
              <a:rPr>
                <a:latin typeface="Courier"/>
              </a:rPr>
              <a:t>        </a:t>
            </a:r>
            <a:r>
              <a:rPr>
                <a:solidFill>
                  <a:srgbClr val="666666"/>
                </a:solidFill>
                <a:latin typeface="Courier"/>
              </a:rPr>
              <a:t>=&gt;</a:t>
            </a:r>
            <a:r>
              <a:rPr>
                <a:latin typeface="Courier"/>
              </a:rPr>
              <a:t> Console</a:t>
            </a:r>
            <a:r>
              <a:rPr>
                <a:solidFill>
                  <a:srgbClr val="666666"/>
                </a:solidFill>
                <a:latin typeface="Courier"/>
              </a:rPr>
              <a:t>.</a:t>
            </a:r>
            <a:r>
              <a:rPr>
                <a:solidFill>
                  <a:srgbClr val="06287E"/>
                </a:solidFill>
                <a:latin typeface="Courier"/>
              </a:rPr>
              <a:t>WriteLine</a:t>
            </a:r>
            <a:r>
              <a:rPr>
                <a:solidFill>
                  <a:srgbClr val="666666"/>
                </a:solidFill>
                <a:latin typeface="Courier"/>
              </a:rPr>
              <a:t>(</a:t>
            </a:r>
            <a:r>
              <a:rPr>
                <a:solidFill>
                  <a:srgbClr val="4070A0"/>
                </a:solidFill>
                <a:latin typeface="Courier"/>
              </a:rPr>
              <a:t>"Ihr Antrag wurde leider abgelehnt."</a:t>
            </a:r>
            <a:r>
              <a:rPr>
                <a:solidFill>
                  <a:srgbClr val="666666"/>
                </a:solidFill>
                <a:latin typeface="Courier"/>
              </a:rPr>
              <a:t>);</a:t>
            </a:r>
            <a:br/>
            <a:r>
              <a:rPr>
                <a:solidFill>
                  <a:srgbClr val="666666"/>
                </a:solidFill>
                <a:latin typeface="Courier"/>
              </a:rPr>
              <a: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Die abstrakte Factory (Code)</a:t>
            </a:r>
          </a:p>
        </p:txBody>
      </p:sp>
      <p:sp>
        <p:nvSpPr>
          <p:cNvPr id="3" name="Content Placeholder 2"/>
          <p:cNvSpPr>
            <a:spLocks noGrp="1"/>
          </p:cNvSpPr>
          <p:nvPr>
            <p:ph idx="1"/>
          </p:nvPr>
        </p:nvSpPr>
        <p:spPr/>
        <p:txBody>
          <a:bodyPr/>
          <a:lstStyle/>
          <a:p>
            <a:pPr lvl="0" indent="0" marL="0">
              <a:buNone/>
            </a:pPr>
            <a:r>
              <a:rPr/>
              <a:t>Die Kernlogik arbeitet nur mit der Abstraktion, nicht mit den konkreten Typen.</a:t>
            </a:r>
          </a:p>
          <a:p>
            <a:pPr lvl="0" indent="0">
              <a:buNone/>
            </a:pPr>
            <a:r>
              <a:rPr i="1">
                <a:solidFill>
                  <a:srgbClr val="60A0B0"/>
                </a:solidFill>
                <a:latin typeface="Courier"/>
              </a:rPr>
              <a:t>// Die Factory (Erzeuger)</a:t>
            </a:r>
            <a:br/>
            <a:r>
              <a:rPr b="1">
                <a:solidFill>
                  <a:srgbClr val="007020"/>
                </a:solidFill>
                <a:latin typeface="Courier"/>
              </a:rPr>
              <a:t>public</a:t>
            </a:r>
            <a:r>
              <a:rPr>
                <a:latin typeface="Courier"/>
              </a:rPr>
              <a:t> </a:t>
            </a:r>
            <a:r>
              <a:rPr b="1">
                <a:solidFill>
                  <a:srgbClr val="007020"/>
                </a:solidFill>
                <a:latin typeface="Courier"/>
              </a:rPr>
              <a:t>abstract</a:t>
            </a:r>
            <a:r>
              <a:rPr>
                <a:latin typeface="Courier"/>
              </a:rPr>
              <a:t> </a:t>
            </a:r>
            <a:r>
              <a:rPr b="1">
                <a:solidFill>
                  <a:srgbClr val="007020"/>
                </a:solidFill>
                <a:latin typeface="Courier"/>
              </a:rPr>
              <a:t>class</a:t>
            </a:r>
            <a:r>
              <a:rPr>
                <a:latin typeface="Courier"/>
              </a:rPr>
              <a:t> BescheidErzeuger</a:t>
            </a:r>
            <a:br/>
            <a:r>
              <a:rPr>
                <a:solidFill>
                  <a:srgbClr val="666666"/>
                </a:solidFill>
                <a:latin typeface="Courier"/>
              </a:rPr>
              <a:t>{</a:t>
            </a:r>
            <a:br/>
            <a:r>
              <a:rPr>
                <a:latin typeface="Courier"/>
              </a:rPr>
              <a:t>    </a:t>
            </a:r>
            <a:r>
              <a:rPr i="1">
                <a:solidFill>
                  <a:srgbClr val="60A0B0"/>
                </a:solidFill>
                <a:latin typeface="Courier"/>
              </a:rPr>
              <a:t>// Die eigentliche Factory Method</a:t>
            </a:r>
            <a:br/>
            <a:r>
              <a:rPr>
                <a:latin typeface="Courier"/>
              </a:rPr>
              <a:t>    </a:t>
            </a:r>
            <a:r>
              <a:rPr b="1">
                <a:solidFill>
                  <a:srgbClr val="007020"/>
                </a:solidFill>
                <a:latin typeface="Courier"/>
              </a:rPr>
              <a:t>public</a:t>
            </a:r>
            <a:r>
              <a:rPr>
                <a:latin typeface="Courier"/>
              </a:rPr>
              <a:t> </a:t>
            </a:r>
            <a:r>
              <a:rPr b="1">
                <a:solidFill>
                  <a:srgbClr val="007020"/>
                </a:solidFill>
                <a:latin typeface="Courier"/>
              </a:rPr>
              <a:t>abstract</a:t>
            </a:r>
            <a:r>
              <a:rPr>
                <a:latin typeface="Courier"/>
              </a:rPr>
              <a:t> Bescheid </a:t>
            </a:r>
            <a:r>
              <a:rPr>
                <a:solidFill>
                  <a:srgbClr val="06287E"/>
                </a:solidFill>
                <a:latin typeface="Courier"/>
              </a:rPr>
              <a:t>ErstelleBescheid</a:t>
            </a:r>
            <a:r>
              <a:rPr>
                <a:solidFill>
                  <a:srgbClr val="666666"/>
                </a:solidFill>
                <a:latin typeface="Courier"/>
              </a:rPr>
              <a:t>();</a:t>
            </a:r>
            <a:br/>
            <a:br/>
            <a:r>
              <a:rPr>
                <a:latin typeface="Courier"/>
              </a:rPr>
              <a:t>    </a:t>
            </a:r>
            <a:r>
              <a:rPr i="1">
                <a:solidFill>
                  <a:srgbClr val="60A0B0"/>
                </a:solidFill>
                <a:latin typeface="Courier"/>
              </a:rPr>
              <a:t>// Die Kernlogik (für alle gleich!)</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SendeBescheid</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902000"/>
                </a:solidFill>
                <a:latin typeface="Courier"/>
              </a:rPr>
              <a:t>var</a:t>
            </a:r>
            <a:r>
              <a:rPr>
                <a:latin typeface="Courier"/>
              </a:rPr>
              <a:t> bescheid </a:t>
            </a:r>
            <a:r>
              <a:rPr>
                <a:solidFill>
                  <a:srgbClr val="666666"/>
                </a:solidFill>
                <a:latin typeface="Courier"/>
              </a:rPr>
              <a:t>=</a:t>
            </a:r>
            <a:r>
              <a:rPr>
                <a:latin typeface="Courier"/>
              </a:rPr>
              <a:t> </a:t>
            </a:r>
            <a:r>
              <a:rPr>
                <a:solidFill>
                  <a:srgbClr val="06287E"/>
                </a:solidFill>
                <a:latin typeface="Courier"/>
              </a:rPr>
              <a:t>ErstelleBescheid</a:t>
            </a:r>
            <a:r>
              <a:rPr>
                <a:solidFill>
                  <a:srgbClr val="666666"/>
                </a:solidFill>
                <a:latin typeface="Courier"/>
              </a:rPr>
              <a:t>();</a:t>
            </a:r>
            <a:br/>
            <a:r>
              <a:rPr>
                <a:latin typeface="Courier"/>
              </a:rPr>
              <a:t>        bescheid</a:t>
            </a:r>
            <a:r>
              <a:rPr>
                <a:solidFill>
                  <a:srgbClr val="666666"/>
                </a:solidFill>
                <a:latin typeface="Courier"/>
              </a:rPr>
              <a:t>.</a:t>
            </a:r>
            <a:r>
              <a:rPr>
                <a:solidFill>
                  <a:srgbClr val="06287E"/>
                </a:solidFill>
                <a:latin typeface="Courier"/>
              </a:rPr>
              <a:t>GeneriereInhalt</a:t>
            </a:r>
            <a:r>
              <a:rPr>
                <a:solidFill>
                  <a:srgbClr val="666666"/>
                </a:solidFill>
                <a:latin typeface="Courier"/>
              </a:rPr>
              <a:t>();</a:t>
            </a:r>
            <a:br/>
            <a:r>
              <a:rPr>
                <a:latin typeface="Courier"/>
              </a:rPr>
              <a:t>        Console</a:t>
            </a:r>
            <a:r>
              <a:rPr>
                <a:solidFill>
                  <a:srgbClr val="666666"/>
                </a:solidFill>
                <a:latin typeface="Courier"/>
              </a:rPr>
              <a:t>.</a:t>
            </a:r>
            <a:r>
              <a:rPr>
                <a:solidFill>
                  <a:srgbClr val="06287E"/>
                </a:solidFill>
                <a:latin typeface="Courier"/>
              </a:rPr>
              <a:t>WriteLine</a:t>
            </a:r>
            <a:r>
              <a:rPr>
                <a:solidFill>
                  <a:srgbClr val="666666"/>
                </a:solidFill>
                <a:latin typeface="Courier"/>
              </a:rPr>
              <a:t>(</a:t>
            </a:r>
            <a:r>
              <a:rPr>
                <a:solidFill>
                  <a:srgbClr val="4070A0"/>
                </a:solidFill>
                <a:latin typeface="Courier"/>
              </a:rPr>
              <a:t>"Bescheid wird per Post/E-Mail versendet."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Konkrete Erzeuger (Code)</a:t>
            </a:r>
          </a:p>
        </p:txBody>
      </p:sp>
      <p:sp>
        <p:nvSpPr>
          <p:cNvPr id="3" name="Content Placeholder 2"/>
          <p:cNvSpPr>
            <a:spLocks noGrp="1"/>
          </p:cNvSpPr>
          <p:nvPr>
            <p:ph idx="1"/>
          </p:nvPr>
        </p:nvSpPr>
        <p:spPr/>
        <p:txBody>
          <a:bodyPr/>
          <a:lstStyle/>
          <a:p>
            <a:pPr lvl="0" indent="0" marL="0">
              <a:buNone/>
            </a:pPr>
            <a:r>
              <a:rPr/>
              <a:t>Die Entscheidung der Instanziierung liegt in diesen kleinen Unterklassen.</a:t>
            </a:r>
          </a:p>
          <a:p>
            <a:pPr lvl="0" indent="0">
              <a:buNone/>
            </a:pPr>
            <a:r>
              <a:rPr i="1">
                <a:solidFill>
                  <a:srgbClr val="60A0B0"/>
                </a:solidFill>
                <a:latin typeface="Courier"/>
              </a:rPr>
              <a:t>// Konkrete Erzeuger</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BewilligungsErzeuger </a:t>
            </a:r>
            <a:r>
              <a:rPr>
                <a:solidFill>
                  <a:srgbClr val="666666"/>
                </a:solidFill>
                <a:latin typeface="Courier"/>
              </a:rPr>
              <a:t>:</a:t>
            </a:r>
            <a:r>
              <a:rPr>
                <a:latin typeface="Courier"/>
              </a:rPr>
              <a:t> BescheidErzeuger</a:t>
            </a:r>
            <a:b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b="1">
                <a:solidFill>
                  <a:srgbClr val="007020"/>
                </a:solidFill>
                <a:latin typeface="Courier"/>
              </a:rPr>
              <a:t>override</a:t>
            </a:r>
            <a:r>
              <a:rPr>
                <a:latin typeface="Courier"/>
              </a:rPr>
              <a:t> Bescheid </a:t>
            </a:r>
            <a:r>
              <a:rPr>
                <a:solidFill>
                  <a:srgbClr val="06287E"/>
                </a:solidFill>
                <a:latin typeface="Courier"/>
              </a:rPr>
              <a:t>ErstelleBescheid</a:t>
            </a:r>
            <a:r>
              <a:rPr>
                <a:solidFill>
                  <a:srgbClr val="666666"/>
                </a:solidFill>
                <a:latin typeface="Courier"/>
              </a:rPr>
              <a:t>()</a:t>
            </a:r>
            <a:r>
              <a:rPr>
                <a:latin typeface="Courier"/>
              </a:rPr>
              <a:t> </a:t>
            </a:r>
            <a:br/>
            <a:r>
              <a:rPr>
                <a:latin typeface="Courier"/>
              </a:rPr>
              <a:t>        </a:t>
            </a:r>
            <a:r>
              <a:rPr>
                <a:solidFill>
                  <a:srgbClr val="666666"/>
                </a:solidFill>
                <a:latin typeface="Courier"/>
              </a:rPr>
              <a:t>=&gt;</a:t>
            </a:r>
            <a:r>
              <a:rPr>
                <a:latin typeface="Courier"/>
              </a:rPr>
              <a:t> </a:t>
            </a:r>
            <a:r>
              <a:rPr b="1">
                <a:solidFill>
                  <a:srgbClr val="007020"/>
                </a:solidFill>
                <a:latin typeface="Courier"/>
              </a:rPr>
              <a:t>new</a:t>
            </a:r>
            <a:r>
              <a:rPr>
                <a:latin typeface="Courier"/>
              </a:rPr>
              <a:t> </a:t>
            </a:r>
            <a:r>
              <a:rPr>
                <a:solidFill>
                  <a:srgbClr val="06287E"/>
                </a:solidFill>
                <a:latin typeface="Courier"/>
              </a:rPr>
              <a:t>BewilligungsBescheid</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AblehnungsErzeuger </a:t>
            </a:r>
            <a:r>
              <a:rPr>
                <a:solidFill>
                  <a:srgbClr val="666666"/>
                </a:solidFill>
                <a:latin typeface="Courier"/>
              </a:rPr>
              <a:t>:</a:t>
            </a:r>
            <a:r>
              <a:rPr>
                <a:latin typeface="Courier"/>
              </a:rPr>
              <a:t> BescheidErzeuger</a:t>
            </a:r>
            <a:b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b="1">
                <a:solidFill>
                  <a:srgbClr val="007020"/>
                </a:solidFill>
                <a:latin typeface="Courier"/>
              </a:rPr>
              <a:t>override</a:t>
            </a:r>
            <a:r>
              <a:rPr>
                <a:latin typeface="Courier"/>
              </a:rPr>
              <a:t> Bescheid </a:t>
            </a:r>
            <a:r>
              <a:rPr>
                <a:solidFill>
                  <a:srgbClr val="06287E"/>
                </a:solidFill>
                <a:latin typeface="Courier"/>
              </a:rPr>
              <a:t>ErstelleBescheid</a:t>
            </a:r>
            <a:r>
              <a:rPr>
                <a:solidFill>
                  <a:srgbClr val="666666"/>
                </a:solidFill>
                <a:latin typeface="Courier"/>
              </a:rPr>
              <a:t>()</a:t>
            </a:r>
            <a:r>
              <a:rPr>
                <a:latin typeface="Courier"/>
              </a:rPr>
              <a:t> </a:t>
            </a:r>
            <a:br/>
            <a:r>
              <a:rPr>
                <a:latin typeface="Courier"/>
              </a:rPr>
              <a:t>        </a:t>
            </a:r>
            <a:r>
              <a:rPr>
                <a:solidFill>
                  <a:srgbClr val="666666"/>
                </a:solidFill>
                <a:latin typeface="Courier"/>
              </a:rPr>
              <a:t>=&gt;</a:t>
            </a:r>
            <a:r>
              <a:rPr>
                <a:latin typeface="Courier"/>
              </a:rPr>
              <a:t> </a:t>
            </a:r>
            <a:r>
              <a:rPr b="1">
                <a:solidFill>
                  <a:srgbClr val="007020"/>
                </a:solidFill>
                <a:latin typeface="Courier"/>
              </a:rPr>
              <a:t>new</a:t>
            </a:r>
            <a:r>
              <a:rPr>
                <a:latin typeface="Courier"/>
              </a:rPr>
              <a:t> </a:t>
            </a:r>
            <a:r>
              <a:rPr>
                <a:solidFill>
                  <a:srgbClr val="06287E"/>
                </a:solidFill>
                <a:latin typeface="Courier"/>
              </a:rPr>
              <a:t>AblehnungsBescheid</a:t>
            </a:r>
            <a:r>
              <a:rPr>
                <a:solidFill>
                  <a:srgbClr val="666666"/>
                </a:solidFill>
                <a:latin typeface="Courier"/>
              </a:rPr>
              <a:t>();</a:t>
            </a:r>
            <a:br/>
            <a:r>
              <a:rPr>
                <a:solidFill>
                  <a:srgbClr val="666666"/>
                </a:solidFill>
                <a:latin typeface="Courier"/>
              </a:rPr>
              <a: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Hauptprogramm (Code)</a:t>
            </a:r>
          </a:p>
        </p:txBody>
      </p:sp>
      <p:sp>
        <p:nvSpPr>
          <p:cNvPr id="3" name="Content Placeholder 2"/>
          <p:cNvSpPr>
            <a:spLocks noGrp="1"/>
          </p:cNvSpPr>
          <p:nvPr>
            <p:ph idx="1"/>
          </p:nvPr>
        </p:nvSpPr>
        <p:spPr/>
        <p:txBody>
          <a:bodyPr/>
          <a:lstStyle/>
          <a:p>
            <a:pPr lvl="0" indent="0" marL="0">
              <a:buNone/>
            </a:pPr>
            <a:r>
              <a:rPr/>
              <a:t>Das Hauptprogramm “kennt” nun nur noch die Erzeuger nicht mehr die Bescheide.</a:t>
            </a:r>
          </a:p>
          <a:p>
            <a:pPr lvl="0" indent="0">
              <a:buNone/>
            </a:pPr>
            <a:r>
              <a:rPr b="1">
                <a:solidFill>
                  <a:srgbClr val="007020"/>
                </a:solidFill>
                <a:latin typeface="Courier"/>
              </a:rPr>
              <a:t>class</a:t>
            </a:r>
            <a:r>
              <a:rPr>
                <a:latin typeface="Courier"/>
              </a:rPr>
              <a:t> Program</a:t>
            </a:r>
            <a:br/>
            <a:r>
              <a:rPr>
                <a:solidFill>
                  <a:srgbClr val="666666"/>
                </a:solidFill>
                <a:latin typeface="Courier"/>
              </a:rPr>
              <a:t>{</a:t>
            </a:r>
            <a:br/>
            <a:r>
              <a:rPr>
                <a:latin typeface="Courier"/>
              </a:rPr>
              <a:t>    </a:t>
            </a:r>
            <a:r>
              <a:rPr b="1">
                <a:solidFill>
                  <a:srgbClr val="00702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br/>
            <a:r>
              <a:rPr>
                <a:latin typeface="Courier"/>
              </a:rPr>
              <a:t>    </a:t>
            </a:r>
            <a:r>
              <a:rPr>
                <a:solidFill>
                  <a:srgbClr val="666666"/>
                </a:solidFill>
                <a:latin typeface="Courier"/>
              </a:rPr>
              <a:t>{</a:t>
            </a:r>
            <a:br/>
            <a:r>
              <a:rPr>
                <a:latin typeface="Courier"/>
              </a:rPr>
              <a:t>        BescheidErzeuger erzeuger</a:t>
            </a:r>
            <a:r>
              <a:rPr>
                <a:solidFill>
                  <a:srgbClr val="666666"/>
                </a:solidFill>
                <a:latin typeface="Courier"/>
              </a:rPr>
              <a:t>;</a:t>
            </a:r>
            <a:br/>
            <a:br/>
            <a:r>
              <a:rPr>
                <a:latin typeface="Courier"/>
              </a:rPr>
              <a:t>        erzeuger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BewilligungsErzeuger</a:t>
            </a:r>
            <a:r>
              <a:rPr>
                <a:solidFill>
                  <a:srgbClr val="666666"/>
                </a:solidFill>
                <a:latin typeface="Courier"/>
              </a:rPr>
              <a:t>();</a:t>
            </a:r>
            <a:br/>
            <a:r>
              <a:rPr>
                <a:latin typeface="Courier"/>
              </a:rPr>
              <a:t>        erzeuger</a:t>
            </a:r>
            <a:r>
              <a:rPr>
                <a:solidFill>
                  <a:srgbClr val="666666"/>
                </a:solidFill>
                <a:latin typeface="Courier"/>
              </a:rPr>
              <a:t>.</a:t>
            </a:r>
            <a:r>
              <a:rPr>
                <a:solidFill>
                  <a:srgbClr val="06287E"/>
                </a:solidFill>
                <a:latin typeface="Courier"/>
              </a:rPr>
              <a:t>SendeBescheid</a:t>
            </a:r>
            <a:r>
              <a:rPr>
                <a:solidFill>
                  <a:srgbClr val="666666"/>
                </a:solidFill>
                <a:latin typeface="Courier"/>
              </a:rPr>
              <a:t>();</a:t>
            </a:r>
            <a:br/>
            <a:br/>
            <a:r>
              <a:rPr>
                <a:latin typeface="Courier"/>
              </a:rPr>
              <a:t>        Console</a:t>
            </a:r>
            <a:r>
              <a:rPr>
                <a:solidFill>
                  <a:srgbClr val="666666"/>
                </a:solidFill>
                <a:latin typeface="Courier"/>
              </a:rPr>
              <a:t>.</a:t>
            </a:r>
            <a:r>
              <a:rPr>
                <a:solidFill>
                  <a:srgbClr val="06287E"/>
                </a:solidFill>
                <a:latin typeface="Courier"/>
              </a:rPr>
              <a:t>WriteLine</a:t>
            </a:r>
            <a:r>
              <a:rPr>
                <a:solidFill>
                  <a:srgbClr val="666666"/>
                </a:solidFill>
                <a:latin typeface="Courier"/>
              </a:rPr>
              <a:t>();</a:t>
            </a:r>
            <a:br/>
            <a:br/>
            <a:r>
              <a:rPr>
                <a:latin typeface="Courier"/>
              </a:rPr>
              <a:t>        erzeuger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AblehnungsErzeuger</a:t>
            </a:r>
            <a:r>
              <a:rPr>
                <a:solidFill>
                  <a:srgbClr val="666666"/>
                </a:solidFill>
                <a:latin typeface="Courier"/>
              </a:rPr>
              <a:t>();</a:t>
            </a:r>
            <a:br/>
            <a:r>
              <a:rPr>
                <a:latin typeface="Courier"/>
              </a:rPr>
              <a:t>        erzeuger</a:t>
            </a:r>
            <a:r>
              <a:rPr>
                <a:solidFill>
                  <a:srgbClr val="666666"/>
                </a:solidFill>
                <a:latin typeface="Courier"/>
              </a:rPr>
              <a:t>.</a:t>
            </a:r>
            <a:r>
              <a:rPr>
                <a:solidFill>
                  <a:srgbClr val="06287E"/>
                </a:solidFill>
                <a:latin typeface="Courier"/>
              </a:rPr>
              <a:t>SendeBescheid</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Vorteile der Factory Method</a:t>
            </a:r>
          </a:p>
        </p:txBody>
      </p:sp>
      <p:sp>
        <p:nvSpPr>
          <p:cNvPr id="3" name="Content Placeholder 2"/>
          <p:cNvSpPr>
            <a:spLocks noGrp="1"/>
          </p:cNvSpPr>
          <p:nvPr>
            <p:ph idx="1"/>
          </p:nvPr>
        </p:nvSpPr>
        <p:spPr/>
        <p:txBody>
          <a:bodyPr/>
          <a:lstStyle/>
          <a:p>
            <a:pPr lvl="0"/>
            <a:r>
              <a:rPr b="1"/>
              <a:t>Single Responsibility:</a:t>
            </a:r>
            <a:r>
              <a:rPr/>
              <a:t> Die Erzeugung der Objekte ist vom Rest des Codes isoliert.</a:t>
            </a:r>
          </a:p>
          <a:p>
            <a:pPr lvl="0"/>
            <a:r>
              <a:rPr b="1"/>
              <a:t>Open-Closed Principle:</a:t>
            </a:r>
            <a:r>
              <a:rPr/>
              <a:t> Sie können neue Bescheid-Arten (z.B. </a:t>
            </a:r>
            <a:r>
              <a:rPr>
                <a:latin typeface="Courier"/>
              </a:rPr>
              <a:t>AnhoerungsBescheid</a:t>
            </a:r>
            <a:r>
              <a:rPr/>
              <a:t>) hinzufügen, ohne den bestehenden Versand-Code zu verändern.</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Nachteile der Factory Method</a:t>
            </a:r>
          </a:p>
        </p:txBody>
      </p:sp>
      <p:sp>
        <p:nvSpPr>
          <p:cNvPr id="3" name="Content Placeholder 2"/>
          <p:cNvSpPr>
            <a:spLocks noGrp="1"/>
          </p:cNvSpPr>
          <p:nvPr>
            <p:ph idx="1"/>
          </p:nvPr>
        </p:nvSpPr>
        <p:spPr/>
        <p:txBody>
          <a:bodyPr/>
          <a:lstStyle/>
          <a:p>
            <a:pPr lvl="0"/>
            <a:r>
              <a:rPr b="1"/>
              <a:t>Schlechte Erweiterbarkeit:</a:t>
            </a:r>
            <a:r>
              <a:rPr/>
              <a:t> Das Hauptprogramm muss immer noch alle konkreten </a:t>
            </a:r>
            <a:r>
              <a:rPr>
                <a:latin typeface="Courier"/>
              </a:rPr>
              <a:t>BescheidErzeuger</a:t>
            </a:r>
            <a:r>
              <a:rPr/>
              <a:t> kennen.</a:t>
            </a:r>
          </a:p>
          <a:p>
            <a:pPr lvl="0" indent="0" marL="0">
              <a:buNone/>
            </a:pPr>
            <a:r>
              <a:rPr/>
              <a:t>Auftritt </a:t>
            </a:r>
            <a:r>
              <a:rPr b="1"/>
              <a:t>Simple Factory</a:t>
            </a:r>
            <a:r>
              <a:rPr/>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Simple Factory: Die Fabrik (Code)</a:t>
            </a:r>
          </a:p>
        </p:txBody>
      </p:sp>
      <p:sp>
        <p:nvSpPr>
          <p:cNvPr id="3" name="Content Placeholder 2"/>
          <p:cNvSpPr>
            <a:spLocks noGrp="1"/>
          </p:cNvSpPr>
          <p:nvPr>
            <p:ph idx="1"/>
          </p:nvPr>
        </p:nvSpPr>
        <p:spPr/>
        <p:txBody>
          <a:bodyPr/>
          <a:lstStyle/>
          <a:p>
            <a:pPr lvl="0"/>
            <a:r>
              <a:rPr/>
              <a:t>Die Fabrik wählt den richtigen Erzeuger anhand eines Parameters (hier ein einfacher String) aus.</a:t>
            </a:r>
          </a:p>
          <a:p>
            <a:pPr lvl="0"/>
            <a:r>
              <a:rPr/>
              <a:t>In der Praxis ist die häufig ein Enum.</a:t>
            </a:r>
          </a:p>
          <a:p>
            <a:pPr lvl="0" indent="0">
              <a:buNone/>
            </a:pPr>
            <a:r>
              <a:rPr b="1">
                <a:solidFill>
                  <a:srgbClr val="007020"/>
                </a:solidFill>
                <a:latin typeface="Courier"/>
              </a:rPr>
              <a:t>public</a:t>
            </a:r>
            <a:r>
              <a:rPr>
                <a:latin typeface="Courier"/>
              </a:rPr>
              <a:t> </a:t>
            </a:r>
            <a:r>
              <a:rPr b="1">
                <a:solidFill>
                  <a:srgbClr val="007020"/>
                </a:solidFill>
                <a:latin typeface="Courier"/>
              </a:rPr>
              <a:t>static</a:t>
            </a:r>
            <a:r>
              <a:rPr>
                <a:latin typeface="Courier"/>
              </a:rPr>
              <a:t> </a:t>
            </a:r>
            <a:r>
              <a:rPr b="1">
                <a:solidFill>
                  <a:srgbClr val="007020"/>
                </a:solidFill>
                <a:latin typeface="Courier"/>
              </a:rPr>
              <a:t>class</a:t>
            </a:r>
            <a:r>
              <a:rPr>
                <a:latin typeface="Courier"/>
              </a:rPr>
              <a:t> ErzeugerFactory</a:t>
            </a:r>
            <a:b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b="1">
                <a:solidFill>
                  <a:srgbClr val="007020"/>
                </a:solidFill>
                <a:latin typeface="Courier"/>
              </a:rPr>
              <a:t>static</a:t>
            </a:r>
            <a:r>
              <a:rPr>
                <a:latin typeface="Courier"/>
              </a:rPr>
              <a:t> BescheidErzeuger </a:t>
            </a:r>
            <a:r>
              <a:rPr>
                <a:solidFill>
                  <a:srgbClr val="06287E"/>
                </a:solidFill>
                <a:latin typeface="Courier"/>
              </a:rPr>
              <a:t>Erstelle</a:t>
            </a:r>
            <a:r>
              <a:rPr>
                <a:solidFill>
                  <a:srgbClr val="666666"/>
                </a:solidFill>
                <a:latin typeface="Courier"/>
              </a:rPr>
              <a:t>(</a:t>
            </a:r>
            <a:r>
              <a:rPr>
                <a:solidFill>
                  <a:srgbClr val="902000"/>
                </a:solidFill>
                <a:latin typeface="Courier"/>
              </a:rPr>
              <a:t>string</a:t>
            </a:r>
            <a:r>
              <a:rPr>
                <a:latin typeface="Courier"/>
              </a:rPr>
              <a:t> typ</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typ</a:t>
            </a:r>
            <a:r>
              <a:rPr>
                <a:solidFill>
                  <a:srgbClr val="666666"/>
                </a:solidFill>
                <a:latin typeface="Courier"/>
              </a:rPr>
              <a:t>.</a:t>
            </a:r>
            <a:r>
              <a:rPr>
                <a:solidFill>
                  <a:srgbClr val="06287E"/>
                </a:solidFill>
                <a:latin typeface="Courier"/>
              </a:rPr>
              <a:t>ToLower</a:t>
            </a:r>
            <a:r>
              <a:rPr>
                <a:solidFill>
                  <a:srgbClr val="666666"/>
                </a:solidFill>
                <a:latin typeface="Courier"/>
              </a:rPr>
              <a:t>()</a:t>
            </a:r>
            <a:r>
              <a:rPr>
                <a:latin typeface="Courier"/>
              </a:rPr>
              <a:t> </a:t>
            </a:r>
            <a:r>
              <a:rPr b="1">
                <a:solidFill>
                  <a:srgbClr val="007020"/>
                </a:solidFill>
                <a:latin typeface="Courier"/>
              </a:rPr>
              <a:t>switch</a:t>
            </a:r>
            <a:br/>
            <a:r>
              <a:rPr>
                <a:latin typeface="Courier"/>
              </a:rPr>
              <a:t>        </a:t>
            </a:r>
            <a:r>
              <a:rPr>
                <a:solidFill>
                  <a:srgbClr val="666666"/>
                </a:solidFill>
                <a:latin typeface="Courier"/>
              </a:rPr>
              <a:t>{</a:t>
            </a:r>
            <a:br/>
            <a:r>
              <a:rPr>
                <a:latin typeface="Courier"/>
              </a:rPr>
              <a:t>            </a:t>
            </a:r>
            <a:r>
              <a:rPr>
                <a:solidFill>
                  <a:srgbClr val="4070A0"/>
                </a:solidFill>
                <a:latin typeface="Courier"/>
              </a:rPr>
              <a:t>"bewilligung"</a:t>
            </a:r>
            <a:r>
              <a:rPr>
                <a:latin typeface="Courier"/>
              </a:rPr>
              <a:t> </a:t>
            </a:r>
            <a:r>
              <a:rPr>
                <a:solidFill>
                  <a:srgbClr val="666666"/>
                </a:solidFill>
                <a:latin typeface="Courier"/>
              </a:rPr>
              <a:t>=&gt;</a:t>
            </a:r>
            <a:r>
              <a:rPr>
                <a:latin typeface="Courier"/>
              </a:rPr>
              <a:t> </a:t>
            </a:r>
            <a:r>
              <a:rPr b="1">
                <a:solidFill>
                  <a:srgbClr val="007020"/>
                </a:solidFill>
                <a:latin typeface="Courier"/>
              </a:rPr>
              <a:t>new</a:t>
            </a:r>
            <a:r>
              <a:rPr>
                <a:latin typeface="Courier"/>
              </a:rPr>
              <a:t> </a:t>
            </a:r>
            <a:r>
              <a:rPr>
                <a:solidFill>
                  <a:srgbClr val="06287E"/>
                </a:solidFill>
                <a:latin typeface="Courier"/>
              </a:rPr>
              <a:t>BewilligungsErzeuger</a:t>
            </a:r>
            <a:r>
              <a:rPr>
                <a:solidFill>
                  <a:srgbClr val="666666"/>
                </a:solidFill>
                <a:latin typeface="Courier"/>
              </a:rPr>
              <a:t>(),</a:t>
            </a:r>
            <a:br/>
            <a:r>
              <a:rPr>
                <a:latin typeface="Courier"/>
              </a:rPr>
              <a:t>            </a:t>
            </a:r>
            <a:r>
              <a:rPr>
                <a:solidFill>
                  <a:srgbClr val="4070A0"/>
                </a:solidFill>
                <a:latin typeface="Courier"/>
              </a:rPr>
              <a:t>"ablehnung"</a:t>
            </a:r>
            <a:r>
              <a:rPr>
                <a:latin typeface="Courier"/>
              </a:rPr>
              <a:t>   </a:t>
            </a:r>
            <a:r>
              <a:rPr>
                <a:solidFill>
                  <a:srgbClr val="666666"/>
                </a:solidFill>
                <a:latin typeface="Courier"/>
              </a:rPr>
              <a:t>=&gt;</a:t>
            </a:r>
            <a:r>
              <a:rPr>
                <a:latin typeface="Courier"/>
              </a:rPr>
              <a:t> </a:t>
            </a:r>
            <a:r>
              <a:rPr b="1">
                <a:solidFill>
                  <a:srgbClr val="007020"/>
                </a:solidFill>
                <a:latin typeface="Courier"/>
              </a:rPr>
              <a:t>new</a:t>
            </a:r>
            <a:r>
              <a:rPr>
                <a:latin typeface="Courier"/>
              </a:rPr>
              <a:t> </a:t>
            </a:r>
            <a:r>
              <a:rPr>
                <a:solidFill>
                  <a:srgbClr val="06287E"/>
                </a:solidFill>
                <a:latin typeface="Courier"/>
              </a:rPr>
              <a:t>AblehnungsErzeuger</a:t>
            </a:r>
            <a:r>
              <a:rPr>
                <a:solidFill>
                  <a:srgbClr val="666666"/>
                </a:solidFill>
                <a:latin typeface="Courier"/>
              </a:rPr>
              <a:t>(),</a:t>
            </a:r>
            <a:br/>
            <a:r>
              <a:rPr>
                <a:latin typeface="Courier"/>
              </a:rPr>
              <a:t>            _ </a:t>
            </a:r>
            <a:r>
              <a:rPr>
                <a:solidFill>
                  <a:srgbClr val="666666"/>
                </a:solidFill>
                <a:latin typeface="Courier"/>
              </a:rPr>
              <a:t>=&gt;</a:t>
            </a:r>
            <a:r>
              <a:rPr>
                <a:latin typeface="Courier"/>
              </a:rPr>
              <a:t> </a:t>
            </a:r>
            <a:r>
              <a:rPr b="1">
                <a:solidFill>
                  <a:srgbClr val="007020"/>
                </a:solidFill>
                <a:latin typeface="Courier"/>
              </a:rPr>
              <a:t>throw</a:t>
            </a:r>
            <a:r>
              <a:rPr>
                <a:latin typeface="Courier"/>
              </a:rPr>
              <a:t> </a:t>
            </a:r>
            <a:r>
              <a:rPr b="1">
                <a:solidFill>
                  <a:srgbClr val="007020"/>
                </a:solidFill>
                <a:latin typeface="Courier"/>
              </a:rPr>
              <a:t>new</a:t>
            </a:r>
            <a:r>
              <a:rPr>
                <a:latin typeface="Courier"/>
              </a:rPr>
              <a:t> </a:t>
            </a:r>
            <a:r>
              <a:rPr>
                <a:solidFill>
                  <a:srgbClr val="06287E"/>
                </a:solidFill>
                <a:latin typeface="Courier"/>
              </a:rPr>
              <a:t>ArgumentException</a:t>
            </a:r>
            <a:r>
              <a:rPr>
                <a:solidFill>
                  <a:srgbClr val="666666"/>
                </a:solidFill>
                <a:latin typeface="Courier"/>
              </a:rPr>
              <a:t>(</a:t>
            </a:r>
            <a:r>
              <a:rPr>
                <a:solidFill>
                  <a:srgbClr val="4070A0"/>
                </a:solidFill>
                <a:latin typeface="Courier"/>
              </a:rPr>
              <a:t>"Unbekannter Typ"</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i="1">
                <a:solidFill>
                  <a:srgbClr val="60A0B0"/>
                </a:solidFill>
                <a:latin typeface="Courier"/>
              </a:rPr>
              <a:t>// synonym zu:</a:t>
            </a:r>
            <a:br/>
            <a:r>
              <a:rPr>
                <a:latin typeface="Courier"/>
              </a:rPr>
              <a:t>        </a:t>
            </a:r>
            <a:r>
              <a:rPr b="1">
                <a:solidFill>
                  <a:srgbClr val="007020"/>
                </a:solidFill>
                <a:latin typeface="Courier"/>
              </a:rPr>
              <a:t>switch</a:t>
            </a:r>
            <a:r>
              <a:rPr>
                <a:solidFill>
                  <a:srgbClr val="666666"/>
                </a:solidFill>
                <a:latin typeface="Courier"/>
              </a:rPr>
              <a:t>(</a:t>
            </a:r>
            <a:r>
              <a:rPr>
                <a:latin typeface="Courier"/>
              </a:rPr>
              <a:t>typ</a:t>
            </a:r>
            <a:r>
              <a:rPr>
                <a:solidFill>
                  <a:srgbClr val="666666"/>
                </a:solidFill>
                <a:latin typeface="Courier"/>
              </a:rPr>
              <a:t>.</a:t>
            </a:r>
            <a:r>
              <a:rPr>
                <a:solidFill>
                  <a:srgbClr val="06287E"/>
                </a:solidFill>
                <a:latin typeface="Courier"/>
              </a:rPr>
              <a:t>ToLower</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case</a:t>
            </a:r>
            <a:r>
              <a:rPr>
                <a:latin typeface="Courier"/>
              </a:rPr>
              <a:t> </a:t>
            </a:r>
            <a:r>
              <a:rPr>
                <a:solidFill>
                  <a:srgbClr val="4070A0"/>
                </a:solidFill>
                <a:latin typeface="Courier"/>
              </a:rPr>
              <a:t>"bewilligung"</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BewilligungsErzeuger</a:t>
            </a:r>
            <a:r>
              <a:rPr>
                <a:solidFill>
                  <a:srgbClr val="666666"/>
                </a:solidFill>
                <a:latin typeface="Courier"/>
              </a:rPr>
              <a:t>();</a:t>
            </a:r>
            <a:br/>
            <a:r>
              <a:rPr>
                <a:latin typeface="Courier"/>
              </a:rPr>
              <a:t>            </a:t>
            </a:r>
            <a:r>
              <a:rPr b="1">
                <a:solidFill>
                  <a:srgbClr val="007020"/>
                </a:solidFill>
                <a:latin typeface="Courier"/>
              </a:rPr>
              <a:t>case</a:t>
            </a:r>
            <a:r>
              <a:rPr>
                <a:latin typeface="Courier"/>
              </a:rPr>
              <a:t> </a:t>
            </a:r>
            <a:r>
              <a:rPr>
                <a:solidFill>
                  <a:srgbClr val="4070A0"/>
                </a:solidFill>
                <a:latin typeface="Courier"/>
              </a:rPr>
              <a:t>"ablehnung"</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AblehnungsErzeuger</a:t>
            </a:r>
            <a:r>
              <a:rPr>
                <a:solidFill>
                  <a:srgbClr val="666666"/>
                </a:solidFill>
                <a:latin typeface="Courier"/>
              </a:rPr>
              <a:t>();</a:t>
            </a:r>
            <a:br/>
            <a:r>
              <a:rPr>
                <a:latin typeface="Courier"/>
              </a:rPr>
              <a:t>            </a:t>
            </a:r>
            <a:r>
              <a:rPr b="1">
                <a:solidFill>
                  <a:srgbClr val="007020"/>
                </a:solidFill>
                <a:latin typeface="Courier"/>
              </a:rPr>
              <a:t>default</a:t>
            </a:r>
            <a:r>
              <a:rPr>
                <a:solidFill>
                  <a:srgbClr val="666666"/>
                </a:solidFill>
                <a:latin typeface="Courier"/>
              </a:rPr>
              <a:t>:</a:t>
            </a:r>
            <a:br/>
            <a:r>
              <a:rPr>
                <a:latin typeface="Courier"/>
              </a:rPr>
              <a:t>                </a:t>
            </a:r>
            <a:r>
              <a:rPr b="1">
                <a:solidFill>
                  <a:srgbClr val="007020"/>
                </a:solidFill>
                <a:latin typeface="Courier"/>
              </a:rPr>
              <a:t>throw</a:t>
            </a:r>
            <a:r>
              <a:rPr>
                <a:latin typeface="Courier"/>
              </a:rPr>
              <a:t> </a:t>
            </a:r>
            <a:r>
              <a:rPr b="1">
                <a:solidFill>
                  <a:srgbClr val="007020"/>
                </a:solidFill>
                <a:latin typeface="Courier"/>
              </a:rPr>
              <a:t>new</a:t>
            </a:r>
            <a:r>
              <a:rPr>
                <a:latin typeface="Courier"/>
              </a:rPr>
              <a:t> </a:t>
            </a:r>
            <a:r>
              <a:rPr>
                <a:solidFill>
                  <a:srgbClr val="06287E"/>
                </a:solidFill>
                <a:latin typeface="Courier"/>
              </a:rPr>
              <a:t>ArgumentException</a:t>
            </a:r>
            <a:r>
              <a:rPr>
                <a:solidFill>
                  <a:srgbClr val="666666"/>
                </a:solidFill>
                <a:latin typeface="Courier"/>
              </a:rPr>
              <a:t>(</a:t>
            </a:r>
            <a:r>
              <a:rPr>
                <a:solidFill>
                  <a:srgbClr val="4070A0"/>
                </a:solidFill>
                <a:latin typeface="Courier"/>
              </a:rPr>
              <a:t>"Unbekannter Typ"</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Simple Factory: Das Hauptprogramm (Code)</a:t>
            </a:r>
          </a:p>
        </p:txBody>
      </p:sp>
      <p:sp>
        <p:nvSpPr>
          <p:cNvPr id="3" name="Content Placeholder 2"/>
          <p:cNvSpPr>
            <a:spLocks noGrp="1"/>
          </p:cNvSpPr>
          <p:nvPr>
            <p:ph idx="1"/>
          </p:nvPr>
        </p:nvSpPr>
        <p:spPr/>
        <p:txBody>
          <a:bodyPr/>
          <a:lstStyle/>
          <a:p>
            <a:pPr lvl="0" indent="0" marL="0">
              <a:buNone/>
            </a:pPr>
            <a:r>
              <a:rPr/>
              <a:t>Das Hauptprogramm kennt nur noch den abstrakten </a:t>
            </a:r>
            <a:r>
              <a:rPr>
                <a:latin typeface="Courier"/>
              </a:rPr>
              <a:t>Bescheiderzeuger</a:t>
            </a:r>
            <a:r>
              <a:rPr/>
              <a:t> und wählt den konkreten mit Hilfe eines Parameters (hier Namen) aus.</a:t>
            </a:r>
          </a:p>
          <a:p>
            <a:pPr lvl="0" indent="0">
              <a:buNone/>
            </a:pPr>
            <a:r>
              <a:rPr b="1">
                <a:solidFill>
                  <a:srgbClr val="007020"/>
                </a:solidFill>
                <a:latin typeface="Courier"/>
              </a:rPr>
              <a:t>class</a:t>
            </a:r>
            <a:r>
              <a:rPr>
                <a:latin typeface="Courier"/>
              </a:rPr>
              <a:t> Program</a:t>
            </a:r>
            <a:br/>
            <a:r>
              <a:rPr>
                <a:solidFill>
                  <a:srgbClr val="666666"/>
                </a:solidFill>
                <a:latin typeface="Courier"/>
              </a:rPr>
              <a:t>{</a:t>
            </a:r>
            <a:br/>
            <a:r>
              <a:rPr>
                <a:latin typeface="Courier"/>
              </a:rPr>
              <a:t>    </a:t>
            </a:r>
            <a:r>
              <a:rPr b="1">
                <a:solidFill>
                  <a:srgbClr val="00702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br/>
            <a:r>
              <a:rPr>
                <a:latin typeface="Courier"/>
              </a:rPr>
              <a:t>    </a:t>
            </a:r>
            <a:r>
              <a:rPr>
                <a:solidFill>
                  <a:srgbClr val="666666"/>
                </a:solidFill>
                <a:latin typeface="Courier"/>
              </a:rPr>
              <a:t>{</a:t>
            </a:r>
            <a:br/>
            <a:r>
              <a:rPr>
                <a:latin typeface="Courier"/>
              </a:rPr>
              <a:t>        BescheidErzeuger erzeuger</a:t>
            </a:r>
            <a:r>
              <a:rPr>
                <a:solidFill>
                  <a:srgbClr val="666666"/>
                </a:solidFill>
                <a:latin typeface="Courier"/>
              </a:rPr>
              <a:t>;</a:t>
            </a:r>
            <a:br/>
            <a:br/>
            <a:r>
              <a:rPr>
                <a:latin typeface="Courier"/>
              </a:rPr>
              <a:t>        erzeuger </a:t>
            </a:r>
            <a:r>
              <a:rPr>
                <a:solidFill>
                  <a:srgbClr val="666666"/>
                </a:solidFill>
                <a:latin typeface="Courier"/>
              </a:rPr>
              <a:t>=</a:t>
            </a:r>
            <a:r>
              <a:rPr>
                <a:latin typeface="Courier"/>
              </a:rPr>
              <a:t> ErzeugerFactory</a:t>
            </a:r>
            <a:r>
              <a:rPr>
                <a:solidFill>
                  <a:srgbClr val="666666"/>
                </a:solidFill>
                <a:latin typeface="Courier"/>
              </a:rPr>
              <a:t>.</a:t>
            </a:r>
            <a:r>
              <a:rPr>
                <a:solidFill>
                  <a:srgbClr val="06287E"/>
                </a:solidFill>
                <a:latin typeface="Courier"/>
              </a:rPr>
              <a:t>Erstelle</a:t>
            </a:r>
            <a:r>
              <a:rPr>
                <a:solidFill>
                  <a:srgbClr val="666666"/>
                </a:solidFill>
                <a:latin typeface="Courier"/>
              </a:rPr>
              <a:t>(</a:t>
            </a:r>
            <a:r>
              <a:rPr>
                <a:solidFill>
                  <a:srgbClr val="4070A0"/>
                </a:solidFill>
                <a:latin typeface="Courier"/>
              </a:rPr>
              <a:t>"bewilligung"</a:t>
            </a:r>
            <a:r>
              <a:rPr>
                <a:solidFill>
                  <a:srgbClr val="666666"/>
                </a:solidFill>
                <a:latin typeface="Courier"/>
              </a:rPr>
              <a:t>);</a:t>
            </a:r>
            <a:br/>
            <a:r>
              <a:rPr>
                <a:latin typeface="Courier"/>
              </a:rPr>
              <a:t>        erzeuger</a:t>
            </a:r>
            <a:r>
              <a:rPr>
                <a:solidFill>
                  <a:srgbClr val="666666"/>
                </a:solidFill>
                <a:latin typeface="Courier"/>
              </a:rPr>
              <a:t>.</a:t>
            </a:r>
            <a:r>
              <a:rPr>
                <a:solidFill>
                  <a:srgbClr val="06287E"/>
                </a:solidFill>
                <a:latin typeface="Courier"/>
              </a:rPr>
              <a:t>SendeBescheid</a:t>
            </a:r>
            <a:r>
              <a:rPr>
                <a:solidFill>
                  <a:srgbClr val="666666"/>
                </a:solidFill>
                <a:latin typeface="Courier"/>
              </a:rPr>
              <a:t>();</a:t>
            </a:r>
            <a:br/>
            <a:br/>
            <a:r>
              <a:rPr>
                <a:latin typeface="Courier"/>
              </a:rPr>
              <a:t>        erzeuger </a:t>
            </a:r>
            <a:r>
              <a:rPr>
                <a:solidFill>
                  <a:srgbClr val="666666"/>
                </a:solidFill>
                <a:latin typeface="Courier"/>
              </a:rPr>
              <a:t>=</a:t>
            </a:r>
            <a:r>
              <a:rPr>
                <a:latin typeface="Courier"/>
              </a:rPr>
              <a:t> ErzeugerFactory</a:t>
            </a:r>
            <a:r>
              <a:rPr>
                <a:solidFill>
                  <a:srgbClr val="666666"/>
                </a:solidFill>
                <a:latin typeface="Courier"/>
              </a:rPr>
              <a:t>.</a:t>
            </a:r>
            <a:r>
              <a:rPr>
                <a:solidFill>
                  <a:srgbClr val="06287E"/>
                </a:solidFill>
                <a:latin typeface="Courier"/>
              </a:rPr>
              <a:t>Erstelle</a:t>
            </a:r>
            <a:r>
              <a:rPr>
                <a:solidFill>
                  <a:srgbClr val="666666"/>
                </a:solidFill>
                <a:latin typeface="Courier"/>
              </a:rPr>
              <a:t>(</a:t>
            </a:r>
            <a:r>
              <a:rPr>
                <a:solidFill>
                  <a:srgbClr val="4070A0"/>
                </a:solidFill>
                <a:latin typeface="Courier"/>
              </a:rPr>
              <a:t>"ablehnung"</a:t>
            </a:r>
            <a:r>
              <a:rPr>
                <a:solidFill>
                  <a:srgbClr val="666666"/>
                </a:solidFill>
                <a:latin typeface="Courier"/>
              </a:rPr>
              <a:t>);</a:t>
            </a:r>
            <a:br/>
            <a:r>
              <a:rPr>
                <a:latin typeface="Courier"/>
              </a:rPr>
              <a:t>        erzeuger</a:t>
            </a:r>
            <a:r>
              <a:rPr>
                <a:solidFill>
                  <a:srgbClr val="666666"/>
                </a:solidFill>
                <a:latin typeface="Courier"/>
              </a:rPr>
              <a:t>.</a:t>
            </a:r>
            <a:r>
              <a:rPr>
                <a:solidFill>
                  <a:srgbClr val="06287E"/>
                </a:solidFill>
                <a:latin typeface="Courier"/>
              </a:rPr>
              <a:t>SendeBescheid</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Vorteile der Simple Factory</a:t>
            </a:r>
          </a:p>
        </p:txBody>
      </p:sp>
      <p:sp>
        <p:nvSpPr>
          <p:cNvPr id="3" name="Content Placeholder 2"/>
          <p:cNvSpPr>
            <a:spLocks noGrp="1"/>
          </p:cNvSpPr>
          <p:nvPr>
            <p:ph idx="1"/>
          </p:nvPr>
        </p:nvSpPr>
        <p:spPr/>
        <p:txBody>
          <a:bodyPr/>
          <a:lstStyle/>
          <a:p>
            <a:pPr lvl="0"/>
            <a:r>
              <a:rPr b="1"/>
              <a:t>Weniger Wissen im Hauptprogramm:</a:t>
            </a:r>
            <a:r>
              <a:rPr/>
              <a:t> Das Hauptprogramm hat eine losere Kopplung an konkrete Klassen.</a:t>
            </a:r>
          </a:p>
          <a:p>
            <a:pPr lvl="0"/>
            <a:r>
              <a:rPr b="1"/>
              <a:t>Zentrale Auswahl-Logik:</a:t>
            </a:r>
            <a:r>
              <a:rPr/>
              <a:t> Die Entscheidung „welcher Erzeuger für welchen Fall?“ liegt an einer Stelle.</a:t>
            </a:r>
          </a:p>
          <a:p>
            <a:pPr lvl="0"/>
            <a:r>
              <a:rPr b="1"/>
              <a:t>Einfache Mapping-Änderungen:</a:t>
            </a:r>
            <a:r>
              <a:rPr/>
              <a:t> Wenn sich die Zuordnung ändert, ändert man nur die Fabrik.</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Unterscheidung: Factory Method + Simple Factory</a:t>
            </a:r>
          </a:p>
        </p:txBody>
      </p:sp>
      <p:sp>
        <p:nvSpPr>
          <p:cNvPr id="3" name="Content Placeholder 2"/>
          <p:cNvSpPr>
            <a:spLocks noGrp="1"/>
          </p:cNvSpPr>
          <p:nvPr>
            <p:ph idx="1"/>
          </p:nvPr>
        </p:nvSpPr>
        <p:spPr/>
        <p:txBody>
          <a:bodyPr/>
          <a:lstStyle/>
          <a:p>
            <a:pPr lvl="0"/>
            <a:r>
              <a:rPr b="1"/>
              <a:t>Factory Method:</a:t>
            </a:r>
            <a:r>
              <a:rPr/>
              <a:t> Wie entsteht ein Produkt?</a:t>
            </a:r>
          </a:p>
          <a:p>
            <a:pPr lvl="0"/>
            <a:r>
              <a:rPr b="1"/>
              <a:t>Simple Factory:</a:t>
            </a:r>
            <a:r>
              <a:rPr/>
              <a:t> Welcher Erzeuger wird gewählt?</a:t>
            </a:r>
          </a:p>
          <a:p>
            <a:pPr lvl="0" indent="0" marL="0">
              <a:buNone/>
            </a:pPr>
            <a:r>
              <a:rPr b="1"/>
              <a:t>Wichtige Einschränkung:</a:t>
            </a:r>
          </a:p>
          <a:p>
            <a:pPr lvl="0" indent="0" marL="0">
              <a:buNone/>
            </a:pPr>
            <a:r>
              <a:rPr/>
              <a:t>Die </a:t>
            </a:r>
            <a:r>
              <a:rPr>
                <a:latin typeface="Courier"/>
              </a:rPr>
              <a:t>Simple Factory</a:t>
            </a:r>
            <a:r>
              <a:rPr/>
              <a:t> selbst verletzt oft das Open-Closed-Prinzip, weil sie beim Hinzufügen neuer Typen angepasst werden muss (</a:t>
            </a:r>
            <a:r>
              <a:rPr>
                <a:latin typeface="Courier"/>
              </a:rPr>
              <a:t>switch</a:t>
            </a:r>
            <a:r>
              <a:rPr/>
              <a:t> wächst).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4: Adapter Pattern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Einführung: Adapter Pattern</a:t>
            </a:r>
          </a:p>
        </p:txBody>
      </p:sp>
      <p:sp>
        <p:nvSpPr>
          <p:cNvPr id="3" name="Content Placeholder 2"/>
          <p:cNvSpPr>
            <a:spLocks noGrp="1"/>
          </p:cNvSpPr>
          <p:nvPr>
            <p:ph idx="1"/>
          </p:nvPr>
        </p:nvSpPr>
        <p:spPr/>
        <p:txBody>
          <a:bodyPr/>
          <a:lstStyle/>
          <a:p>
            <a:pPr lvl="0" indent="0" marL="0">
              <a:buNone/>
            </a:pPr>
            <a:r>
              <a:rPr/>
              <a:t>Der Adapter ist ein Strukturmuster. Er erlaubt es Objekten mit inkompatiblen Schnittstellen (Interfaces), zusammenzuarbeiten. Er verhält sich wie ein Reiseadapter für Steckdosen: Er macht den fremden Stecker passend für die lokale Infrastruktur.</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Das Problem: Legacy-Systeme</a:t>
            </a:r>
          </a:p>
        </p:txBody>
      </p:sp>
      <p:sp>
        <p:nvSpPr>
          <p:cNvPr id="3" name="Content Placeholder 2"/>
          <p:cNvSpPr>
            <a:spLocks noGrp="1"/>
          </p:cNvSpPr>
          <p:nvPr>
            <p:ph idx="1"/>
          </p:nvPr>
        </p:nvSpPr>
        <p:spPr/>
        <p:txBody>
          <a:bodyPr/>
          <a:lstStyle/>
          <a:p>
            <a:pPr lvl="0" indent="0" marL="0">
              <a:buNone/>
            </a:pPr>
            <a:r>
              <a:rPr/>
              <a:t>In der Verwaltung können Sie Altsysteme nicht einfach abschalten. Sie müssen moderne Portale mit 20 Jahre alten Mainframes verbinden. Das moderne Portal erwartet saubere C#-Objekte, das alte System liefert aber z.B. kryptische, semikolon-getrennte Strings.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Anwendung: Anbindung eines Zentralregisters</a:t>
            </a:r>
          </a:p>
        </p:txBody>
      </p:sp>
      <p:sp>
        <p:nvSpPr>
          <p:cNvPr id="3" name="Content Placeholder 2"/>
          <p:cNvSpPr>
            <a:spLocks noGrp="1"/>
          </p:cNvSpPr>
          <p:nvPr>
            <p:ph idx="1"/>
          </p:nvPr>
        </p:nvSpPr>
        <p:spPr/>
        <p:txBody>
          <a:bodyPr/>
          <a:lstStyle/>
          <a:p>
            <a:pPr lvl="0" indent="0" marL="0">
              <a:buNone/>
            </a:pPr>
            <a:r>
              <a:rPr/>
              <a:t>Wir haben ein Web-Portal, das eine </a:t>
            </a:r>
            <a:r>
              <a:rPr>
                <a:latin typeface="Courier"/>
              </a:rPr>
              <a:t>Person</a:t>
            </a:r>
            <a:r>
              <a:rPr/>
              <a:t> benötigt. Das Legacy-Zentralregister hat keine moderne REST-API, sondern nur eine Funktion, die einen String wie </a:t>
            </a:r>
            <a:r>
              <a:rPr>
                <a:latin typeface="Courier"/>
              </a:rPr>
              <a:t>"Mustermann;Max;1980-01-01"</a:t>
            </a:r>
            <a:r>
              <a:rPr/>
              <a:t> zurückgibt.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Das Ziel-Interface (Code)</a:t>
            </a:r>
          </a:p>
        </p:txBody>
      </p:sp>
      <p:sp>
        <p:nvSpPr>
          <p:cNvPr id="3" name="Content Placeholder 2"/>
          <p:cNvSpPr>
            <a:spLocks noGrp="1"/>
          </p:cNvSpPr>
          <p:nvPr>
            <p:ph idx="1"/>
          </p:nvPr>
        </p:nvSpPr>
        <p:spPr/>
        <p:txBody>
          <a:bodyPr/>
          <a:lstStyle/>
          <a:p>
            <a:pPr lvl="0" indent="0" marL="0">
              <a:buNone/>
            </a:pPr>
            <a:r>
              <a:rPr/>
              <a:t>So möchte unser modernes System arbeiten:</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Person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string</a:t>
            </a:r>
            <a:r>
              <a:rPr>
                <a:latin typeface="Courier"/>
              </a:rPr>
              <a:t> Vorname </a:t>
            </a:r>
            <a:r>
              <a:rPr>
                <a:solidFill>
                  <a:srgbClr val="666666"/>
                </a:solidFill>
                <a:latin typeface="Courier"/>
              </a:rPr>
              <a:t>{</a:t>
            </a:r>
            <a:r>
              <a:rPr>
                <a:latin typeface="Courier"/>
              </a:rPr>
              <a:t> </a:t>
            </a:r>
            <a:r>
              <a:rPr b="1">
                <a:solidFill>
                  <a:srgbClr val="007020"/>
                </a:solidFill>
                <a:latin typeface="Courier"/>
              </a:rPr>
              <a:t>get</a:t>
            </a:r>
            <a:r>
              <a:rPr>
                <a:solidFill>
                  <a:srgbClr val="666666"/>
                </a:solidFill>
                <a:latin typeface="Courier"/>
              </a:rPr>
              <a:t>;</a:t>
            </a:r>
            <a:r>
              <a:rPr>
                <a:latin typeface="Courier"/>
              </a:rPr>
              <a:t> </a:t>
            </a:r>
            <a:r>
              <a:rPr b="1">
                <a:solidFill>
                  <a:srgbClr val="007020"/>
                </a:solidFill>
                <a:latin typeface="Courier"/>
              </a:rPr>
              <a:t>set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string</a:t>
            </a:r>
            <a:r>
              <a:rPr>
                <a:latin typeface="Courier"/>
              </a:rPr>
              <a:t> Nachname </a:t>
            </a:r>
            <a:r>
              <a:rPr>
                <a:solidFill>
                  <a:srgbClr val="666666"/>
                </a:solidFill>
                <a:latin typeface="Courier"/>
              </a:rPr>
              <a:t>{</a:t>
            </a:r>
            <a:r>
              <a:rPr>
                <a:latin typeface="Courier"/>
              </a:rPr>
              <a:t> </a:t>
            </a:r>
            <a:r>
              <a:rPr b="1">
                <a:solidFill>
                  <a:srgbClr val="007020"/>
                </a:solidFill>
                <a:latin typeface="Courier"/>
              </a:rPr>
              <a:t>get</a:t>
            </a:r>
            <a:r>
              <a:rPr>
                <a:solidFill>
                  <a:srgbClr val="666666"/>
                </a:solidFill>
                <a:latin typeface="Courier"/>
              </a:rPr>
              <a:t>;</a:t>
            </a:r>
            <a:r>
              <a:rPr>
                <a:latin typeface="Courier"/>
              </a:rPr>
              <a:t> </a:t>
            </a:r>
            <a:r>
              <a:rPr b="1">
                <a:solidFill>
                  <a:srgbClr val="007020"/>
                </a:solidFill>
                <a:latin typeface="Courier"/>
              </a:rPr>
              <a:t>set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DateTime Geburtsdatum </a:t>
            </a:r>
            <a:r>
              <a:rPr>
                <a:solidFill>
                  <a:srgbClr val="666666"/>
                </a:solidFill>
                <a:latin typeface="Courier"/>
              </a:rPr>
              <a:t>{</a:t>
            </a:r>
            <a:r>
              <a:rPr>
                <a:latin typeface="Courier"/>
              </a:rPr>
              <a:t> </a:t>
            </a:r>
            <a:r>
              <a:rPr b="1">
                <a:solidFill>
                  <a:srgbClr val="007020"/>
                </a:solidFill>
                <a:latin typeface="Courier"/>
              </a:rPr>
              <a:t>get</a:t>
            </a:r>
            <a:r>
              <a:rPr>
                <a:solidFill>
                  <a:srgbClr val="666666"/>
                </a:solidFill>
                <a:latin typeface="Courier"/>
              </a:rPr>
              <a:t>;</a:t>
            </a:r>
            <a:r>
              <a:rPr>
                <a:latin typeface="Courier"/>
              </a:rPr>
              <a:t> </a:t>
            </a:r>
            <a:r>
              <a:rPr b="1">
                <a:solidFill>
                  <a:srgbClr val="007020"/>
                </a:solidFill>
                <a:latin typeface="Courier"/>
              </a:rPr>
              <a:t>set</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i="1">
                <a:solidFill>
                  <a:srgbClr val="60A0B0"/>
                </a:solidFill>
                <a:latin typeface="Courier"/>
              </a:rPr>
              <a:t>// Bestehendes, modernes System erwartet dieses Interface</a:t>
            </a: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IPersonenQuelle</a:t>
            </a:r>
            <a:br/>
            <a:r>
              <a:rPr>
                <a:solidFill>
                  <a:srgbClr val="666666"/>
                </a:solidFill>
                <a:latin typeface="Courier"/>
              </a:rPr>
              <a:t>{</a:t>
            </a:r>
            <a:br/>
            <a:r>
              <a:rPr>
                <a:latin typeface="Courier"/>
              </a:rPr>
              <a:t>    Person </a:t>
            </a:r>
            <a:r>
              <a:rPr>
                <a:solidFill>
                  <a:srgbClr val="06287E"/>
                </a:solidFill>
                <a:latin typeface="Courier"/>
              </a:rPr>
              <a:t>GetPerson</a:t>
            </a:r>
            <a:r>
              <a:rPr>
                <a:solidFill>
                  <a:srgbClr val="666666"/>
                </a:solidFill>
                <a:latin typeface="Courier"/>
              </a:rPr>
              <a:t>(</a:t>
            </a:r>
            <a:r>
              <a:rPr>
                <a:solidFill>
                  <a:srgbClr val="902000"/>
                </a:solidFill>
                <a:latin typeface="Courier"/>
              </a:rPr>
              <a:t>string</a:t>
            </a:r>
            <a:r>
              <a:rPr>
                <a:latin typeface="Courier"/>
              </a:rPr>
              <a:t> id</a:t>
            </a:r>
            <a:r>
              <a:rPr>
                <a:solidFill>
                  <a:srgbClr val="666666"/>
                </a:solidFill>
                <a:latin typeface="Courier"/>
              </a:rPr>
              <a:t>);</a:t>
            </a:r>
            <a:br/>
            <a:r>
              <a:rPr>
                <a:solidFill>
                  <a:srgbClr val="666666"/>
                </a:solidFill>
                <a:latin typeface="Courier"/>
              </a:rPr>
              <a:t>}</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Das alte System (Code)</a:t>
            </a:r>
          </a:p>
        </p:txBody>
      </p:sp>
      <p:sp>
        <p:nvSpPr>
          <p:cNvPr id="3" name="Content Placeholder 2"/>
          <p:cNvSpPr>
            <a:spLocks noGrp="1"/>
          </p:cNvSpPr>
          <p:nvPr>
            <p:ph idx="1"/>
          </p:nvPr>
        </p:nvSpPr>
        <p:spPr/>
        <p:txBody>
          <a:bodyPr/>
          <a:lstStyle/>
          <a:p>
            <a:pPr lvl="0" indent="0" marL="0">
              <a:buNone/>
            </a:pPr>
            <a:r>
              <a:rPr/>
              <a:t>Die inkompatible Klasse, die wir nicht ändern können oder dürfen:</a:t>
            </a:r>
          </a:p>
          <a:p>
            <a:pPr lvl="0" indent="0">
              <a:buNone/>
            </a:pPr>
            <a:r>
              <a:rPr i="1">
                <a:solidFill>
                  <a:srgbClr val="60A0B0"/>
                </a:solidFill>
                <a:latin typeface="Courier"/>
              </a:rPr>
              <a:t>// Das alte Legacy-System (inkompatibel)</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AltesRegisterSystem</a:t>
            </a:r>
            <a:b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string</a:t>
            </a:r>
            <a:r>
              <a:rPr>
                <a:latin typeface="Courier"/>
              </a:rPr>
              <a:t> </a:t>
            </a:r>
            <a:r>
              <a:rPr>
                <a:solidFill>
                  <a:srgbClr val="06287E"/>
                </a:solidFill>
                <a:latin typeface="Courier"/>
              </a:rPr>
              <a:t>SuchePersonDatensatz</a:t>
            </a:r>
            <a:r>
              <a:rPr>
                <a:solidFill>
                  <a:srgbClr val="666666"/>
                </a:solidFill>
                <a:latin typeface="Courier"/>
              </a:rPr>
              <a:t>(</a:t>
            </a:r>
            <a:r>
              <a:rPr>
                <a:solidFill>
                  <a:srgbClr val="902000"/>
                </a:solidFill>
                <a:latin typeface="Courier"/>
              </a:rPr>
              <a:t>string</a:t>
            </a:r>
            <a:r>
              <a:rPr>
                <a:latin typeface="Courier"/>
              </a:rPr>
              <a:t> personalId</a:t>
            </a:r>
            <a:r>
              <a:rPr>
                <a:solidFill>
                  <a:srgbClr val="666666"/>
                </a:solidFill>
                <a:latin typeface="Courier"/>
              </a:rPr>
              <a:t>)</a:t>
            </a:r>
            <a:r>
              <a:rPr>
                <a:latin typeface="Courier"/>
              </a:rPr>
              <a:t> </a:t>
            </a:r>
            <a:br/>
            <a:r>
              <a:rPr>
                <a:latin typeface="Courier"/>
              </a:rPr>
              <a:t>    </a:t>
            </a:r>
            <a:r>
              <a:rPr>
                <a:solidFill>
                  <a:srgbClr val="666666"/>
                </a:solidFill>
                <a:latin typeface="Courier"/>
              </a:rPr>
              <a:t>{</a:t>
            </a:r>
            <a:br/>
            <a:r>
              <a:rPr>
                <a:latin typeface="Courier"/>
              </a:rPr>
              <a:t>        </a:t>
            </a:r>
            <a:r>
              <a:rPr i="1">
                <a:solidFill>
                  <a:srgbClr val="60A0B0"/>
                </a:solidFill>
                <a:latin typeface="Courier"/>
              </a:rPr>
              <a:t>// Simulation eines alten Datenbank-Aufrufs</a:t>
            </a:r>
            <a:br/>
            <a:r>
              <a:rPr>
                <a:latin typeface="Courier"/>
              </a:rPr>
              <a:t>        </a:t>
            </a:r>
            <a:r>
              <a:rPr i="1">
                <a:solidFill>
                  <a:srgbClr val="60A0B0"/>
                </a:solidFill>
                <a:latin typeface="Courier"/>
              </a:rPr>
              <a:t>// Liefert z.B. "Mustermann;Max;1980-01-01"</a:t>
            </a:r>
            <a:br/>
            <a:r>
              <a:rPr>
                <a:latin typeface="Courier"/>
              </a:rPr>
              <a:t>        </a:t>
            </a:r>
            <a:r>
              <a:rPr b="1">
                <a:solidFill>
                  <a:srgbClr val="007020"/>
                </a:solidFill>
                <a:latin typeface="Courier"/>
              </a:rPr>
              <a:t>return</a:t>
            </a:r>
            <a:r>
              <a:rPr>
                <a:latin typeface="Courier"/>
              </a:rPr>
              <a:t> </a:t>
            </a:r>
            <a:r>
              <a:rPr>
                <a:solidFill>
                  <a:srgbClr val="4070A0"/>
                </a:solidFill>
                <a:latin typeface="Courier"/>
              </a:rPr>
              <a:t>"Mustermann;Max;1980-01-01"</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Die Implementierung (Code)</a:t>
            </a:r>
          </a:p>
        </p:txBody>
      </p:sp>
      <p:sp>
        <p:nvSpPr>
          <p:cNvPr id="3" name="Content Placeholder 2"/>
          <p:cNvSpPr>
            <a:spLocks noGrp="1"/>
          </p:cNvSpPr>
          <p:nvPr>
            <p:ph idx="1"/>
          </p:nvPr>
        </p:nvSpPr>
        <p:spPr/>
        <p:txBody>
          <a:bodyPr/>
          <a:lstStyle/>
          <a:p>
            <a:pPr lvl="0" indent="0" marL="0">
              <a:buNone/>
            </a:pPr>
            <a:r>
              <a:rPr/>
              <a:t>Der Adapter übersetzt zwischen den Welten:</a:t>
            </a:r>
          </a:p>
          <a:p>
            <a:pPr lvl="0" indent="0">
              <a:buNone/>
            </a:pPr>
            <a:r>
              <a:rPr i="1">
                <a:solidFill>
                  <a:srgbClr val="60A0B0"/>
                </a:solidFill>
                <a:latin typeface="Courier"/>
              </a:rPr>
              <a:t>// Der Adapter schließt die Lücke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RegisterAdapter </a:t>
            </a:r>
            <a:r>
              <a:rPr>
                <a:solidFill>
                  <a:srgbClr val="666666"/>
                </a:solidFill>
                <a:latin typeface="Courier"/>
              </a:rPr>
              <a:t>:</a:t>
            </a:r>
            <a:r>
              <a:rPr>
                <a:latin typeface="Courier"/>
              </a:rPr>
              <a:t> IPersonenQuelle</a:t>
            </a:r>
            <a:b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readonly</a:t>
            </a:r>
            <a:r>
              <a:rPr>
                <a:latin typeface="Courier"/>
              </a:rPr>
              <a:t> AltesRegisterSystem _legacySystem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AltesRegisterSystem</a:t>
            </a:r>
            <a:r>
              <a:rPr>
                <a:solidFill>
                  <a:srgbClr val="666666"/>
                </a:solidFill>
                <a:latin typeface="Courier"/>
              </a:rPr>
              <a:t>();</a:t>
            </a:r>
            <a:br/>
            <a:br/>
            <a:r>
              <a:rPr>
                <a:latin typeface="Courier"/>
              </a:rPr>
              <a:t>    </a:t>
            </a:r>
            <a:r>
              <a:rPr b="1">
                <a:solidFill>
                  <a:srgbClr val="007020"/>
                </a:solidFill>
                <a:latin typeface="Courier"/>
              </a:rPr>
              <a:t>public</a:t>
            </a:r>
            <a:r>
              <a:rPr>
                <a:latin typeface="Courier"/>
              </a:rPr>
              <a:t> Person </a:t>
            </a:r>
            <a:r>
              <a:rPr>
                <a:solidFill>
                  <a:srgbClr val="06287E"/>
                </a:solidFill>
                <a:latin typeface="Courier"/>
              </a:rPr>
              <a:t>GetPerson</a:t>
            </a:r>
            <a:r>
              <a:rPr>
                <a:solidFill>
                  <a:srgbClr val="666666"/>
                </a:solidFill>
                <a:latin typeface="Courier"/>
              </a:rPr>
              <a:t>(</a:t>
            </a:r>
            <a:r>
              <a:rPr>
                <a:solidFill>
                  <a:srgbClr val="902000"/>
                </a:solidFill>
                <a:latin typeface="Courier"/>
              </a:rPr>
              <a:t>string</a:t>
            </a:r>
            <a:r>
              <a:rPr>
                <a:latin typeface="Courier"/>
              </a:rPr>
              <a:t> id</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902000"/>
                </a:solidFill>
                <a:latin typeface="Courier"/>
              </a:rPr>
              <a:t>string</a:t>
            </a:r>
            <a:r>
              <a:rPr>
                <a:latin typeface="Courier"/>
              </a:rPr>
              <a:t> rohDaten </a:t>
            </a:r>
            <a:r>
              <a:rPr>
                <a:solidFill>
                  <a:srgbClr val="666666"/>
                </a:solidFill>
                <a:latin typeface="Courier"/>
              </a:rPr>
              <a:t>=</a:t>
            </a:r>
            <a:r>
              <a:rPr>
                <a:latin typeface="Courier"/>
              </a:rPr>
              <a:t> _legacySystem</a:t>
            </a:r>
            <a:r>
              <a:rPr>
                <a:solidFill>
                  <a:srgbClr val="666666"/>
                </a:solidFill>
                <a:latin typeface="Courier"/>
              </a:rPr>
              <a:t>.</a:t>
            </a:r>
            <a:r>
              <a:rPr>
                <a:solidFill>
                  <a:srgbClr val="06287E"/>
                </a:solidFill>
                <a:latin typeface="Courier"/>
              </a:rPr>
              <a:t>SuchePersonDatensatz</a:t>
            </a:r>
            <a:r>
              <a:rPr>
                <a:solidFill>
                  <a:srgbClr val="666666"/>
                </a:solidFill>
                <a:latin typeface="Courier"/>
              </a:rPr>
              <a:t>(</a:t>
            </a:r>
            <a:r>
              <a:rPr>
                <a:latin typeface="Courier"/>
              </a:rPr>
              <a:t>id</a:t>
            </a:r>
            <a:r>
              <a:rPr>
                <a:solidFill>
                  <a:srgbClr val="666666"/>
                </a:solidFill>
                <a:latin typeface="Courier"/>
              </a:rPr>
              <a:t>);</a:t>
            </a:r>
            <a:br/>
            <a:r>
              <a:rPr>
                <a:latin typeface="Courier"/>
              </a:rPr>
              <a:t>        </a:t>
            </a:r>
            <a:r>
              <a:rPr>
                <a:solidFill>
                  <a:srgbClr val="902000"/>
                </a:solidFill>
                <a:latin typeface="Courier"/>
              </a:rPr>
              <a:t>string</a:t>
            </a:r>
            <a:r>
              <a:rPr>
                <a:solidFill>
                  <a:srgbClr val="666666"/>
                </a:solidFill>
                <a:latin typeface="Courier"/>
              </a:rPr>
              <a:t>[]</a:t>
            </a:r>
            <a:r>
              <a:rPr>
                <a:latin typeface="Courier"/>
              </a:rPr>
              <a:t> teile </a:t>
            </a:r>
            <a:r>
              <a:rPr>
                <a:solidFill>
                  <a:srgbClr val="666666"/>
                </a:solidFill>
                <a:latin typeface="Courier"/>
              </a:rPr>
              <a:t>=</a:t>
            </a:r>
            <a:r>
              <a:rPr>
                <a:latin typeface="Courier"/>
              </a:rPr>
              <a:t> rohDaten</a:t>
            </a:r>
            <a:r>
              <a:rPr>
                <a:solidFill>
                  <a:srgbClr val="666666"/>
                </a:solidFill>
                <a:latin typeface="Courier"/>
              </a:rPr>
              <a:t>.</a:t>
            </a:r>
            <a:r>
              <a:rPr>
                <a:solidFill>
                  <a:srgbClr val="06287E"/>
                </a:solidFill>
                <a:latin typeface="Courier"/>
              </a:rPr>
              <a:t>Split</a:t>
            </a:r>
            <a:r>
              <a:rPr>
                <a:solidFill>
                  <a:srgbClr val="666666"/>
                </a:solidFill>
                <a:latin typeface="Courier"/>
              </a:rPr>
              <a:t>(</a:t>
            </a:r>
            <a:r>
              <a:rPr>
                <a:solidFill>
                  <a:srgbClr val="4070A0"/>
                </a:solidFill>
                <a:latin typeface="Courier"/>
              </a:rPr>
              <a:t>';'</a:t>
            </a:r>
            <a:r>
              <a:rPr>
                <a:solidFill>
                  <a:srgbClr val="666666"/>
                </a:solidFill>
                <a:latin typeface="Courier"/>
              </a:rPr>
              <a:t>);</a:t>
            </a:r>
            <a:br/>
            <a:r>
              <a:rPr>
                <a:latin typeface="Courier"/>
              </a:rPr>
              <a:t>        </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Person </a:t>
            </a:r>
            <a:r>
              <a:rPr>
                <a:solidFill>
                  <a:srgbClr val="666666"/>
                </a:solidFill>
                <a:latin typeface="Courier"/>
              </a:rPr>
              <a:t>{</a:t>
            </a:r>
            <a:br/>
            <a:r>
              <a:rPr>
                <a:latin typeface="Courier"/>
              </a:rPr>
              <a:t>            Nachname </a:t>
            </a:r>
            <a:r>
              <a:rPr>
                <a:solidFill>
                  <a:srgbClr val="666666"/>
                </a:solidFill>
                <a:latin typeface="Courier"/>
              </a:rPr>
              <a:t>=</a:t>
            </a:r>
            <a:r>
              <a:rPr>
                <a:latin typeface="Courier"/>
              </a:rPr>
              <a:t> teile</a:t>
            </a:r>
            <a:r>
              <a:rPr>
                <a:solidFill>
                  <a:srgbClr val="666666"/>
                </a:solidFill>
                <a:latin typeface="Courier"/>
              </a:rPr>
              <a:t>[</a:t>
            </a:r>
            <a:r>
              <a:rPr>
                <a:solidFill>
                  <a:srgbClr val="40A070"/>
                </a:solidFill>
                <a:latin typeface="Courier"/>
              </a:rPr>
              <a:t>0</a:t>
            </a:r>
            <a:r>
              <a:rPr>
                <a:solidFill>
                  <a:srgbClr val="666666"/>
                </a:solidFill>
                <a:latin typeface="Courier"/>
              </a:rPr>
              <a:t>],</a:t>
            </a:r>
            <a:br/>
            <a:r>
              <a:rPr>
                <a:latin typeface="Courier"/>
              </a:rPr>
              <a:t>            Vorname </a:t>
            </a:r>
            <a:r>
              <a:rPr>
                <a:solidFill>
                  <a:srgbClr val="666666"/>
                </a:solidFill>
                <a:latin typeface="Courier"/>
              </a:rPr>
              <a:t>=</a:t>
            </a:r>
            <a:r>
              <a:rPr>
                <a:latin typeface="Courier"/>
              </a:rPr>
              <a:t> teile</a:t>
            </a:r>
            <a:r>
              <a:rPr>
                <a:solidFill>
                  <a:srgbClr val="666666"/>
                </a:solidFill>
                <a:latin typeface="Courier"/>
              </a:rPr>
              <a:t>[</a:t>
            </a:r>
            <a:r>
              <a:rPr>
                <a:solidFill>
                  <a:srgbClr val="40A070"/>
                </a:solidFill>
                <a:latin typeface="Courier"/>
              </a:rPr>
              <a:t>1</a:t>
            </a:r>
            <a:r>
              <a:rPr>
                <a:solidFill>
                  <a:srgbClr val="666666"/>
                </a:solidFill>
                <a:latin typeface="Courier"/>
              </a:rPr>
              <a:t>],</a:t>
            </a:r>
            <a:br/>
            <a:r>
              <a:rPr>
                <a:latin typeface="Courier"/>
              </a:rPr>
              <a:t>            Geburtsdatum </a:t>
            </a:r>
            <a:r>
              <a:rPr>
                <a:solidFill>
                  <a:srgbClr val="666666"/>
                </a:solidFill>
                <a:latin typeface="Courier"/>
              </a:rPr>
              <a:t>=</a:t>
            </a:r>
            <a:r>
              <a:rPr>
                <a:latin typeface="Courier"/>
              </a:rPr>
              <a:t> DateTime</a:t>
            </a:r>
            <a:r>
              <a:rPr>
                <a:solidFill>
                  <a:srgbClr val="666666"/>
                </a:solidFill>
                <a:latin typeface="Courier"/>
              </a:rPr>
              <a:t>.</a:t>
            </a:r>
            <a:r>
              <a:rPr>
                <a:solidFill>
                  <a:srgbClr val="06287E"/>
                </a:solidFill>
                <a:latin typeface="Courier"/>
              </a:rPr>
              <a:t>Parse</a:t>
            </a:r>
            <a:r>
              <a:rPr>
                <a:solidFill>
                  <a:srgbClr val="666666"/>
                </a:solidFill>
                <a:latin typeface="Courier"/>
              </a:rPr>
              <a:t>(</a:t>
            </a:r>
            <a:r>
              <a:rPr>
                <a:latin typeface="Courier"/>
              </a:rPr>
              <a:t>teile</a:t>
            </a:r>
            <a:r>
              <a:rPr>
                <a:solidFill>
                  <a:srgbClr val="666666"/>
                </a:solidFill>
                <a:latin typeface="Courier"/>
              </a:rPr>
              <a:t>[</a:t>
            </a:r>
            <a:r>
              <a:rPr>
                <a:solidFill>
                  <a:srgbClr val="40A070"/>
                </a:solidFill>
                <a:latin typeface="Courier"/>
              </a:rPr>
              <a:t>2</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Vorteile</a:t>
            </a:r>
          </a:p>
        </p:txBody>
      </p:sp>
      <p:sp>
        <p:nvSpPr>
          <p:cNvPr id="3" name="Content Placeholder 2"/>
          <p:cNvSpPr>
            <a:spLocks noGrp="1"/>
          </p:cNvSpPr>
          <p:nvPr>
            <p:ph idx="1"/>
          </p:nvPr>
        </p:nvSpPr>
        <p:spPr/>
        <p:txBody>
          <a:bodyPr/>
          <a:lstStyle/>
          <a:p>
            <a:pPr lvl="0"/>
            <a:r>
              <a:rPr b="1"/>
              <a:t>Integration bestehender Systeme:</a:t>
            </a:r>
            <a:r>
              <a:rPr/>
              <a:t> Alte und neue Komponenten können zusammenarbeiten, obwohl ihre Schnittstellen nicht zusammenpassen.</a:t>
            </a:r>
          </a:p>
          <a:p>
            <a:pPr lvl="0"/>
            <a:r>
              <a:rPr b="1"/>
              <a:t>Lose Kopplung:</a:t>
            </a:r>
            <a:r>
              <a:rPr/>
              <a:t> Das moderne System bleibt völlig unabhängig von den Eigenheiten des Legacy-Systems.</a:t>
            </a:r>
          </a:p>
          <a:p>
            <a:pPr lvl="0"/>
            <a:r>
              <a:rPr b="1"/>
              <a:t>Austauschbarkeit:</a:t>
            </a:r>
            <a:r>
              <a:rPr/>
              <a:t> Wenn das alte Register irgendwann durch ein neues ersetzt wird, müssen wir nur einen neuen Adapter schreiben – die Fachlogik bleibt unberührt.</a:t>
            </a:r>
          </a:p>
          <a:p>
            <a:pPr lvl="0"/>
            <a:r>
              <a:rPr b="1"/>
              <a:t>Kapselung technischer Details:</a:t>
            </a:r>
            <a:r>
              <a:rPr/>
              <a:t> Formatumwandlungen und Übersetzungslogik bleiben an einer zentralen Stelle.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 Nachteile</a:t>
            </a:r>
          </a:p>
        </p:txBody>
      </p:sp>
      <p:sp>
        <p:nvSpPr>
          <p:cNvPr id="3" name="Content Placeholder 2"/>
          <p:cNvSpPr>
            <a:spLocks noGrp="1"/>
          </p:cNvSpPr>
          <p:nvPr>
            <p:ph idx="1"/>
          </p:nvPr>
        </p:nvSpPr>
        <p:spPr/>
        <p:txBody>
          <a:bodyPr/>
          <a:lstStyle/>
          <a:p>
            <a:pPr lvl="0"/>
            <a:r>
              <a:rPr b="1"/>
              <a:t>Zusätzliche Komplexität:</a:t>
            </a:r>
            <a:r>
              <a:rPr/>
              <a:t> Es kommt eine weitere Klasse zwischen Fachlogik und bestehendem System hinzu.</a:t>
            </a:r>
          </a:p>
          <a:p>
            <a:pPr lvl="0"/>
            <a:r>
              <a:rPr b="1"/>
              <a:t>Leistungs-Overhead:</a:t>
            </a:r>
            <a:r>
              <a:rPr/>
              <a:t> Die zusätzliche Übersetzungsschicht kostet etwas Laufzeit und Speicher.</a:t>
            </a:r>
          </a:p>
          <a:p>
            <a:pPr lvl="0"/>
            <a:r>
              <a:rPr b="1"/>
              <a:t>Verdeckt Schwächen des Altsystems nur:</a:t>
            </a:r>
            <a:r>
              <a:rPr/>
              <a:t> Der Adapter löst nicht die eigentlichen Probleme des Legacy-Systems, sondern kapselt sie nur.</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5: Decorator Pattern</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Einführung: Decorator Pattern</a:t>
            </a:r>
          </a:p>
        </p:txBody>
      </p:sp>
      <p:sp>
        <p:nvSpPr>
          <p:cNvPr id="3" name="Content Placeholder 2"/>
          <p:cNvSpPr>
            <a:spLocks noGrp="1"/>
          </p:cNvSpPr>
          <p:nvPr>
            <p:ph idx="1"/>
          </p:nvPr>
        </p:nvSpPr>
        <p:spPr/>
        <p:txBody>
          <a:bodyPr/>
          <a:lstStyle/>
          <a:p>
            <a:pPr lvl="0" indent="0" marL="0">
              <a:buNone/>
            </a:pPr>
            <a:r>
              <a:rPr/>
              <a:t>Der Decorator ist ein Strukturmuster, das es erlaubt, einem Objekt dynamisch zusätzliches Verhalten hinzuzufügen. Es ist eine flexible Alternative zur klassischen Vererbung.</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Das Problem der Klassenexplosion</a:t>
            </a:r>
          </a:p>
        </p:txBody>
      </p:sp>
      <p:sp>
        <p:nvSpPr>
          <p:cNvPr id="3" name="Content Placeholder 2"/>
          <p:cNvSpPr>
            <a:spLocks noGrp="1"/>
          </p:cNvSpPr>
          <p:nvPr>
            <p:ph idx="1"/>
          </p:nvPr>
        </p:nvSpPr>
        <p:spPr/>
        <p:txBody>
          <a:bodyPr/>
          <a:lstStyle/>
          <a:p>
            <a:pPr lvl="0" indent="0" marL="0">
              <a:buNone/>
            </a:pPr>
            <a:r>
              <a:rPr/>
              <a:t>Angenommen, Sie haben Basis-Anträge und möchten Zusatzoptionen anbieten. Wenn Sie Vererbung nutzen, brauchen Sie für jede Kombination eine Klasse:</a:t>
            </a:r>
          </a:p>
          <a:p>
            <a:pPr lvl="0"/>
            <a:r>
              <a:rPr>
                <a:latin typeface="Courier"/>
              </a:rPr>
              <a:t>Reisepass</a:t>
            </a:r>
          </a:p>
          <a:p>
            <a:pPr lvl="0"/>
            <a:r>
              <a:rPr>
                <a:latin typeface="Courier"/>
              </a:rPr>
              <a:t>ReisepassMitExpress</a:t>
            </a:r>
          </a:p>
          <a:p>
            <a:pPr lvl="0"/>
            <a:r>
              <a:rPr>
                <a:latin typeface="Courier"/>
              </a:rPr>
              <a:t>ReisepassMit48Seiten</a:t>
            </a:r>
          </a:p>
          <a:p>
            <a:pPr lvl="0"/>
            <a:r>
              <a:rPr>
                <a:latin typeface="Courier"/>
              </a:rPr>
              <a:t>ReisepassMitExpressUnd48Seiten</a:t>
            </a:r>
          </a:p>
          <a:p>
            <a:pPr lvl="0" indent="0" marL="0">
              <a:buNone/>
            </a:pPr>
            <a:r>
              <a:rPr/>
              <a:t>Das führt zu Hunderten von Klassen!</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Anwendung: Antrags-Zusatzleistungen</a:t>
            </a:r>
          </a:p>
        </p:txBody>
      </p:sp>
      <p:sp>
        <p:nvSpPr>
          <p:cNvPr id="3" name="Content Placeholder 2"/>
          <p:cNvSpPr>
            <a:spLocks noGrp="1"/>
          </p:cNvSpPr>
          <p:nvPr>
            <p:ph idx="1"/>
          </p:nvPr>
        </p:nvSpPr>
        <p:spPr/>
        <p:txBody>
          <a:bodyPr/>
          <a:lstStyle/>
          <a:p>
            <a:pPr lvl="0" indent="0" marL="0">
              <a:buNone/>
            </a:pPr>
            <a:r>
              <a:rPr/>
              <a:t>In der Verwaltung können Bürger oft Optionen (Express-Zuschlag, Zustellung per Post) dazubuchen. Statt die Vererbungshierarchie aufzublähen, “dekorieren” (umhüllen) wir das Basis-Objekt wie eine Zwiebel.</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Basis und Komponente (Code)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Das Basis-Interface</a:t>
            </a: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IAntrag</a:t>
            </a:r>
            <a:br/>
            <a:r>
              <a:rPr>
                <a:solidFill>
                  <a:srgbClr val="666666"/>
                </a:solidFill>
                <a:latin typeface="Courier"/>
              </a:rPr>
              <a:t>{</a:t>
            </a:r>
            <a:br/>
            <a:r>
              <a:rPr>
                <a:latin typeface="Courier"/>
              </a:rPr>
              <a:t>    </a:t>
            </a:r>
            <a:r>
              <a:rPr>
                <a:solidFill>
                  <a:srgbClr val="902000"/>
                </a:solidFill>
                <a:latin typeface="Courier"/>
              </a:rPr>
              <a:t>double</a:t>
            </a:r>
            <a:r>
              <a:rPr>
                <a:latin typeface="Courier"/>
              </a:rPr>
              <a:t> </a:t>
            </a:r>
            <a:r>
              <a:rPr>
                <a:solidFill>
                  <a:srgbClr val="06287E"/>
                </a:solidFill>
                <a:latin typeface="Courier"/>
              </a:rPr>
              <a:t>BerechneKosten</a:t>
            </a:r>
            <a:r>
              <a:rPr>
                <a:solidFill>
                  <a:srgbClr val="666666"/>
                </a:solidFill>
                <a:latin typeface="Courier"/>
              </a:rPr>
              <a:t>();</a:t>
            </a:r>
            <a:br/>
            <a:r>
              <a:rPr>
                <a:latin typeface="Courier"/>
              </a:rPr>
              <a:t>    </a:t>
            </a:r>
            <a:r>
              <a:rPr>
                <a:solidFill>
                  <a:srgbClr val="902000"/>
                </a:solidFill>
                <a:latin typeface="Courier"/>
              </a:rPr>
              <a:t>string</a:t>
            </a:r>
            <a:r>
              <a:rPr>
                <a:latin typeface="Courier"/>
              </a:rPr>
              <a:t> </a:t>
            </a:r>
            <a:r>
              <a:rPr>
                <a:solidFill>
                  <a:srgbClr val="06287E"/>
                </a:solidFill>
                <a:latin typeface="Courier"/>
              </a:rPr>
              <a:t>GetBeschreibung</a:t>
            </a:r>
            <a:r>
              <a:rPr>
                <a:solidFill>
                  <a:srgbClr val="666666"/>
                </a:solidFill>
                <a:latin typeface="Courier"/>
              </a:rPr>
              <a:t>();</a:t>
            </a:r>
            <a:br/>
            <a:r>
              <a:rPr>
                <a:solidFill>
                  <a:srgbClr val="666666"/>
                </a:solidFill>
                <a:latin typeface="Courier"/>
              </a:rPr>
              <a:t>}</a:t>
            </a:r>
            <a:br/>
            <a:br/>
            <a:r>
              <a:rPr i="1">
                <a:solidFill>
                  <a:srgbClr val="60A0B0"/>
                </a:solidFill>
                <a:latin typeface="Courier"/>
              </a:rPr>
              <a:t>// Die konkrete Basis-Komponente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ReisepassAntrag </a:t>
            </a:r>
            <a:r>
              <a:rPr>
                <a:solidFill>
                  <a:srgbClr val="666666"/>
                </a:solidFill>
                <a:latin typeface="Courier"/>
              </a:rPr>
              <a:t>:</a:t>
            </a:r>
            <a:r>
              <a:rPr>
                <a:latin typeface="Courier"/>
              </a:rPr>
              <a:t> IAntrag</a:t>
            </a:r>
            <a:b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double</a:t>
            </a:r>
            <a:r>
              <a:rPr>
                <a:latin typeface="Courier"/>
              </a:rPr>
              <a:t> </a:t>
            </a:r>
            <a:r>
              <a:rPr>
                <a:solidFill>
                  <a:srgbClr val="06287E"/>
                </a:solidFill>
                <a:latin typeface="Courier"/>
              </a:rPr>
              <a:t>BerechneKosten</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40A070"/>
                </a:solidFill>
                <a:latin typeface="Courier"/>
              </a:rPr>
              <a:t>60.00</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string</a:t>
            </a:r>
            <a:r>
              <a:rPr>
                <a:latin typeface="Courier"/>
              </a:rPr>
              <a:t> </a:t>
            </a:r>
            <a:r>
              <a:rPr>
                <a:solidFill>
                  <a:srgbClr val="06287E"/>
                </a:solidFill>
                <a:latin typeface="Courier"/>
              </a:rPr>
              <a:t>GetBeschreibung</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4070A0"/>
                </a:solidFill>
                <a:latin typeface="Courier"/>
              </a:rPr>
              <a:t>"Reisepass (Standard)"</a:t>
            </a:r>
            <a:r>
              <a:rPr>
                <a:solidFill>
                  <a:srgbClr val="666666"/>
                </a:solidFill>
                <a:latin typeface="Courier"/>
              </a:rPr>
              <a:t>;</a:t>
            </a:r>
            <a:br/>
            <a:r>
              <a:rPr>
                <a:solidFill>
                  <a:srgbClr val="666666"/>
                </a:solidFill>
                <a:latin typeface="Courier"/>
              </a:rPr>
              <a:t>}</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Die Basis-Decorator-Klasse (Code)</a:t>
            </a:r>
          </a:p>
        </p:txBody>
      </p:sp>
      <p:sp>
        <p:nvSpPr>
          <p:cNvPr id="3" name="Content Placeholder 2"/>
          <p:cNvSpPr>
            <a:spLocks noGrp="1"/>
          </p:cNvSpPr>
          <p:nvPr>
            <p:ph idx="1"/>
          </p:nvPr>
        </p:nvSpPr>
        <p:spPr/>
        <p:txBody>
          <a:bodyPr/>
          <a:lstStyle/>
          <a:p>
            <a:pPr lvl="0" indent="0" marL="0">
              <a:buNone/>
            </a:pPr>
            <a:r>
              <a:rPr/>
              <a:t>Diese Klasse leitet die Aufrufe standardmäßig an das umhüllte Objekt (</a:t>
            </a:r>
            <a:r>
              <a:rPr>
                <a:latin typeface="Courier"/>
              </a:rPr>
              <a:t>_antrag</a:t>
            </a:r>
            <a:r>
              <a:rPr/>
              <a:t>) weiter.</a:t>
            </a:r>
          </a:p>
          <a:p>
            <a:pPr lvl="0" indent="0">
              <a:buNone/>
            </a:pPr>
            <a:r>
              <a:rPr i="1">
                <a:solidFill>
                  <a:srgbClr val="60A0B0"/>
                </a:solidFill>
                <a:latin typeface="Courier"/>
              </a:rPr>
              <a:t>// Basis-Decorator</a:t>
            </a:r>
            <a:br/>
            <a:r>
              <a:rPr b="1">
                <a:solidFill>
                  <a:srgbClr val="007020"/>
                </a:solidFill>
                <a:latin typeface="Courier"/>
              </a:rPr>
              <a:t>public</a:t>
            </a:r>
            <a:r>
              <a:rPr>
                <a:latin typeface="Courier"/>
              </a:rPr>
              <a:t> </a:t>
            </a:r>
            <a:r>
              <a:rPr b="1">
                <a:solidFill>
                  <a:srgbClr val="007020"/>
                </a:solidFill>
                <a:latin typeface="Courier"/>
              </a:rPr>
              <a:t>abstract</a:t>
            </a:r>
            <a:r>
              <a:rPr>
                <a:latin typeface="Courier"/>
              </a:rPr>
              <a:t> </a:t>
            </a:r>
            <a:r>
              <a:rPr b="1">
                <a:solidFill>
                  <a:srgbClr val="007020"/>
                </a:solidFill>
                <a:latin typeface="Courier"/>
              </a:rPr>
              <a:t>class</a:t>
            </a:r>
            <a:r>
              <a:rPr>
                <a:latin typeface="Courier"/>
              </a:rPr>
              <a:t> AntragDecorator </a:t>
            </a:r>
            <a:r>
              <a:rPr>
                <a:solidFill>
                  <a:srgbClr val="666666"/>
                </a:solidFill>
                <a:latin typeface="Courier"/>
              </a:rPr>
              <a:t>:</a:t>
            </a:r>
            <a:r>
              <a:rPr>
                <a:latin typeface="Courier"/>
              </a:rPr>
              <a:t> IAntrag</a:t>
            </a:r>
            <a:br/>
            <a:r>
              <a:rPr>
                <a:solidFill>
                  <a:srgbClr val="666666"/>
                </a:solidFill>
                <a:latin typeface="Courier"/>
              </a:rPr>
              <a:t>{</a:t>
            </a:r>
            <a:br/>
            <a:r>
              <a:rPr>
                <a:latin typeface="Courier"/>
              </a:rPr>
              <a:t>    </a:t>
            </a:r>
            <a:r>
              <a:rPr b="1">
                <a:solidFill>
                  <a:srgbClr val="007020"/>
                </a:solidFill>
                <a:latin typeface="Courier"/>
              </a:rPr>
              <a:t>protected</a:t>
            </a:r>
            <a:r>
              <a:rPr>
                <a:latin typeface="Courier"/>
              </a:rPr>
              <a:t> IAntrag _antrag</a:t>
            </a:r>
            <a:r>
              <a:rPr>
                <a:solidFill>
                  <a:srgbClr val="666666"/>
                </a:solidFill>
                <a:latin typeface="Courier"/>
              </a:rPr>
              <a:t>;</a:t>
            </a:r>
            <a:br/>
            <a:r>
              <a:rPr>
                <a:latin typeface="Courier"/>
              </a:rPr>
              <a:t>    </a:t>
            </a:r>
            <a:br/>
            <a:r>
              <a:rPr>
                <a:latin typeface="Courier"/>
              </a:rPr>
              <a:t>    </a:t>
            </a:r>
            <a:r>
              <a:rPr b="1">
                <a:solidFill>
                  <a:srgbClr val="007020"/>
                </a:solidFill>
                <a:latin typeface="Courier"/>
              </a:rPr>
              <a:t>public</a:t>
            </a:r>
            <a:r>
              <a:rPr>
                <a:latin typeface="Courier"/>
              </a:rPr>
              <a:t> </a:t>
            </a:r>
            <a:r>
              <a:rPr>
                <a:solidFill>
                  <a:srgbClr val="06287E"/>
                </a:solidFill>
                <a:latin typeface="Courier"/>
              </a:rPr>
              <a:t>AntragDecorator</a:t>
            </a:r>
            <a:r>
              <a:rPr>
                <a:solidFill>
                  <a:srgbClr val="666666"/>
                </a:solidFill>
                <a:latin typeface="Courier"/>
              </a:rPr>
              <a:t>(</a:t>
            </a:r>
            <a:r>
              <a:rPr>
                <a:latin typeface="Courier"/>
              </a:rPr>
              <a:t>IAntrag antrag</a:t>
            </a:r>
            <a:r>
              <a:rPr>
                <a:solidFill>
                  <a:srgbClr val="666666"/>
                </a:solidFill>
                <a:latin typeface="Courier"/>
              </a:rPr>
              <a:t>)</a:t>
            </a:r>
            <a:r>
              <a:rPr>
                <a:latin typeface="Courier"/>
              </a:rPr>
              <a:t> </a:t>
            </a:r>
            <a:r>
              <a:rPr>
                <a:solidFill>
                  <a:srgbClr val="666666"/>
                </a:solidFill>
                <a:latin typeface="Courier"/>
              </a:rPr>
              <a:t>=&gt;</a:t>
            </a:r>
            <a:r>
              <a:rPr>
                <a:latin typeface="Courier"/>
              </a:rPr>
              <a:t> _antrag </a:t>
            </a:r>
            <a:r>
              <a:rPr>
                <a:solidFill>
                  <a:srgbClr val="666666"/>
                </a:solidFill>
                <a:latin typeface="Courier"/>
              </a:rPr>
              <a:t>=</a:t>
            </a:r>
            <a:r>
              <a:rPr>
                <a:latin typeface="Courier"/>
              </a:rPr>
              <a:t> antrag</a:t>
            </a:r>
            <a:r>
              <a:rPr>
                <a:solidFill>
                  <a:srgbClr val="666666"/>
                </a:solidFill>
                <a:latin typeface="Courier"/>
              </a:rPr>
              <a:t>;</a:t>
            </a:r>
            <a:br/>
            <a:r>
              <a:rPr>
                <a:latin typeface="Courier"/>
              </a:rPr>
              <a:t>    </a:t>
            </a:r>
            <a:br/>
            <a:r>
              <a:rPr>
                <a:latin typeface="Courier"/>
              </a:rPr>
              <a:t>    </a:t>
            </a:r>
            <a:r>
              <a:rPr b="1">
                <a:solidFill>
                  <a:srgbClr val="007020"/>
                </a:solidFill>
                <a:latin typeface="Courier"/>
              </a:rPr>
              <a:t>public</a:t>
            </a:r>
            <a:r>
              <a:rPr>
                <a:latin typeface="Courier"/>
              </a:rPr>
              <a:t> </a:t>
            </a:r>
            <a:r>
              <a:rPr b="1">
                <a:solidFill>
                  <a:srgbClr val="007020"/>
                </a:solidFill>
                <a:latin typeface="Courier"/>
              </a:rPr>
              <a:t>virtual</a:t>
            </a:r>
            <a:r>
              <a:rPr>
                <a:latin typeface="Courier"/>
              </a:rPr>
              <a:t> </a:t>
            </a:r>
            <a:r>
              <a:rPr>
                <a:solidFill>
                  <a:srgbClr val="902000"/>
                </a:solidFill>
                <a:latin typeface="Courier"/>
              </a:rPr>
              <a:t>double</a:t>
            </a:r>
            <a:r>
              <a:rPr>
                <a:latin typeface="Courier"/>
              </a:rPr>
              <a:t> </a:t>
            </a:r>
            <a:r>
              <a:rPr>
                <a:solidFill>
                  <a:srgbClr val="06287E"/>
                </a:solidFill>
                <a:latin typeface="Courier"/>
              </a:rPr>
              <a:t>BerechneKosten</a:t>
            </a:r>
            <a:r>
              <a:rPr>
                <a:solidFill>
                  <a:srgbClr val="666666"/>
                </a:solidFill>
                <a:latin typeface="Courier"/>
              </a:rPr>
              <a:t>()</a:t>
            </a:r>
            <a:r>
              <a:rPr>
                <a:latin typeface="Courier"/>
              </a:rPr>
              <a:t> </a:t>
            </a:r>
            <a:r>
              <a:rPr>
                <a:solidFill>
                  <a:srgbClr val="666666"/>
                </a:solidFill>
                <a:latin typeface="Courier"/>
              </a:rPr>
              <a:t>=&gt;</a:t>
            </a:r>
            <a:r>
              <a:rPr>
                <a:latin typeface="Courier"/>
              </a:rPr>
              <a:t> _antrag</a:t>
            </a:r>
            <a:r>
              <a:rPr>
                <a:solidFill>
                  <a:srgbClr val="666666"/>
                </a:solidFill>
                <a:latin typeface="Courier"/>
              </a:rPr>
              <a:t>.</a:t>
            </a:r>
            <a:r>
              <a:rPr>
                <a:solidFill>
                  <a:srgbClr val="06287E"/>
                </a:solidFill>
                <a:latin typeface="Courier"/>
              </a:rPr>
              <a:t>BerechneKosten</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b="1">
                <a:solidFill>
                  <a:srgbClr val="007020"/>
                </a:solidFill>
                <a:latin typeface="Courier"/>
              </a:rPr>
              <a:t>virtual</a:t>
            </a:r>
            <a:r>
              <a:rPr>
                <a:latin typeface="Courier"/>
              </a:rPr>
              <a:t> </a:t>
            </a:r>
            <a:r>
              <a:rPr>
                <a:solidFill>
                  <a:srgbClr val="902000"/>
                </a:solidFill>
                <a:latin typeface="Courier"/>
              </a:rPr>
              <a:t>string</a:t>
            </a:r>
            <a:r>
              <a:rPr>
                <a:latin typeface="Courier"/>
              </a:rPr>
              <a:t> </a:t>
            </a:r>
            <a:r>
              <a:rPr>
                <a:solidFill>
                  <a:srgbClr val="06287E"/>
                </a:solidFill>
                <a:latin typeface="Courier"/>
              </a:rPr>
              <a:t>GetBeschreibung</a:t>
            </a:r>
            <a:r>
              <a:rPr>
                <a:solidFill>
                  <a:srgbClr val="666666"/>
                </a:solidFill>
                <a:latin typeface="Courier"/>
              </a:rPr>
              <a:t>()</a:t>
            </a:r>
            <a:r>
              <a:rPr>
                <a:latin typeface="Courier"/>
              </a:rPr>
              <a:t> </a:t>
            </a:r>
            <a:r>
              <a:rPr>
                <a:solidFill>
                  <a:srgbClr val="666666"/>
                </a:solidFill>
                <a:latin typeface="Courier"/>
              </a:rPr>
              <a:t>=&gt;</a:t>
            </a:r>
            <a:r>
              <a:rPr>
                <a:latin typeface="Courier"/>
              </a:rPr>
              <a:t> _antrag</a:t>
            </a:r>
            <a:r>
              <a:rPr>
                <a:solidFill>
                  <a:srgbClr val="666666"/>
                </a:solidFill>
                <a:latin typeface="Courier"/>
              </a:rPr>
              <a:t>.</a:t>
            </a:r>
            <a:r>
              <a:rPr>
                <a:solidFill>
                  <a:srgbClr val="06287E"/>
                </a:solidFill>
                <a:latin typeface="Courier"/>
              </a:rPr>
              <a:t>GetBeschreibung</a:t>
            </a:r>
            <a:r>
              <a:rPr>
                <a:solidFill>
                  <a:srgbClr val="666666"/>
                </a:solidFill>
                <a:latin typeface="Courier"/>
              </a:rPr>
              <a:t>();</a:t>
            </a:r>
            <a:br/>
            <a:r>
              <a:rPr>
                <a:solidFill>
                  <a:srgbClr val="666666"/>
                </a:solidFill>
                <a:latin typeface="Courier"/>
              </a:rPr>
              <a: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Der konkrete Express-Decorator (Code)</a:t>
            </a:r>
          </a:p>
        </p:txBody>
      </p:sp>
      <p:sp>
        <p:nvSpPr>
          <p:cNvPr id="3" name="Content Placeholder 2"/>
          <p:cNvSpPr>
            <a:spLocks noGrp="1"/>
          </p:cNvSpPr>
          <p:nvPr>
            <p:ph idx="1"/>
          </p:nvPr>
        </p:nvSpPr>
        <p:spPr/>
        <p:txBody>
          <a:bodyPr/>
          <a:lstStyle/>
          <a:p>
            <a:pPr lvl="0" indent="0" marL="0">
              <a:buNone/>
            </a:pPr>
            <a:r>
              <a:rPr/>
              <a:t>Hier fügen wir das neue Verhalten hinzu:</a:t>
            </a:r>
          </a:p>
          <a:p>
            <a:pPr lvl="0" indent="0">
              <a:buNone/>
            </a:pPr>
            <a:r>
              <a:rPr i="1">
                <a:solidFill>
                  <a:srgbClr val="60A0B0"/>
                </a:solidFill>
                <a:latin typeface="Courier"/>
              </a:rPr>
              <a:t>// Konkreter Decorator: Express Option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ExpressOption </a:t>
            </a:r>
            <a:r>
              <a:rPr>
                <a:solidFill>
                  <a:srgbClr val="666666"/>
                </a:solidFill>
                <a:latin typeface="Courier"/>
              </a:rPr>
              <a:t>:</a:t>
            </a:r>
            <a:r>
              <a:rPr>
                <a:latin typeface="Courier"/>
              </a:rPr>
              <a:t> AntragDecorator</a:t>
            </a:r>
            <a:b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6287E"/>
                </a:solidFill>
                <a:latin typeface="Courier"/>
              </a:rPr>
              <a:t>ExpressOption</a:t>
            </a:r>
            <a:r>
              <a:rPr>
                <a:solidFill>
                  <a:srgbClr val="666666"/>
                </a:solidFill>
                <a:latin typeface="Courier"/>
              </a:rPr>
              <a:t>(</a:t>
            </a:r>
            <a:r>
              <a:rPr>
                <a:latin typeface="Courier"/>
              </a:rPr>
              <a:t>IAntrag antrag</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base</a:t>
            </a:r>
            <a:r>
              <a:rPr>
                <a:solidFill>
                  <a:srgbClr val="666666"/>
                </a:solidFill>
                <a:latin typeface="Courier"/>
              </a:rPr>
              <a:t>(</a:t>
            </a:r>
            <a:r>
              <a:rPr>
                <a:latin typeface="Courier"/>
              </a:rPr>
              <a:t>antrag</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latin typeface="Courier"/>
              </a:rPr>
              <a:t>    </a:t>
            </a:r>
            <a:br/>
            <a:r>
              <a:rPr>
                <a:latin typeface="Courier"/>
              </a:rPr>
              <a:t>    </a:t>
            </a:r>
            <a:r>
              <a:rPr b="1">
                <a:solidFill>
                  <a:srgbClr val="007020"/>
                </a:solidFill>
                <a:latin typeface="Courier"/>
              </a:rPr>
              <a:t>public</a:t>
            </a:r>
            <a:r>
              <a:rPr>
                <a:latin typeface="Courier"/>
              </a:rPr>
              <a:t> </a:t>
            </a:r>
            <a:r>
              <a:rPr b="1">
                <a:solidFill>
                  <a:srgbClr val="007020"/>
                </a:solidFill>
                <a:latin typeface="Courier"/>
              </a:rPr>
              <a:t>override</a:t>
            </a:r>
            <a:r>
              <a:rPr>
                <a:latin typeface="Courier"/>
              </a:rPr>
              <a:t> </a:t>
            </a:r>
            <a:r>
              <a:rPr>
                <a:solidFill>
                  <a:srgbClr val="902000"/>
                </a:solidFill>
                <a:latin typeface="Courier"/>
              </a:rPr>
              <a:t>double</a:t>
            </a:r>
            <a:r>
              <a:rPr>
                <a:latin typeface="Courier"/>
              </a:rPr>
              <a:t> </a:t>
            </a:r>
            <a:r>
              <a:rPr>
                <a:solidFill>
                  <a:srgbClr val="06287E"/>
                </a:solidFill>
                <a:latin typeface="Courier"/>
              </a:rPr>
              <a:t>BerechneKosten</a:t>
            </a:r>
            <a:r>
              <a:rPr>
                <a:solidFill>
                  <a:srgbClr val="666666"/>
                </a:solidFill>
                <a:latin typeface="Courier"/>
              </a:rPr>
              <a:t>()</a:t>
            </a:r>
            <a:r>
              <a:rPr>
                <a:latin typeface="Courier"/>
              </a:rPr>
              <a:t> </a:t>
            </a:r>
            <a:br/>
            <a:r>
              <a:rPr>
                <a:latin typeface="Courier"/>
              </a:rPr>
              <a:t>        </a:t>
            </a:r>
            <a:r>
              <a:rPr>
                <a:solidFill>
                  <a:srgbClr val="666666"/>
                </a:solidFill>
                <a:latin typeface="Courier"/>
              </a:rPr>
              <a:t>=&gt;</a:t>
            </a:r>
            <a:r>
              <a:rPr>
                <a:latin typeface="Courier"/>
              </a:rPr>
              <a:t> </a:t>
            </a:r>
            <a:r>
              <a:rPr b="1">
                <a:solidFill>
                  <a:srgbClr val="007020"/>
                </a:solidFill>
                <a:latin typeface="Courier"/>
              </a:rPr>
              <a:t>base</a:t>
            </a:r>
            <a:r>
              <a:rPr>
                <a:solidFill>
                  <a:srgbClr val="666666"/>
                </a:solidFill>
                <a:latin typeface="Courier"/>
              </a:rPr>
              <a:t>.</a:t>
            </a:r>
            <a:r>
              <a:rPr>
                <a:solidFill>
                  <a:srgbClr val="06287E"/>
                </a:solidFill>
                <a:latin typeface="Courier"/>
              </a:rPr>
              <a:t>BerechneKosten</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32.00</a:t>
            </a:r>
            <a:r>
              <a:rPr>
                <a:solidFill>
                  <a:srgbClr val="666666"/>
                </a:solidFill>
                <a:latin typeface="Courier"/>
              </a:rPr>
              <a:t>;</a:t>
            </a:r>
            <a:r>
              <a:rPr>
                <a:latin typeface="Courier"/>
              </a:rPr>
              <a:t> </a:t>
            </a:r>
            <a:r>
              <a:rPr i="1">
                <a:solidFill>
                  <a:srgbClr val="60A0B0"/>
                </a:solidFill>
                <a:latin typeface="Courier"/>
              </a:rPr>
              <a:t>// Zuschlag</a:t>
            </a:r>
            <a:br/>
            <a:r>
              <a:rPr>
                <a:latin typeface="Courier"/>
              </a:rPr>
              <a:t>        </a:t>
            </a:r>
            <a:br/>
            <a:r>
              <a:rPr>
                <a:latin typeface="Courier"/>
              </a:rPr>
              <a:t>    </a:t>
            </a:r>
            <a:r>
              <a:rPr b="1">
                <a:solidFill>
                  <a:srgbClr val="007020"/>
                </a:solidFill>
                <a:latin typeface="Courier"/>
              </a:rPr>
              <a:t>public</a:t>
            </a:r>
            <a:r>
              <a:rPr>
                <a:latin typeface="Courier"/>
              </a:rPr>
              <a:t> </a:t>
            </a:r>
            <a:r>
              <a:rPr b="1">
                <a:solidFill>
                  <a:srgbClr val="007020"/>
                </a:solidFill>
                <a:latin typeface="Courier"/>
              </a:rPr>
              <a:t>override</a:t>
            </a:r>
            <a:r>
              <a:rPr>
                <a:latin typeface="Courier"/>
              </a:rPr>
              <a:t> </a:t>
            </a:r>
            <a:r>
              <a:rPr>
                <a:solidFill>
                  <a:srgbClr val="902000"/>
                </a:solidFill>
                <a:latin typeface="Courier"/>
              </a:rPr>
              <a:t>string</a:t>
            </a:r>
            <a:r>
              <a:rPr>
                <a:latin typeface="Courier"/>
              </a:rPr>
              <a:t> </a:t>
            </a:r>
            <a:r>
              <a:rPr>
                <a:solidFill>
                  <a:srgbClr val="06287E"/>
                </a:solidFill>
                <a:latin typeface="Courier"/>
              </a:rPr>
              <a:t>GetBeschreibung</a:t>
            </a:r>
            <a:r>
              <a:rPr>
                <a:solidFill>
                  <a:srgbClr val="666666"/>
                </a:solidFill>
                <a:latin typeface="Courier"/>
              </a:rPr>
              <a:t>()</a:t>
            </a:r>
            <a:r>
              <a:rPr>
                <a:latin typeface="Courier"/>
              </a:rPr>
              <a:t> </a:t>
            </a:r>
            <a:br/>
            <a:r>
              <a:rPr>
                <a:latin typeface="Courier"/>
              </a:rPr>
              <a:t>        </a:t>
            </a:r>
            <a:r>
              <a:rPr>
                <a:solidFill>
                  <a:srgbClr val="666666"/>
                </a:solidFill>
                <a:latin typeface="Courier"/>
              </a:rPr>
              <a:t>=&gt;</a:t>
            </a:r>
            <a:r>
              <a:rPr>
                <a:latin typeface="Courier"/>
              </a:rPr>
              <a:t> </a:t>
            </a:r>
            <a:r>
              <a:rPr b="1">
                <a:solidFill>
                  <a:srgbClr val="007020"/>
                </a:solidFill>
                <a:latin typeface="Courier"/>
              </a:rPr>
              <a:t>base</a:t>
            </a:r>
            <a:r>
              <a:rPr>
                <a:solidFill>
                  <a:srgbClr val="666666"/>
                </a:solidFill>
                <a:latin typeface="Courier"/>
              </a:rPr>
              <a:t>.</a:t>
            </a:r>
            <a:r>
              <a:rPr>
                <a:solidFill>
                  <a:srgbClr val="06287E"/>
                </a:solidFill>
                <a:latin typeface="Courier"/>
              </a:rPr>
              <a:t>GetBeschreibung</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70A0"/>
                </a:solidFill>
                <a:latin typeface="Courier"/>
              </a:rPr>
              <a:t>" + Express-Zuschlag"</a:t>
            </a:r>
            <a:r>
              <a:rPr>
                <a:solidFill>
                  <a:srgbClr val="666666"/>
                </a:solidFill>
                <a:latin typeface="Courier"/>
              </a:rPr>
              <a:t>;</a:t>
            </a:r>
            <a:br/>
            <a:r>
              <a:rPr>
                <a:solidFill>
                  <a:srgbClr val="666666"/>
                </a:solidFill>
                <a:latin typeface="Courier"/>
              </a:rPr>
              <a:t>}</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Nutzung des Decorators</a:t>
            </a:r>
          </a:p>
        </p:txBody>
      </p:sp>
      <p:sp>
        <p:nvSpPr>
          <p:cNvPr id="3" name="Content Placeholder 2"/>
          <p:cNvSpPr>
            <a:spLocks noGrp="1"/>
          </p:cNvSpPr>
          <p:nvPr>
            <p:ph idx="1"/>
          </p:nvPr>
        </p:nvSpPr>
        <p:spPr/>
        <p:txBody>
          <a:bodyPr/>
          <a:lstStyle/>
          <a:p>
            <a:pPr lvl="0" indent="0" marL="0">
              <a:buNone/>
            </a:pPr>
            <a:r>
              <a:rPr/>
              <a:t>So nutzen wir den Decorator:</a:t>
            </a:r>
          </a:p>
          <a:p>
            <a:pPr lvl="0" indent="0">
              <a:buNone/>
            </a:pPr>
            <a:r>
              <a:rPr i="1">
                <a:solidFill>
                  <a:srgbClr val="60A0B0"/>
                </a:solidFill>
                <a:latin typeface="Courier"/>
              </a:rPr>
              <a:t>// 1. Basis erstellen (60 EUR)</a:t>
            </a:r>
            <a:br/>
            <a:r>
              <a:rPr>
                <a:latin typeface="Courier"/>
              </a:rPr>
              <a:t>IAntrag meinAntrag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ReisepassAntrag</a:t>
            </a:r>
            <a:r>
              <a:rPr>
                <a:solidFill>
                  <a:srgbClr val="666666"/>
                </a:solidFill>
                <a:latin typeface="Courier"/>
              </a:rPr>
              <a:t>();</a:t>
            </a:r>
            <a:br/>
            <a:br/>
            <a:r>
              <a:rPr i="1">
                <a:solidFill>
                  <a:srgbClr val="60A0B0"/>
                </a:solidFill>
                <a:latin typeface="Courier"/>
              </a:rPr>
              <a:t>// 2. Mit Express dekorieren (+32 EUR)</a:t>
            </a:r>
            <a:br/>
            <a:r>
              <a:rPr>
                <a:latin typeface="Courier"/>
              </a:rPr>
              <a:t>meinAntrag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ExpressOption</a:t>
            </a:r>
            <a:r>
              <a:rPr>
                <a:solidFill>
                  <a:srgbClr val="666666"/>
                </a:solidFill>
                <a:latin typeface="Courier"/>
              </a:rPr>
              <a:t>(</a:t>
            </a:r>
            <a:r>
              <a:rPr>
                <a:latin typeface="Courier"/>
              </a:rPr>
              <a:t>meinAntrag</a:t>
            </a:r>
            <a:r>
              <a:rPr>
                <a:solidFill>
                  <a:srgbClr val="666666"/>
                </a:solidFill>
                <a:latin typeface="Courier"/>
              </a:rPr>
              <a:t>);</a:t>
            </a:r>
            <a:br/>
            <a:br/>
            <a:r>
              <a:rPr>
                <a:latin typeface="Courier"/>
              </a:rPr>
              <a:t>Console</a:t>
            </a:r>
            <a:r>
              <a:rPr>
                <a:solidFill>
                  <a:srgbClr val="666666"/>
                </a:solidFill>
                <a:latin typeface="Courier"/>
              </a:rPr>
              <a:t>.</a:t>
            </a:r>
            <a:r>
              <a:rPr>
                <a:solidFill>
                  <a:srgbClr val="06287E"/>
                </a:solidFill>
                <a:latin typeface="Courier"/>
              </a:rPr>
              <a:t>WriteLine</a:t>
            </a:r>
            <a:r>
              <a:rPr>
                <a:solidFill>
                  <a:srgbClr val="666666"/>
                </a:solidFill>
                <a:latin typeface="Courier"/>
              </a:rPr>
              <a:t>(</a:t>
            </a:r>
            <a:r>
              <a:rPr>
                <a:latin typeface="Courier"/>
              </a:rPr>
              <a:t>meinAntrag</a:t>
            </a:r>
            <a:r>
              <a:rPr>
                <a:solidFill>
                  <a:srgbClr val="666666"/>
                </a:solidFill>
                <a:latin typeface="Courier"/>
              </a:rPr>
              <a:t>.</a:t>
            </a:r>
            <a:r>
              <a:rPr>
                <a:solidFill>
                  <a:srgbClr val="06287E"/>
                </a:solidFill>
                <a:latin typeface="Courier"/>
              </a:rPr>
              <a:t>GetBeschreibung</a:t>
            </a:r>
            <a:r>
              <a:rPr>
                <a:solidFill>
                  <a:srgbClr val="666666"/>
                </a:solidFill>
                <a:latin typeface="Courier"/>
              </a:rPr>
              <a:t>());</a:t>
            </a:r>
            <a:r>
              <a:rPr>
                <a:latin typeface="Courier"/>
              </a:rPr>
              <a:t> </a:t>
            </a:r>
            <a:br/>
            <a:r>
              <a:rPr i="1">
                <a:solidFill>
                  <a:srgbClr val="60A0B0"/>
                </a:solidFill>
                <a:latin typeface="Courier"/>
              </a:rPr>
              <a:t>// Ausgabe: Reisepass (Standard) + Express-Zuschlag</a:t>
            </a:r>
            <a:br/>
            <a:r>
              <a:rPr>
                <a:latin typeface="Courier"/>
              </a:rPr>
              <a:t>Console</a:t>
            </a:r>
            <a:r>
              <a:rPr>
                <a:solidFill>
                  <a:srgbClr val="666666"/>
                </a:solidFill>
                <a:latin typeface="Courier"/>
              </a:rPr>
              <a:t>.</a:t>
            </a:r>
            <a:r>
              <a:rPr>
                <a:solidFill>
                  <a:srgbClr val="06287E"/>
                </a:solidFill>
                <a:latin typeface="Courier"/>
              </a:rPr>
              <a:t>WriteLine</a:t>
            </a:r>
            <a:r>
              <a:rPr>
                <a:solidFill>
                  <a:srgbClr val="666666"/>
                </a:solidFill>
                <a:latin typeface="Courier"/>
              </a:rPr>
              <a:t>(</a:t>
            </a:r>
            <a:r>
              <a:rPr>
                <a:latin typeface="Courier"/>
              </a:rPr>
              <a:t>meinAntrag</a:t>
            </a:r>
            <a:r>
              <a:rPr>
                <a:solidFill>
                  <a:srgbClr val="666666"/>
                </a:solidFill>
                <a:latin typeface="Courier"/>
              </a:rPr>
              <a:t>.</a:t>
            </a:r>
            <a:r>
              <a:rPr>
                <a:solidFill>
                  <a:srgbClr val="06287E"/>
                </a:solidFill>
                <a:latin typeface="Courier"/>
              </a:rPr>
              <a:t>BerechneKosten</a:t>
            </a:r>
            <a:r>
              <a:rPr>
                <a:solidFill>
                  <a:srgbClr val="666666"/>
                </a:solidFill>
                <a:latin typeface="Courier"/>
              </a:rPr>
              <a:t>());</a:t>
            </a:r>
            <a:r>
              <a:rPr>
                <a:latin typeface="Courier"/>
              </a:rPr>
              <a:t>  </a:t>
            </a:r>
            <a:br/>
            <a:r>
              <a:rPr i="1">
                <a:solidFill>
                  <a:srgbClr val="60A0B0"/>
                </a:solidFill>
                <a:latin typeface="Courier"/>
              </a:rPr>
              <a:t>// Ausgabe: 92.00</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Der konkrete 48 Seiten-Decorator (Code)</a:t>
            </a:r>
          </a:p>
        </p:txBody>
      </p:sp>
      <p:sp>
        <p:nvSpPr>
          <p:cNvPr id="3" name="Content Placeholder 2"/>
          <p:cNvSpPr>
            <a:spLocks noGrp="1"/>
          </p:cNvSpPr>
          <p:nvPr>
            <p:ph idx="1"/>
          </p:nvPr>
        </p:nvSpPr>
        <p:spPr/>
        <p:txBody>
          <a:bodyPr/>
          <a:lstStyle/>
          <a:p>
            <a:pPr lvl="0" indent="0" marL="0">
              <a:buNone/>
            </a:pPr>
            <a:r>
              <a:rPr/>
              <a:t>Hier fügen wir das neue Verhalten hinzu:</a:t>
            </a:r>
          </a:p>
          <a:p>
            <a:pPr lvl="0" indent="0">
              <a:buNone/>
            </a:pPr>
            <a:r>
              <a:rPr i="1">
                <a:solidFill>
                  <a:srgbClr val="60A0B0"/>
                </a:solidFill>
                <a:latin typeface="Courier"/>
              </a:rPr>
              <a:t>// Konkreter Decorator: Express Option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MehrSeitenOption </a:t>
            </a:r>
            <a:r>
              <a:rPr>
                <a:solidFill>
                  <a:srgbClr val="666666"/>
                </a:solidFill>
                <a:latin typeface="Courier"/>
              </a:rPr>
              <a:t>:</a:t>
            </a:r>
            <a:r>
              <a:rPr>
                <a:latin typeface="Courier"/>
              </a:rPr>
              <a:t> AntragDecorator</a:t>
            </a:r>
            <a:b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6287E"/>
                </a:solidFill>
                <a:latin typeface="Courier"/>
              </a:rPr>
              <a:t>MehrSeitenOption</a:t>
            </a:r>
            <a:r>
              <a:rPr>
                <a:solidFill>
                  <a:srgbClr val="666666"/>
                </a:solidFill>
                <a:latin typeface="Courier"/>
              </a:rPr>
              <a:t>(</a:t>
            </a:r>
            <a:r>
              <a:rPr>
                <a:latin typeface="Courier"/>
              </a:rPr>
              <a:t>IAntrag antrag</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base</a:t>
            </a:r>
            <a:r>
              <a:rPr>
                <a:solidFill>
                  <a:srgbClr val="666666"/>
                </a:solidFill>
                <a:latin typeface="Courier"/>
              </a:rPr>
              <a:t>(</a:t>
            </a:r>
            <a:r>
              <a:rPr>
                <a:latin typeface="Courier"/>
              </a:rPr>
              <a:t>antrag</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latin typeface="Courier"/>
              </a:rPr>
              <a:t>    </a:t>
            </a:r>
            <a:br/>
            <a:r>
              <a:rPr>
                <a:latin typeface="Courier"/>
              </a:rPr>
              <a:t>    </a:t>
            </a:r>
            <a:r>
              <a:rPr b="1">
                <a:solidFill>
                  <a:srgbClr val="007020"/>
                </a:solidFill>
                <a:latin typeface="Courier"/>
              </a:rPr>
              <a:t>public</a:t>
            </a:r>
            <a:r>
              <a:rPr>
                <a:latin typeface="Courier"/>
              </a:rPr>
              <a:t> </a:t>
            </a:r>
            <a:r>
              <a:rPr b="1">
                <a:solidFill>
                  <a:srgbClr val="007020"/>
                </a:solidFill>
                <a:latin typeface="Courier"/>
              </a:rPr>
              <a:t>override</a:t>
            </a:r>
            <a:r>
              <a:rPr>
                <a:latin typeface="Courier"/>
              </a:rPr>
              <a:t> </a:t>
            </a:r>
            <a:r>
              <a:rPr>
                <a:solidFill>
                  <a:srgbClr val="902000"/>
                </a:solidFill>
                <a:latin typeface="Courier"/>
              </a:rPr>
              <a:t>double</a:t>
            </a:r>
            <a:r>
              <a:rPr>
                <a:latin typeface="Courier"/>
              </a:rPr>
              <a:t> </a:t>
            </a:r>
            <a:r>
              <a:rPr>
                <a:solidFill>
                  <a:srgbClr val="06287E"/>
                </a:solidFill>
                <a:latin typeface="Courier"/>
              </a:rPr>
              <a:t>BerechneKosten</a:t>
            </a:r>
            <a:r>
              <a:rPr>
                <a:solidFill>
                  <a:srgbClr val="666666"/>
                </a:solidFill>
                <a:latin typeface="Courier"/>
              </a:rPr>
              <a:t>()</a:t>
            </a:r>
            <a:r>
              <a:rPr>
                <a:latin typeface="Courier"/>
              </a:rPr>
              <a:t> </a:t>
            </a:r>
            <a:br/>
            <a:r>
              <a:rPr>
                <a:latin typeface="Courier"/>
              </a:rPr>
              <a:t>        </a:t>
            </a:r>
            <a:r>
              <a:rPr>
                <a:solidFill>
                  <a:srgbClr val="666666"/>
                </a:solidFill>
                <a:latin typeface="Courier"/>
              </a:rPr>
              <a:t>=&gt;</a:t>
            </a:r>
            <a:r>
              <a:rPr>
                <a:latin typeface="Courier"/>
              </a:rPr>
              <a:t> </a:t>
            </a:r>
            <a:r>
              <a:rPr b="1">
                <a:solidFill>
                  <a:srgbClr val="007020"/>
                </a:solidFill>
                <a:latin typeface="Courier"/>
              </a:rPr>
              <a:t>base</a:t>
            </a:r>
            <a:r>
              <a:rPr>
                <a:solidFill>
                  <a:srgbClr val="666666"/>
                </a:solidFill>
                <a:latin typeface="Courier"/>
              </a:rPr>
              <a:t>.</a:t>
            </a:r>
            <a:r>
              <a:rPr>
                <a:solidFill>
                  <a:srgbClr val="06287E"/>
                </a:solidFill>
                <a:latin typeface="Courier"/>
              </a:rPr>
              <a:t>BerechneKosten</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22.00</a:t>
            </a:r>
            <a:r>
              <a:rPr>
                <a:solidFill>
                  <a:srgbClr val="666666"/>
                </a:solidFill>
                <a:latin typeface="Courier"/>
              </a:rPr>
              <a:t>;</a:t>
            </a:r>
            <a:r>
              <a:rPr>
                <a:latin typeface="Courier"/>
              </a:rPr>
              <a:t> </a:t>
            </a:r>
            <a:r>
              <a:rPr i="1">
                <a:solidFill>
                  <a:srgbClr val="60A0B0"/>
                </a:solidFill>
                <a:latin typeface="Courier"/>
              </a:rPr>
              <a:t>// Zuschlag</a:t>
            </a:r>
            <a:br/>
            <a:r>
              <a:rPr>
                <a:latin typeface="Courier"/>
              </a:rPr>
              <a:t>        </a:t>
            </a:r>
            <a:br/>
            <a:r>
              <a:rPr>
                <a:latin typeface="Courier"/>
              </a:rPr>
              <a:t>    </a:t>
            </a:r>
            <a:r>
              <a:rPr b="1">
                <a:solidFill>
                  <a:srgbClr val="007020"/>
                </a:solidFill>
                <a:latin typeface="Courier"/>
              </a:rPr>
              <a:t>public</a:t>
            </a:r>
            <a:r>
              <a:rPr>
                <a:latin typeface="Courier"/>
              </a:rPr>
              <a:t> </a:t>
            </a:r>
            <a:r>
              <a:rPr b="1">
                <a:solidFill>
                  <a:srgbClr val="007020"/>
                </a:solidFill>
                <a:latin typeface="Courier"/>
              </a:rPr>
              <a:t>override</a:t>
            </a:r>
            <a:r>
              <a:rPr>
                <a:latin typeface="Courier"/>
              </a:rPr>
              <a:t> </a:t>
            </a:r>
            <a:r>
              <a:rPr>
                <a:solidFill>
                  <a:srgbClr val="902000"/>
                </a:solidFill>
                <a:latin typeface="Courier"/>
              </a:rPr>
              <a:t>string</a:t>
            </a:r>
            <a:r>
              <a:rPr>
                <a:latin typeface="Courier"/>
              </a:rPr>
              <a:t> </a:t>
            </a:r>
            <a:r>
              <a:rPr>
                <a:solidFill>
                  <a:srgbClr val="06287E"/>
                </a:solidFill>
                <a:latin typeface="Courier"/>
              </a:rPr>
              <a:t>GetBeschreibung</a:t>
            </a:r>
            <a:r>
              <a:rPr>
                <a:solidFill>
                  <a:srgbClr val="666666"/>
                </a:solidFill>
                <a:latin typeface="Courier"/>
              </a:rPr>
              <a:t>()</a:t>
            </a:r>
            <a:r>
              <a:rPr>
                <a:latin typeface="Courier"/>
              </a:rPr>
              <a:t> </a:t>
            </a:r>
            <a:br/>
            <a:r>
              <a:rPr>
                <a:latin typeface="Courier"/>
              </a:rPr>
              <a:t>        </a:t>
            </a:r>
            <a:r>
              <a:rPr>
                <a:solidFill>
                  <a:srgbClr val="666666"/>
                </a:solidFill>
                <a:latin typeface="Courier"/>
              </a:rPr>
              <a:t>=&gt;</a:t>
            </a:r>
            <a:r>
              <a:rPr>
                <a:latin typeface="Courier"/>
              </a:rPr>
              <a:t> </a:t>
            </a:r>
            <a:r>
              <a:rPr b="1">
                <a:solidFill>
                  <a:srgbClr val="007020"/>
                </a:solidFill>
                <a:latin typeface="Courier"/>
              </a:rPr>
              <a:t>base</a:t>
            </a:r>
            <a:r>
              <a:rPr>
                <a:solidFill>
                  <a:srgbClr val="666666"/>
                </a:solidFill>
                <a:latin typeface="Courier"/>
              </a:rPr>
              <a:t>.</a:t>
            </a:r>
            <a:r>
              <a:rPr>
                <a:solidFill>
                  <a:srgbClr val="06287E"/>
                </a:solidFill>
                <a:latin typeface="Courier"/>
              </a:rPr>
              <a:t>GetBeschreibung</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70A0"/>
                </a:solidFill>
                <a:latin typeface="Courier"/>
              </a:rPr>
              <a:t>" + 48Seiten-Zuschlag"</a:t>
            </a:r>
            <a:r>
              <a:rPr>
                <a:solidFill>
                  <a:srgbClr val="666666"/>
                </a:solidFill>
                <a:latin typeface="Courier"/>
              </a:rPr>
              <a:t>;</a:t>
            </a:r>
            <a:br/>
            <a:r>
              <a:rPr>
                <a:solidFill>
                  <a:srgbClr val="666666"/>
                </a:solidFill>
                <a:latin typeface="Courier"/>
              </a:rPr>
              <a:t>}</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Verschachtelung von Decoratoren</a:t>
            </a:r>
          </a:p>
        </p:txBody>
      </p:sp>
      <p:sp>
        <p:nvSpPr>
          <p:cNvPr id="3" name="Content Placeholder 2"/>
          <p:cNvSpPr>
            <a:spLocks noGrp="1"/>
          </p:cNvSpPr>
          <p:nvPr>
            <p:ph idx="1"/>
          </p:nvPr>
        </p:nvSpPr>
        <p:spPr/>
        <p:txBody>
          <a:bodyPr/>
          <a:lstStyle/>
          <a:p>
            <a:pPr lvl="0" indent="0" marL="0">
              <a:buNone/>
            </a:pPr>
            <a:r>
              <a:rPr/>
              <a:t>So setzen wir eine Zwiebel zusammen:</a:t>
            </a:r>
          </a:p>
          <a:p>
            <a:pPr lvl="0" indent="0">
              <a:buNone/>
            </a:pPr>
            <a:r>
              <a:rPr i="1">
                <a:solidFill>
                  <a:srgbClr val="60A0B0"/>
                </a:solidFill>
                <a:latin typeface="Courier"/>
              </a:rPr>
              <a:t>// 1. Basis erstellen (60 EUR)</a:t>
            </a:r>
            <a:br/>
            <a:r>
              <a:rPr>
                <a:latin typeface="Courier"/>
              </a:rPr>
              <a:t>IAntrag meinAntrag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ReisepassAntrag</a:t>
            </a:r>
            <a:r>
              <a:rPr>
                <a:solidFill>
                  <a:srgbClr val="666666"/>
                </a:solidFill>
                <a:latin typeface="Courier"/>
              </a:rPr>
              <a:t>();</a:t>
            </a:r>
            <a:br/>
            <a:r>
              <a:rPr i="1">
                <a:solidFill>
                  <a:srgbClr val="60A0B0"/>
                </a:solidFill>
                <a:latin typeface="Courier"/>
              </a:rPr>
              <a:t>// 2. Mit Express dekorieren (+32 EUR)</a:t>
            </a:r>
            <a:br/>
            <a:r>
              <a:rPr>
                <a:latin typeface="Courier"/>
              </a:rPr>
              <a:t>meinAntrag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ExpressOption</a:t>
            </a:r>
            <a:r>
              <a:rPr>
                <a:solidFill>
                  <a:srgbClr val="666666"/>
                </a:solidFill>
                <a:latin typeface="Courier"/>
              </a:rPr>
              <a:t>(</a:t>
            </a:r>
            <a:r>
              <a:rPr>
                <a:latin typeface="Courier"/>
              </a:rPr>
              <a:t>meinAntrag</a:t>
            </a:r>
            <a:r>
              <a:rPr>
                <a:solidFill>
                  <a:srgbClr val="666666"/>
                </a:solidFill>
                <a:latin typeface="Courier"/>
              </a:rPr>
              <a:t>);</a:t>
            </a:r>
            <a:br/>
            <a:r>
              <a:rPr i="1">
                <a:solidFill>
                  <a:srgbClr val="60A0B0"/>
                </a:solidFill>
                <a:latin typeface="Courier"/>
              </a:rPr>
              <a:t>// 3. Mit 48Seiten dekorieren (+22 EUR)</a:t>
            </a:r>
            <a:br/>
            <a:r>
              <a:rPr>
                <a:latin typeface="Courier"/>
              </a:rPr>
              <a:t>meinAntrag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MehrSeitenOption</a:t>
            </a:r>
            <a:r>
              <a:rPr>
                <a:solidFill>
                  <a:srgbClr val="666666"/>
                </a:solidFill>
                <a:latin typeface="Courier"/>
              </a:rPr>
              <a:t>(</a:t>
            </a:r>
            <a:r>
              <a:rPr>
                <a:latin typeface="Courier"/>
              </a:rPr>
              <a:t>meinAntrag</a:t>
            </a:r>
            <a:r>
              <a:rPr>
                <a:solidFill>
                  <a:srgbClr val="666666"/>
                </a:solidFill>
                <a:latin typeface="Courier"/>
              </a:rPr>
              <a:t>);</a:t>
            </a:r>
            <a:br/>
            <a:br/>
            <a:r>
              <a:rPr>
                <a:latin typeface="Courier"/>
              </a:rPr>
              <a:t>Console</a:t>
            </a:r>
            <a:r>
              <a:rPr>
                <a:solidFill>
                  <a:srgbClr val="666666"/>
                </a:solidFill>
                <a:latin typeface="Courier"/>
              </a:rPr>
              <a:t>.</a:t>
            </a:r>
            <a:r>
              <a:rPr>
                <a:solidFill>
                  <a:srgbClr val="06287E"/>
                </a:solidFill>
                <a:latin typeface="Courier"/>
              </a:rPr>
              <a:t>WriteLine</a:t>
            </a:r>
            <a:r>
              <a:rPr>
                <a:solidFill>
                  <a:srgbClr val="666666"/>
                </a:solidFill>
                <a:latin typeface="Courier"/>
              </a:rPr>
              <a:t>(</a:t>
            </a:r>
            <a:r>
              <a:rPr>
                <a:latin typeface="Courier"/>
              </a:rPr>
              <a:t>meinAntrag</a:t>
            </a:r>
            <a:r>
              <a:rPr>
                <a:solidFill>
                  <a:srgbClr val="666666"/>
                </a:solidFill>
                <a:latin typeface="Courier"/>
              </a:rPr>
              <a:t>.</a:t>
            </a:r>
            <a:r>
              <a:rPr>
                <a:solidFill>
                  <a:srgbClr val="06287E"/>
                </a:solidFill>
                <a:latin typeface="Courier"/>
              </a:rPr>
              <a:t>GetBeschreibung</a:t>
            </a:r>
            <a:r>
              <a:rPr>
                <a:solidFill>
                  <a:srgbClr val="666666"/>
                </a:solidFill>
                <a:latin typeface="Courier"/>
              </a:rPr>
              <a:t>());</a:t>
            </a:r>
            <a:r>
              <a:rPr>
                <a:latin typeface="Courier"/>
              </a:rPr>
              <a:t> </a:t>
            </a:r>
            <a:br/>
            <a:r>
              <a:rPr i="1">
                <a:solidFill>
                  <a:srgbClr val="60A0B0"/>
                </a:solidFill>
                <a:latin typeface="Courier"/>
              </a:rPr>
              <a:t>// Ausgabe: Reisepass (Standard) + Express-Zuschlag + 48Seiten-Zuschlag</a:t>
            </a:r>
            <a:br/>
            <a:r>
              <a:rPr>
                <a:latin typeface="Courier"/>
              </a:rPr>
              <a:t>Console</a:t>
            </a:r>
            <a:r>
              <a:rPr>
                <a:solidFill>
                  <a:srgbClr val="666666"/>
                </a:solidFill>
                <a:latin typeface="Courier"/>
              </a:rPr>
              <a:t>.</a:t>
            </a:r>
            <a:r>
              <a:rPr>
                <a:solidFill>
                  <a:srgbClr val="06287E"/>
                </a:solidFill>
                <a:latin typeface="Courier"/>
              </a:rPr>
              <a:t>WriteLine</a:t>
            </a:r>
            <a:r>
              <a:rPr>
                <a:solidFill>
                  <a:srgbClr val="666666"/>
                </a:solidFill>
                <a:latin typeface="Courier"/>
              </a:rPr>
              <a:t>(</a:t>
            </a:r>
            <a:r>
              <a:rPr>
                <a:latin typeface="Courier"/>
              </a:rPr>
              <a:t>meinAntrag</a:t>
            </a:r>
            <a:r>
              <a:rPr>
                <a:solidFill>
                  <a:srgbClr val="666666"/>
                </a:solidFill>
                <a:latin typeface="Courier"/>
              </a:rPr>
              <a:t>.</a:t>
            </a:r>
            <a:r>
              <a:rPr>
                <a:solidFill>
                  <a:srgbClr val="06287E"/>
                </a:solidFill>
                <a:latin typeface="Courier"/>
              </a:rPr>
              <a:t>BerechneKosten</a:t>
            </a:r>
            <a:r>
              <a:rPr>
                <a:solidFill>
                  <a:srgbClr val="666666"/>
                </a:solidFill>
                <a:latin typeface="Courier"/>
              </a:rPr>
              <a:t>());</a:t>
            </a:r>
            <a:r>
              <a:rPr>
                <a:latin typeface="Courier"/>
              </a:rPr>
              <a:t>  </a:t>
            </a:r>
            <a:br/>
            <a:r>
              <a:rPr i="1">
                <a:solidFill>
                  <a:srgbClr val="60A0B0"/>
                </a:solidFill>
                <a:latin typeface="Courier"/>
              </a:rPr>
              <a:t>// Ausgabe: 114.00</a:t>
            </a:r>
          </a:p>
          <a:p>
            <a:pPr lvl="0" indent="0" marL="0">
              <a:buNone/>
            </a:pPr>
            <a:r>
              <a:rPr/>
              <a:t>Sie können Optionen beliebig ineinander verschachteln!</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Vorteile</a:t>
            </a:r>
          </a:p>
        </p:txBody>
      </p:sp>
      <p:sp>
        <p:nvSpPr>
          <p:cNvPr id="3" name="Content Placeholder 2"/>
          <p:cNvSpPr>
            <a:spLocks noGrp="1"/>
          </p:cNvSpPr>
          <p:nvPr>
            <p:ph idx="1"/>
          </p:nvPr>
        </p:nvSpPr>
        <p:spPr/>
        <p:txBody>
          <a:bodyPr/>
          <a:lstStyle/>
          <a:p>
            <a:pPr lvl="0"/>
            <a:r>
              <a:rPr b="1"/>
              <a:t>Flexible Erweiterung zur Laufzeit:</a:t>
            </a:r>
            <a:r>
              <a:rPr/>
              <a:t> Verhalten kann dynamisch hinzugefügt oder kombiniert werden.</a:t>
            </a:r>
          </a:p>
          <a:p>
            <a:pPr lvl="0"/>
            <a:r>
              <a:rPr b="1"/>
              <a:t>Vermeidet Klassenexplosion:</a:t>
            </a:r>
            <a:r>
              <a:rPr/>
              <a:t> Statt vieler Unterklassen werden Optionen durch Kombination von Decorators aufgebaut.</a:t>
            </a:r>
          </a:p>
          <a:p>
            <a:pPr lvl="0"/>
            <a:r>
              <a:rPr b="1"/>
              <a:t>Open-Closed-Prinzip:</a:t>
            </a:r>
            <a:r>
              <a:rPr/>
              <a:t> Neue Optionen können ergänzt werden, ohne bestehende Klassen zu ändern.</a:t>
            </a:r>
          </a:p>
          <a:p>
            <a:pPr lvl="0"/>
            <a:r>
              <a:rPr b="1"/>
              <a:t>Single Responsibility:</a:t>
            </a:r>
            <a:r>
              <a:rPr/>
              <a:t> Jede Zusatzfunktion (z.B. Express, 48 Seiten) ist in einer eigenen Klasse gekapselt.</a:t>
            </a:r>
          </a:p>
          <a:p>
            <a:pPr lvl="0"/>
            <a:r>
              <a:rPr b="1"/>
              <a:t>Kombinierbarkeit:</a:t>
            </a:r>
            <a:r>
              <a:rPr/>
              <a:t> Mehrere Decorators lassen sich in beliebiger Reihenfolge verschachteln.</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Nachteile</a:t>
            </a:r>
          </a:p>
        </p:txBody>
      </p:sp>
      <p:sp>
        <p:nvSpPr>
          <p:cNvPr id="3" name="Content Placeholder 2"/>
          <p:cNvSpPr>
            <a:spLocks noGrp="1"/>
          </p:cNvSpPr>
          <p:nvPr>
            <p:ph idx="1"/>
          </p:nvPr>
        </p:nvSpPr>
        <p:spPr/>
        <p:txBody>
          <a:bodyPr/>
          <a:lstStyle/>
          <a:p>
            <a:pPr lvl="0"/>
            <a:r>
              <a:rPr b="1"/>
              <a:t>Mehr Komplexität im Aufbau:</a:t>
            </a:r>
            <a:r>
              <a:rPr/>
              <a:t> Viele kleine Klassen und verschachtelte Objekte erschweren den Überblick.</a:t>
            </a:r>
          </a:p>
          <a:p>
            <a:pPr lvl="0"/>
            <a:r>
              <a:rPr b="1"/>
              <a:t>Reihenfolgeabhängigkeit möglich:</a:t>
            </a:r>
            <a:r>
              <a:rPr/>
              <a:t> Unterschiedliche Decorator-Reihenfolgen können zu anderem Ergebnis führen.</a:t>
            </a:r>
          </a:p>
          <a:p>
            <a:pPr lvl="0"/>
            <a:r>
              <a:rPr b="1"/>
              <a:t>Debugging aufwendiger:</a:t>
            </a:r>
            <a:r>
              <a:rPr/>
              <a:t> Verhalten verteilt sich über mehrere Ebenen der Dekoration.</a:t>
            </a:r>
          </a:p>
          <a:p>
            <a:pPr lvl="0"/>
            <a:r>
              <a:rPr b="1"/>
              <a:t>Objektidentität/Transparenz:</a:t>
            </a:r>
            <a:r>
              <a:rPr/>
              <a:t> Gerade bei unbekanntem Code ist nicht immer klar, welches „echte“ Objekt gerade verwendet wird.</a:t>
            </a:r>
          </a:p>
          <a:p>
            <a:pPr lvl="0" indent="0" marL="0">
              <a:buNone/>
            </a:pPr>
            <a:r>
              <a:rPr>
                <a:latin typeface="Courier"/>
              </a:rPr>
              <a:t>Decorator</a:t>
            </a:r>
            <a:r>
              <a:rPr/>
              <a:t> ist ideal für optionale, kombinierbare Zusatzfunktionen; bei hoher Verschachtelung steigt jedoch die kognitive Komplexität.</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6: Zusammenfassung</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Wrap-up Woche 2</a:t>
            </a:r>
          </a:p>
        </p:txBody>
      </p:sp>
      <p:sp>
        <p:nvSpPr>
          <p:cNvPr id="3" name="Content Placeholder 2"/>
          <p:cNvSpPr>
            <a:spLocks noGrp="1"/>
          </p:cNvSpPr>
          <p:nvPr>
            <p:ph idx="1"/>
          </p:nvPr>
        </p:nvSpPr>
        <p:spPr/>
        <p:txBody>
          <a:bodyPr/>
          <a:lstStyle/>
          <a:p>
            <a:pPr lvl="0"/>
            <a:r>
              <a:rPr b="1"/>
              <a:t>Singleton:</a:t>
            </a:r>
            <a:r>
              <a:rPr/>
              <a:t> Wenn es garantiert nur ein Objekt geben darf (Vorsicht: Anti-Pattern Gefahr!).</a:t>
            </a:r>
          </a:p>
          <a:p>
            <a:pPr lvl="0"/>
            <a:r>
              <a:rPr b="1"/>
              <a:t>Factory Method:</a:t>
            </a:r>
            <a:r>
              <a:rPr/>
              <a:t> Delegation der Objekterzeugung an Unterklassen (für Flexibilität).</a:t>
            </a:r>
          </a:p>
          <a:p>
            <a:pPr lvl="0"/>
            <a:r>
              <a:rPr b="1"/>
              <a:t>Adapter:</a:t>
            </a:r>
            <a:r>
              <a:rPr/>
              <a:t> Der Übersetzer zwischen inkompatiblen Welten (Legacy-Integration).</a:t>
            </a:r>
          </a:p>
          <a:p>
            <a:pPr lvl="0"/>
            <a:r>
              <a:rPr b="1"/>
              <a:t>Decorator:</a:t>
            </a:r>
            <a:r>
              <a:rPr/>
              <a:t> Dynamisches Hinzufügen von Funktionen ohne Klassenexplosion.</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Ausblick auf nächste Woche</a:t>
            </a:r>
          </a:p>
        </p:txBody>
      </p:sp>
      <p:sp>
        <p:nvSpPr>
          <p:cNvPr id="3" name="Content Placeholder 2"/>
          <p:cNvSpPr>
            <a:spLocks noGrp="1"/>
          </p:cNvSpPr>
          <p:nvPr>
            <p:ph idx="1"/>
          </p:nvPr>
        </p:nvSpPr>
        <p:spPr/>
        <p:txBody>
          <a:bodyPr/>
          <a:lstStyle/>
          <a:p>
            <a:pPr lvl="0" indent="0" marL="0">
              <a:buNone/>
            </a:pPr>
            <a:r>
              <a:rPr/>
              <a:t>Diese Woche haben wir Objekte erzeugt (Creational) und strukturiert (Structural). Nächste Woche betrachten wir die dritte Kategorie: </a:t>
            </a:r>
            <a:r>
              <a:rPr b="1"/>
              <a:t>Verhaltensmuster (Behavioral Patterns)</a:t>
            </a:r>
            <a:r>
              <a:rPr/>
              <a:t>, wie das Strategy- und Observer-Pattern.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Objektorientierte Programmierung (Vertiefung)</dc:title>
  <dc:creator>Peter Bernhardt</dc:creator>
  <cp:keywords/>
  <dcterms:created xsi:type="dcterms:W3CDTF">2026-03-23T15:44:24Z</dcterms:created>
  <dcterms:modified xsi:type="dcterms:W3CDTF">2026-03-23T15:44:24Z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März 2026</vt:lpwstr>
  </property>
  <property fmtid="{D5CDD505-2E9C-101B-9397-08002B2CF9AE}" pid="3" name="section-titles">
    <vt:lpwstr>True</vt:lpwstr>
  </property>
  <property fmtid="{D5CDD505-2E9C-101B-9397-08002B2CF9AE}" pid="4" name="subtitle">
    <vt:lpwstr>Woche 2: Design Patterns I – Struktur und Erzeugung</vt:lpwstr>
  </property>
</Properties>
</file>