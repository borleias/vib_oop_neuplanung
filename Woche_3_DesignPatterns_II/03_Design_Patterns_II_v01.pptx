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45"/>
  </p:notesMasterIdLst>
  <p:handoutMasterIdLst>
    <p:handoutMasterId r:id="rId46"/>
  </p:handout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51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52" r:id="rId32"/>
    <p:sldId id="353" r:id="rId33"/>
    <p:sldId id="342" r:id="rId34"/>
    <p:sldId id="354" r:id="rId35"/>
    <p:sldId id="355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6" autoAdjust="0"/>
    <p:restoredTop sz="94694" autoAdjust="0"/>
  </p:normalViewPr>
  <p:slideViewPr>
    <p:cSldViewPr snapToGrid="0" snapToObjects="1">
      <p:cViewPr varScale="1">
        <p:scale>
          <a:sx n="121" d="100"/>
          <a:sy n="121" d="100"/>
        </p:scale>
        <p:origin x="1275" y="57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18117"/>
    </p:cViewPr>
  </p:sorterViewPr>
  <p:notesViewPr>
    <p:cSldViewPr snapToGrid="0" snapToObjects="1">
      <p:cViewPr varScale="1">
        <p:scale>
          <a:sx n="73" d="100"/>
          <a:sy n="73" d="100"/>
        </p:scale>
        <p:origin x="2982" y="3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ernhardt" userId="f2333933-0b12-4d6e-972f-f87625423892" providerId="ADAL" clId="{34DA1458-4058-4912-885C-C6A06A12728D}"/>
    <pc:docChg chg="custSel modNotesMaster modHandout">
      <pc:chgData name="Peter Bernhardt" userId="f2333933-0b12-4d6e-972f-f87625423892" providerId="ADAL" clId="{34DA1458-4058-4912-885C-C6A06A12728D}" dt="2026-03-30T13:06:12.626" v="1" actId="478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182A437-55A6-BCE1-3701-8088EE30B7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547113-E8DF-5900-52A8-FA156677EA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BCA42B-9D39-C0AB-AF39-0E82536F94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68CC2-6EAF-438F-862C-CC00261CEE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725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80FDE-A1B8-4051-A2B5-D1C1A609FA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7014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13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3339846"/>
            <a:ext cx="565785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9308" y="3257550"/>
            <a:ext cx="55549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06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220" y="1384302"/>
            <a:ext cx="2777490" cy="30175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7580" y="1384301"/>
            <a:ext cx="2777490" cy="3017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10880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2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97580" y="1384539"/>
            <a:ext cx="277749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7580" y="1936751"/>
            <a:ext cx="2777490" cy="24650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1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" y="0"/>
            <a:ext cx="227857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2540" y="0"/>
            <a:ext cx="36005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445769"/>
            <a:ext cx="1800225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338" y="548640"/>
            <a:ext cx="3651885" cy="3943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2194560"/>
            <a:ext cx="1800225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1851" y="4844840"/>
            <a:ext cx="1472912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00337" y="4844840"/>
            <a:ext cx="2614613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3714750"/>
            <a:ext cx="6856214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" y="368630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3806190"/>
            <a:ext cx="5692140" cy="617220"/>
          </a:xfrm>
        </p:spPr>
        <p:txBody>
          <a:bodyPr tIns="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" y="0"/>
            <a:ext cx="6857992" cy="3686307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20" y="4430268"/>
            <a:ext cx="5692140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3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7" y="4800600"/>
            <a:ext cx="6856214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0" y="4750737"/>
            <a:ext cx="6856214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09226"/>
            <a:ext cx="1478756" cy="431992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09226"/>
            <a:ext cx="4350544" cy="4319924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6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800600"/>
            <a:ext cx="6858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6858001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19" y="1103179"/>
            <a:ext cx="5657851" cy="36033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1" y="4844840"/>
            <a:ext cx="13906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73480" y="4844840"/>
            <a:ext cx="2712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69009" y="4844840"/>
            <a:ext cx="73801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71362" y="1058938"/>
            <a:ext cx="56064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0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b="1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 dirty="0"/>
              <a:t>Objektorientierte Programmierung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8779" y="3341716"/>
            <a:ext cx="5657850" cy="857250"/>
          </a:xfrm>
        </p:spPr>
        <p:txBody>
          <a:bodyPr>
            <a:normAutofit fontScale="92500" lnSpcReduction="20000"/>
          </a:bodyPr>
          <a:lstStyle/>
          <a:p>
            <a:r>
              <a:rPr lang="de-DE"/>
              <a:t>Woche 3: Design Patterns II – Verhalten und Interaktion</a:t>
            </a:r>
            <a:br>
              <a:rPr lang="de-DE"/>
            </a:br>
            <a:br>
              <a:rPr lang="de-DE"/>
            </a:br>
            <a:r>
              <a:rPr lang="de-DE"/>
              <a:t>Peter Bernhardt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1" y="4844840"/>
            <a:ext cx="1390652" cy="273844"/>
          </a:xfrm>
        </p:spPr>
        <p:txBody>
          <a:bodyPr/>
          <a:lstStyle/>
          <a:p>
            <a:r>
              <a:rPr lang="de-DE"/>
              <a:t>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>
            <a:normAutofit/>
          </a:bodyPr>
          <a:lstStyle/>
          <a:p>
            <a:r>
              <a:rPr lang="de-DE"/>
              <a:t>Teil 1: Einführung in Verhaltensmuster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DFCCE3-B5D4-9C4C-0B33-98415C584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214953"/>
            <a:ext cx="5657850" cy="820429"/>
          </a:xfrm>
        </p:spPr>
        <p:txBody>
          <a:bodyPr/>
          <a:lstStyle/>
          <a:p>
            <a:r>
              <a:rPr lang="de-DE"/>
              <a:t>Willkommen zu Woche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5657851" cy="3603318"/>
          </a:xfrm>
        </p:spPr>
        <p:txBody>
          <a:bodyPr/>
          <a:lstStyle/>
          <a:p>
            <a:r>
              <a:rPr lang="de-DE" dirty="0"/>
              <a:t>In der letzten Woche haben wir gelernt, wie man Objekte sauber erzeugt (Factory) und strukturiert (Adapter). </a:t>
            </a:r>
          </a:p>
          <a:p>
            <a:r>
              <a:rPr lang="de-DE" dirty="0"/>
              <a:t>Heute widmen wir uns der dritten und oft wichtigsten Kategorie von Design Patterns: den </a:t>
            </a:r>
            <a:r>
              <a:rPr lang="de-DE" b="1" dirty="0"/>
              <a:t>Verhaltensmustern (Behavioral Patterns)</a:t>
            </a:r>
            <a:r>
              <a:rPr lang="de-DE" dirty="0"/>
              <a:t>.</a:t>
            </a:r>
          </a:p>
          <a:p>
            <a:r>
              <a:rPr lang="de-DE" dirty="0" err="1"/>
              <a:t>Lernziele</a:t>
            </a:r>
            <a:r>
              <a:rPr lang="de-DE" dirty="0"/>
              <a:t>:</a:t>
            </a:r>
          </a:p>
          <a:p>
            <a:pPr marL="144000" lvl="0" indent="-144000">
              <a:buFont typeface="Symbol" panose="05050102010706020507" pitchFamily="18" charset="2"/>
              <a:buChar char="-"/>
            </a:pPr>
            <a:r>
              <a:rPr lang="de-DE" dirty="0"/>
              <a:t>Strategy-Pattern für flexible </a:t>
            </a:r>
            <a:r>
              <a:rPr lang="de-DE" dirty="0" err="1"/>
              <a:t>Algorithmen</a:t>
            </a:r>
            <a:r>
              <a:rPr lang="de-DE" dirty="0"/>
              <a:t> </a:t>
            </a:r>
            <a:r>
              <a:rPr lang="de-DE" dirty="0" err="1"/>
              <a:t>anwenden</a:t>
            </a:r>
            <a:r>
              <a:rPr lang="de-DE" dirty="0"/>
              <a:t>.</a:t>
            </a:r>
          </a:p>
          <a:p>
            <a:pPr marL="144000" lvl="0" indent="-144000">
              <a:buFont typeface="Symbol" panose="05050102010706020507" pitchFamily="18" charset="2"/>
              <a:buChar char="-"/>
            </a:pPr>
            <a:r>
              <a:rPr lang="de-DE" dirty="0"/>
              <a:t>Observer-Pattern für </a:t>
            </a:r>
            <a:r>
              <a:rPr lang="de-DE" dirty="0" err="1"/>
              <a:t>ereignisgesteuerte</a:t>
            </a:r>
            <a:r>
              <a:rPr lang="de-DE" dirty="0"/>
              <a:t> Systeme </a:t>
            </a:r>
            <a:r>
              <a:rPr lang="de-DE" dirty="0" err="1"/>
              <a:t>nutzen</a:t>
            </a:r>
            <a:r>
              <a:rPr lang="de-DE" dirty="0"/>
              <a:t>.</a:t>
            </a:r>
          </a:p>
          <a:p>
            <a:pPr marL="144000" lvl="0" indent="-144000">
              <a:buFont typeface="Symbol" panose="05050102010706020507" pitchFamily="18" charset="2"/>
              <a:buChar char="-"/>
            </a:pPr>
            <a:r>
              <a:rPr lang="de-DE" dirty="0"/>
              <a:t>State-Pattern </a:t>
            </a:r>
            <a:r>
              <a:rPr lang="de-DE" dirty="0" err="1"/>
              <a:t>zur</a:t>
            </a:r>
            <a:r>
              <a:rPr lang="de-DE" dirty="0"/>
              <a:t> Abbildung </a:t>
            </a:r>
            <a:r>
              <a:rPr lang="de-DE" dirty="0" err="1"/>
              <a:t>komplexer</a:t>
            </a:r>
            <a:r>
              <a:rPr lang="de-DE" dirty="0"/>
              <a:t> Workflows </a:t>
            </a:r>
            <a:r>
              <a:rPr lang="de-DE" dirty="0" err="1"/>
              <a:t>implementieren</a:t>
            </a:r>
            <a:r>
              <a:rPr lang="de-DE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Was sind Verhaltensmuster?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976" y="1103179"/>
            <a:ext cx="5601094" cy="360331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Während Strukturmuster beschreiben, </a:t>
            </a:r>
            <a:br>
              <a:rPr lang="de-DE" dirty="0"/>
            </a:br>
            <a:br>
              <a:rPr lang="de-DE" dirty="0"/>
            </a:br>
            <a:r>
              <a:rPr lang="de-DE" i="1" dirty="0"/>
              <a:t>wie</a:t>
            </a:r>
            <a:r>
              <a:rPr lang="de-DE" dirty="0"/>
              <a:t> Objekte zusammengebaut werden,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definieren Verhaltensmuster, </a:t>
            </a:r>
            <a:br>
              <a:rPr lang="de-DE" dirty="0"/>
            </a:br>
            <a:br>
              <a:rPr lang="de-DE" dirty="0"/>
            </a:br>
            <a:r>
              <a:rPr lang="de-DE" i="1" dirty="0"/>
              <a:t>wie Objekte miteinander kommunizieren</a:t>
            </a:r>
            <a:r>
              <a:rPr lang="de-DE" dirty="0"/>
              <a:t> und wie Aufgaben zwischen ihnen verteilt werden. </a:t>
            </a:r>
          </a:p>
          <a:p>
            <a:pPr marL="0" indent="0">
              <a:buNone/>
            </a:pPr>
            <a:r>
              <a:rPr lang="de-DE" dirty="0"/>
              <a:t>Sie helfen uns, komplexe Kontrollflüsse übersichtlich und entkoppelt zu gestalten.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Bedeutung</a:t>
            </a:r>
            <a:r>
              <a:rPr dirty="0"/>
              <a:t> für die </a:t>
            </a:r>
            <a:r>
              <a:rPr dirty="0" err="1"/>
              <a:t>öffentliche</a:t>
            </a:r>
            <a:r>
              <a:rPr dirty="0"/>
              <a:t> Verwaltung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Verwaltungsprozesse sind hochgradig regelbasiert und zustandsbehaftet.</a:t>
            </a:r>
          </a:p>
          <a:p>
            <a:pPr lvl="0"/>
            <a:r>
              <a:rPr b="1"/>
              <a:t>Regeln ändern sich:</a:t>
            </a:r>
            <a:r>
              <a:t> Gebührensatzungen oder Gesetze werden modifiziert.</a:t>
            </a:r>
          </a:p>
          <a:p>
            <a:pPr lvl="0"/>
            <a:r>
              <a:rPr b="1"/>
              <a:t>Ereignisse passieren:</a:t>
            </a:r>
            <a:r>
              <a:t> Ein Antragsteller muss benachrichtigt werden, wenn ein Dokument fehlt.</a:t>
            </a:r>
          </a:p>
          <a:p>
            <a:pPr lvl="0"/>
            <a:r>
              <a:rPr b="1"/>
              <a:t>Zustände wechseln:</a:t>
            </a:r>
            <a:r>
              <a:t> Ein Bauantrag durchläuft Stufen von “Eingereicht” bis “Genehmigt”.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Fokus dieser Woche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Wir konzentrieren uns auf drei essenzielle Muster:</a:t>
            </a:r>
          </a:p>
          <a:p>
            <a:pPr marL="257175" indent="-257175">
              <a:buAutoNum type="arabicPeriod"/>
            </a:pPr>
            <a:r>
              <a:rPr b="1"/>
              <a:t>Strategy:</a:t>
            </a:r>
            <a:r>
              <a:t> Algorithmen austauschen (z.B. Steuerberechnungen).</a:t>
            </a:r>
          </a:p>
          <a:p>
            <a:pPr marL="257175" indent="-257175">
              <a:buAutoNum type="arabicPeriod"/>
            </a:pPr>
            <a:r>
              <a:rPr b="1"/>
              <a:t>Observer:</a:t>
            </a:r>
            <a:r>
              <a:t> Systeme entkoppelt informieren (z.B. Status-Emails).</a:t>
            </a:r>
          </a:p>
          <a:p>
            <a:pPr marL="257175" indent="-257175">
              <a:buAutoNum type="arabicPeriod"/>
            </a:pPr>
            <a:r>
              <a:rPr b="1"/>
              <a:t>State:</a:t>
            </a:r>
            <a:r>
              <a:t> Komplexe Workflows steuern (z.B. Antragsprozesse).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/>
              <a:t>Teil 2: Das Strategy Pattern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358CAC-CD13-C61F-A06E-80B1D70E6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Einführung: Strategy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034" y="1103179"/>
            <a:ext cx="5605036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Das Strategy-Pattern </a:t>
            </a:r>
            <a:r>
              <a:rPr dirty="0" err="1"/>
              <a:t>definiert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Familie</a:t>
            </a:r>
            <a:r>
              <a:rPr dirty="0"/>
              <a:t> von </a:t>
            </a:r>
            <a:r>
              <a:rPr dirty="0" err="1"/>
              <a:t>Algorithmen</a:t>
            </a:r>
            <a:r>
              <a:rPr dirty="0"/>
              <a:t>, </a:t>
            </a:r>
            <a:r>
              <a:rPr dirty="0" err="1"/>
              <a:t>kapselt</a:t>
            </a:r>
            <a:r>
              <a:rPr dirty="0"/>
              <a:t> </a:t>
            </a:r>
            <a:r>
              <a:rPr dirty="0" err="1"/>
              <a:t>jeden</a:t>
            </a:r>
            <a:r>
              <a:rPr dirty="0"/>
              <a:t> </a:t>
            </a:r>
            <a:r>
              <a:rPr dirty="0" err="1"/>
              <a:t>einzelnen</a:t>
            </a:r>
            <a:r>
              <a:rPr dirty="0"/>
              <a:t> in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eigenen</a:t>
            </a:r>
            <a:r>
              <a:rPr dirty="0"/>
              <a:t> Klasse und </a:t>
            </a:r>
            <a:r>
              <a:rPr dirty="0" err="1"/>
              <a:t>macht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untereinander</a:t>
            </a:r>
            <a:r>
              <a:rPr dirty="0"/>
              <a:t> </a:t>
            </a:r>
            <a:r>
              <a:rPr dirty="0" err="1"/>
              <a:t>austauschbar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 err="1"/>
              <a:t>Dadurch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der </a:t>
            </a:r>
            <a:r>
              <a:rPr dirty="0" err="1"/>
              <a:t>Algorithmus</a:t>
            </a:r>
            <a:r>
              <a:rPr dirty="0"/>
              <a:t> </a:t>
            </a:r>
            <a:r>
              <a:rPr dirty="0" err="1"/>
              <a:t>unabhängig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Klienten</a:t>
            </a:r>
            <a:r>
              <a:rPr dirty="0"/>
              <a:t> </a:t>
            </a:r>
            <a:r>
              <a:rPr dirty="0" err="1"/>
              <a:t>verändert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Problem: Endlose If-Else-Ketten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Stellen</a:t>
            </a:r>
            <a:r>
              <a:rPr dirty="0"/>
              <a:t> Sie </a:t>
            </a:r>
            <a:r>
              <a:rPr dirty="0" err="1"/>
              <a:t>sich</a:t>
            </a:r>
            <a:r>
              <a:rPr dirty="0"/>
              <a:t> Code </a:t>
            </a:r>
            <a:r>
              <a:rPr dirty="0" err="1"/>
              <a:t>vor</a:t>
            </a:r>
            <a:r>
              <a:rPr dirty="0"/>
              <a:t>, der je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Kommune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Gebühr</a:t>
            </a:r>
            <a:r>
              <a:rPr dirty="0"/>
              <a:t> </a:t>
            </a:r>
            <a:r>
              <a:rPr dirty="0" err="1"/>
              <a:t>berechnet</a:t>
            </a:r>
            <a:r>
              <a:rPr dirty="0"/>
              <a:t>:</a:t>
            </a:r>
          </a:p>
          <a:p>
            <a:pPr indent="0">
              <a:buNone/>
            </a:pPr>
            <a:r>
              <a:rPr sz="1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stadt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"Berlin"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berechneBerlinGebuehr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();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stadt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"Muenchen"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berechneMuenchenGebuehr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();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stadt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"Hamburg"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...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indent="0">
              <a:buNone/>
            </a:pPr>
            <a:r>
              <a:rPr dirty="0"/>
              <a:t>Dieser Code </a:t>
            </a:r>
            <a:r>
              <a:rPr dirty="0" err="1"/>
              <a:t>verstößt</a:t>
            </a:r>
            <a:r>
              <a:rPr dirty="0"/>
              <a:t> </a:t>
            </a:r>
            <a:r>
              <a:rPr dirty="0" err="1"/>
              <a:t>gegen</a:t>
            </a:r>
            <a:r>
              <a:rPr dirty="0"/>
              <a:t> das </a:t>
            </a:r>
            <a:r>
              <a:rPr b="1" dirty="0"/>
              <a:t>Open-Closed-</a:t>
            </a:r>
            <a:r>
              <a:rPr b="1" dirty="0" err="1"/>
              <a:t>Prinzip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Bei </a:t>
            </a:r>
            <a:r>
              <a:rPr dirty="0" err="1"/>
              <a:t>jeder</a:t>
            </a:r>
            <a:r>
              <a:rPr dirty="0"/>
              <a:t> </a:t>
            </a:r>
            <a:r>
              <a:rPr dirty="0" err="1"/>
              <a:t>neuen</a:t>
            </a:r>
            <a:r>
              <a:rPr dirty="0"/>
              <a:t> Stadt muss die </a:t>
            </a:r>
            <a:r>
              <a:rPr dirty="0" err="1"/>
              <a:t>zentrale</a:t>
            </a:r>
            <a:r>
              <a:rPr dirty="0"/>
              <a:t> </a:t>
            </a:r>
            <a:r>
              <a:rPr dirty="0" err="1"/>
              <a:t>Berechnungs</a:t>
            </a:r>
            <a:r>
              <a:rPr dirty="0"/>
              <a:t>-Klasse </a:t>
            </a:r>
            <a:r>
              <a:rPr dirty="0" err="1"/>
              <a:t>modifiziert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Anwendung</a:t>
            </a:r>
            <a:r>
              <a:rPr dirty="0"/>
              <a:t>: </a:t>
            </a:r>
            <a:br>
              <a:rPr lang="de-DE" dirty="0"/>
            </a:br>
            <a:r>
              <a:rPr dirty="0"/>
              <a:t>Flexible </a:t>
            </a:r>
            <a:r>
              <a:rPr dirty="0" err="1"/>
              <a:t>Gebührenberechnung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landesweiten</a:t>
            </a:r>
            <a:r>
              <a:rPr dirty="0"/>
              <a:t> System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Berechnung</a:t>
            </a:r>
            <a:r>
              <a:rPr dirty="0"/>
              <a:t> von </a:t>
            </a:r>
            <a:r>
              <a:rPr dirty="0" err="1"/>
              <a:t>Hundesteuern</a:t>
            </a:r>
            <a:r>
              <a:rPr dirty="0"/>
              <a:t> hat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Kommune</a:t>
            </a:r>
            <a:r>
              <a:rPr dirty="0"/>
              <a:t>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eigene</a:t>
            </a:r>
            <a:r>
              <a:rPr dirty="0"/>
              <a:t> </a:t>
            </a:r>
            <a:r>
              <a:rPr dirty="0" err="1"/>
              <a:t>Satzung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lagern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spezifische</a:t>
            </a:r>
            <a:r>
              <a:rPr dirty="0"/>
              <a:t> Logik in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Strategie</a:t>
            </a:r>
            <a:r>
              <a:rPr dirty="0"/>
              <a:t>-Klassen </a:t>
            </a:r>
            <a:r>
              <a:rPr dirty="0" err="1"/>
              <a:t>aus</a:t>
            </a:r>
            <a:r>
              <a:rPr dirty="0"/>
              <a:t>, die alle </a:t>
            </a:r>
            <a:r>
              <a:rPr dirty="0" err="1"/>
              <a:t>dasselbe</a:t>
            </a:r>
            <a:r>
              <a:rPr dirty="0"/>
              <a:t> Interface </a:t>
            </a:r>
            <a:r>
              <a:rPr dirty="0" err="1"/>
              <a:t>bedienen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Strategy: Das Interface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definieren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gemeinsamen</a:t>
            </a:r>
            <a:r>
              <a:rPr dirty="0"/>
              <a:t> “</a:t>
            </a:r>
            <a:r>
              <a:rPr dirty="0" err="1"/>
              <a:t>Vertrag</a:t>
            </a:r>
            <a:r>
              <a:rPr dirty="0"/>
              <a:t>” für alle </a:t>
            </a:r>
            <a:r>
              <a:rPr dirty="0" err="1"/>
              <a:t>Satzungen</a:t>
            </a:r>
            <a:r>
              <a:rPr dirty="0"/>
              <a:t>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Das Interface für alle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Strategien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interface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IGebuehrenStrategie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Berechne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basisBetrag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indent="0">
              <a:buNone/>
            </a:pPr>
            <a:r>
              <a:rPr dirty="0"/>
              <a:t>Egal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komplex</a:t>
            </a:r>
            <a:r>
              <a:rPr dirty="0"/>
              <a:t> die interne </a:t>
            </a:r>
            <a:r>
              <a:rPr dirty="0" err="1"/>
              <a:t>Berechnung</a:t>
            </a:r>
            <a:r>
              <a:rPr dirty="0"/>
              <a:t> </a:t>
            </a:r>
            <a:r>
              <a:rPr dirty="0" err="1"/>
              <a:t>einer</a:t>
            </a:r>
            <a:r>
              <a:rPr dirty="0"/>
              <a:t> Stadt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außen</a:t>
            </a:r>
            <a:r>
              <a:rPr dirty="0"/>
              <a:t>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das End</a:t>
            </a:r>
            <a:r>
              <a:rPr lang="de-DE" dirty="0"/>
              <a:t>e</a:t>
            </a:r>
            <a:r>
              <a:rPr dirty="0" err="1"/>
              <a:t>rgebnis</a:t>
            </a:r>
            <a:r>
              <a:rPr dirty="0"/>
              <a:t> </a:t>
            </a:r>
            <a:r>
              <a:rPr dirty="0" err="1"/>
              <a:t>zurück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Strategy: Konkrete Strategien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17" y="1103179"/>
            <a:ext cx="5597153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Kommune</a:t>
            </a:r>
            <a:r>
              <a:rPr dirty="0"/>
              <a:t> </a:t>
            </a:r>
            <a:r>
              <a:rPr dirty="0" err="1"/>
              <a:t>bekommt</a:t>
            </a:r>
            <a:r>
              <a:rPr dirty="0"/>
              <a:t>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eigene</a:t>
            </a:r>
            <a:r>
              <a:rPr dirty="0"/>
              <a:t> Klasse.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Konkrete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Strategie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(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Satzung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Berlin)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SatzungBerlin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: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IGebuehrenStrategie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Berechne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200" dirty="0">
                <a:latin typeface="Courier"/>
              </a:rPr>
              <a:t> basis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basis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*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A070"/>
                </a:solidFill>
                <a:latin typeface="Courier"/>
              </a:rPr>
              <a:t>1.05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sz="1200" dirty="0">
                <a:latin typeface="Courier"/>
              </a:rPr>
              <a:t>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5%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Verwaltungskostenzuschlag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endParaRPr lang="de-DE" sz="1200" dirty="0">
              <a:solidFill>
                <a:srgbClr val="666666"/>
              </a:solidFill>
              <a:latin typeface="Courier"/>
            </a:endParaRPr>
          </a:p>
          <a:p>
            <a:pPr indent="0">
              <a:buNone/>
            </a:pPr>
            <a:r>
              <a:rPr lang="de-DE" sz="1200" i="1" dirty="0">
                <a:solidFill>
                  <a:srgbClr val="60A0B0"/>
                </a:solidFill>
                <a:latin typeface="Courier"/>
              </a:rPr>
              <a:t>// Konkrete Strategie (Satzung München)</a:t>
            </a:r>
            <a:br>
              <a:rPr lang="de-DE" sz="1200" dirty="0"/>
            </a:br>
            <a:r>
              <a:rPr lang="de-DE" sz="1200" b="1" dirty="0" err="1">
                <a:solidFill>
                  <a:srgbClr val="007020"/>
                </a:solidFill>
                <a:latin typeface="Courier"/>
              </a:rPr>
              <a:t>public</a:t>
            </a:r>
            <a:r>
              <a:rPr lang="de-DE" sz="1200" dirty="0">
                <a:latin typeface="Courier"/>
              </a:rPr>
              <a:t> </a:t>
            </a:r>
            <a:r>
              <a:rPr lang="de-DE" sz="1200" b="1" dirty="0" err="1">
                <a:solidFill>
                  <a:srgbClr val="007020"/>
                </a:solidFill>
                <a:latin typeface="Courier"/>
              </a:rPr>
              <a:t>class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 err="1">
                <a:latin typeface="Courier"/>
              </a:rPr>
              <a:t>SatzungMuenchen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urier"/>
              </a:rPr>
              <a:t>: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 err="1">
                <a:latin typeface="Courier"/>
              </a:rPr>
              <a:t>IGebuehrenStrategie</a:t>
            </a:r>
            <a:br>
              <a:rPr lang="de-DE" sz="1200" dirty="0"/>
            </a:br>
            <a:r>
              <a:rPr lang="de-DE"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de-DE" sz="1200" dirty="0"/>
            </a:br>
            <a:r>
              <a:rPr lang="de-DE" sz="1200" dirty="0">
                <a:latin typeface="Courier"/>
              </a:rPr>
              <a:t>    </a:t>
            </a:r>
            <a:r>
              <a:rPr lang="de-DE" sz="1200" b="1" dirty="0" err="1">
                <a:solidFill>
                  <a:srgbClr val="007020"/>
                </a:solidFill>
                <a:latin typeface="Courier"/>
              </a:rPr>
              <a:t>public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>
                <a:solidFill>
                  <a:srgbClr val="902000"/>
                </a:solidFill>
                <a:latin typeface="Courier"/>
              </a:rPr>
              <a:t>double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>
                <a:solidFill>
                  <a:srgbClr val="06287E"/>
                </a:solidFill>
                <a:latin typeface="Courier"/>
              </a:rPr>
              <a:t>Berechne</a:t>
            </a:r>
            <a:r>
              <a:rPr lang="de-DE"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de-DE" sz="1200" dirty="0">
                <a:solidFill>
                  <a:srgbClr val="902000"/>
                </a:solidFill>
                <a:latin typeface="Courier"/>
              </a:rPr>
              <a:t>double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 err="1">
                <a:latin typeface="Courier"/>
              </a:rPr>
              <a:t>basis</a:t>
            </a:r>
            <a:r>
              <a:rPr lang="de-DE"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lang="de-DE" sz="1200" dirty="0">
                <a:latin typeface="Courier"/>
              </a:rPr>
              <a:t> </a:t>
            </a:r>
            <a:br>
              <a:rPr lang="de-DE" sz="1200" dirty="0"/>
            </a:br>
            <a:r>
              <a:rPr lang="de-DE" sz="1200" dirty="0">
                <a:latin typeface="Courier"/>
              </a:rPr>
              <a:t>        </a:t>
            </a:r>
            <a:r>
              <a:rPr lang="de-DE"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 err="1">
                <a:latin typeface="Courier"/>
              </a:rPr>
              <a:t>basis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de-DE" sz="1200" dirty="0">
                <a:latin typeface="Courier"/>
              </a:rPr>
              <a:t> </a:t>
            </a:r>
            <a:r>
              <a:rPr lang="de-DE" sz="1200" dirty="0">
                <a:solidFill>
                  <a:srgbClr val="40A070"/>
                </a:solidFill>
                <a:latin typeface="Courier"/>
              </a:rPr>
              <a:t>15.00</a:t>
            </a:r>
            <a:r>
              <a:rPr lang="de-DE"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lang="de-DE" sz="1200" dirty="0">
                <a:latin typeface="Courier"/>
              </a:rPr>
              <a:t> </a:t>
            </a:r>
            <a:r>
              <a:rPr lang="de-DE" sz="1200" i="1" dirty="0">
                <a:solidFill>
                  <a:srgbClr val="60A0B0"/>
                </a:solidFill>
                <a:latin typeface="Courier"/>
              </a:rPr>
              <a:t>// Pauschalgebühr</a:t>
            </a:r>
            <a:br>
              <a:rPr lang="de-DE" sz="1200" dirty="0"/>
            </a:br>
            <a:r>
              <a:rPr lang="de-DE" sz="12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indent="0">
              <a:buNone/>
            </a:pPr>
            <a:endParaRPr sz="1200" dirty="0">
              <a:solidFill>
                <a:srgbClr val="666666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Strategy: Der Kontext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083126" cy="36033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Die Kern-</a:t>
            </a:r>
            <a:r>
              <a:rPr dirty="0" err="1"/>
              <a:t>Anwendung</a:t>
            </a:r>
            <a:r>
              <a:rPr dirty="0"/>
              <a:t> (</a:t>
            </a:r>
            <a:r>
              <a:rPr dirty="0" err="1">
                <a:latin typeface="Courier"/>
              </a:rPr>
              <a:t>GebuehrenRechner</a:t>
            </a:r>
            <a:r>
              <a:rPr dirty="0"/>
              <a:t>) </a:t>
            </a:r>
            <a:r>
              <a:rPr dirty="0" err="1"/>
              <a:t>kennt</a:t>
            </a:r>
            <a:r>
              <a:rPr dirty="0"/>
              <a:t> die </a:t>
            </a:r>
            <a:r>
              <a:rPr dirty="0" err="1"/>
              <a:t>genauen</a:t>
            </a:r>
            <a:r>
              <a:rPr dirty="0"/>
              <a:t> </a:t>
            </a:r>
            <a:r>
              <a:rPr dirty="0" err="1"/>
              <a:t>Formeln</a:t>
            </a:r>
            <a:r>
              <a:rPr dirty="0"/>
              <a:t> gar nicht.</a:t>
            </a:r>
          </a:p>
          <a:p>
            <a:pPr indent="0">
              <a:buNone/>
            </a:pPr>
            <a:r>
              <a:rPr sz="1300" i="1" dirty="0">
                <a:solidFill>
                  <a:srgbClr val="60A0B0"/>
                </a:solidFill>
                <a:latin typeface="Courier"/>
              </a:rPr>
              <a:t>// Der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Kontext</a:t>
            </a:r>
            <a:br>
              <a:rPr sz="1300" dirty="0"/>
            </a:br>
            <a:r>
              <a:rPr sz="13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300" dirty="0">
                <a:latin typeface="Courier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GebuehrenRechner</a:t>
            </a:r>
            <a:br>
              <a:rPr sz="1300" dirty="0"/>
            </a:br>
            <a:r>
              <a:rPr sz="13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IGebuehrenStrategie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strategie</a:t>
            </a:r>
            <a:r>
              <a:rPr sz="13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300" dirty="0"/>
            </a:b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Strategie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kann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zur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Laufzeit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getauscht</a:t>
            </a:r>
            <a:r>
              <a:rPr sz="13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300" i="1" dirty="0" err="1">
                <a:solidFill>
                  <a:srgbClr val="60A0B0"/>
                </a:solidFill>
                <a:latin typeface="Courier"/>
              </a:rPr>
              <a:t>werden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300" dirty="0">
                <a:latin typeface="Courier"/>
              </a:rPr>
              <a:t>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solidFill>
                  <a:srgbClr val="06287E"/>
                </a:solidFill>
                <a:latin typeface="Courier"/>
              </a:rPr>
              <a:t>SetStrategie</a:t>
            </a:r>
            <a:r>
              <a:rPr sz="1300" dirty="0">
                <a:solidFill>
                  <a:srgbClr val="666666"/>
                </a:solidFill>
                <a:latin typeface="Courier"/>
              </a:rPr>
              <a:t>(</a:t>
            </a:r>
            <a:r>
              <a:rPr sz="1300" dirty="0" err="1">
                <a:latin typeface="Courier"/>
              </a:rPr>
              <a:t>IGebuehrenStrategie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strategie</a:t>
            </a:r>
            <a:r>
              <a:rPr sz="1300" dirty="0">
                <a:solidFill>
                  <a:srgbClr val="666666"/>
                </a:solidFill>
                <a:latin typeface="Courier"/>
              </a:rPr>
              <a:t>)</a:t>
            </a:r>
            <a:r>
              <a:rPr sz="1300" dirty="0">
                <a:latin typeface="Courier"/>
              </a:rPr>
              <a:t> </a:t>
            </a:r>
            <a:br>
              <a:rPr lang="de-DE" sz="1300" dirty="0">
                <a:latin typeface="Courier"/>
              </a:rPr>
            </a:br>
            <a:r>
              <a:rPr lang="de-DE" sz="1300" dirty="0">
                <a:latin typeface="Courier"/>
              </a:rPr>
              <a:t>    </a:t>
            </a:r>
            <a:r>
              <a:rPr lang="de-DE" sz="13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300" dirty="0"/>
            </a:br>
            <a:r>
              <a:rPr sz="1300" dirty="0">
                <a:latin typeface="Courier"/>
              </a:rPr>
              <a:t>        </a:t>
            </a:r>
            <a:r>
              <a:rPr lang="de-DE" sz="1300" dirty="0" err="1">
                <a:latin typeface="Courier"/>
              </a:rPr>
              <a:t>this</a:t>
            </a:r>
            <a:r>
              <a:rPr lang="de-DE" sz="1300" dirty="0">
                <a:latin typeface="Courier"/>
              </a:rPr>
              <a:t>.</a:t>
            </a:r>
            <a:r>
              <a:rPr sz="1300" dirty="0" err="1">
                <a:latin typeface="Courier"/>
              </a:rPr>
              <a:t>strategie</a:t>
            </a:r>
            <a:r>
              <a:rPr sz="1300" dirty="0">
                <a:latin typeface="Courier"/>
              </a:rPr>
              <a:t> </a:t>
            </a:r>
            <a:r>
              <a:rPr sz="1300" dirty="0">
                <a:solidFill>
                  <a:srgbClr val="666666"/>
                </a:solidFill>
                <a:latin typeface="Courier"/>
              </a:rPr>
              <a:t>=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strategie</a:t>
            </a:r>
            <a:r>
              <a:rPr sz="13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300" dirty="0"/>
            </a:br>
            <a:r>
              <a:rPr lang="de-DE" sz="1300" dirty="0"/>
              <a:t>           </a:t>
            </a:r>
            <a:r>
              <a:rPr lang="de-DE" sz="13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de-DE" sz="1300" dirty="0">
                <a:solidFill>
                  <a:srgbClr val="666666"/>
                </a:solidFill>
                <a:latin typeface="Courier"/>
              </a:rPr>
            </a:b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300" dirty="0">
                <a:latin typeface="Courier"/>
              </a:rPr>
              <a:t> 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solidFill>
                  <a:srgbClr val="06287E"/>
                </a:solidFill>
                <a:latin typeface="Courier"/>
              </a:rPr>
              <a:t>BerechneEndbetrag</a:t>
            </a:r>
            <a:r>
              <a:rPr sz="1300" dirty="0">
                <a:solidFill>
                  <a:srgbClr val="666666"/>
                </a:solidFill>
                <a:latin typeface="Courier"/>
              </a:rPr>
              <a:t>(</a:t>
            </a:r>
            <a:r>
              <a:rPr sz="1300" dirty="0">
                <a:solidFill>
                  <a:srgbClr val="902000"/>
                </a:solidFill>
                <a:latin typeface="Courier"/>
              </a:rPr>
              <a:t>double</a:t>
            </a:r>
            <a:r>
              <a:rPr sz="1300" dirty="0">
                <a:latin typeface="Courier"/>
              </a:rPr>
              <a:t> basis</a:t>
            </a:r>
            <a:r>
              <a:rPr sz="1300" dirty="0">
                <a:solidFill>
                  <a:srgbClr val="666666"/>
                </a:solidFill>
                <a:latin typeface="Courier"/>
              </a:rPr>
              <a:t>)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300" dirty="0"/>
            </a:br>
            <a:r>
              <a:rPr sz="1300" dirty="0">
                <a:latin typeface="Courier"/>
              </a:rPr>
              <a:t>    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300" dirty="0">
                <a:latin typeface="Courier"/>
              </a:rPr>
              <a:t> </a:t>
            </a:r>
            <a:r>
              <a:rPr sz="1300" dirty="0">
                <a:solidFill>
                  <a:srgbClr val="666666"/>
                </a:solidFill>
                <a:latin typeface="Courier"/>
              </a:rPr>
              <a:t>(</a:t>
            </a:r>
            <a:r>
              <a:rPr sz="1300" dirty="0" err="1">
                <a:latin typeface="Courier"/>
              </a:rPr>
              <a:t>strategie</a:t>
            </a:r>
            <a:r>
              <a:rPr sz="1300" dirty="0">
                <a:latin typeface="Courier"/>
              </a:rPr>
              <a:t> </a:t>
            </a:r>
            <a:r>
              <a:rPr sz="13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300" dirty="0">
                <a:latin typeface="Courier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sz="1300" dirty="0">
                <a:solidFill>
                  <a:srgbClr val="666666"/>
                </a:solidFill>
                <a:latin typeface="Courier"/>
              </a:rPr>
              <a:t>)</a:t>
            </a:r>
            <a:r>
              <a:rPr sz="1300" dirty="0">
                <a:latin typeface="Courier"/>
              </a:rPr>
              <a:t> </a:t>
            </a:r>
            <a:br>
              <a:rPr sz="1300" dirty="0"/>
            </a:br>
            <a:r>
              <a:rPr sz="1300" dirty="0">
                <a:latin typeface="Courier"/>
              </a:rPr>
              <a:t>        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throw</a:t>
            </a:r>
            <a:r>
              <a:rPr sz="1300" dirty="0">
                <a:latin typeface="Courier"/>
              </a:rPr>
              <a:t>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solidFill>
                  <a:srgbClr val="06287E"/>
                </a:solidFill>
                <a:latin typeface="Courier"/>
              </a:rPr>
              <a:t>InvalidOperationException</a:t>
            </a:r>
            <a:r>
              <a:rPr sz="1300" dirty="0">
                <a:solidFill>
                  <a:srgbClr val="666666"/>
                </a:solidFill>
                <a:latin typeface="Courier"/>
              </a:rPr>
              <a:t>(</a:t>
            </a:r>
            <a:br>
              <a:rPr lang="de-DE" sz="1300" dirty="0">
                <a:solidFill>
                  <a:srgbClr val="666666"/>
                </a:solidFill>
                <a:latin typeface="Courier"/>
              </a:rPr>
            </a:br>
            <a:r>
              <a:rPr lang="de-DE" sz="1300" dirty="0">
                <a:solidFill>
                  <a:srgbClr val="666666"/>
                </a:solidFill>
                <a:latin typeface="Courier"/>
              </a:rPr>
              <a:t>                                      </a:t>
            </a:r>
            <a:r>
              <a:rPr sz="1300" dirty="0">
                <a:solidFill>
                  <a:srgbClr val="4070A0"/>
                </a:solidFill>
                <a:latin typeface="Courier"/>
              </a:rPr>
              <a:t>"Keine </a:t>
            </a:r>
            <a:r>
              <a:rPr sz="1300" dirty="0" err="1">
                <a:solidFill>
                  <a:srgbClr val="4070A0"/>
                </a:solidFill>
                <a:latin typeface="Courier"/>
              </a:rPr>
              <a:t>Satzung</a:t>
            </a:r>
            <a:r>
              <a:rPr sz="1300" dirty="0">
                <a:solidFill>
                  <a:srgbClr val="4070A0"/>
                </a:solidFill>
                <a:latin typeface="Courier"/>
              </a:rPr>
              <a:t> </a:t>
            </a:r>
            <a:r>
              <a:rPr sz="1300" dirty="0" err="1">
                <a:solidFill>
                  <a:srgbClr val="4070A0"/>
                </a:solidFill>
                <a:latin typeface="Courier"/>
              </a:rPr>
              <a:t>gewählt</a:t>
            </a:r>
            <a:r>
              <a:rPr sz="1300" dirty="0">
                <a:solidFill>
                  <a:srgbClr val="4070A0"/>
                </a:solidFill>
                <a:latin typeface="Courier"/>
              </a:rPr>
              <a:t>!"</a:t>
            </a:r>
            <a:r>
              <a:rPr sz="13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300" dirty="0"/>
            </a:br>
            <a:r>
              <a:rPr sz="1300" dirty="0">
                <a:latin typeface="Courier"/>
              </a:rPr>
              <a:t>            </a:t>
            </a:r>
            <a:br>
              <a:rPr sz="1300" dirty="0"/>
            </a:br>
            <a:r>
              <a:rPr sz="1300" dirty="0">
                <a:latin typeface="Courier"/>
              </a:rPr>
              <a:t>        </a:t>
            </a:r>
            <a:r>
              <a:rPr sz="13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300" dirty="0">
                <a:latin typeface="Courier"/>
              </a:rPr>
              <a:t> </a:t>
            </a:r>
            <a:r>
              <a:rPr sz="1300" dirty="0" err="1">
                <a:latin typeface="Courier"/>
              </a:rPr>
              <a:t>strategie</a:t>
            </a:r>
            <a:r>
              <a:rPr sz="13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300" dirty="0" err="1">
                <a:solidFill>
                  <a:srgbClr val="06287E"/>
                </a:solidFill>
                <a:latin typeface="Courier"/>
              </a:rPr>
              <a:t>Berechne</a:t>
            </a:r>
            <a:r>
              <a:rPr sz="1300" dirty="0">
                <a:solidFill>
                  <a:srgbClr val="666666"/>
                </a:solidFill>
                <a:latin typeface="Courier"/>
              </a:rPr>
              <a:t>(</a:t>
            </a:r>
            <a:r>
              <a:rPr sz="1300" dirty="0">
                <a:latin typeface="Courier"/>
              </a:rPr>
              <a:t>basis</a:t>
            </a:r>
            <a:r>
              <a:rPr sz="13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300" dirty="0"/>
            </a:br>
            <a:r>
              <a:rPr sz="1300" dirty="0">
                <a:latin typeface="Courier"/>
              </a:rPr>
              <a:t>    </a:t>
            </a:r>
            <a:r>
              <a:rPr sz="13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300" dirty="0"/>
            </a:br>
            <a:r>
              <a:rPr sz="13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Vorteile des Strategy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976" y="1103179"/>
            <a:ext cx="5601094" cy="3603318"/>
          </a:xfrm>
        </p:spPr>
        <p:txBody>
          <a:bodyPr/>
          <a:lstStyle/>
          <a:p>
            <a:pPr lvl="0"/>
            <a:r>
              <a:rPr b="1" dirty="0"/>
              <a:t>Extreme </a:t>
            </a:r>
            <a:r>
              <a:rPr b="1" dirty="0" err="1"/>
              <a:t>Flexibilität</a:t>
            </a:r>
            <a:r>
              <a:rPr b="1" dirty="0"/>
              <a:t>:</a:t>
            </a:r>
            <a:r>
              <a:rPr dirty="0"/>
              <a:t> Sie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Laufzeit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basierend</a:t>
            </a:r>
            <a:r>
              <a:rPr dirty="0"/>
              <a:t> auf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Benutzereingabe</a:t>
            </a:r>
            <a:r>
              <a:rPr dirty="0"/>
              <a:t>) das </a:t>
            </a:r>
            <a:r>
              <a:rPr dirty="0" err="1"/>
              <a:t>Verhalten</a:t>
            </a:r>
            <a:r>
              <a:rPr dirty="0"/>
              <a:t> des </a:t>
            </a:r>
            <a:r>
              <a:rPr dirty="0" err="1"/>
              <a:t>Programms</a:t>
            </a:r>
            <a:r>
              <a:rPr dirty="0"/>
              <a:t> </a:t>
            </a:r>
            <a:r>
              <a:rPr dirty="0" err="1"/>
              <a:t>ändern</a:t>
            </a:r>
            <a:r>
              <a:rPr dirty="0"/>
              <a:t>.</a:t>
            </a:r>
          </a:p>
          <a:p>
            <a:pPr lvl="0"/>
            <a:r>
              <a:rPr b="1" dirty="0"/>
              <a:t>Open-Closed Principle:</a:t>
            </a:r>
            <a:r>
              <a:rPr dirty="0"/>
              <a:t> Um Leipzig </a:t>
            </a:r>
            <a:r>
              <a:rPr dirty="0" err="1"/>
              <a:t>hinzuzufügen</a:t>
            </a:r>
            <a:r>
              <a:rPr dirty="0"/>
              <a:t>, </a:t>
            </a:r>
            <a:r>
              <a:rPr dirty="0" err="1"/>
              <a:t>schreiben</a:t>
            </a:r>
            <a:r>
              <a:rPr dirty="0"/>
              <a:t> Sie </a:t>
            </a:r>
            <a:r>
              <a:rPr dirty="0" err="1"/>
              <a:t>einfach</a:t>
            </a:r>
            <a:r>
              <a:rPr dirty="0"/>
              <a:t> die Klasse </a:t>
            </a:r>
            <a:r>
              <a:rPr dirty="0" err="1">
                <a:latin typeface="Courier"/>
              </a:rPr>
              <a:t>SatzungLeipzig</a:t>
            </a:r>
            <a:r>
              <a:rPr dirty="0"/>
              <a:t>. Der Code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>
                <a:latin typeface="Courier"/>
              </a:rPr>
              <a:t>GebuehrenRechner</a:t>
            </a:r>
            <a:r>
              <a:rPr dirty="0"/>
              <a:t>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unangetastet</a:t>
            </a:r>
            <a:r>
              <a:rPr dirty="0"/>
              <a:t>.</a:t>
            </a:r>
          </a:p>
          <a:p>
            <a:pPr lvl="0"/>
            <a:r>
              <a:rPr b="1" dirty="0" err="1"/>
              <a:t>Testbarkeit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Satzung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</a:t>
            </a:r>
            <a:r>
              <a:rPr dirty="0" err="1"/>
              <a:t>unabhängig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kleiner</a:t>
            </a:r>
            <a:r>
              <a:rPr dirty="0"/>
              <a:t> Unit-Test </a:t>
            </a:r>
            <a:r>
              <a:rPr dirty="0" err="1"/>
              <a:t>geprüft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/>
              <a:t>Teil 3: Das Observer Pattern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3D654D-81E3-AEF8-C2FC-DA0F839F6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Einführung: Observer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093" y="1103179"/>
            <a:ext cx="5608977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Das Observer-Pattern (Beobachter-Muster) </a:t>
            </a:r>
            <a:r>
              <a:rPr dirty="0" err="1"/>
              <a:t>definiert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1:n-Abhängigkeit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Objekten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Wenn </a:t>
            </a:r>
            <a:r>
              <a:rPr dirty="0" err="1"/>
              <a:t>sich</a:t>
            </a:r>
            <a:r>
              <a:rPr dirty="0"/>
              <a:t> der </a:t>
            </a:r>
            <a:r>
              <a:rPr dirty="0" err="1"/>
              <a:t>Zustand</a:t>
            </a:r>
            <a:r>
              <a:rPr dirty="0"/>
              <a:t> des “</a:t>
            </a:r>
            <a:r>
              <a:rPr dirty="0" err="1"/>
              <a:t>Subjekts</a:t>
            </a:r>
            <a:r>
              <a:rPr dirty="0"/>
              <a:t>” </a:t>
            </a:r>
            <a:r>
              <a:rPr dirty="0" err="1"/>
              <a:t>ändert</a:t>
            </a:r>
            <a:r>
              <a:rPr dirty="0"/>
              <a:t>, </a:t>
            </a:r>
            <a:r>
              <a:rPr dirty="0" err="1"/>
              <a:t>werden</a:t>
            </a:r>
            <a:r>
              <a:rPr dirty="0"/>
              <a:t> alle </a:t>
            </a:r>
            <a:r>
              <a:rPr dirty="0" err="1"/>
              <a:t>abhängigen</a:t>
            </a:r>
            <a:r>
              <a:rPr dirty="0"/>
              <a:t> “Beobachter” </a:t>
            </a:r>
            <a:r>
              <a:rPr dirty="0" err="1"/>
              <a:t>automatisch</a:t>
            </a:r>
            <a:r>
              <a:rPr dirty="0"/>
              <a:t> </a:t>
            </a:r>
            <a:r>
              <a:rPr dirty="0" err="1"/>
              <a:t>benachrichtigt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Problem: Polling vs. 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Polling (Schlecht):</a:t>
            </a:r>
            <a:r>
              <a:rPr dirty="0"/>
              <a:t> </a:t>
            </a:r>
            <a:endParaRPr lang="de-DE" dirty="0"/>
          </a:p>
          <a:p>
            <a:pPr lvl="0"/>
            <a:r>
              <a:rPr dirty="0"/>
              <a:t>“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Antrag</a:t>
            </a:r>
            <a:r>
              <a:rPr dirty="0"/>
              <a:t> </a:t>
            </a:r>
            <a:r>
              <a:rPr dirty="0" err="1"/>
              <a:t>fertig</a:t>
            </a:r>
            <a:r>
              <a:rPr dirty="0"/>
              <a:t>? Nein. </a:t>
            </a:r>
            <a:r>
              <a:rPr dirty="0" err="1"/>
              <a:t>Ist</a:t>
            </a:r>
            <a:r>
              <a:rPr dirty="0"/>
              <a:t> er </a:t>
            </a:r>
            <a:r>
              <a:rPr dirty="0" err="1"/>
              <a:t>jetzt</a:t>
            </a:r>
            <a:r>
              <a:rPr dirty="0"/>
              <a:t> </a:t>
            </a:r>
            <a:r>
              <a:rPr dirty="0" err="1"/>
              <a:t>fertig</a:t>
            </a:r>
            <a:r>
              <a:rPr dirty="0"/>
              <a:t>? Nein.” </a:t>
            </a:r>
            <a:br>
              <a:rPr lang="de-DE" dirty="0"/>
            </a:br>
            <a:r>
              <a:rPr lang="de-DE" dirty="0"/>
              <a:t>Die ständigen Nachfragen b</a:t>
            </a:r>
            <a:r>
              <a:rPr dirty="0" err="1"/>
              <a:t>elaste</a:t>
            </a:r>
            <a:r>
              <a:rPr lang="de-DE" dirty="0"/>
              <a:t>n</a:t>
            </a:r>
            <a:r>
              <a:rPr dirty="0"/>
              <a:t> das System.</a:t>
            </a:r>
          </a:p>
          <a:p>
            <a:pPr lvl="0"/>
            <a:endParaRPr lang="de-DE" b="1" dirty="0"/>
          </a:p>
          <a:p>
            <a:pPr lvl="0"/>
            <a:r>
              <a:rPr b="1" dirty="0"/>
              <a:t>Push / Observer (Gut):</a:t>
            </a:r>
            <a:r>
              <a:rPr dirty="0"/>
              <a:t> </a:t>
            </a:r>
            <a:endParaRPr lang="de-DE" dirty="0"/>
          </a:p>
          <a:p>
            <a:pPr lvl="0"/>
            <a:r>
              <a:rPr dirty="0"/>
              <a:t>“Sag mir </a:t>
            </a:r>
            <a:r>
              <a:rPr dirty="0" err="1"/>
              <a:t>Bescheid</a:t>
            </a:r>
            <a:r>
              <a:rPr dirty="0"/>
              <a:t>, </a:t>
            </a:r>
            <a:r>
              <a:rPr dirty="0" err="1"/>
              <a:t>sobald</a:t>
            </a:r>
            <a:r>
              <a:rPr dirty="0"/>
              <a:t> der </a:t>
            </a:r>
            <a:r>
              <a:rPr dirty="0" err="1"/>
              <a:t>Antrag</a:t>
            </a:r>
            <a:r>
              <a:rPr dirty="0"/>
              <a:t> </a:t>
            </a:r>
            <a:r>
              <a:rPr dirty="0" err="1"/>
              <a:t>fertig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 Ich </a:t>
            </a:r>
            <a:r>
              <a:rPr dirty="0" err="1"/>
              <a:t>lege</a:t>
            </a:r>
            <a:r>
              <a:rPr dirty="0"/>
              <a:t> </a:t>
            </a:r>
            <a:r>
              <a:rPr dirty="0" err="1"/>
              <a:t>mich</a:t>
            </a:r>
            <a:r>
              <a:rPr dirty="0"/>
              <a:t> </a:t>
            </a:r>
            <a:r>
              <a:rPr dirty="0" err="1"/>
              <a:t>solange</a:t>
            </a:r>
            <a:r>
              <a:rPr dirty="0"/>
              <a:t> </a:t>
            </a:r>
            <a:r>
              <a:rPr dirty="0" err="1"/>
              <a:t>schlafen</a:t>
            </a:r>
            <a:r>
              <a:rPr dirty="0"/>
              <a:t>.” </a:t>
            </a:r>
            <a:br>
              <a:rPr lang="de-DE" dirty="0"/>
            </a:br>
            <a:r>
              <a:rPr dirty="0"/>
              <a:t>Das Observer-Pattern </a:t>
            </a:r>
            <a:r>
              <a:rPr dirty="0" err="1"/>
              <a:t>ermöglicht</a:t>
            </a:r>
            <a:r>
              <a:rPr dirty="0"/>
              <a:t> </a:t>
            </a:r>
            <a:r>
              <a:rPr dirty="0" err="1"/>
              <a:t>ereignisgesteuerte</a:t>
            </a:r>
            <a:r>
              <a:rPr dirty="0"/>
              <a:t> (event-driven) </a:t>
            </a:r>
            <a:r>
              <a:rPr dirty="0" err="1"/>
              <a:t>Architekturen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Anwendung</a:t>
            </a:r>
            <a:r>
              <a:rPr dirty="0"/>
              <a:t>: </a:t>
            </a:r>
            <a:br>
              <a:rPr lang="de-DE" dirty="0"/>
            </a:br>
            <a:r>
              <a:rPr dirty="0" err="1"/>
              <a:t>Statusänderungen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Bürgerportal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Wenn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Sachbearbeiter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Antrag</a:t>
            </a:r>
            <a:r>
              <a:rPr dirty="0"/>
              <a:t> auf “</a:t>
            </a:r>
            <a:r>
              <a:rPr dirty="0" err="1"/>
              <a:t>Genehmigt</a:t>
            </a:r>
            <a:r>
              <a:rPr dirty="0"/>
              <a:t>” </a:t>
            </a:r>
            <a:r>
              <a:rPr dirty="0" err="1"/>
              <a:t>setzt</a:t>
            </a:r>
            <a:r>
              <a:rPr dirty="0"/>
              <a:t>, </a:t>
            </a:r>
            <a:r>
              <a:rPr dirty="0" err="1"/>
              <a:t>müssen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unabhängige</a:t>
            </a:r>
            <a:r>
              <a:rPr dirty="0"/>
              <a:t> Systeme </a:t>
            </a:r>
            <a:r>
              <a:rPr dirty="0" err="1"/>
              <a:t>reagieren</a:t>
            </a:r>
            <a:r>
              <a:rPr dirty="0"/>
              <a:t>:</a:t>
            </a:r>
          </a:p>
          <a:p>
            <a:pPr marL="257175" indent="-257175">
              <a:buAutoNum type="arabicPeriod"/>
            </a:pPr>
            <a:r>
              <a:rPr dirty="0"/>
              <a:t>Das Bürger-Dashboard </a:t>
            </a:r>
            <a:r>
              <a:rPr dirty="0" err="1"/>
              <a:t>im</a:t>
            </a:r>
            <a:r>
              <a:rPr dirty="0"/>
              <a:t> Frontend.</a:t>
            </a:r>
          </a:p>
          <a:p>
            <a:pPr marL="257175" indent="-257175">
              <a:buAutoNum type="arabicPeriod"/>
            </a:pPr>
            <a:r>
              <a:rPr dirty="0"/>
              <a:t>Der E-Mail-Server, der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Bestätigung</a:t>
            </a:r>
            <a:r>
              <a:rPr dirty="0"/>
              <a:t> </a:t>
            </a:r>
            <a:r>
              <a:rPr dirty="0" err="1"/>
              <a:t>sendet</a:t>
            </a:r>
            <a:r>
              <a:rPr dirty="0"/>
              <a:t>.</a:t>
            </a:r>
          </a:p>
          <a:p>
            <a:pPr marL="257175" indent="-257175">
              <a:buAutoNum type="arabicPeriod"/>
            </a:pPr>
            <a:r>
              <a:rPr dirty="0"/>
              <a:t>Das </a:t>
            </a:r>
            <a:r>
              <a:rPr dirty="0" err="1"/>
              <a:t>Archivsystem</a:t>
            </a:r>
            <a:r>
              <a:rPr dirty="0"/>
              <a:t>, das den </a:t>
            </a:r>
            <a:r>
              <a:rPr dirty="0" err="1"/>
              <a:t>Vorgang</a:t>
            </a:r>
            <a:r>
              <a:rPr dirty="0"/>
              <a:t> </a:t>
            </a:r>
            <a:r>
              <a:rPr dirty="0" err="1"/>
              <a:t>wegschreibt</a:t>
            </a:r>
            <a:r>
              <a:rPr dirty="0"/>
              <a:t>. </a:t>
            </a:r>
            <a:br>
              <a:rPr lang="de-DE" dirty="0"/>
            </a:br>
            <a:r>
              <a:rPr dirty="0"/>
              <a:t>Es </a:t>
            </a:r>
            <a:r>
              <a:rPr dirty="0" err="1"/>
              <a:t>wäre</a:t>
            </a:r>
            <a:r>
              <a:rPr dirty="0"/>
              <a:t> fatal, </a:t>
            </a:r>
            <a:r>
              <a:rPr dirty="0" err="1"/>
              <a:t>wenn</a:t>
            </a:r>
            <a:r>
              <a:rPr dirty="0"/>
              <a:t> die </a:t>
            </a:r>
            <a:r>
              <a:rPr dirty="0" err="1">
                <a:latin typeface="Courier"/>
              </a:rPr>
              <a:t>Antrag</a:t>
            </a:r>
            <a:r>
              <a:rPr dirty="0"/>
              <a:t>-Klasse den E-Mail-Server </a:t>
            </a:r>
            <a:r>
              <a:rPr dirty="0" err="1"/>
              <a:t>direkt</a:t>
            </a:r>
            <a:r>
              <a:rPr dirty="0"/>
              <a:t> </a:t>
            </a:r>
            <a:r>
              <a:rPr dirty="0" err="1"/>
              <a:t>aufrufen</a:t>
            </a:r>
            <a:r>
              <a:rPr dirty="0"/>
              <a:t> </a:t>
            </a:r>
            <a:r>
              <a:rPr dirty="0" err="1"/>
              <a:t>müsste</a:t>
            </a:r>
            <a:r>
              <a:rPr dirty="0"/>
              <a:t> (</a:t>
            </a:r>
            <a:r>
              <a:rPr dirty="0" err="1"/>
              <a:t>enge</a:t>
            </a:r>
            <a:r>
              <a:rPr dirty="0"/>
              <a:t> </a:t>
            </a:r>
            <a:r>
              <a:rPr dirty="0" err="1"/>
              <a:t>Kopplung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Observer: </a:t>
            </a:r>
            <a:br>
              <a:rPr lang="de-DE" dirty="0"/>
            </a:br>
            <a:r>
              <a:rPr dirty="0"/>
              <a:t>Das Beobachter-Interface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Jedes</a:t>
            </a:r>
            <a:r>
              <a:rPr dirty="0"/>
              <a:t> System, das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Änderungen</a:t>
            </a:r>
            <a:r>
              <a:rPr dirty="0"/>
              <a:t> </a:t>
            </a:r>
            <a:r>
              <a:rPr dirty="0" err="1"/>
              <a:t>informiert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will, muss dieses Interface </a:t>
            </a:r>
            <a:r>
              <a:rPr dirty="0" err="1"/>
              <a:t>implementieren</a:t>
            </a:r>
            <a:r>
              <a:rPr dirty="0"/>
              <a:t>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Das Interface für die Beobachter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interface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IStatusBeobachter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Aktualisieren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902000"/>
                </a:solidFill>
                <a:latin typeface="Courier"/>
              </a:rPr>
              <a:t>string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neuerStatus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Observer: </a:t>
            </a:r>
            <a:br>
              <a:rPr lang="de-DE" dirty="0"/>
            </a:br>
            <a:r>
              <a:rPr dirty="0"/>
              <a:t>Das </a:t>
            </a:r>
            <a:r>
              <a:rPr dirty="0" err="1"/>
              <a:t>Subjekt</a:t>
            </a:r>
            <a:r>
              <a:rPr dirty="0"/>
              <a:t> / Der </a:t>
            </a:r>
            <a:r>
              <a:rPr dirty="0" err="1"/>
              <a:t>Antrag</a:t>
            </a:r>
            <a:r>
              <a:rPr dirty="0"/>
              <a:t> (Code 1</a:t>
            </a:r>
            <a:r>
              <a:rPr lang="de-DE" dirty="0"/>
              <a:t>/2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Der </a:t>
            </a:r>
            <a:r>
              <a:rPr dirty="0" err="1"/>
              <a:t>Antrag</a:t>
            </a:r>
            <a:r>
              <a:rPr dirty="0"/>
              <a:t> </a:t>
            </a:r>
            <a:r>
              <a:rPr dirty="0" err="1"/>
              <a:t>verwaltet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Liste</a:t>
            </a:r>
            <a:r>
              <a:rPr dirty="0"/>
              <a:t> seiner Beobachter.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Das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Subjekt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, das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beobachtet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wird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Antrag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sz="1200" dirty="0">
                <a:latin typeface="Courier"/>
              </a:rPr>
              <a:t> </a:t>
            </a:r>
            <a:r>
              <a:rPr sz="1200" b="1" dirty="0" err="1">
                <a:solidFill>
                  <a:srgbClr val="007020"/>
                </a:solidFill>
                <a:latin typeface="Courier"/>
              </a:rPr>
              <a:t>readonly</a:t>
            </a:r>
            <a:r>
              <a:rPr sz="1200" dirty="0">
                <a:latin typeface="Courier"/>
              </a:rPr>
              <a:t> List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&lt;</a:t>
            </a:r>
            <a:r>
              <a:rPr sz="1200" dirty="0" err="1">
                <a:latin typeface="Courier"/>
              </a:rPr>
              <a:t>IStatusBeobachter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beobachter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lang="de-DE" sz="1200" dirty="0">
                <a:latin typeface="Courier"/>
              </a:rPr>
              <a:t>  </a:t>
            </a:r>
            <a:br>
              <a:rPr lang="de-DE" sz="1200" dirty="0">
                <a:latin typeface="Courier"/>
              </a:rPr>
            </a:br>
            <a:r>
              <a:rPr lang="de-DE" sz="1200" dirty="0">
                <a:latin typeface="Courier"/>
              </a:rPr>
              <a:t>                          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200" dirty="0">
                <a:latin typeface="Courier"/>
              </a:rPr>
              <a:t> List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&lt;</a:t>
            </a:r>
            <a:r>
              <a:rPr sz="1200" dirty="0" err="1">
                <a:latin typeface="Courier"/>
              </a:rPr>
              <a:t>IStatusBeobachter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&gt;();</a:t>
            </a:r>
            <a:br>
              <a:rPr lang="de-DE" sz="1200" dirty="0">
                <a:solidFill>
                  <a:srgbClr val="666666"/>
                </a:solidFill>
                <a:latin typeface="Courier"/>
              </a:rPr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string</a:t>
            </a:r>
            <a:r>
              <a:rPr sz="1200" dirty="0">
                <a:latin typeface="Courier"/>
              </a:rPr>
              <a:t> 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get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set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RegistriereBeobachter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IStatusBeobachter</a:t>
            </a:r>
            <a:r>
              <a:rPr sz="1200" dirty="0">
                <a:latin typeface="Courier"/>
              </a:rPr>
              <a:t> b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beobachter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latin typeface="Courier"/>
              </a:rPr>
              <a:t>b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EntferneBeobachter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IStatusBeobachter</a:t>
            </a:r>
            <a:r>
              <a:rPr sz="1200" dirty="0">
                <a:latin typeface="Courier"/>
              </a:rPr>
              <a:t> b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beobachter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Remove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latin typeface="Courier"/>
              </a:rPr>
              <a:t>b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br>
              <a:rPr lang="de-DE" sz="1200" dirty="0"/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Observer: </a:t>
            </a:r>
            <a:br>
              <a:rPr lang="de-DE" dirty="0"/>
            </a:br>
            <a:r>
              <a:rPr dirty="0" err="1"/>
              <a:t>Benachrichtigungslogik</a:t>
            </a:r>
            <a:r>
              <a:rPr dirty="0"/>
              <a:t> (Code 2</a:t>
            </a:r>
            <a:r>
              <a:rPr lang="de-DE" dirty="0"/>
              <a:t>/2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Sobald</a:t>
            </a:r>
            <a:r>
              <a:rPr dirty="0"/>
              <a:t> der </a:t>
            </a:r>
            <a:r>
              <a:rPr dirty="0" err="1"/>
              <a:t>Zustand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ändert</a:t>
            </a:r>
            <a:r>
              <a:rPr dirty="0"/>
              <a:t>, </a:t>
            </a:r>
            <a:r>
              <a:rPr dirty="0" err="1"/>
              <a:t>werden</a:t>
            </a:r>
            <a:r>
              <a:rPr dirty="0"/>
              <a:t> alle </a:t>
            </a:r>
            <a:r>
              <a:rPr dirty="0" err="1"/>
              <a:t>informiert</a:t>
            </a:r>
            <a:r>
              <a:rPr dirty="0"/>
              <a:t>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...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Fortsetzung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der Klasse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Antrag</a:t>
            </a:r>
            <a:br>
              <a:rPr lang="de-DE" sz="1200" i="1" dirty="0">
                <a:solidFill>
                  <a:srgbClr val="60A0B0"/>
                </a:solidFill>
                <a:latin typeface="Courier"/>
              </a:rPr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SetzeStatus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902000"/>
                </a:solidFill>
                <a:latin typeface="Courier"/>
              </a:rPr>
              <a:t>string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neuerStatus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    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neuerStatus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BenachrichtigeAlle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();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BenachrichtigeAlle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foreach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var</a:t>
            </a:r>
            <a:r>
              <a:rPr sz="1200" dirty="0">
                <a:latin typeface="Courier"/>
              </a:rPr>
              <a:t> b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in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beobachter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        </a:t>
            </a:r>
            <a:r>
              <a:rPr sz="1200" dirty="0" err="1">
                <a:latin typeface="Courier"/>
              </a:rPr>
              <a:t>b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Aktualisieren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latin typeface="Courier"/>
              </a:rPr>
              <a:t>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Observer: </a:t>
            </a:r>
            <a:br>
              <a:rPr lang="de-DE" dirty="0"/>
            </a:br>
            <a:r>
              <a:rPr dirty="0"/>
              <a:t>Der </a:t>
            </a:r>
            <a:r>
              <a:rPr dirty="0" err="1"/>
              <a:t>konkrete</a:t>
            </a:r>
            <a:r>
              <a:rPr dirty="0"/>
              <a:t> Beobachter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165895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Der E-Mail Service </a:t>
            </a:r>
            <a:r>
              <a:rPr lang="de-DE" dirty="0"/>
              <a:t>versendet Benachrichtigungen bei Statusänderungen</a:t>
            </a:r>
            <a:r>
              <a:rPr dirty="0"/>
              <a:t>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Konkreter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Beobachter: E-Mail Dienst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EmailService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: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IStatusBeobachter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Aktualisieren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902000"/>
                </a:solidFill>
                <a:latin typeface="Courier"/>
              </a:rPr>
              <a:t>string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neuerStatus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Console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WriteLine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br>
              <a:rPr lang="de-DE" sz="1200" dirty="0">
                <a:solidFill>
                  <a:srgbClr val="666666"/>
                </a:solidFill>
                <a:latin typeface="Courier"/>
              </a:rPr>
            </a:br>
            <a:r>
              <a:rPr lang="de-DE" sz="1200" dirty="0">
                <a:solidFill>
                  <a:srgbClr val="666666"/>
                </a:solidFill>
                <a:latin typeface="Courier"/>
              </a:rPr>
              <a:t>            </a:t>
            </a:r>
            <a:r>
              <a:rPr sz="1200" dirty="0">
                <a:latin typeface="Courier"/>
              </a:rPr>
              <a:t>$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"Sende E-Mail: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Ihr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Antrag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ist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nun '{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neuerStatus</a:t>
            </a:r>
            <a:r>
              <a:rPr sz="1200" dirty="0">
                <a:solidFill>
                  <a:srgbClr val="4070A0"/>
                </a:solidFill>
                <a:latin typeface="Courier"/>
              </a:rPr>
              <a:t>}'."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br>
              <a:rPr lang="de-DE" sz="1200" dirty="0">
                <a:latin typeface="Courier"/>
              </a:rPr>
            </a:br>
            <a:r>
              <a:rPr lang="de-DE" sz="1200" dirty="0">
                <a:latin typeface="Courier"/>
              </a:rPr>
              <a:t>    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E-Mail Sende-Logik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hier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...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DCC3-1EB9-0883-CB99-D89DD45C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6482-B429-96B4-4689-04B1CFD9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Observer: </a:t>
            </a:r>
            <a:br>
              <a:rPr lang="de-DE" dirty="0"/>
            </a:br>
            <a:r>
              <a:rPr dirty="0"/>
              <a:t>D</a:t>
            </a:r>
            <a:r>
              <a:rPr lang="de-DE" dirty="0" err="1"/>
              <a:t>as</a:t>
            </a:r>
            <a:r>
              <a:rPr lang="de-DE" dirty="0"/>
              <a:t> Hauptprogramm</a:t>
            </a:r>
            <a:r>
              <a:rPr dirty="0"/>
              <a:t> (Code)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2A24-ADC8-400F-FEB0-F7C57F73D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6165895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Der E-Mail Service </a:t>
            </a:r>
            <a:r>
              <a:rPr sz="1600" dirty="0" err="1"/>
              <a:t>registriert</a:t>
            </a:r>
            <a:r>
              <a:rPr sz="1600" dirty="0"/>
              <a:t> </a:t>
            </a:r>
            <a:r>
              <a:rPr sz="1600" dirty="0" err="1"/>
              <a:t>sich</a:t>
            </a:r>
            <a:r>
              <a:rPr sz="1600" dirty="0"/>
              <a:t> </a:t>
            </a:r>
            <a:r>
              <a:rPr sz="1600" dirty="0" err="1"/>
              <a:t>beim</a:t>
            </a:r>
            <a:r>
              <a:rPr sz="1600" dirty="0"/>
              <a:t> </a:t>
            </a:r>
            <a:r>
              <a:rPr sz="1600" dirty="0" err="1"/>
              <a:t>Antrag</a:t>
            </a:r>
            <a:r>
              <a:rPr lang="de-DE" sz="1600" dirty="0"/>
              <a:t> und reagiert auf Änderungen</a:t>
            </a:r>
            <a:r>
              <a:rPr sz="1600" dirty="0"/>
              <a:t>.</a:t>
            </a:r>
            <a:endParaRPr lang="de-DE" sz="16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       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urier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dirty="0">
                <a:solidFill>
                  <a:srgbClr val="008000"/>
                </a:solidFill>
                <a:latin typeface="Courier"/>
              </a:rPr>
              <a:t>// Subjekt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emailService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urier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EmailService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dirty="0">
                <a:solidFill>
                  <a:srgbClr val="008000"/>
                </a:solidFill>
                <a:latin typeface="Courier"/>
              </a:rPr>
              <a:t>// Beobachter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RegistriereBeobachter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emailService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 </a:t>
            </a:r>
            <a:r>
              <a:rPr lang="de-DE" sz="1200" dirty="0">
                <a:solidFill>
                  <a:srgbClr val="008000"/>
                </a:solidFill>
                <a:latin typeface="Courier"/>
              </a:rPr>
              <a:t>// Registrierung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"Statuswechsel: Genehmigt"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SetzeStatus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"Genehmigt"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 </a:t>
            </a:r>
            <a:r>
              <a:rPr lang="de-DE" sz="1200" dirty="0">
                <a:solidFill>
                  <a:srgbClr val="008000"/>
                </a:solidFill>
                <a:latin typeface="Courier"/>
              </a:rPr>
              <a:t>// Benachrichtigung erfolgt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"E-Mail-Service wird abgemeldet..."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EntferneBeobachter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emailService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"Statuswechsel: Archiviert"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SetzeStatus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"Archiviert"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 </a:t>
            </a:r>
            <a:r>
              <a:rPr lang="de-DE" sz="1200" dirty="0">
                <a:solidFill>
                  <a:srgbClr val="008000"/>
                </a:solidFill>
                <a:latin typeface="Courier"/>
              </a:rPr>
              <a:t>// keine Benachrichtigung mehr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999441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Vorteile des Observer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Lose </a:t>
            </a:r>
            <a:r>
              <a:rPr b="1" dirty="0" err="1"/>
              <a:t>Kopplung</a:t>
            </a:r>
            <a:r>
              <a:rPr b="1" dirty="0"/>
              <a:t>:</a:t>
            </a:r>
            <a:r>
              <a:rPr dirty="0"/>
              <a:t> Der </a:t>
            </a:r>
            <a:r>
              <a:rPr dirty="0" err="1">
                <a:latin typeface="Courier"/>
              </a:rPr>
              <a:t>Antrag</a:t>
            </a:r>
            <a:r>
              <a:rPr dirty="0"/>
              <a:t> </a:t>
            </a:r>
            <a:r>
              <a:rPr dirty="0" err="1"/>
              <a:t>kennt</a:t>
            </a:r>
            <a:r>
              <a:rPr dirty="0"/>
              <a:t> seine Beobachter nicht </a:t>
            </a:r>
            <a:r>
              <a:rPr dirty="0" err="1"/>
              <a:t>im</a:t>
            </a:r>
            <a:r>
              <a:rPr dirty="0"/>
              <a:t> Detail, er </a:t>
            </a:r>
            <a:r>
              <a:rPr dirty="0" err="1"/>
              <a:t>weiß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das Interface </a:t>
            </a:r>
            <a:r>
              <a:rPr dirty="0" err="1"/>
              <a:t>implementieren</a:t>
            </a:r>
            <a:r>
              <a:rPr dirty="0"/>
              <a:t>.</a:t>
            </a:r>
          </a:p>
          <a:p>
            <a:pPr lvl="0"/>
            <a:r>
              <a:rPr b="1" dirty="0"/>
              <a:t>Dynamik</a:t>
            </a:r>
            <a:r>
              <a:rPr dirty="0"/>
              <a:t>: Beobachter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Laufzeit</a:t>
            </a:r>
            <a:r>
              <a:rPr dirty="0"/>
              <a:t> </a:t>
            </a:r>
            <a:r>
              <a:rPr dirty="0" err="1"/>
              <a:t>hinzugefügt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entfernt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</a:t>
            </a:r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dirty="0"/>
          </a:p>
          <a:p>
            <a:pPr lvl="0"/>
            <a:r>
              <a:rPr i="1" dirty="0" err="1"/>
              <a:t>Anmerkung</a:t>
            </a:r>
            <a:r>
              <a:rPr dirty="0"/>
              <a:t>: In </a:t>
            </a:r>
            <a:r>
              <a:rPr dirty="0" err="1"/>
              <a:t>modernem</a:t>
            </a:r>
            <a:r>
              <a:rPr dirty="0"/>
              <a:t> C# </a:t>
            </a:r>
            <a:r>
              <a:rPr dirty="0" err="1"/>
              <a:t>wird</a:t>
            </a:r>
            <a:r>
              <a:rPr dirty="0"/>
              <a:t> das Observer-Pattern oft </a:t>
            </a:r>
            <a:r>
              <a:rPr dirty="0" err="1"/>
              <a:t>nativ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>
                <a:latin typeface="Courier"/>
              </a:rPr>
              <a:t>Events</a:t>
            </a:r>
            <a:r>
              <a:rPr dirty="0"/>
              <a:t> und </a:t>
            </a:r>
            <a:r>
              <a:rPr dirty="0">
                <a:latin typeface="Courier"/>
              </a:rPr>
              <a:t>Delegates</a:t>
            </a:r>
            <a:r>
              <a:rPr dirty="0"/>
              <a:t> </a:t>
            </a:r>
            <a:r>
              <a:rPr dirty="0" err="1"/>
              <a:t>abgebildet</a:t>
            </a:r>
            <a:r>
              <a:rPr dirty="0"/>
              <a:t>. Das </a:t>
            </a:r>
            <a:r>
              <a:rPr dirty="0" err="1"/>
              <a:t>Prinzip</a:t>
            </a:r>
            <a:r>
              <a:rPr dirty="0"/>
              <a:t> </a:t>
            </a:r>
            <a:r>
              <a:rPr dirty="0" err="1"/>
              <a:t>dahinter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jedoch</a:t>
            </a:r>
            <a:r>
              <a:rPr dirty="0"/>
              <a:t> </a:t>
            </a:r>
            <a:r>
              <a:rPr dirty="0" err="1"/>
              <a:t>identisch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/>
              <a:t>Teil 4: Das State Pattern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EE7B9-0C9A-8AD5-E9CD-4439A544C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Einführung: State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210" y="1103179"/>
            <a:ext cx="5616860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Das State-Pattern </a:t>
            </a:r>
            <a:r>
              <a:rPr dirty="0" err="1"/>
              <a:t>erlaubt</a:t>
            </a:r>
            <a:r>
              <a:rPr dirty="0"/>
              <a:t> es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Objekt</a:t>
            </a:r>
            <a:r>
              <a:rPr dirty="0"/>
              <a:t>, sein </a:t>
            </a:r>
            <a:r>
              <a:rPr dirty="0" err="1"/>
              <a:t>Verhalten</a:t>
            </a:r>
            <a:r>
              <a:rPr dirty="0"/>
              <a:t> </a:t>
            </a:r>
            <a:r>
              <a:rPr dirty="0" err="1"/>
              <a:t>grundlegend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ändern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sein </a:t>
            </a:r>
            <a:r>
              <a:rPr dirty="0" err="1"/>
              <a:t>interner</a:t>
            </a:r>
            <a:r>
              <a:rPr dirty="0"/>
              <a:t> </a:t>
            </a:r>
            <a:r>
              <a:rPr dirty="0" err="1"/>
              <a:t>Zustand</a:t>
            </a:r>
            <a:r>
              <a:rPr dirty="0"/>
              <a:t> </a:t>
            </a:r>
            <a:r>
              <a:rPr dirty="0" err="1"/>
              <a:t>ändert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Es </a:t>
            </a:r>
            <a:r>
              <a:rPr dirty="0" err="1"/>
              <a:t>kapselt</a:t>
            </a:r>
            <a:r>
              <a:rPr dirty="0"/>
              <a:t> </a:t>
            </a:r>
            <a:r>
              <a:rPr dirty="0" err="1"/>
              <a:t>zustandsspezifisches</a:t>
            </a:r>
            <a:r>
              <a:rPr dirty="0"/>
              <a:t> </a:t>
            </a:r>
            <a:r>
              <a:rPr dirty="0" err="1"/>
              <a:t>Verhalten</a:t>
            </a:r>
            <a:r>
              <a:rPr dirty="0"/>
              <a:t> in </a:t>
            </a:r>
            <a:r>
              <a:rPr dirty="0" err="1"/>
              <a:t>eigenen</a:t>
            </a:r>
            <a:r>
              <a:rPr dirty="0"/>
              <a:t> Klassen.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 der Zustandsverwaltung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Wie </a:t>
            </a:r>
            <a:r>
              <a:rPr dirty="0" err="1"/>
              <a:t>programmieren</a:t>
            </a:r>
            <a:r>
              <a:rPr dirty="0"/>
              <a:t> Sie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Antrag</a:t>
            </a:r>
            <a:r>
              <a:rPr dirty="0"/>
              <a:t>, der </a:t>
            </a:r>
            <a:r>
              <a:rPr dirty="0" err="1"/>
              <a:t>verschiedene</a:t>
            </a:r>
            <a:r>
              <a:rPr dirty="0"/>
              <a:t> </a:t>
            </a:r>
            <a:r>
              <a:rPr dirty="0" err="1"/>
              <a:t>Phasen</a:t>
            </a:r>
            <a:r>
              <a:rPr dirty="0"/>
              <a:t> </a:t>
            </a:r>
            <a:r>
              <a:rPr dirty="0" err="1"/>
              <a:t>durchläuft</a:t>
            </a:r>
            <a:r>
              <a:rPr dirty="0"/>
              <a:t>? </a:t>
            </a:r>
            <a:endParaRPr lang="de-DE" dirty="0"/>
          </a:p>
          <a:p>
            <a:pPr marL="0" indent="0">
              <a:buNone/>
            </a:pPr>
            <a:r>
              <a:rPr dirty="0" err="1"/>
              <a:t>Meist</a:t>
            </a:r>
            <a:r>
              <a:rPr dirty="0"/>
              <a:t> </a:t>
            </a:r>
            <a:r>
              <a:rPr dirty="0" err="1"/>
              <a:t>endet</a:t>
            </a:r>
            <a:r>
              <a:rPr dirty="0"/>
              <a:t> es in </a:t>
            </a:r>
            <a:r>
              <a:rPr dirty="0" err="1"/>
              <a:t>unleserlichen</a:t>
            </a:r>
            <a:r>
              <a:rPr dirty="0"/>
              <a:t> Switch-Statements:</a:t>
            </a:r>
          </a:p>
          <a:p>
            <a:pPr indent="0">
              <a:buNone/>
            </a:pP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Genehmigen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latin typeface="Courier"/>
              </a:rPr>
              <a:t>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Eingereicht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throw</a:t>
            </a:r>
            <a:r>
              <a:rPr sz="1200" dirty="0">
                <a:latin typeface="Courier"/>
              </a:rPr>
              <a:t> error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latin typeface="Courier"/>
              </a:rPr>
              <a:t>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Geprüft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Genehmigt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else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latin typeface="Courier"/>
              </a:rPr>
              <a:t>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==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Genehmigt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throw</a:t>
            </a:r>
            <a:r>
              <a:rPr sz="1200" dirty="0">
                <a:latin typeface="Courier"/>
              </a:rPr>
              <a:t> error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indent="0">
              <a:buNone/>
            </a:pPr>
            <a:r>
              <a:rPr dirty="0"/>
              <a:t>Das </a:t>
            </a:r>
            <a:r>
              <a:rPr dirty="0" err="1"/>
              <a:t>skaliert</a:t>
            </a:r>
            <a:r>
              <a:rPr dirty="0"/>
              <a:t> nicht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komplexen</a:t>
            </a:r>
            <a:r>
              <a:rPr dirty="0"/>
              <a:t> Workflows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vielen</a:t>
            </a:r>
            <a:r>
              <a:rPr dirty="0"/>
              <a:t> </a:t>
            </a:r>
            <a:r>
              <a:rPr dirty="0" err="1"/>
              <a:t>Regeln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Anwendung: Bauantrags-Workflow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Ein Bauantrag hat einen strikten Lebenszyklus:</a:t>
            </a:r>
          </a:p>
          <a:p>
            <a:pPr marL="257175" indent="-257175">
              <a:buAutoNum type="arabicPeriod"/>
            </a:pPr>
            <a:r>
              <a:t>Eingegangen</a:t>
            </a:r>
          </a:p>
          <a:p>
            <a:pPr marL="257175" indent="-257175">
              <a:buAutoNum type="arabicPeriod"/>
            </a:pPr>
            <a:r>
              <a:t>In Prüfung (Unterlagen können nachgefordert werden)</a:t>
            </a:r>
          </a:p>
          <a:p>
            <a:pPr marL="257175" indent="-257175">
              <a:buAutoNum type="arabicPeriod"/>
            </a:pPr>
            <a:r>
              <a:t>Genehmigt / Abgelehnt</a:t>
            </a:r>
          </a:p>
          <a:p>
            <a:pPr marL="0" indent="0">
              <a:buNone/>
            </a:pPr>
            <a:r>
              <a:t>In jedem dieser Zustände sind unterschiedliche Aktionen erlaubt oder verboten.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 Die abstrakte Basisklasse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165895" cy="36033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definieren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Klasse, die alle </a:t>
            </a:r>
            <a:r>
              <a:rPr dirty="0" err="1"/>
              <a:t>möglichen</a:t>
            </a:r>
            <a:r>
              <a:rPr dirty="0"/>
              <a:t> </a:t>
            </a:r>
            <a:r>
              <a:rPr dirty="0" err="1"/>
              <a:t>Aktionen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vorgibt</a:t>
            </a:r>
            <a:r>
              <a:rPr dirty="0"/>
              <a:t>.</a:t>
            </a:r>
          </a:p>
          <a:p>
            <a:pPr indent="0">
              <a:buNone/>
            </a:pP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abstract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BauantragStatus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Das '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kontext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' Argument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erlaubt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es dem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,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den Status des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Antrags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auf den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nächsten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Schritt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setzen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.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abstract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Bearbeiten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Bauantrag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kontext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abstract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Genehmigen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Bauantrag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kontext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 Ein konkreter Zustand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197426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programmieren</a:t>
            </a:r>
            <a:r>
              <a:rPr dirty="0"/>
              <a:t> die Logik </a:t>
            </a:r>
            <a:r>
              <a:rPr dirty="0" err="1"/>
              <a:t>spezifisch</a:t>
            </a:r>
            <a:r>
              <a:rPr dirty="0"/>
              <a:t> für den </a:t>
            </a:r>
            <a:r>
              <a:rPr dirty="0" err="1"/>
              <a:t>Zustand</a:t>
            </a:r>
            <a:r>
              <a:rPr dirty="0"/>
              <a:t> “</a:t>
            </a:r>
            <a:r>
              <a:rPr dirty="0" err="1"/>
              <a:t>Eingereicht</a:t>
            </a:r>
            <a:r>
              <a:rPr dirty="0"/>
              <a:t>”.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Konkreter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: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Eingereicht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200" dirty="0">
                <a:latin typeface="Courier"/>
              </a:rPr>
              <a:t> EingereichtStatus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: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BauantragStatus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override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Bearbeiten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Bauantrag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kontext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Console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WriteLine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Prüfung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wird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gestartet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..."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de-DE" sz="1200" dirty="0">
                <a:solidFill>
                  <a:srgbClr val="666666"/>
                </a:solidFill>
                <a:latin typeface="Courier"/>
              </a:rPr>
            </a:b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Zustandswechsel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auslösen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!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kontext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SetzeZustand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InPruefungStatus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());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override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Genehmigen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Bauantrag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kontext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 err="1">
                <a:latin typeface="Courier"/>
              </a:rPr>
              <a:t>Console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WriteLine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br>
              <a:rPr lang="de-DE" sz="1200" dirty="0">
                <a:solidFill>
                  <a:srgbClr val="666666"/>
                </a:solidFill>
                <a:latin typeface="Courier"/>
              </a:rPr>
            </a:br>
            <a:r>
              <a:rPr lang="de-DE" sz="1200" dirty="0">
                <a:solidFill>
                  <a:srgbClr val="666666"/>
                </a:solidFill>
                <a:latin typeface="Courier"/>
              </a:rPr>
              <a:t>                     </a:t>
            </a:r>
            <a:r>
              <a:rPr sz="1200" dirty="0">
                <a:solidFill>
                  <a:srgbClr val="4070A0"/>
                </a:solidFill>
                <a:latin typeface="Courier"/>
              </a:rPr>
              <a:t>"Fehler: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Antrag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muss erst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geprüft</a:t>
            </a:r>
            <a:r>
              <a:rPr sz="1200" dirty="0">
                <a:solidFill>
                  <a:srgbClr val="4070A0"/>
                </a:solidFill>
                <a:latin typeface="Courier"/>
              </a:rPr>
              <a:t> </a:t>
            </a:r>
            <a:r>
              <a:rPr sz="1200" dirty="0" err="1">
                <a:solidFill>
                  <a:srgbClr val="4070A0"/>
                </a:solidFill>
                <a:latin typeface="Courier"/>
              </a:rPr>
              <a:t>werden</a:t>
            </a:r>
            <a:r>
              <a:rPr sz="1200" dirty="0">
                <a:solidFill>
                  <a:srgbClr val="4070A0"/>
                </a:solidFill>
                <a:latin typeface="Courier"/>
              </a:rPr>
              <a:t>!"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AD8B9-C678-08CC-DDB9-18E29757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55DD-5FB5-5BC8-1EE1-286AA9CB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 Ein konkreter Zustand (Code)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FD320-FE49-E701-A286-460540719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6197426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dirty="0"/>
              <a:t>Wir </a:t>
            </a:r>
            <a:r>
              <a:rPr sz="1600" dirty="0" err="1"/>
              <a:t>programmieren</a:t>
            </a:r>
            <a:r>
              <a:rPr sz="1600" dirty="0"/>
              <a:t> die Logik </a:t>
            </a:r>
            <a:r>
              <a:rPr sz="1600" dirty="0" err="1"/>
              <a:t>spezifisch</a:t>
            </a:r>
            <a:r>
              <a:rPr sz="1600" dirty="0"/>
              <a:t> für den </a:t>
            </a:r>
            <a:r>
              <a:rPr sz="1600" dirty="0" err="1"/>
              <a:t>Zustand</a:t>
            </a:r>
            <a:r>
              <a:rPr sz="1600" dirty="0"/>
              <a:t> “</a:t>
            </a:r>
            <a:r>
              <a:rPr lang="de-DE" sz="1600" dirty="0" err="1"/>
              <a:t>InPruefung</a:t>
            </a:r>
            <a:r>
              <a:rPr sz="1600" dirty="0"/>
              <a:t>”.</a:t>
            </a:r>
            <a:br>
              <a:rPr lang="de-DE" sz="1600" dirty="0"/>
            </a:br>
            <a:br>
              <a:rPr lang="de-DE" sz="1600" dirty="0"/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Konkreter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: </a:t>
            </a:r>
            <a:r>
              <a:rPr lang="de-DE" sz="1200" i="1" dirty="0" err="1">
                <a:solidFill>
                  <a:srgbClr val="60A0B0"/>
                </a:solidFill>
                <a:latin typeface="Courier"/>
              </a:rPr>
              <a:t>InPruefung</a:t>
            </a:r>
            <a:endParaRPr lang="de-DE" sz="1200" i="1" dirty="0">
              <a:solidFill>
                <a:srgbClr val="60A0B0"/>
              </a:solidFill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class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InPruefungStatus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: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BauantragStatus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override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void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795E26"/>
                </a:solidFill>
                <a:effectLst/>
                <a:latin typeface="Courier"/>
              </a:rPr>
              <a:t>Bearbeiten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001080"/>
                </a:solidFill>
                <a:effectLst/>
                <a:latin typeface="Courier"/>
              </a:rPr>
              <a:t>Bauantrag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kontext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    </a:t>
            </a:r>
            <a:r>
              <a:rPr lang="de-DE" sz="1200" b="0" dirty="0">
                <a:solidFill>
                  <a:srgbClr val="000000"/>
                </a:solidFill>
                <a:effectLst/>
                <a:latin typeface="Courier"/>
              </a:rPr>
              <a:t>=&gt;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"Fehler: Prüfung läuft bereits."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</a:b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public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override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void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795E26"/>
                </a:solidFill>
                <a:effectLst/>
                <a:latin typeface="Courier"/>
              </a:rPr>
              <a:t>Genehmigen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001080"/>
                </a:solidFill>
                <a:effectLst/>
                <a:latin typeface="Courier"/>
              </a:rPr>
              <a:t>Bauantrag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kontext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   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"Antrag wurde genehmigt."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   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kontext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SetzeZustand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GenehmigtStatus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   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8725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0DD8-7865-6D52-BDE8-4B37871D7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A1E8-06F2-5C71-2712-2B6BD3D3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State: Ein konkreter Zustand (Code)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8047-755D-8A64-E958-905A3C44D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6197426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Wir </a:t>
            </a:r>
            <a:r>
              <a:rPr dirty="0" err="1"/>
              <a:t>programmieren</a:t>
            </a:r>
            <a:r>
              <a:rPr dirty="0"/>
              <a:t> die Logik </a:t>
            </a:r>
            <a:r>
              <a:rPr dirty="0" err="1"/>
              <a:t>spezifisch</a:t>
            </a:r>
            <a:r>
              <a:rPr dirty="0"/>
              <a:t> für den </a:t>
            </a:r>
            <a:r>
              <a:rPr dirty="0" err="1"/>
              <a:t>Zustand</a:t>
            </a:r>
            <a:r>
              <a:rPr dirty="0"/>
              <a:t> “</a:t>
            </a:r>
            <a:r>
              <a:rPr lang="de-DE" dirty="0"/>
              <a:t>Genehmigt</a:t>
            </a:r>
            <a:r>
              <a:rPr dirty="0"/>
              <a:t>”.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200" i="1" dirty="0">
                <a:solidFill>
                  <a:srgbClr val="60A0B0"/>
                </a:solidFill>
                <a:latin typeface="Courier"/>
              </a:rPr>
            </a:br>
            <a:r>
              <a:rPr sz="1200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Konkreter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: </a:t>
            </a:r>
            <a:r>
              <a:rPr lang="de-DE" sz="1200" i="1" dirty="0">
                <a:solidFill>
                  <a:srgbClr val="60A0B0"/>
                </a:solidFill>
                <a:latin typeface="Courier"/>
              </a:rPr>
              <a:t>Genehmigt</a:t>
            </a:r>
            <a:br>
              <a:rPr sz="1200" dirty="0"/>
            </a:b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public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class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267F99"/>
                </a:solidFill>
                <a:effectLst/>
                <a:latin typeface="Courier"/>
              </a:rPr>
              <a:t>Genehmig</a:t>
            </a:r>
            <a:r>
              <a:rPr lang="de-DE" sz="1300" dirty="0" err="1">
                <a:solidFill>
                  <a:srgbClr val="267F99"/>
                </a:solidFill>
                <a:latin typeface="Courier"/>
              </a:rPr>
              <a:t>t</a:t>
            </a:r>
            <a:r>
              <a:rPr lang="de-DE" sz="1300" b="0" dirty="0" err="1">
                <a:solidFill>
                  <a:srgbClr val="267F99"/>
                </a:solidFill>
                <a:effectLst/>
                <a:latin typeface="Courier"/>
              </a:rPr>
              <a:t>Status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: </a:t>
            </a:r>
            <a:r>
              <a:rPr lang="de-DE" sz="1300" b="0" dirty="0" err="1">
                <a:solidFill>
                  <a:srgbClr val="001080"/>
                </a:solidFill>
                <a:effectLst/>
                <a:latin typeface="Courier"/>
              </a:rPr>
              <a:t>BauantragStatus</a:t>
            </a:r>
            <a:endParaRPr lang="de-DE" sz="13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   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public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override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void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>
                <a:solidFill>
                  <a:srgbClr val="795E26"/>
                </a:solidFill>
                <a:effectLst/>
                <a:latin typeface="Courier"/>
              </a:rPr>
              <a:t>Bearbeiten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300" b="0" dirty="0">
                <a:solidFill>
                  <a:srgbClr val="001080"/>
                </a:solidFill>
                <a:effectLst/>
                <a:latin typeface="Courier"/>
              </a:rPr>
              <a:t>Bauantrag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1080"/>
                </a:solidFill>
                <a:effectLst/>
                <a:latin typeface="Courier"/>
              </a:rPr>
              <a:t>kontext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        </a:t>
            </a:r>
            <a:r>
              <a:rPr lang="de-DE" sz="1300" b="0" dirty="0">
                <a:solidFill>
                  <a:srgbClr val="000000"/>
                </a:solidFill>
                <a:effectLst/>
                <a:latin typeface="Courier"/>
              </a:rPr>
              <a:t>=&gt;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3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3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b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</a:b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               </a:t>
            </a:r>
            <a:r>
              <a:rPr lang="de-DE" sz="1300" b="0" dirty="0">
                <a:solidFill>
                  <a:srgbClr val="A31515"/>
                </a:solidFill>
                <a:effectLst/>
                <a:latin typeface="Courier"/>
              </a:rPr>
              <a:t>"Fehler: Antrag ist bereits abgeschlossen."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</a:br>
            <a:endParaRPr lang="de-DE" sz="13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   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public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override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00FF"/>
                </a:solidFill>
                <a:effectLst/>
                <a:latin typeface="Courier"/>
              </a:rPr>
              <a:t>void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>
                <a:solidFill>
                  <a:srgbClr val="795E26"/>
                </a:solidFill>
                <a:effectLst/>
                <a:latin typeface="Courier"/>
              </a:rPr>
              <a:t>Genehmigen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300" b="0" dirty="0">
                <a:solidFill>
                  <a:srgbClr val="001080"/>
                </a:solidFill>
                <a:effectLst/>
                <a:latin typeface="Courier"/>
              </a:rPr>
              <a:t>Bauantrag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001080"/>
                </a:solidFill>
                <a:effectLst/>
                <a:latin typeface="Courier"/>
              </a:rPr>
              <a:t>kontext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        </a:t>
            </a:r>
            <a:r>
              <a:rPr lang="de-DE" sz="1300" b="0" dirty="0">
                <a:solidFill>
                  <a:srgbClr val="000000"/>
                </a:solidFill>
                <a:effectLst/>
                <a:latin typeface="Courier"/>
              </a:rPr>
              <a:t>=&gt;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3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3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3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b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</a:b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                    </a:t>
            </a:r>
            <a:r>
              <a:rPr lang="de-DE" sz="1300" b="0" dirty="0">
                <a:solidFill>
                  <a:srgbClr val="A31515"/>
                </a:solidFill>
                <a:effectLst/>
                <a:latin typeface="Courier"/>
              </a:rPr>
              <a:t>"Fehler: Antrag ist bereits genehmigt."</a:t>
            </a: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0" dirty="0">
                <a:solidFill>
                  <a:srgbClr val="3B3B3B"/>
                </a:solidFill>
                <a:effectLst/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3136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State: </a:t>
            </a:r>
            <a:br>
              <a:rPr lang="de-DE" dirty="0"/>
            </a:br>
            <a:r>
              <a:rPr dirty="0"/>
              <a:t>Die </a:t>
            </a:r>
            <a:r>
              <a:rPr dirty="0" err="1"/>
              <a:t>Kontext</a:t>
            </a:r>
            <a:r>
              <a:rPr dirty="0"/>
              <a:t>-Klasse / Der </a:t>
            </a:r>
            <a:r>
              <a:rPr dirty="0" err="1"/>
              <a:t>Antrag</a:t>
            </a:r>
            <a:r>
              <a:rPr dirty="0"/>
              <a:t> (Code)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219" y="1103179"/>
            <a:ext cx="6240781" cy="360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Der </a:t>
            </a:r>
            <a:r>
              <a:rPr sz="1600" dirty="0" err="1"/>
              <a:t>Antrag</a:t>
            </a:r>
            <a:r>
              <a:rPr sz="1600" dirty="0"/>
              <a:t> </a:t>
            </a:r>
            <a:r>
              <a:rPr sz="1600" dirty="0" err="1"/>
              <a:t>delegiert</a:t>
            </a:r>
            <a:r>
              <a:rPr sz="1600" dirty="0"/>
              <a:t> alle </a:t>
            </a:r>
            <a:r>
              <a:rPr sz="1600" dirty="0" err="1"/>
              <a:t>fachlichen</a:t>
            </a:r>
            <a:r>
              <a:rPr sz="1600" dirty="0"/>
              <a:t> </a:t>
            </a:r>
            <a:r>
              <a:rPr sz="1600" dirty="0" err="1"/>
              <a:t>Methoden</a:t>
            </a:r>
            <a:r>
              <a:rPr sz="1600" dirty="0"/>
              <a:t> </a:t>
            </a:r>
            <a:r>
              <a:rPr sz="1600" dirty="0" err="1"/>
              <a:t>einfach</a:t>
            </a:r>
            <a:r>
              <a:rPr sz="1600" dirty="0"/>
              <a:t> an sein </a:t>
            </a:r>
            <a:r>
              <a:rPr sz="1600" dirty="0" err="1"/>
              <a:t>aktuelles</a:t>
            </a:r>
            <a:r>
              <a:rPr sz="1600" dirty="0"/>
              <a:t> Status-</a:t>
            </a:r>
            <a:r>
              <a:rPr sz="1600" dirty="0" err="1"/>
              <a:t>Objekt</a:t>
            </a:r>
            <a:r>
              <a:rPr sz="1600" dirty="0"/>
              <a:t>.</a:t>
            </a:r>
          </a:p>
          <a:p>
            <a:pPr indent="0">
              <a:buNone/>
            </a:pPr>
            <a:r>
              <a:rPr sz="1200" i="1" dirty="0">
                <a:solidFill>
                  <a:srgbClr val="60A0B0"/>
                </a:solidFill>
                <a:latin typeface="Courier"/>
              </a:rPr>
              <a:t>// Der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Kontext</a:t>
            </a:r>
            <a:br>
              <a:rPr sz="1200" dirty="0"/>
            </a:b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Bauantrag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BauantragStatus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aktuellerStatus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Start-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Bauantrag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aktuellerStatus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</a:t>
            </a:r>
            <a:br>
              <a:rPr lang="de-DE" sz="1200" dirty="0">
                <a:latin typeface="Courier"/>
              </a:rPr>
            </a:br>
            <a:r>
              <a:rPr lang="de-DE" sz="1200" dirty="0">
                <a:latin typeface="Courier"/>
              </a:rPr>
              <a:t>                                     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06287E"/>
                </a:solidFill>
                <a:latin typeface="Courier"/>
              </a:rPr>
              <a:t>EingereichtStatus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();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SetzeZustand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dirty="0" err="1">
                <a:latin typeface="Courier"/>
              </a:rPr>
              <a:t>BauantragStatus</a:t>
            </a:r>
            <a:r>
              <a:rPr sz="1200" dirty="0">
                <a:latin typeface="Courier"/>
              </a:rPr>
              <a:t> 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</a:t>
            </a:r>
            <a:r>
              <a:rPr sz="1200" dirty="0">
                <a:latin typeface="Courier"/>
              </a:rPr>
              <a:t> </a:t>
            </a:r>
            <a:br>
              <a:rPr sz="1200" dirty="0"/>
            </a:br>
            <a:r>
              <a:rPr sz="1200" dirty="0">
                <a:latin typeface="Courier"/>
              </a:rPr>
              <a:t>       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aktuellerStatus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</a:t>
            </a:r>
            <a:r>
              <a:rPr sz="1200" dirty="0">
                <a:latin typeface="Courier"/>
              </a:rPr>
              <a:t> status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1200" dirty="0"/>
            </a:b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// Delegation an den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jeweiligen</a:t>
            </a:r>
            <a:r>
              <a:rPr sz="1200" i="1" dirty="0">
                <a:solidFill>
                  <a:srgbClr val="60A0B0"/>
                </a:solidFill>
                <a:latin typeface="Courier"/>
              </a:rPr>
              <a:t> </a:t>
            </a:r>
            <a:r>
              <a:rPr sz="1200" i="1" dirty="0" err="1">
                <a:solidFill>
                  <a:srgbClr val="60A0B0"/>
                </a:solidFill>
                <a:latin typeface="Courier"/>
              </a:rPr>
              <a:t>Zustand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Bearbeiten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aktuellerStatus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Bearbeiten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this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latin typeface="Courier"/>
              </a:rPr>
              <a:t>    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Genehmigen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()</a:t>
            </a:r>
            <a:r>
              <a:rPr sz="1200" dirty="0">
                <a:latin typeface="Courier"/>
              </a:rPr>
              <a:t> </a:t>
            </a:r>
            <a:r>
              <a:rPr sz="12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200" dirty="0">
                <a:latin typeface="Courier"/>
              </a:rPr>
              <a:t> _</a:t>
            </a:r>
            <a:r>
              <a:rPr sz="1200" dirty="0" err="1">
                <a:latin typeface="Courier"/>
              </a:rPr>
              <a:t>aktuellerStatus</a:t>
            </a:r>
            <a:r>
              <a:rPr sz="1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200" dirty="0" err="1">
                <a:solidFill>
                  <a:srgbClr val="06287E"/>
                </a:solidFill>
                <a:latin typeface="Courier"/>
              </a:rPr>
              <a:t>Genehmigen</a:t>
            </a:r>
            <a:r>
              <a:rPr sz="1200" dirty="0">
                <a:solidFill>
                  <a:srgbClr val="666666"/>
                </a:solidFill>
                <a:latin typeface="Courier"/>
              </a:rPr>
              <a:t>(</a:t>
            </a:r>
            <a:r>
              <a:rPr sz="1200" b="1" dirty="0">
                <a:solidFill>
                  <a:srgbClr val="007020"/>
                </a:solidFill>
                <a:latin typeface="Courier"/>
              </a:rPr>
              <a:t>this</a:t>
            </a:r>
            <a:r>
              <a:rPr sz="1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1200" dirty="0"/>
            </a:br>
            <a:r>
              <a:rPr sz="12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F060-00BA-773E-470D-07BDC4D8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CB4E4-8E17-4BF6-AC26-1E4C290F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State: </a:t>
            </a:r>
            <a:r>
              <a:rPr lang="de-DE" dirty="0"/>
              <a:t>Das Hauptprogramm</a:t>
            </a:r>
            <a:r>
              <a:rPr dirty="0"/>
              <a:t> (Code)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B251A-4F0A-BCAB-92B7-E9314D1F1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624078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dirty="0"/>
              <a:t>Der </a:t>
            </a:r>
            <a:r>
              <a:rPr sz="1400" dirty="0" err="1"/>
              <a:t>Antrag</a:t>
            </a:r>
            <a:r>
              <a:rPr sz="1400" dirty="0"/>
              <a:t> d</a:t>
            </a:r>
            <a:r>
              <a:rPr lang="de-DE" sz="1400" dirty="0" err="1"/>
              <a:t>urchläuft</a:t>
            </a:r>
            <a:r>
              <a:rPr lang="de-DE" sz="1400" dirty="0"/>
              <a:t> die einzelnen Status</a:t>
            </a:r>
            <a:r>
              <a:rPr sz="14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i="1" dirty="0">
              <a:solidFill>
                <a:srgbClr val="60A0B0"/>
              </a:solidFill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urier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urier"/>
              </a:rPr>
              <a:t>Bauantrag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Antrag eingereicht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Genehmigen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Fehler: noch nicht geprüft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Bearbeitung starten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Bearbeiten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Zustandswechsel: -&gt;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urier"/>
              </a:rPr>
              <a:t>InPruefung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Genehmigung erteilen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Genehmigen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Zustandswechsel: -&gt; Genehmigt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Weiteres Bearbeiten nach Genehmigung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Bearbeiten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Fehler: bereits abgeschlossen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66666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0006428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62ECA-6DFE-CF9A-3780-E4238F0F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A8B2-AB5B-731D-1472-0646D744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State: </a:t>
            </a:r>
            <a:r>
              <a:rPr lang="de-DE" dirty="0"/>
              <a:t>Das Hauptprogramm</a:t>
            </a:r>
            <a:r>
              <a:rPr dirty="0"/>
              <a:t> (Code)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158E-29CC-8F72-99BA-A533C1DF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19" y="1103179"/>
            <a:ext cx="6240781" cy="36033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dirty="0"/>
              <a:t>Der </a:t>
            </a:r>
            <a:r>
              <a:rPr sz="1400" dirty="0" err="1"/>
              <a:t>Antrag</a:t>
            </a:r>
            <a:r>
              <a:rPr sz="1400" dirty="0"/>
              <a:t> d</a:t>
            </a:r>
            <a:r>
              <a:rPr lang="de-DE" sz="1400" dirty="0" err="1"/>
              <a:t>urchläuft</a:t>
            </a:r>
            <a:r>
              <a:rPr lang="de-DE" sz="1400" dirty="0"/>
              <a:t> die einzelnen Status</a:t>
            </a:r>
            <a:r>
              <a:rPr sz="14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i="1" dirty="0">
              <a:solidFill>
                <a:srgbClr val="60A0B0"/>
              </a:solidFill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var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0000"/>
                </a:solidFill>
                <a:effectLst/>
                <a:latin typeface="Courier"/>
              </a:rPr>
              <a:t>=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 err="1">
                <a:solidFill>
                  <a:srgbClr val="0000FF"/>
                </a:solidFill>
                <a:effectLst/>
                <a:latin typeface="Courier"/>
              </a:rPr>
              <a:t>new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 </a:t>
            </a:r>
            <a:r>
              <a:rPr lang="de-DE" sz="1200" b="0" dirty="0">
                <a:solidFill>
                  <a:srgbClr val="001080"/>
                </a:solidFill>
                <a:effectLst/>
                <a:latin typeface="Courier"/>
              </a:rPr>
              <a:t>Bauantrag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Antrag eingereicht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Genehmigen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Fehler: noch nicht geprüft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Bearbeitung starten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Bearbeiten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Zustandswechsel: -&gt; </a:t>
            </a:r>
            <a:r>
              <a:rPr lang="de-DE" sz="1200" b="0" dirty="0" err="1">
                <a:solidFill>
                  <a:srgbClr val="008000"/>
                </a:solidFill>
                <a:effectLst/>
                <a:latin typeface="Courier"/>
              </a:rPr>
              <a:t>InPruefung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Genehmigung erteilen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Genehmigen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Zustandswechsel: -&gt; Genehmigt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267F99"/>
                </a:solidFill>
                <a:effectLst/>
                <a:latin typeface="Courier"/>
              </a:rPr>
              <a:t>Console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795E26"/>
                </a:solidFill>
                <a:effectLst/>
                <a:latin typeface="Courier"/>
              </a:rPr>
              <a:t>WriteLine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</a:t>
            </a:r>
            <a:r>
              <a:rPr lang="de-DE" sz="1200" b="0" dirty="0">
                <a:solidFill>
                  <a:srgbClr val="A31515"/>
                </a:solidFill>
                <a:effectLst/>
                <a:latin typeface="Courier"/>
              </a:rPr>
              <a:t>"-- Weiteres Bearbeiten nach Genehmigung --"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antrag</a:t>
            </a:r>
            <a:r>
              <a:rPr lang="de-DE" sz="1200" b="0" dirty="0" err="1">
                <a:solidFill>
                  <a:srgbClr val="000000"/>
                </a:solidFill>
                <a:effectLst/>
                <a:latin typeface="Courier"/>
              </a:rPr>
              <a:t>.</a:t>
            </a:r>
            <a:r>
              <a:rPr lang="de-DE" sz="1200" b="0" dirty="0" err="1">
                <a:solidFill>
                  <a:srgbClr val="001080"/>
                </a:solidFill>
                <a:effectLst/>
                <a:latin typeface="Courier"/>
              </a:rPr>
              <a:t>Bearbeiten</a:t>
            </a:r>
            <a:r>
              <a:rPr lang="de-DE" sz="1200" b="0" dirty="0">
                <a:solidFill>
                  <a:srgbClr val="3B3B3B"/>
                </a:solidFill>
                <a:effectLst/>
                <a:latin typeface="Courier"/>
              </a:rPr>
              <a:t>(); </a:t>
            </a:r>
            <a:r>
              <a:rPr lang="de-DE" sz="1200" b="0" dirty="0">
                <a:solidFill>
                  <a:srgbClr val="008000"/>
                </a:solidFill>
                <a:effectLst/>
                <a:latin typeface="Courier"/>
              </a:rPr>
              <a:t>// Fehler: bereits abgeschlossen</a:t>
            </a: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de-DE" sz="1200" b="0" dirty="0">
              <a:solidFill>
                <a:srgbClr val="3B3B3B"/>
              </a:solidFill>
              <a:effectLst/>
              <a:latin typeface="Courier"/>
            </a:endParaRPr>
          </a:p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666666"/>
              </a:solidFill>
              <a:latin typeface="Courier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44AB28-A8AF-206C-50A6-D7355E415F2A}"/>
              </a:ext>
            </a:extLst>
          </p:cNvPr>
          <p:cNvSpPr txBox="1"/>
          <p:nvPr/>
        </p:nvSpPr>
        <p:spPr>
          <a:xfrm>
            <a:off x="2356945" y="2247551"/>
            <a:ext cx="4410402" cy="24622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-- Antrag eingereicht --</a:t>
            </a: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Fehler: Antrag muss erst geprüft werden!</a:t>
            </a:r>
          </a:p>
          <a:p>
            <a:endParaRPr lang="de-DE" sz="1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-- Bearbeitung starten --</a:t>
            </a: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Prüfung wird gestartet...</a:t>
            </a:r>
          </a:p>
          <a:p>
            <a:endParaRPr lang="de-DE" sz="1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-- Genehmigung erteilen --</a:t>
            </a: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Antrag wurde genehmigt.</a:t>
            </a:r>
          </a:p>
          <a:p>
            <a:endParaRPr lang="de-DE" sz="1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-- Weiteres Bearbeiten nach Genehmigung --</a:t>
            </a:r>
          </a:p>
          <a:p>
            <a:r>
              <a:rPr lang="de-DE" sz="1400" b="1" dirty="0">
                <a:solidFill>
                  <a:schemeClr val="bg1"/>
                </a:solidFill>
                <a:latin typeface="Consolas" panose="020B0609020204030204" pitchFamily="49" charset="0"/>
              </a:rPr>
              <a:t>Fehler: Antrag ist bereits abgeschlossen.</a:t>
            </a:r>
          </a:p>
        </p:txBody>
      </p:sp>
    </p:spTree>
    <p:extLst>
      <p:ext uri="{BB962C8B-B14F-4D97-AF65-F5344CB8AC3E}">
        <p14:creationId xmlns:p14="http://schemas.microsoft.com/office/powerpoint/2010/main" val="1052959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Unterschiede: State vs. 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976" y="1103179"/>
            <a:ext cx="5601094" cy="3603318"/>
          </a:xfrm>
        </p:spPr>
        <p:txBody>
          <a:bodyPr/>
          <a:lstStyle/>
          <a:p>
            <a:pPr marL="0" indent="0">
              <a:buNone/>
            </a:pPr>
            <a:r>
              <a:rPr dirty="0" err="1"/>
              <a:t>Obwohl</a:t>
            </a:r>
            <a:r>
              <a:rPr dirty="0"/>
              <a:t> die </a:t>
            </a:r>
            <a:r>
              <a:rPr dirty="0" err="1"/>
              <a:t>Struktur</a:t>
            </a:r>
            <a:r>
              <a:rPr dirty="0"/>
              <a:t> </a:t>
            </a:r>
            <a:r>
              <a:rPr dirty="0" err="1"/>
              <a:t>ähnlich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</a:t>
            </a:r>
            <a:r>
              <a:rPr dirty="0" err="1"/>
              <a:t>ist</a:t>
            </a:r>
            <a:r>
              <a:rPr dirty="0"/>
              <a:t> die </a:t>
            </a:r>
            <a:r>
              <a:rPr b="1" dirty="0" err="1"/>
              <a:t>Absicht</a:t>
            </a:r>
            <a:r>
              <a:rPr dirty="0"/>
              <a:t> </a:t>
            </a:r>
            <a:r>
              <a:rPr dirty="0" err="1"/>
              <a:t>unterschiedlich</a:t>
            </a:r>
            <a:r>
              <a:rPr dirty="0"/>
              <a:t>:</a:t>
            </a:r>
          </a:p>
          <a:p>
            <a:pPr lvl="0"/>
            <a:r>
              <a:rPr b="1" dirty="0"/>
              <a:t>Strategy:</a:t>
            </a:r>
            <a:r>
              <a:rPr dirty="0"/>
              <a:t> </a:t>
            </a:r>
            <a:br>
              <a:rPr lang="de-DE" dirty="0"/>
            </a:br>
            <a:r>
              <a:rPr dirty="0"/>
              <a:t>Der Client </a:t>
            </a:r>
            <a:r>
              <a:rPr dirty="0" err="1"/>
              <a:t>wählt</a:t>
            </a:r>
            <a:r>
              <a:rPr dirty="0"/>
              <a:t> den </a:t>
            </a:r>
            <a:r>
              <a:rPr dirty="0" err="1"/>
              <a:t>Algorithmus</a:t>
            </a:r>
            <a:r>
              <a:rPr dirty="0"/>
              <a:t> </a:t>
            </a:r>
            <a:r>
              <a:rPr dirty="0" err="1"/>
              <a:t>einmal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Berlin).</a:t>
            </a:r>
          </a:p>
          <a:p>
            <a:pPr lvl="0"/>
            <a:r>
              <a:rPr b="1" dirty="0"/>
              <a:t>State:</a:t>
            </a:r>
            <a:r>
              <a:rPr dirty="0"/>
              <a:t> </a:t>
            </a:r>
            <a:br>
              <a:rPr lang="de-DE" dirty="0"/>
            </a:br>
            <a:r>
              <a:rPr dirty="0"/>
              <a:t>Das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wechselt</a:t>
            </a:r>
            <a:r>
              <a:rPr dirty="0"/>
              <a:t> seinen “</a:t>
            </a:r>
            <a:r>
              <a:rPr dirty="0" err="1"/>
              <a:t>Algorithmus</a:t>
            </a:r>
            <a:r>
              <a:rPr dirty="0"/>
              <a:t>” (</a:t>
            </a:r>
            <a:r>
              <a:rPr dirty="0" err="1"/>
              <a:t>Zustand</a:t>
            </a:r>
            <a:r>
              <a:rPr dirty="0"/>
              <a:t>) </a:t>
            </a:r>
            <a:r>
              <a:rPr dirty="0" err="1"/>
              <a:t>selbstständig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die Zeit (Workflow).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Vorteile des State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Wir </a:t>
            </a:r>
            <a:r>
              <a:rPr dirty="0" err="1"/>
              <a:t>eliminieren</a:t>
            </a:r>
            <a:r>
              <a:rPr dirty="0"/>
              <a:t> </a:t>
            </a:r>
            <a:r>
              <a:rPr dirty="0" err="1"/>
              <a:t>gewaltige</a:t>
            </a:r>
            <a:r>
              <a:rPr dirty="0"/>
              <a:t> </a:t>
            </a:r>
            <a:r>
              <a:rPr dirty="0" err="1"/>
              <a:t>bedingte</a:t>
            </a:r>
            <a:r>
              <a:rPr dirty="0"/>
              <a:t> </a:t>
            </a:r>
            <a:r>
              <a:rPr dirty="0" err="1"/>
              <a:t>Anweisungen</a:t>
            </a:r>
            <a:r>
              <a:rPr dirty="0"/>
              <a:t> (</a:t>
            </a:r>
            <a:r>
              <a:rPr dirty="0">
                <a:latin typeface="Courier"/>
              </a:rPr>
              <a:t>if/switch</a:t>
            </a:r>
            <a:r>
              <a:rPr dirty="0"/>
              <a:t>).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Das </a:t>
            </a:r>
            <a:r>
              <a:rPr dirty="0" err="1"/>
              <a:t>Hinzufügen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</a:t>
            </a:r>
            <a:r>
              <a:rPr dirty="0" err="1"/>
              <a:t>neuen</a:t>
            </a:r>
            <a:r>
              <a:rPr dirty="0"/>
              <a:t> </a:t>
            </a:r>
            <a:r>
              <a:rPr dirty="0" err="1"/>
              <a:t>Zwischenschritts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>
                <a:latin typeface="Courier"/>
              </a:rPr>
              <a:t>InWiderspruchsPruefung</a:t>
            </a:r>
            <a:r>
              <a:rPr dirty="0"/>
              <a:t>) </a:t>
            </a:r>
            <a:r>
              <a:rPr dirty="0" err="1"/>
              <a:t>erfordert</a:t>
            </a:r>
            <a:r>
              <a:rPr dirty="0"/>
              <a:t> </a:t>
            </a:r>
            <a:r>
              <a:rPr dirty="0" err="1"/>
              <a:t>lediglich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Klasse und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Anpassung</a:t>
            </a:r>
            <a:r>
              <a:rPr dirty="0"/>
              <a:t> des </a:t>
            </a:r>
            <a:r>
              <a:rPr dirty="0" err="1"/>
              <a:t>Vorgängers</a:t>
            </a:r>
            <a:r>
              <a:rPr dirty="0"/>
              <a:t>.</a:t>
            </a:r>
          </a:p>
          <a:p>
            <a:pPr marL="216000" lvl="0" indent="-216000">
              <a:buFont typeface="Symbol" panose="05050102010706020507" pitchFamily="18" charset="2"/>
              <a:buChar char="-"/>
            </a:pPr>
            <a:r>
              <a:rPr dirty="0"/>
              <a:t>Der Code für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bestimmten</a:t>
            </a:r>
            <a:r>
              <a:rPr dirty="0"/>
              <a:t> </a:t>
            </a:r>
            <a:r>
              <a:rPr dirty="0" err="1"/>
              <a:t>Zustand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an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einzigen</a:t>
            </a:r>
            <a:r>
              <a:rPr dirty="0"/>
              <a:t> Ort </a:t>
            </a:r>
            <a:r>
              <a:rPr dirty="0" err="1"/>
              <a:t>versammelt</a:t>
            </a:r>
            <a:r>
              <a:rPr dirty="0"/>
              <a:t> (Single Responsibility).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" y="569214"/>
            <a:ext cx="5657850" cy="2674620"/>
          </a:xfrm>
        </p:spPr>
        <p:txBody>
          <a:bodyPr/>
          <a:lstStyle/>
          <a:p>
            <a:r>
              <a:rPr lang="de-DE"/>
              <a:t>Teil 5: Zusammenfassung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024E6E-207E-08A3-009A-A0402E217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Woche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Strategy:</a:t>
            </a:r>
            <a:r>
              <a:rPr dirty="0"/>
              <a:t> </a:t>
            </a:r>
            <a:br>
              <a:rPr lang="de-DE" dirty="0"/>
            </a:br>
            <a:r>
              <a:rPr dirty="0" err="1"/>
              <a:t>Kapselt</a:t>
            </a:r>
            <a:r>
              <a:rPr dirty="0"/>
              <a:t> </a:t>
            </a:r>
            <a:r>
              <a:rPr dirty="0" err="1"/>
              <a:t>Algorithmen</a:t>
            </a:r>
            <a:r>
              <a:rPr dirty="0"/>
              <a:t> (</a:t>
            </a:r>
            <a:r>
              <a:rPr dirty="0" err="1"/>
              <a:t>z.B.</a:t>
            </a:r>
            <a:r>
              <a:rPr dirty="0"/>
              <a:t> </a:t>
            </a:r>
            <a:r>
              <a:rPr dirty="0" err="1"/>
              <a:t>verschiedene</a:t>
            </a:r>
            <a:r>
              <a:rPr dirty="0"/>
              <a:t> </a:t>
            </a:r>
            <a:r>
              <a:rPr dirty="0" err="1"/>
              <a:t>Steuergesetze</a:t>
            </a:r>
            <a:r>
              <a:rPr dirty="0"/>
              <a:t>) und </a:t>
            </a:r>
            <a:r>
              <a:rPr dirty="0" err="1"/>
              <a:t>macht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austauschbar</a:t>
            </a:r>
            <a:r>
              <a:rPr dirty="0"/>
              <a:t>, </a:t>
            </a:r>
            <a:r>
              <a:rPr dirty="0" err="1"/>
              <a:t>ohne</a:t>
            </a:r>
            <a:r>
              <a:rPr dirty="0"/>
              <a:t> die Kern-</a:t>
            </a:r>
            <a:r>
              <a:rPr dirty="0" err="1"/>
              <a:t>Anwendung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ändern</a:t>
            </a:r>
            <a:r>
              <a:rPr dirty="0"/>
              <a:t>.</a:t>
            </a:r>
          </a:p>
          <a:p>
            <a:pPr lvl="0"/>
            <a:r>
              <a:rPr b="1" dirty="0"/>
              <a:t>Observer:</a:t>
            </a:r>
            <a:r>
              <a:rPr dirty="0"/>
              <a:t> </a:t>
            </a:r>
            <a:br>
              <a:rPr lang="de-DE" dirty="0"/>
            </a:br>
            <a:r>
              <a:rPr dirty="0" err="1"/>
              <a:t>Informiert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Interessenten</a:t>
            </a:r>
            <a:r>
              <a:rPr dirty="0"/>
              <a:t> </a:t>
            </a:r>
            <a:r>
              <a:rPr dirty="0" err="1"/>
              <a:t>entkoppelt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Zustandsänderungen</a:t>
            </a:r>
            <a:r>
              <a:rPr dirty="0"/>
              <a:t> (Publish/Subscribe-</a:t>
            </a:r>
            <a:r>
              <a:rPr dirty="0" err="1"/>
              <a:t>Prinzip</a:t>
            </a:r>
            <a:r>
              <a:rPr dirty="0"/>
              <a:t>).</a:t>
            </a:r>
          </a:p>
          <a:p>
            <a:pPr lvl="0"/>
            <a:r>
              <a:rPr b="1" dirty="0"/>
              <a:t>State:</a:t>
            </a:r>
            <a:r>
              <a:rPr dirty="0"/>
              <a:t> </a:t>
            </a:r>
            <a:br>
              <a:rPr lang="de-DE" dirty="0"/>
            </a:br>
            <a:r>
              <a:rPr dirty="0" err="1"/>
              <a:t>Objektorientierte</a:t>
            </a:r>
            <a:r>
              <a:rPr dirty="0"/>
              <a:t> Alternative </a:t>
            </a:r>
            <a:r>
              <a:rPr dirty="0" err="1"/>
              <a:t>zur</a:t>
            </a:r>
            <a:r>
              <a:rPr dirty="0"/>
              <a:t> Switch-Case-Hölle für </a:t>
            </a:r>
            <a:r>
              <a:rPr dirty="0" err="1"/>
              <a:t>komplexe</a:t>
            </a:r>
            <a:r>
              <a:rPr dirty="0"/>
              <a:t> </a:t>
            </a:r>
            <a:r>
              <a:rPr dirty="0" err="1"/>
              <a:t>Lebenszyklen</a:t>
            </a:r>
            <a:r>
              <a:rPr dirty="0"/>
              <a:t> und Workflows.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Muster kombinieren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 </a:t>
            </a:r>
            <a:r>
              <a:rPr dirty="0" err="1"/>
              <a:t>realen</a:t>
            </a:r>
            <a:r>
              <a:rPr dirty="0"/>
              <a:t> </a:t>
            </a:r>
            <a:r>
              <a:rPr dirty="0" err="1"/>
              <a:t>Anwendungen</a:t>
            </a:r>
            <a:r>
              <a:rPr dirty="0"/>
              <a:t> </a:t>
            </a:r>
            <a:r>
              <a:rPr dirty="0" err="1"/>
              <a:t>treten</a:t>
            </a:r>
            <a:r>
              <a:rPr dirty="0"/>
              <a:t> Muster </a:t>
            </a:r>
            <a:r>
              <a:rPr dirty="0" err="1"/>
              <a:t>selten</a:t>
            </a:r>
            <a:r>
              <a:rPr dirty="0"/>
              <a:t> </a:t>
            </a:r>
            <a:r>
              <a:rPr dirty="0" err="1"/>
              <a:t>isoliert</a:t>
            </a:r>
            <a:r>
              <a:rPr dirty="0"/>
              <a:t> auf. </a:t>
            </a:r>
            <a:endParaRPr lang="de-DE" dirty="0"/>
          </a:p>
          <a:p>
            <a:pPr marL="0" indent="0">
              <a:buNone/>
            </a:pPr>
            <a:r>
              <a:rPr dirty="0"/>
              <a:t>Ein </a:t>
            </a:r>
            <a:r>
              <a:rPr dirty="0" err="1">
                <a:latin typeface="Courier"/>
              </a:rPr>
              <a:t>Bauantrag</a:t>
            </a:r>
            <a:r>
              <a:rPr dirty="0"/>
              <a:t> (State) </a:t>
            </a:r>
            <a:r>
              <a:rPr dirty="0" err="1"/>
              <a:t>könnte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>
                <a:latin typeface="Courier"/>
              </a:rPr>
              <a:t>GebuehrenStrategie</a:t>
            </a:r>
            <a:r>
              <a:rPr dirty="0"/>
              <a:t> (Strategy) </a:t>
            </a:r>
            <a:r>
              <a:rPr dirty="0" err="1"/>
              <a:t>nutzen</a:t>
            </a:r>
            <a:r>
              <a:rPr dirty="0"/>
              <a:t>, und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jedem</a:t>
            </a:r>
            <a:r>
              <a:rPr dirty="0"/>
              <a:t> </a:t>
            </a:r>
            <a:r>
              <a:rPr dirty="0" err="1"/>
              <a:t>Zustandswechsel</a:t>
            </a:r>
            <a:r>
              <a:rPr dirty="0"/>
              <a:t> seine </a:t>
            </a:r>
            <a:r>
              <a:rPr dirty="0" err="1">
                <a:latin typeface="Courier"/>
              </a:rPr>
              <a:t>IStatusBeobachter</a:t>
            </a:r>
            <a:r>
              <a:rPr dirty="0"/>
              <a:t> (Observer) </a:t>
            </a:r>
            <a:r>
              <a:rPr dirty="0" err="1"/>
              <a:t>informieren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3 Takeaways für heute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57175" indent="-257175">
              <a:buAutoNum type="arabicPeriod"/>
            </a:pPr>
            <a:r>
              <a:rPr sz="2000"/>
              <a:t>Strategy für austauschbare Regeln.</a:t>
            </a:r>
          </a:p>
          <a:p>
            <a:pPr marL="257175" indent="-257175">
              <a:buAutoNum type="arabicPeriod"/>
            </a:pPr>
            <a:r>
              <a:rPr sz="2000"/>
              <a:t>Observer für entkoppelte Benachrichtigungen.</a:t>
            </a:r>
          </a:p>
          <a:p>
            <a:pPr marL="257175" indent="-257175">
              <a:buAutoNum type="arabicPeriod"/>
            </a:pPr>
            <a:r>
              <a:rPr sz="2000"/>
              <a:t>State für saubere Workflows.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auf Woche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Nächste</a:t>
            </a:r>
            <a:r>
              <a:rPr dirty="0"/>
              <a:t> </a:t>
            </a:r>
            <a:r>
              <a:rPr dirty="0" err="1"/>
              <a:t>Woche</a:t>
            </a:r>
            <a:r>
              <a:rPr dirty="0"/>
              <a:t> </a:t>
            </a:r>
            <a:r>
              <a:rPr dirty="0" err="1"/>
              <a:t>verlassen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die Ebene der </a:t>
            </a:r>
            <a:r>
              <a:rPr dirty="0" err="1"/>
              <a:t>Klassenmuster</a:t>
            </a:r>
            <a:r>
              <a:rPr dirty="0"/>
              <a:t> und </a:t>
            </a:r>
            <a:r>
              <a:rPr dirty="0" err="1"/>
              <a:t>betrachten</a:t>
            </a:r>
            <a:r>
              <a:rPr dirty="0"/>
              <a:t> die </a:t>
            </a:r>
            <a:r>
              <a:rPr dirty="0" err="1"/>
              <a:t>makroskopische</a:t>
            </a:r>
            <a:r>
              <a:rPr dirty="0"/>
              <a:t> Ebene: </a:t>
            </a:r>
            <a:endParaRPr lang="de-DE" dirty="0"/>
          </a:p>
          <a:p>
            <a:pPr marL="0" indent="0">
              <a:buNone/>
            </a:pPr>
            <a:r>
              <a:rPr dirty="0"/>
              <a:t>Die </a:t>
            </a:r>
            <a:r>
              <a:rPr b="1" dirty="0"/>
              <a:t>SOLID-</a:t>
            </a:r>
            <a:r>
              <a:rPr b="1" dirty="0" err="1"/>
              <a:t>Prinzipien</a:t>
            </a:r>
            <a:r>
              <a:rPr dirty="0"/>
              <a:t> und die </a:t>
            </a:r>
            <a:r>
              <a:rPr b="1" dirty="0" err="1"/>
              <a:t>Schichtenarchitektur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Übungsvorbereitung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 der </a:t>
            </a:r>
            <a:r>
              <a:rPr dirty="0" err="1"/>
              <a:t>heutigen</a:t>
            </a:r>
            <a:r>
              <a:rPr dirty="0"/>
              <a:t> </a:t>
            </a:r>
            <a:r>
              <a:rPr dirty="0" err="1"/>
              <a:t>Übung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Workflow-System für </a:t>
            </a:r>
            <a:r>
              <a:rPr dirty="0" err="1"/>
              <a:t>Parkausweise</a:t>
            </a:r>
            <a:r>
              <a:rPr dirty="0"/>
              <a:t> </a:t>
            </a:r>
            <a:r>
              <a:rPr dirty="0" err="1"/>
              <a:t>implementieren</a:t>
            </a:r>
            <a:r>
              <a:rPr dirty="0"/>
              <a:t>. </a:t>
            </a:r>
            <a:endParaRPr lang="de-DE" dirty="0"/>
          </a:p>
          <a:p>
            <a:pPr marL="0" indent="0">
              <a:buNone/>
            </a:pPr>
            <a:r>
              <a:rPr dirty="0"/>
              <a:t>Denken Sie </a:t>
            </a:r>
            <a:r>
              <a:rPr dirty="0" err="1"/>
              <a:t>daran</a:t>
            </a:r>
            <a:r>
              <a:rPr dirty="0"/>
              <a:t>: Erst den </a:t>
            </a:r>
            <a:r>
              <a:rPr dirty="0" err="1"/>
              <a:t>Prozess</a:t>
            </a:r>
            <a:r>
              <a:rPr dirty="0"/>
              <a:t> (</a:t>
            </a:r>
            <a:r>
              <a:rPr dirty="0" err="1"/>
              <a:t>Zustände</a:t>
            </a:r>
            <a:r>
              <a:rPr dirty="0"/>
              <a:t>) </a:t>
            </a:r>
            <a:r>
              <a:rPr dirty="0" err="1"/>
              <a:t>skizzieren</a:t>
            </a:r>
            <a:r>
              <a:rPr dirty="0"/>
              <a:t>,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coden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2472</Words>
  <Application>Microsoft Office PowerPoint</Application>
  <PresentationFormat>Benutzerdefiniert</PresentationFormat>
  <Paragraphs>218</Paragraphs>
  <Slides>43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50" baseType="lpstr">
      <vt:lpstr>Aptos</vt:lpstr>
      <vt:lpstr>Calibri</vt:lpstr>
      <vt:lpstr>Calibri Light</vt:lpstr>
      <vt:lpstr>Consolas</vt:lpstr>
      <vt:lpstr>Courier</vt:lpstr>
      <vt:lpstr>Symbol</vt:lpstr>
      <vt:lpstr>Rückblick</vt:lpstr>
      <vt:lpstr>Objektorientierte Programmierung</vt:lpstr>
      <vt:lpstr>Teil 1: Einführung in Verhaltensmuster</vt:lpstr>
      <vt:lpstr>Willkommen zu Woche 3</vt:lpstr>
      <vt:lpstr>Was sind Verhaltensmuster?</vt:lpstr>
      <vt:lpstr>Bedeutung für die öffentliche Verwaltung</vt:lpstr>
      <vt:lpstr>Fokus dieser Woche</vt:lpstr>
      <vt:lpstr>Teil 2: Das Strategy Pattern</vt:lpstr>
      <vt:lpstr>Einführung: Strategy Pattern</vt:lpstr>
      <vt:lpstr>Das Problem: Endlose If-Else-Ketten</vt:lpstr>
      <vt:lpstr>Anwendung:  Flexible Gebührenberechnung</vt:lpstr>
      <vt:lpstr>Strategy: Das Interface (Code)</vt:lpstr>
      <vt:lpstr>Strategy: Konkrete Strategien (Code)</vt:lpstr>
      <vt:lpstr>Strategy: Der Kontext (Code)</vt:lpstr>
      <vt:lpstr>Vorteile des Strategy Patterns</vt:lpstr>
      <vt:lpstr>Teil 3: Das Observer Pattern</vt:lpstr>
      <vt:lpstr>Einführung: Observer Pattern</vt:lpstr>
      <vt:lpstr>Das Problem: Polling vs. Push</vt:lpstr>
      <vt:lpstr>Anwendung:  Statusänderungen im Bürgerportal</vt:lpstr>
      <vt:lpstr>Observer:  Das Beobachter-Interface (Code)</vt:lpstr>
      <vt:lpstr>Observer:  Das Subjekt / Der Antrag (Code 1/2)</vt:lpstr>
      <vt:lpstr>Observer:  Benachrichtigungslogik (Code 2/2)</vt:lpstr>
      <vt:lpstr>Observer:  Der konkrete Beobachter (Code)</vt:lpstr>
      <vt:lpstr>Observer:  Das Hauptprogramm (Code)</vt:lpstr>
      <vt:lpstr>Vorteile des Observer Patterns</vt:lpstr>
      <vt:lpstr>Teil 4: Das State Pattern</vt:lpstr>
      <vt:lpstr>Einführung: State Pattern</vt:lpstr>
      <vt:lpstr>Das Problem der Zustandsverwaltung</vt:lpstr>
      <vt:lpstr>Anwendung: Bauantrags-Workflow</vt:lpstr>
      <vt:lpstr>State: Die abstrakte Basisklasse (Code)</vt:lpstr>
      <vt:lpstr>State: Ein konkreter Zustand (Code)</vt:lpstr>
      <vt:lpstr>State: Ein konkreter Zustand (Code)</vt:lpstr>
      <vt:lpstr>State: Ein konkreter Zustand (Code)</vt:lpstr>
      <vt:lpstr>State:  Die Kontext-Klasse / Der Antrag (Code)</vt:lpstr>
      <vt:lpstr>State: Das Hauptprogramm (Code)</vt:lpstr>
      <vt:lpstr>State: Das Hauptprogramm (Code)</vt:lpstr>
      <vt:lpstr>Unterschiede: State vs. Strategy</vt:lpstr>
      <vt:lpstr>Vorteile des State Patterns</vt:lpstr>
      <vt:lpstr>Teil 5: Zusammenfassung</vt:lpstr>
      <vt:lpstr>Wrap-up Woche 3</vt:lpstr>
      <vt:lpstr>Muster kombinieren</vt:lpstr>
      <vt:lpstr>Die 3 Takeaways für heute</vt:lpstr>
      <vt:lpstr>Ausblick auf Woche 4</vt:lpstr>
      <vt:lpstr>Übungsvorbereitung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langlebiger Software</dc:title>
  <dc:creator>Peter Bernhardt</dc:creator>
  <cp:keywords/>
  <cp:lastModifiedBy>Peter Bernhardt</cp:lastModifiedBy>
  <cp:revision>2</cp:revision>
  <dcterms:created xsi:type="dcterms:W3CDTF">2026-03-18T16:32:38Z</dcterms:created>
  <dcterms:modified xsi:type="dcterms:W3CDTF">2026-03-30T13:06:14Z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Woche 1: Die Dimension Zeit &amp; Software-Erosion</vt:lpwstr>
  </property>
</Properties>
</file>