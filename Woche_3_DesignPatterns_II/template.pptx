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85352-70BD-4C55-94CD-D8AB9AF4ECAE}" v="26" dt="2026-03-18T17:12:24.161"/>
    <p1510:client id="{B7FDA16B-6CD8-46DA-B9AA-DBE7077D826F}" v="2" dt="2026-03-18T17:27:25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436" autoAdjust="0"/>
    <p:restoredTop sz="94694" autoAdjust="0"/>
  </p:normalViewPr>
  <p:slideViewPr>
    <p:cSldViewPr snapToGrid="0" snapToObjects="1">
      <p:cViewPr varScale="1">
        <p:scale>
          <a:sx n="196" d="100"/>
          <a:sy n="196" d="100"/>
        </p:scale>
        <p:origin x="144" y="144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4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54BAB7D7-C378-4C4A-B0F8-9DF09AB8FC9C}"/>
    <pc:docChg chg="undo custSel addSld delSld modSld modMainMaster">
      <pc:chgData name="Peter Bernhardt" userId="f2333933-0b12-4d6e-972f-f87625423892" providerId="ADAL" clId="{54BAB7D7-C378-4C4A-B0F8-9DF09AB8FC9C}" dt="2026-03-18T17:27:25.091" v="471"/>
      <pc:docMkLst>
        <pc:docMk/>
      </pc:docMkLst>
      <pc:sldChg chg="addSp delSp modSp mod chgLayout">
        <pc:chgData name="Peter Bernhardt" userId="f2333933-0b12-4d6e-972f-f87625423892" providerId="ADAL" clId="{54BAB7D7-C378-4C4A-B0F8-9DF09AB8FC9C}" dt="2026-03-18T17:15:14.733" v="430" actId="20577"/>
        <pc:sldMkLst>
          <pc:docMk/>
          <pc:sldMk cId="0" sldId="256"/>
        </pc:sldMkLst>
        <pc:spChg chg="mod ord">
          <ac:chgData name="Peter Bernhardt" userId="f2333933-0b12-4d6e-972f-f87625423892" providerId="ADAL" clId="{54BAB7D7-C378-4C4A-B0F8-9DF09AB8FC9C}" dt="2026-03-18T17:15:04.664" v="428" actId="2763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15:14.733" v="430" actId="20577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5" creationId="{864F6E31-2BAA-17E0-3806-D6A2E0187B87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6" creationId="{1373D5EF-DAC2-0EF9-BEB5-5E7CD8C1B191}"/>
          </ac:spMkLst>
        </pc:spChg>
        <pc:spChg chg="add del mod">
          <ac:chgData name="Peter Bernhardt" userId="f2333933-0b12-4d6e-972f-f87625423892" providerId="ADAL" clId="{54BAB7D7-C378-4C4A-B0F8-9DF09AB8FC9C}" dt="2026-03-18T17:15:04.648" v="426" actId="6264"/>
          <ac:spMkLst>
            <pc:docMk/>
            <pc:sldMk cId="0" sldId="256"/>
            <ac:spMk id="7" creationId="{D6BD83D8-C692-9D2F-2278-6266ACF55A74}"/>
          </ac:spMkLst>
        </pc:spChg>
      </pc:sldChg>
      <pc:sldChg chg="modSp mod">
        <pc:chgData name="Peter Bernhardt" userId="f2333933-0b12-4d6e-972f-f87625423892" providerId="ADAL" clId="{54BAB7D7-C378-4C4A-B0F8-9DF09AB8FC9C}" dt="2026-03-18T16:39:28.229" v="81" actId="27636"/>
        <pc:sldMkLst>
          <pc:docMk/>
          <pc:sldMk cId="0" sldId="25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29" v="81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261" v="82" actId="27636"/>
        <pc:sldMkLst>
          <pc:docMk/>
          <pc:sldMk cId="0" sldId="25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61" v="82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267" v="83" actId="27636"/>
        <pc:sldMkLst>
          <pc:docMk/>
          <pc:sldMk cId="0" sldId="259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67" v="83" actId="27636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 delDesignElem chgLayout">
        <pc:chgData name="Peter Bernhardt" userId="f2333933-0b12-4d6e-972f-f87625423892" providerId="ADAL" clId="{54BAB7D7-C378-4C4A-B0F8-9DF09AB8FC9C}" dt="2026-03-18T17:15:26.880" v="432" actId="14100"/>
        <pc:sldMkLst>
          <pc:docMk/>
          <pc:sldMk cId="0" sldId="260"/>
        </pc:sldMkLst>
        <pc:spChg chg="mod ord">
          <ac:chgData name="Peter Bernhardt" userId="f2333933-0b12-4d6e-972f-f87625423892" providerId="ADAL" clId="{54BAB7D7-C378-4C4A-B0F8-9DF09AB8FC9C}" dt="2026-03-18T17:15:26.880" v="432" actId="14100"/>
          <ac:spMkLst>
            <pc:docMk/>
            <pc:sldMk cId="0" sldId="260"/>
            <ac:spMk id="2" creationId="{00000000-0000-0000-0000-000000000000}"/>
          </ac:spMkLst>
        </pc:spChg>
        <pc:spChg chg="add del mod ord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3" creationId="{15AAAF13-54EE-43B2-D37D-5013DA7AD876}"/>
          </ac:spMkLst>
        </pc:spChg>
        <pc:spChg chg="add del mod ord">
          <ac:chgData name="Peter Bernhardt" userId="f2333933-0b12-4d6e-972f-f87625423892" providerId="ADAL" clId="{54BAB7D7-C378-4C4A-B0F8-9DF09AB8FC9C}" dt="2026-03-18T16:46:50.036" v="297" actId="700"/>
          <ac:spMkLst>
            <pc:docMk/>
            <pc:sldMk cId="0" sldId="260"/>
            <ac:spMk id="4" creationId="{2BF60E54-56CF-69C5-C78E-EA7C230DD1A7}"/>
          </ac:spMkLst>
        </pc:spChg>
        <pc:spChg chg="add del mod ord">
          <ac:chgData name="Peter Bernhardt" userId="f2333933-0b12-4d6e-972f-f87625423892" providerId="ADAL" clId="{54BAB7D7-C378-4C4A-B0F8-9DF09AB8FC9C}" dt="2026-03-18T16:47:08.173" v="301" actId="6264"/>
          <ac:spMkLst>
            <pc:docMk/>
            <pc:sldMk cId="0" sldId="260"/>
            <ac:spMk id="5" creationId="{460AF33A-DD44-200F-314D-2C0E800840E6}"/>
          </ac:spMkLst>
        </pc:spChg>
        <pc:spChg chg="add del mod">
          <ac:chgData name="Peter Bernhardt" userId="f2333933-0b12-4d6e-972f-f87625423892" providerId="ADAL" clId="{54BAB7D7-C378-4C4A-B0F8-9DF09AB8FC9C}" dt="2026-03-18T16:47:08.173" v="301" actId="6264"/>
          <ac:spMkLst>
            <pc:docMk/>
            <pc:sldMk cId="0" sldId="260"/>
            <ac:spMk id="6" creationId="{395C5F83-BD03-5556-D8B2-EAF5435BCDB0}"/>
          </ac:spMkLst>
        </pc:spChg>
        <pc:spChg chg="add del mod or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7" creationId="{4EC73281-620F-F720-0EBD-2FE38FD221AB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8" creationId="{EB8A1B5F-0801-4AFF-A489-335B6A851FF4}"/>
          </ac:spMkLst>
        </pc:spChg>
        <pc:spChg chg="add del mo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9" creationId="{7311CE1B-E5BD-CF3E-86C3-F754B64230EE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0" creationId="{06201B52-6441-4DBA-BACE-2359775817CE}"/>
          </ac:spMkLst>
        </pc:spChg>
        <pc:spChg chg="add mod ord">
          <ac:chgData name="Peter Bernhardt" userId="f2333933-0b12-4d6e-972f-f87625423892" providerId="ADAL" clId="{54BAB7D7-C378-4C4A-B0F8-9DF09AB8FC9C}" dt="2026-03-18T17:15:21.818" v="431" actId="6264"/>
          <ac:spMkLst>
            <pc:docMk/>
            <pc:sldMk cId="0" sldId="260"/>
            <ac:spMk id="11" creationId="{8F3127DF-8214-64CE-298A-497397B6CAB2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4" creationId="{FBDCECDC-EEE3-4128-AA5E-82A8C08796E8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6" creationId="{1F3985C0-E548-44D2-B30E-F3E42DADE133}"/>
          </ac:spMkLst>
        </pc:spChg>
        <pc:spChg chg="add del">
          <ac:chgData name="Peter Bernhardt" userId="f2333933-0b12-4d6e-972f-f87625423892" providerId="ADAL" clId="{54BAB7D7-C378-4C4A-B0F8-9DF09AB8FC9C}" dt="2026-03-18T16:45:20.814" v="288" actId="700"/>
          <ac:spMkLst>
            <pc:docMk/>
            <pc:sldMk cId="0" sldId="260"/>
            <ac:spMk id="18" creationId="{4260EDE0-989C-4E16-AF94-F652294D828E}"/>
          </ac:spMkLst>
        </pc:spChg>
        <pc:cxnChg chg="add del">
          <ac:chgData name="Peter Bernhardt" userId="f2333933-0b12-4d6e-972f-f87625423892" providerId="ADAL" clId="{54BAB7D7-C378-4C4A-B0F8-9DF09AB8FC9C}" dt="2026-03-18T16:45:20.814" v="288" actId="700"/>
          <ac:cxnSpMkLst>
            <pc:docMk/>
            <pc:sldMk cId="0" sldId="260"/>
            <ac:cxnSpMk id="12" creationId="{89DF3DBB-17DD-4058-A944-5578E18A031E}"/>
          </ac:cxnSpMkLst>
        </pc:cxnChg>
      </pc:sldChg>
      <pc:sldChg chg="modSp mod">
        <pc:chgData name="Peter Bernhardt" userId="f2333933-0b12-4d6e-972f-f87625423892" providerId="ADAL" clId="{54BAB7D7-C378-4C4A-B0F8-9DF09AB8FC9C}" dt="2026-03-18T16:39:28.277" v="85" actId="27636"/>
        <pc:sldMkLst>
          <pc:docMk/>
          <pc:sldMk cId="0" sldId="26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77" v="85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277" v="86" actId="27636"/>
        <pc:sldMkLst>
          <pc:docMk/>
          <pc:sldMk cId="0" sldId="262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77" v="86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292" v="87" actId="27636"/>
        <pc:sldMkLst>
          <pc:docMk/>
          <pc:sldMk cId="0" sldId="26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292" v="87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7:22:43.779" v="463" actId="207"/>
        <pc:sldMkLst>
          <pc:docMk/>
          <pc:sldMk cId="0" sldId="264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22:43.779" v="463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308" v="90" actId="27636"/>
        <pc:sldMkLst>
          <pc:docMk/>
          <pc:sldMk cId="0" sldId="26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08" v="90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308" v="92" actId="27636"/>
        <pc:sldMkLst>
          <pc:docMk/>
          <pc:sldMk cId="0" sldId="266"/>
        </pc:sldMkLst>
        <pc:spChg chg="mod">
          <ac:chgData name="Peter Bernhardt" userId="f2333933-0b12-4d6e-972f-f87625423892" providerId="ADAL" clId="{54BAB7D7-C378-4C4A-B0F8-9DF09AB8FC9C}" dt="2026-03-18T16:39:28.308" v="9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08" v="92" actId="2763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325" v="93" actId="27636"/>
        <pc:sldMkLst>
          <pc:docMk/>
          <pc:sldMk cId="0" sldId="26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25" v="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333" v="95" actId="27636"/>
        <pc:sldMkLst>
          <pc:docMk/>
          <pc:sldMk cId="0" sldId="268"/>
        </pc:sldMkLst>
        <pc:spChg chg="mod">
          <ac:chgData name="Peter Bernhardt" userId="f2333933-0b12-4d6e-972f-f87625423892" providerId="ADAL" clId="{54BAB7D7-C378-4C4A-B0F8-9DF09AB8FC9C}" dt="2026-03-18T16:39:28.333" v="95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32" v="94" actId="27636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 setBg delDesignElem chgLayout">
        <pc:chgData name="Peter Bernhardt" userId="f2333933-0b12-4d6e-972f-f87625423892" providerId="ADAL" clId="{54BAB7D7-C378-4C4A-B0F8-9DF09AB8FC9C}" dt="2026-03-18T17:15:30.999" v="433" actId="6264"/>
        <pc:sldMkLst>
          <pc:docMk/>
          <pc:sldMk cId="0" sldId="269"/>
        </pc:sldMkLst>
        <pc:spChg chg="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2" creationId="{00000000-0000-0000-0000-000000000000}"/>
          </ac:spMkLst>
        </pc:spChg>
        <pc:spChg chg="add del mod ord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3" creationId="{19AD92D7-A542-E8D7-97BC-158B9474374B}"/>
          </ac:spMkLst>
        </pc:spChg>
        <pc:spChg chg="add del mod ord">
          <ac:chgData name="Peter Bernhardt" userId="f2333933-0b12-4d6e-972f-f87625423892" providerId="ADAL" clId="{54BAB7D7-C378-4C4A-B0F8-9DF09AB8FC9C}" dt="2026-03-18T16:46:58.112" v="298" actId="6264"/>
          <ac:spMkLst>
            <pc:docMk/>
            <pc:sldMk cId="0" sldId="269"/>
            <ac:spMk id="4" creationId="{F402EB27-1766-EC25-F2E9-E25A9A74C9A6}"/>
          </ac:spMkLst>
        </pc:spChg>
        <pc:spChg chg="add del mod">
          <ac:chgData name="Peter Bernhardt" userId="f2333933-0b12-4d6e-972f-f87625423892" providerId="ADAL" clId="{54BAB7D7-C378-4C4A-B0F8-9DF09AB8FC9C}" dt="2026-03-18T16:46:58.112" v="298" actId="6264"/>
          <ac:spMkLst>
            <pc:docMk/>
            <pc:sldMk cId="0" sldId="269"/>
            <ac:spMk id="6" creationId="{1F150884-F75D-44F1-4705-C6EBE6FDA276}"/>
          </ac:spMkLst>
        </pc:spChg>
        <pc:spChg chg="add del mod ord">
          <ac:chgData name="Peter Bernhardt" userId="f2333933-0b12-4d6e-972f-f87625423892" providerId="ADAL" clId="{54BAB7D7-C378-4C4A-B0F8-9DF09AB8FC9C}" dt="2026-03-18T16:47:01.269" v="300" actId="700"/>
          <ac:spMkLst>
            <pc:docMk/>
            <pc:sldMk cId="0" sldId="269"/>
            <ac:spMk id="7" creationId="{D7F42379-8D7C-6359-8666-CF903DA8421C}"/>
          </ac:spMkLst>
        </pc:spChg>
        <pc:spChg chg="add del 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8" creationId="{6B4C4B3D-D383-F075-7F5D-E818D1FE8C31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9" creationId="{D829E218-74FB-4455-98BE-F2C5BA8978BE}"/>
          </ac:spMkLst>
        </pc:spChg>
        <pc:spChg chg="add del mo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10" creationId="{3E0CF35C-F0EB-1270-E47D-6AB23AF89F07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11" creationId="{7E8D75FD-D4F9-4D11-B70D-82EFCB4CFA5B}"/>
          </ac:spMkLst>
        </pc:spChg>
        <pc:spChg chg="add mod ord">
          <ac:chgData name="Peter Bernhardt" userId="f2333933-0b12-4d6e-972f-f87625423892" providerId="ADAL" clId="{54BAB7D7-C378-4C4A-B0F8-9DF09AB8FC9C}" dt="2026-03-18T17:15:30.999" v="433" actId="6264"/>
          <ac:spMkLst>
            <pc:docMk/>
            <pc:sldMk cId="0" sldId="269"/>
            <ac:spMk id="12" creationId="{CF703DD4-0F5C-5E36-561C-DE7602282BCB}"/>
          </ac:spMkLst>
        </pc:spChg>
        <pc:spChg chg="add del">
          <ac:chgData name="Peter Bernhardt" userId="f2333933-0b12-4d6e-972f-f87625423892" providerId="ADAL" clId="{54BAB7D7-C378-4C4A-B0F8-9DF09AB8FC9C}" dt="2026-03-18T16:46:34.265" v="294" actId="700"/>
          <ac:spMkLst>
            <pc:docMk/>
            <pc:sldMk cId="0" sldId="269"/>
            <ac:spMk id="15" creationId="{A9286AD2-18A9-4868-A4E3-7A2097A20810}"/>
          </ac:spMkLst>
        </pc:spChg>
        <pc:picChg chg="add del">
          <ac:chgData name="Peter Bernhardt" userId="f2333933-0b12-4d6e-972f-f87625423892" providerId="ADAL" clId="{54BAB7D7-C378-4C4A-B0F8-9DF09AB8FC9C}" dt="2026-03-18T16:46:37.226" v="296" actId="478"/>
          <ac:picMkLst>
            <pc:docMk/>
            <pc:sldMk cId="0" sldId="269"/>
            <ac:picMk id="5" creationId="{77BD201C-1A67-DEAB-6901-F52FB64DCE15}"/>
          </ac:picMkLst>
        </pc:picChg>
        <pc:cxnChg chg="add del">
          <ac:chgData name="Peter Bernhardt" userId="f2333933-0b12-4d6e-972f-f87625423892" providerId="ADAL" clId="{54BAB7D7-C378-4C4A-B0F8-9DF09AB8FC9C}" dt="2026-03-18T16:46:34.265" v="294" actId="700"/>
          <ac:cxnSpMkLst>
            <pc:docMk/>
            <pc:sldMk cId="0" sldId="269"/>
            <ac:cxnSpMk id="13" creationId="{1F5DC8C3-BA5F-4EED-BB9A-A14272BD82A1}"/>
          </ac:cxnSpMkLst>
        </pc:cxnChg>
        <pc:cxnChg chg="add del">
          <ac:chgData name="Peter Bernhardt" userId="f2333933-0b12-4d6e-972f-f87625423892" providerId="ADAL" clId="{54BAB7D7-C378-4C4A-B0F8-9DF09AB8FC9C}" dt="2026-03-18T16:46:34.265" v="294" actId="700"/>
          <ac:cxnSpMkLst>
            <pc:docMk/>
            <pc:sldMk cId="0" sldId="269"/>
            <ac:cxnSpMk id="17" creationId="{E7A7CD63-7EC3-44F3-95D0-595C4019FF24}"/>
          </ac:cxnSpMkLst>
        </pc:cxnChg>
      </pc:sldChg>
      <pc:sldChg chg="modSp mod">
        <pc:chgData name="Peter Bernhardt" userId="f2333933-0b12-4d6e-972f-f87625423892" providerId="ADAL" clId="{54BAB7D7-C378-4C4A-B0F8-9DF09AB8FC9C}" dt="2026-03-18T16:41:22.087" v="209" actId="14100"/>
        <pc:sldMkLst>
          <pc:docMk/>
          <pc:sldMk cId="0" sldId="270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40" v="97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342" v="100" actId="27636"/>
        <pc:sldMkLst>
          <pc:docMk/>
          <pc:sldMk cId="0" sldId="271"/>
        </pc:sldMkLst>
        <pc:spChg chg="mod">
          <ac:chgData name="Peter Bernhardt" userId="f2333933-0b12-4d6e-972f-f87625423892" providerId="ADAL" clId="{54BAB7D7-C378-4C4A-B0F8-9DF09AB8FC9C}" dt="2026-03-18T16:39:28.342" v="100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42" v="99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41:22.087" v="209" actId="14100"/>
        <pc:sldMkLst>
          <pc:docMk/>
          <pc:sldMk cId="0" sldId="272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358" v="101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783" v="103" actId="27636"/>
        <pc:sldMkLst>
          <pc:docMk/>
          <pc:sldMk cId="0" sldId="27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783" v="103" actId="2763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791" v="104" actId="27636"/>
        <pc:sldMkLst>
          <pc:docMk/>
          <pc:sldMk cId="0" sldId="274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791" v="104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04" v="106" actId="27636"/>
        <pc:sldMkLst>
          <pc:docMk/>
          <pc:sldMk cId="0" sldId="275"/>
        </pc:sldMkLst>
        <pc:spChg chg="mod">
          <ac:chgData name="Peter Bernhardt" userId="f2333933-0b12-4d6e-972f-f87625423892" providerId="ADAL" clId="{54BAB7D7-C378-4C4A-B0F8-9DF09AB8FC9C}" dt="2026-03-18T16:39:28.804" v="106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2" v="105" actId="2763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07" v="108" actId="27636"/>
        <pc:sldMkLst>
          <pc:docMk/>
          <pc:sldMk cId="0" sldId="276"/>
        </pc:sldMkLst>
        <pc:spChg chg="mod">
          <ac:chgData name="Peter Bernhardt" userId="f2333933-0b12-4d6e-972f-f87625423892" providerId="ADAL" clId="{54BAB7D7-C378-4C4A-B0F8-9DF09AB8FC9C}" dt="2026-03-18T16:39:28.807" v="107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7" v="108" actId="27636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07" v="109" actId="27636"/>
        <pc:sldMkLst>
          <pc:docMk/>
          <pc:sldMk cId="0" sldId="27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07" v="109" actId="27636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30" v="110" actId="27636"/>
        <pc:sldMkLst>
          <pc:docMk/>
          <pc:sldMk cId="0" sldId="27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7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30" v="110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39" v="112" actId="27636"/>
        <pc:sldMkLst>
          <pc:docMk/>
          <pc:sldMk cId="0" sldId="279"/>
        </pc:sldMkLst>
        <pc:spChg chg="mod">
          <ac:chgData name="Peter Bernhardt" userId="f2333933-0b12-4d6e-972f-f87625423892" providerId="ADAL" clId="{54BAB7D7-C378-4C4A-B0F8-9DF09AB8FC9C}" dt="2026-03-18T16:39:28.832" v="111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39" v="112" actId="27636"/>
          <ac:spMkLst>
            <pc:docMk/>
            <pc:sldMk cId="0" sldId="279"/>
            <ac:spMk id="3" creationId="{00000000-0000-0000-0000-000000000000}"/>
          </ac:spMkLst>
        </pc:spChg>
      </pc:sldChg>
      <pc:sldChg chg="addSp modSp mod chgLayout">
        <pc:chgData name="Peter Bernhardt" userId="f2333933-0b12-4d6e-972f-f87625423892" providerId="ADAL" clId="{54BAB7D7-C378-4C4A-B0F8-9DF09AB8FC9C}" dt="2026-03-18T16:47:36.106" v="303" actId="700"/>
        <pc:sldMkLst>
          <pc:docMk/>
          <pc:sldMk cId="0" sldId="280"/>
        </pc:sldMkLst>
        <pc:spChg chg="mod ord">
          <ac:chgData name="Peter Bernhardt" userId="f2333933-0b12-4d6e-972f-f87625423892" providerId="ADAL" clId="{54BAB7D7-C378-4C4A-B0F8-9DF09AB8FC9C}" dt="2026-03-18T16:47:36.106" v="303" actId="700"/>
          <ac:spMkLst>
            <pc:docMk/>
            <pc:sldMk cId="0" sldId="280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7:36.106" v="303" actId="700"/>
          <ac:spMkLst>
            <pc:docMk/>
            <pc:sldMk cId="0" sldId="280"/>
            <ac:spMk id="3" creationId="{3FAF18B2-91AD-12FF-8DD6-25B1AA052EAF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49" v="114" actId="27636"/>
        <pc:sldMkLst>
          <pc:docMk/>
          <pc:sldMk cId="0" sldId="28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49" v="114" actId="27636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58" v="115" actId="27636"/>
        <pc:sldMkLst>
          <pc:docMk/>
          <pc:sldMk cId="0" sldId="282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58" v="115" actId="27636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66" v="116" actId="27636"/>
        <pc:sldMkLst>
          <pc:docMk/>
          <pc:sldMk cId="0" sldId="283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66" v="116" actId="27636"/>
          <ac:spMkLst>
            <pc:docMk/>
            <pc:sldMk cId="0" sldId="283"/>
            <ac:spMk id="3" creationId="{00000000-0000-0000-0000-000000000000}"/>
          </ac:spMkLst>
        </pc:spChg>
      </pc:sldChg>
      <pc:sldChg chg="addSp modSp mod">
        <pc:chgData name="Peter Bernhardt" userId="f2333933-0b12-4d6e-972f-f87625423892" providerId="ADAL" clId="{54BAB7D7-C378-4C4A-B0F8-9DF09AB8FC9C}" dt="2026-03-18T17:16:09.844" v="437" actId="27636"/>
        <pc:sldMkLst>
          <pc:docMk/>
          <pc:sldMk cId="0" sldId="284"/>
        </pc:sldMkLst>
        <pc:spChg chg="mod">
          <ac:chgData name="Peter Bernhardt" userId="f2333933-0b12-4d6e-972f-f87625423892" providerId="ADAL" clId="{54BAB7D7-C378-4C4A-B0F8-9DF09AB8FC9C}" dt="2026-03-18T16:39:28.869" v="117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6:09.844" v="437" actId="27636"/>
          <ac:spMkLst>
            <pc:docMk/>
            <pc:sldMk cId="0" sldId="284"/>
            <ac:spMk id="3" creationId="{00000000-0000-0000-0000-000000000000}"/>
          </ac:spMkLst>
        </pc:spChg>
        <pc:picChg chg="add mod modCrop">
          <ac:chgData name="Peter Bernhardt" userId="f2333933-0b12-4d6e-972f-f87625423892" providerId="ADAL" clId="{54BAB7D7-C378-4C4A-B0F8-9DF09AB8FC9C}" dt="2026-03-18T17:09:03.973" v="348" actId="1076"/>
          <ac:picMkLst>
            <pc:docMk/>
            <pc:sldMk cId="0" sldId="284"/>
            <ac:picMk id="5" creationId="{31A5285D-914E-FA7D-F134-3B80DA4843CE}"/>
          </ac:picMkLst>
        </pc:picChg>
      </pc:sldChg>
      <pc:sldChg chg="modSp mod">
        <pc:chgData name="Peter Bernhardt" userId="f2333933-0b12-4d6e-972f-f87625423892" providerId="ADAL" clId="{54BAB7D7-C378-4C4A-B0F8-9DF09AB8FC9C}" dt="2026-03-18T16:39:28.869" v="119" actId="27636"/>
        <pc:sldMkLst>
          <pc:docMk/>
          <pc:sldMk cId="0" sldId="28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69" v="119" actId="2763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87" v="120" actId="27636"/>
        <pc:sldMkLst>
          <pc:docMk/>
          <pc:sldMk cId="0" sldId="286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87" v="120" actId="27636"/>
          <ac:spMkLst>
            <pc:docMk/>
            <pc:sldMk cId="0" sldId="286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899" v="121" actId="27636"/>
        <pc:sldMkLst>
          <pc:docMk/>
          <pc:sldMk cId="0" sldId="28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8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899" v="121" actId="27636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10" v="123" actId="27636"/>
        <pc:sldMkLst>
          <pc:docMk/>
          <pc:sldMk cId="0" sldId="288"/>
        </pc:sldMkLst>
        <pc:spChg chg="mod">
          <ac:chgData name="Peter Bernhardt" userId="f2333933-0b12-4d6e-972f-f87625423892" providerId="ADAL" clId="{54BAB7D7-C378-4C4A-B0F8-9DF09AB8FC9C}" dt="2026-03-18T16:39:28.904" v="122" actId="276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10" v="123" actId="27636"/>
          <ac:spMkLst>
            <pc:docMk/>
            <pc:sldMk cId="0" sldId="288"/>
            <ac:spMk id="3" creationId="{00000000-0000-0000-0000-000000000000}"/>
          </ac:spMkLst>
        </pc:spChg>
      </pc:sldChg>
      <pc:sldChg chg="addSp modSp mod chgLayout">
        <pc:chgData name="Peter Bernhardt" userId="f2333933-0b12-4d6e-972f-f87625423892" providerId="ADAL" clId="{54BAB7D7-C378-4C4A-B0F8-9DF09AB8FC9C}" dt="2026-03-18T16:47:51.791" v="304" actId="700"/>
        <pc:sldMkLst>
          <pc:docMk/>
          <pc:sldMk cId="0" sldId="289"/>
        </pc:sldMkLst>
        <pc:spChg chg="mod ord">
          <ac:chgData name="Peter Bernhardt" userId="f2333933-0b12-4d6e-972f-f87625423892" providerId="ADAL" clId="{54BAB7D7-C378-4C4A-B0F8-9DF09AB8FC9C}" dt="2026-03-18T16:47:51.791" v="304" actId="700"/>
          <ac:spMkLst>
            <pc:docMk/>
            <pc:sldMk cId="0" sldId="289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7:51.791" v="304" actId="700"/>
          <ac:spMkLst>
            <pc:docMk/>
            <pc:sldMk cId="0" sldId="289"/>
            <ac:spMk id="3" creationId="{2C79806A-06EA-A213-011E-BFD782E8231D}"/>
          </ac:spMkLst>
        </pc:spChg>
      </pc:sldChg>
      <pc:sldChg chg="modSp mod">
        <pc:chgData name="Peter Bernhardt" userId="f2333933-0b12-4d6e-972f-f87625423892" providerId="ADAL" clId="{54BAB7D7-C378-4C4A-B0F8-9DF09AB8FC9C}" dt="2026-03-18T16:41:22.087" v="209" actId="14100"/>
        <pc:sldMkLst>
          <pc:docMk/>
          <pc:sldMk cId="0" sldId="290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9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21" v="126" actId="27636"/>
          <ac:spMkLst>
            <pc:docMk/>
            <pc:sldMk cId="0" sldId="290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31" v="128" actId="27636"/>
        <pc:sldMkLst>
          <pc:docMk/>
          <pc:sldMk cId="0" sldId="291"/>
        </pc:sldMkLst>
        <pc:spChg chg="mod">
          <ac:chgData name="Peter Bernhardt" userId="f2333933-0b12-4d6e-972f-f87625423892" providerId="ADAL" clId="{54BAB7D7-C378-4C4A-B0F8-9DF09AB8FC9C}" dt="2026-03-18T16:39:28.927" v="127" actId="27636"/>
          <ac:spMkLst>
            <pc:docMk/>
            <pc:sldMk cId="0" sldId="29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31" v="128" actId="27636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33" v="130" actId="27636"/>
        <pc:sldMkLst>
          <pc:docMk/>
          <pc:sldMk cId="0" sldId="292"/>
        </pc:sldMkLst>
        <pc:spChg chg="mod">
          <ac:chgData name="Peter Bernhardt" userId="f2333933-0b12-4d6e-972f-f87625423892" providerId="ADAL" clId="{54BAB7D7-C378-4C4A-B0F8-9DF09AB8FC9C}" dt="2026-03-18T16:39:28.933" v="130" actId="27636"/>
          <ac:spMkLst>
            <pc:docMk/>
            <pc:sldMk cId="0" sldId="29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33" v="129" actId="27636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49" v="132" actId="27636"/>
        <pc:sldMkLst>
          <pc:docMk/>
          <pc:sldMk cId="0" sldId="293"/>
        </pc:sldMkLst>
        <pc:spChg chg="mod">
          <ac:chgData name="Peter Bernhardt" userId="f2333933-0b12-4d6e-972f-f87625423892" providerId="ADAL" clId="{54BAB7D7-C378-4C4A-B0F8-9DF09AB8FC9C}" dt="2026-03-18T16:39:28.933" v="131" actId="27636"/>
          <ac:spMkLst>
            <pc:docMk/>
            <pc:sldMk cId="0" sldId="29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49" v="132" actId="27636"/>
          <ac:spMkLst>
            <pc:docMk/>
            <pc:sldMk cId="0" sldId="293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66" v="133" actId="27636"/>
        <pc:sldMkLst>
          <pc:docMk/>
          <pc:sldMk cId="0" sldId="294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4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66" v="133" actId="27636"/>
          <ac:spMkLst>
            <pc:docMk/>
            <pc:sldMk cId="0" sldId="294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41:22.087" v="209" actId="14100"/>
        <pc:sldMkLst>
          <pc:docMk/>
          <pc:sldMk cId="0" sldId="295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29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76" v="135" actId="27636"/>
          <ac:spMkLst>
            <pc:docMk/>
            <pc:sldMk cId="0" sldId="295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7:16:52.359" v="442" actId="20577"/>
        <pc:sldMkLst>
          <pc:docMk/>
          <pc:sldMk cId="0" sldId="296"/>
        </pc:sldMkLst>
        <pc:spChg chg="mod">
          <ac:chgData name="Peter Bernhardt" userId="f2333933-0b12-4d6e-972f-f87625423892" providerId="ADAL" clId="{54BAB7D7-C378-4C4A-B0F8-9DF09AB8FC9C}" dt="2026-03-18T17:16:52.359" v="442" actId="20577"/>
          <ac:spMkLst>
            <pc:docMk/>
            <pc:sldMk cId="0" sldId="29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6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79" v="136" actId="27636"/>
        <pc:sldMkLst>
          <pc:docMk/>
          <pc:sldMk cId="0" sldId="29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79" v="136" actId="27636"/>
          <ac:spMkLst>
            <pc:docMk/>
            <pc:sldMk cId="0" sldId="297"/>
            <ac:spMk id="3" creationId="{00000000-0000-0000-0000-000000000000}"/>
          </ac:spMkLst>
        </pc:spChg>
      </pc:sldChg>
      <pc:sldChg chg="modSp mod modClrScheme chgLayout">
        <pc:chgData name="Peter Bernhardt" userId="f2333933-0b12-4d6e-972f-f87625423892" providerId="ADAL" clId="{54BAB7D7-C378-4C4A-B0F8-9DF09AB8FC9C}" dt="2026-03-18T17:04:06.022" v="330" actId="20577"/>
        <pc:sldMkLst>
          <pc:docMk/>
          <pc:sldMk cId="0" sldId="298"/>
        </pc:sldMkLst>
        <pc:spChg chg="mod ord">
          <ac:chgData name="Peter Bernhardt" userId="f2333933-0b12-4d6e-972f-f87625423892" providerId="ADAL" clId="{54BAB7D7-C378-4C4A-B0F8-9DF09AB8FC9C}" dt="2026-03-18T17:02:45.579" v="309" actId="27636"/>
          <ac:spMkLst>
            <pc:docMk/>
            <pc:sldMk cId="0" sldId="298"/>
            <ac:spMk id="2" creationId="{00000000-0000-0000-0000-000000000000}"/>
          </ac:spMkLst>
        </pc:spChg>
        <pc:spChg chg="mod ord">
          <ac:chgData name="Peter Bernhardt" userId="f2333933-0b12-4d6e-972f-f87625423892" providerId="ADAL" clId="{54BAB7D7-C378-4C4A-B0F8-9DF09AB8FC9C}" dt="2026-03-18T17:04:06.022" v="330" actId="20577"/>
          <ac:spMkLst>
            <pc:docMk/>
            <pc:sldMk cId="0" sldId="298"/>
            <ac:spMk id="4" creationId="{00000000-0000-0000-0000-000000000000}"/>
          </ac:spMkLst>
        </pc:spChg>
        <pc:graphicFrameChg chg="mod ord modGraphic">
          <ac:chgData name="Peter Bernhardt" userId="f2333933-0b12-4d6e-972f-f87625423892" providerId="ADAL" clId="{54BAB7D7-C378-4C4A-B0F8-9DF09AB8FC9C}" dt="2026-03-18T17:03:47.041" v="317" actId="1076"/>
          <ac:graphicFrameMkLst>
            <pc:docMk/>
            <pc:sldMk cId="0" sldId="298"/>
            <ac:graphicFrameMk id="6" creationId="{00000000-0000-0000-0000-000000000000}"/>
          </ac:graphicFrameMkLst>
        </pc:graphicFrameChg>
      </pc:sldChg>
      <pc:sldChg chg="modSp del mod">
        <pc:chgData name="Peter Bernhardt" userId="f2333933-0b12-4d6e-972f-f87625423892" providerId="ADAL" clId="{54BAB7D7-C378-4C4A-B0F8-9DF09AB8FC9C}" dt="2026-03-18T17:04:17.363" v="331" actId="47"/>
        <pc:sldMkLst>
          <pc:docMk/>
          <pc:sldMk cId="0" sldId="299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8.994" v="138" actId="27636"/>
        <pc:sldMkLst>
          <pc:docMk/>
          <pc:sldMk cId="0" sldId="300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8.994" v="138" actId="27636"/>
          <ac:spMkLst>
            <pc:docMk/>
            <pc:sldMk cId="0" sldId="300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41:22.087" v="209" actId="14100"/>
        <pc:sldMkLst>
          <pc:docMk/>
          <pc:sldMk cId="0" sldId="301"/>
        </pc:sldMkLst>
        <pc:spChg chg="mod">
          <ac:chgData name="Peter Bernhardt" userId="f2333933-0b12-4d6e-972f-f87625423892" providerId="ADAL" clId="{54BAB7D7-C378-4C4A-B0F8-9DF09AB8FC9C}" dt="2026-03-18T16:41:22.087" v="209" actId="14100"/>
          <ac:spMkLst>
            <pc:docMk/>
            <pc:sldMk cId="0" sldId="30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08" v="140" actId="27636"/>
          <ac:spMkLst>
            <pc:docMk/>
            <pc:sldMk cId="0" sldId="301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9.014" v="142" actId="27636"/>
        <pc:sldMkLst>
          <pc:docMk/>
          <pc:sldMk cId="0" sldId="302"/>
        </pc:sldMkLst>
        <pc:spChg chg="mod">
          <ac:chgData name="Peter Bernhardt" userId="f2333933-0b12-4d6e-972f-f87625423892" providerId="ADAL" clId="{54BAB7D7-C378-4C4A-B0F8-9DF09AB8FC9C}" dt="2026-03-18T16:39:29.012" v="141" actId="27636"/>
          <ac:spMkLst>
            <pc:docMk/>
            <pc:sldMk cId="0" sldId="30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14" v="142" actId="27636"/>
          <ac:spMkLst>
            <pc:docMk/>
            <pc:sldMk cId="0" sldId="302"/>
            <ac:spMk id="3" creationId="{00000000-0000-0000-0000-000000000000}"/>
          </ac:spMkLst>
        </pc:spChg>
      </pc:sldChg>
      <pc:sldChg chg="addSp delSp modSp mod">
        <pc:chgData name="Peter Bernhardt" userId="f2333933-0b12-4d6e-972f-f87625423892" providerId="ADAL" clId="{54BAB7D7-C378-4C4A-B0F8-9DF09AB8FC9C}" dt="2026-03-18T17:16:09.887" v="438" actId="27636"/>
        <pc:sldMkLst>
          <pc:docMk/>
          <pc:sldMk cId="0" sldId="303"/>
        </pc:sldMkLst>
        <pc:spChg chg="mod">
          <ac:chgData name="Peter Bernhardt" userId="f2333933-0b12-4d6e-972f-f87625423892" providerId="ADAL" clId="{54BAB7D7-C378-4C4A-B0F8-9DF09AB8FC9C}" dt="2026-03-18T17:11:20.837" v="369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6:09.887" v="438" actId="27636"/>
          <ac:spMkLst>
            <pc:docMk/>
            <pc:sldMk cId="0" sldId="303"/>
            <ac:spMk id="3" creationId="{00000000-0000-0000-0000-000000000000}"/>
          </ac:spMkLst>
        </pc:spChg>
        <pc:grpChg chg="add mod">
          <ac:chgData name="Peter Bernhardt" userId="f2333933-0b12-4d6e-972f-f87625423892" providerId="ADAL" clId="{54BAB7D7-C378-4C4A-B0F8-9DF09AB8FC9C}" dt="2026-03-18T17:13:08.640" v="392" actId="14100"/>
          <ac:grpSpMkLst>
            <pc:docMk/>
            <pc:sldMk cId="0" sldId="303"/>
            <ac:grpSpMk id="10" creationId="{C8B658D4-67D0-EA1C-5507-2CCA466560CB}"/>
          </ac:grpSpMkLst>
        </pc:grpChg>
        <pc:picChg chg="add del mod">
          <ac:chgData name="Peter Bernhardt" userId="f2333933-0b12-4d6e-972f-f87625423892" providerId="ADAL" clId="{54BAB7D7-C378-4C4A-B0F8-9DF09AB8FC9C}" dt="2026-03-18T17:11:34.679" v="372" actId="478"/>
          <ac:picMkLst>
            <pc:docMk/>
            <pc:sldMk cId="0" sldId="303"/>
            <ac:picMk id="5" creationId="{4F912428-C8C8-1ADF-ED4F-3486638CF6B1}"/>
          </ac:picMkLst>
        </pc:picChg>
        <pc:picChg chg="add mod">
          <ac:chgData name="Peter Bernhardt" userId="f2333933-0b12-4d6e-972f-f87625423892" providerId="ADAL" clId="{54BAB7D7-C378-4C4A-B0F8-9DF09AB8FC9C}" dt="2026-03-18T17:12:24.161" v="381" actId="164"/>
          <ac:picMkLst>
            <pc:docMk/>
            <pc:sldMk cId="0" sldId="303"/>
            <ac:picMk id="7" creationId="{947B2390-B0EC-259F-930A-6900CD497B7D}"/>
          </ac:picMkLst>
        </pc:picChg>
        <pc:picChg chg="add mod">
          <ac:chgData name="Peter Bernhardt" userId="f2333933-0b12-4d6e-972f-f87625423892" providerId="ADAL" clId="{54BAB7D7-C378-4C4A-B0F8-9DF09AB8FC9C}" dt="2026-03-18T17:12:24.161" v="381" actId="164"/>
          <ac:picMkLst>
            <pc:docMk/>
            <pc:sldMk cId="0" sldId="303"/>
            <ac:picMk id="9" creationId="{C9D17E6C-6CEC-E98A-6B0B-52194B236241}"/>
          </ac:picMkLst>
        </pc:picChg>
      </pc:sldChg>
      <pc:sldChg chg="addSp modSp mod chgLayout">
        <pc:chgData name="Peter Bernhardt" userId="f2333933-0b12-4d6e-972f-f87625423892" providerId="ADAL" clId="{54BAB7D7-C378-4C4A-B0F8-9DF09AB8FC9C}" dt="2026-03-18T16:48:06.705" v="306" actId="700"/>
        <pc:sldMkLst>
          <pc:docMk/>
          <pc:sldMk cId="0" sldId="304"/>
        </pc:sldMkLst>
        <pc:spChg chg="mod ord">
          <ac:chgData name="Peter Bernhardt" userId="f2333933-0b12-4d6e-972f-f87625423892" providerId="ADAL" clId="{54BAB7D7-C378-4C4A-B0F8-9DF09AB8FC9C}" dt="2026-03-18T16:48:06.705" v="306" actId="700"/>
          <ac:spMkLst>
            <pc:docMk/>
            <pc:sldMk cId="0" sldId="304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8:06.705" v="306" actId="700"/>
          <ac:spMkLst>
            <pc:docMk/>
            <pc:sldMk cId="0" sldId="304"/>
            <ac:spMk id="3" creationId="{25E75BA3-E6A0-72F3-7B54-1EBCF166B9C6}"/>
          </ac:spMkLst>
        </pc:spChg>
      </pc:sldChg>
      <pc:sldChg chg="modSp mod">
        <pc:chgData name="Peter Bernhardt" userId="f2333933-0b12-4d6e-972f-f87625423892" providerId="ADAL" clId="{54BAB7D7-C378-4C4A-B0F8-9DF09AB8FC9C}" dt="2026-03-18T16:39:29.041" v="146" actId="27636"/>
        <pc:sldMkLst>
          <pc:docMk/>
          <pc:sldMk cId="0" sldId="305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5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41" v="146" actId="27636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9.055" v="148" actId="27636"/>
        <pc:sldMkLst>
          <pc:docMk/>
          <pc:sldMk cId="0" sldId="306"/>
        </pc:sldMkLst>
        <pc:spChg chg="mod">
          <ac:chgData name="Peter Bernhardt" userId="f2333933-0b12-4d6e-972f-f87625423892" providerId="ADAL" clId="{54BAB7D7-C378-4C4A-B0F8-9DF09AB8FC9C}" dt="2026-03-18T16:39:29.043" v="147" actId="27636"/>
          <ac:spMkLst>
            <pc:docMk/>
            <pc:sldMk cId="0" sldId="306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055" v="148" actId="27636"/>
          <ac:spMkLst>
            <pc:docMk/>
            <pc:sldMk cId="0" sldId="306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7:14:02.058" v="402" actId="20577"/>
        <pc:sldMkLst>
          <pc:docMk/>
          <pc:sldMk cId="0" sldId="307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7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7:14:02.058" v="402" actId="20577"/>
          <ac:spMkLst>
            <pc:docMk/>
            <pc:sldMk cId="0" sldId="307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9.174" v="150" actId="27636"/>
        <pc:sldMkLst>
          <pc:docMk/>
          <pc:sldMk cId="0" sldId="308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0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74" v="150" actId="27636"/>
          <ac:spMkLst>
            <pc:docMk/>
            <pc:sldMk cId="0" sldId="308"/>
            <ac:spMk id="3" creationId="{00000000-0000-0000-0000-000000000000}"/>
          </ac:spMkLst>
        </pc:spChg>
      </pc:sldChg>
      <pc:sldChg chg="addSp modSp mod chgLayout">
        <pc:chgData name="Peter Bernhardt" userId="f2333933-0b12-4d6e-972f-f87625423892" providerId="ADAL" clId="{54BAB7D7-C378-4C4A-B0F8-9DF09AB8FC9C}" dt="2026-03-18T16:48:01.054" v="305" actId="700"/>
        <pc:sldMkLst>
          <pc:docMk/>
          <pc:sldMk cId="0" sldId="309"/>
        </pc:sldMkLst>
        <pc:spChg chg="mod ord">
          <ac:chgData name="Peter Bernhardt" userId="f2333933-0b12-4d6e-972f-f87625423892" providerId="ADAL" clId="{54BAB7D7-C378-4C4A-B0F8-9DF09AB8FC9C}" dt="2026-03-18T16:48:01.054" v="305" actId="700"/>
          <ac:spMkLst>
            <pc:docMk/>
            <pc:sldMk cId="0" sldId="309"/>
            <ac:spMk id="2" creationId="{00000000-0000-0000-0000-000000000000}"/>
          </ac:spMkLst>
        </pc:spChg>
        <pc:spChg chg="add mod ord">
          <ac:chgData name="Peter Bernhardt" userId="f2333933-0b12-4d6e-972f-f87625423892" providerId="ADAL" clId="{54BAB7D7-C378-4C4A-B0F8-9DF09AB8FC9C}" dt="2026-03-18T16:48:01.054" v="305" actId="700"/>
          <ac:spMkLst>
            <pc:docMk/>
            <pc:sldMk cId="0" sldId="309"/>
            <ac:spMk id="3" creationId="{9949AC46-4BA5-444E-F92D-A58BAB78CCE1}"/>
          </ac:spMkLst>
        </pc:spChg>
      </pc:sldChg>
      <pc:sldChg chg="modSp mod">
        <pc:chgData name="Peter Bernhardt" userId="f2333933-0b12-4d6e-972f-f87625423892" providerId="ADAL" clId="{54BAB7D7-C378-4C4A-B0F8-9DF09AB8FC9C}" dt="2026-03-18T16:39:29.187" v="151" actId="27636"/>
        <pc:sldMkLst>
          <pc:docMk/>
          <pc:sldMk cId="0" sldId="310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87" v="151" actId="27636"/>
          <ac:spMkLst>
            <pc:docMk/>
            <pc:sldMk cId="0" sldId="310"/>
            <ac:spMk id="3" creationId="{00000000-0000-0000-0000-000000000000}"/>
          </ac:spMkLst>
        </pc:spChg>
      </pc:sldChg>
      <pc:sldChg chg="modSp mod">
        <pc:chgData name="Peter Bernhardt" userId="f2333933-0b12-4d6e-972f-f87625423892" providerId="ADAL" clId="{54BAB7D7-C378-4C4A-B0F8-9DF09AB8FC9C}" dt="2026-03-18T16:39:29.197" v="152" actId="27636"/>
        <pc:sldMkLst>
          <pc:docMk/>
          <pc:sldMk cId="0" sldId="311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1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9:29.197" v="152" actId="27636"/>
          <ac:spMkLst>
            <pc:docMk/>
            <pc:sldMk cId="0" sldId="311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2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2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42:03.769" v="276" actId="27636"/>
          <ac:spMkLst>
            <pc:docMk/>
            <pc:sldMk cId="0" sldId="312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3"/>
        </pc:sldMkLst>
        <pc:spChg chg="mod">
          <ac:chgData name="Peter Bernhardt" userId="f2333933-0b12-4d6e-972f-f87625423892" providerId="ADAL" clId="{54BAB7D7-C378-4C4A-B0F8-9DF09AB8FC9C}" dt="2026-03-18T16:39:29.215" v="154" actId="27636"/>
          <ac:spMkLst>
            <pc:docMk/>
            <pc:sldMk cId="0" sldId="313"/>
            <ac:spMk id="4" creationId="{00000000-0000-0000-0000-000000000000}"/>
          </ac:spMkLst>
        </pc:spChg>
        <pc:graphicFrameChg chg="mod modGraphic">
          <ac:chgData name="Peter Bernhardt" userId="f2333933-0b12-4d6e-972f-f87625423892" providerId="ADAL" clId="{54BAB7D7-C378-4C4A-B0F8-9DF09AB8FC9C}" dt="2026-03-18T16:39:28.101" v="79" actId="790"/>
          <ac:graphicFrameMkLst>
            <pc:docMk/>
            <pc:sldMk cId="0" sldId="313"/>
            <ac:graphicFrameMk id="6" creationId="{00000000-0000-0000-0000-000000000000}"/>
          </ac:graphicFrameMkLst>
        </pc:graphicFrame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4"/>
        </pc:sldMkLst>
        <pc:spChg chg="mod">
          <ac:chgData name="Peter Bernhardt" userId="f2333933-0b12-4d6e-972f-f87625423892" providerId="ADAL" clId="{54BAB7D7-C378-4C4A-B0F8-9DF09AB8FC9C}" dt="2026-03-18T16:42:00.800" v="270" actId="27636"/>
          <ac:spMkLst>
            <pc:docMk/>
            <pc:sldMk cId="0" sldId="314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5"/>
        </pc:sldMkLst>
        <pc:spChg chg="mod">
          <ac:chgData name="Peter Bernhardt" userId="f2333933-0b12-4d6e-972f-f87625423892" providerId="ADAL" clId="{54BAB7D7-C378-4C4A-B0F8-9DF09AB8FC9C}" dt="2026-03-18T16:42:03.798" v="277" actId="27636"/>
          <ac:spMkLst>
            <pc:docMk/>
            <pc:sldMk cId="0" sldId="315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6"/>
        </pc:sldMkLst>
        <pc:spChg chg="mod">
          <ac:chgData name="Peter Bernhardt" userId="f2333933-0b12-4d6e-972f-f87625423892" providerId="ADAL" clId="{54BAB7D7-C378-4C4A-B0F8-9DF09AB8FC9C}" dt="2026-03-18T16:39:28.101" v="79" actId="790"/>
          <ac:spMkLst>
            <pc:docMk/>
            <pc:sldMk cId="0" sldId="316"/>
            <ac:spMk id="4" creationId="{00000000-0000-0000-0000-000000000000}"/>
          </ac:spMkLst>
        </pc:spChg>
        <pc:graphicFrameChg chg="mod modGraphic">
          <ac:chgData name="Peter Bernhardt" userId="f2333933-0b12-4d6e-972f-f87625423892" providerId="ADAL" clId="{54BAB7D7-C378-4C4A-B0F8-9DF09AB8FC9C}" dt="2026-03-18T16:39:28.101" v="79" actId="790"/>
          <ac:graphicFrameMkLst>
            <pc:docMk/>
            <pc:sldMk cId="0" sldId="316"/>
            <ac:graphicFrameMk id="6" creationId="{00000000-0000-0000-0000-000000000000}"/>
          </ac:graphicFrameMkLst>
        </pc:graphicFrame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7"/>
        </pc:sldMkLst>
        <pc:spChg chg="mod">
          <ac:chgData name="Peter Bernhardt" userId="f2333933-0b12-4d6e-972f-f87625423892" providerId="ADAL" clId="{54BAB7D7-C378-4C4A-B0F8-9DF09AB8FC9C}" dt="2026-03-18T16:39:29.282" v="157" actId="27636"/>
          <ac:spMkLst>
            <pc:docMk/>
            <pc:sldMk cId="0" sldId="317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18"/>
        </pc:sldMkLst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19"/>
        </pc:sldMkLst>
        <pc:spChg chg="mo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19"/>
            <ac:spMk id="3" creationId="{00000000-0000-0000-0000-000000000000}"/>
          </ac:spMkLst>
        </pc:spChg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20"/>
        </pc:sldMkLst>
        <pc:spChg chg="mo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20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1"/>
        </pc:sldMkLst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22"/>
        </pc:sldMkLst>
        <pc:spChg chg="mo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22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3"/>
        </pc:sldMkLst>
      </pc:sldChg>
      <pc:sldChg chg="modSp add del mod">
        <pc:chgData name="Peter Bernhardt" userId="f2333933-0b12-4d6e-972f-f87625423892" providerId="ADAL" clId="{54BAB7D7-C378-4C4A-B0F8-9DF09AB8FC9C}" dt="2026-03-18T17:27:25.091" v="471"/>
        <pc:sldMkLst>
          <pc:docMk/>
          <pc:sldMk cId="0" sldId="324"/>
        </pc:sldMkLst>
        <pc:spChg chg="mo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24"/>
            <ac:spMk id="3" creationId="{00000000-0000-0000-0000-000000000000}"/>
          </ac:spMkLst>
        </pc:spChg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5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6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7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8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29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0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1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2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3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4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5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6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7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8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39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0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1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2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3"/>
        </pc:sldMkLst>
      </pc:sldChg>
      <pc:sldChg chg="addSp delSp modSp add del mod chgLayout">
        <pc:chgData name="Peter Bernhardt" userId="f2333933-0b12-4d6e-972f-f87625423892" providerId="ADAL" clId="{54BAB7D7-C378-4C4A-B0F8-9DF09AB8FC9C}" dt="2026-03-18T17:27:25.091" v="471"/>
        <pc:sldMkLst>
          <pc:docMk/>
          <pc:sldMk cId="0" sldId="344"/>
        </pc:sldMkLst>
        <pc:spChg chg="mod or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44"/>
            <ac:spMk id="2" creationId="{00000000-0000-0000-0000-000000000000}"/>
          </ac:spMkLst>
        </pc:spChg>
        <pc:spChg chg="add del mod ord">
          <ac:chgData name="Peter Bernhardt" userId="f2333933-0b12-4d6e-972f-f87625423892" providerId="ADAL" clId="{54BAB7D7-C378-4C4A-B0F8-9DF09AB8FC9C}" dt="2026-03-18T17:27:24.435" v="470" actId="700"/>
          <ac:spMkLst>
            <pc:docMk/>
            <pc:sldMk cId="0" sldId="344"/>
            <ac:spMk id="3" creationId="{C252AFA0-72CD-335E-13B4-7BECFFC61670}"/>
          </ac:spMkLst>
        </pc:spChg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5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6"/>
        </pc:sldMkLst>
      </pc:sldChg>
      <pc:sldChg chg="add del">
        <pc:chgData name="Peter Bernhardt" userId="f2333933-0b12-4d6e-972f-f87625423892" providerId="ADAL" clId="{54BAB7D7-C378-4C4A-B0F8-9DF09AB8FC9C}" dt="2026-03-18T17:27:25.091" v="471"/>
        <pc:sldMkLst>
          <pc:docMk/>
          <pc:sldMk cId="0" sldId="347"/>
        </pc:sldMkLst>
      </pc:sldChg>
      <pc:sldMasterChg chg="modSp modSldLayout">
        <pc:chgData name="Peter Bernhardt" userId="f2333933-0b12-4d6e-972f-f87625423892" providerId="ADAL" clId="{54BAB7D7-C378-4C4A-B0F8-9DF09AB8FC9C}" dt="2026-03-18T16:35:30.591" v="0"/>
        <pc:sldMasterMkLst>
          <pc:docMk/>
          <pc:sldMasterMk cId="3676200875" sldId="2147483648"/>
        </pc:sldMasterMkLst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3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4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5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35:30.591" v="0"/>
          <ac:spMkLst>
            <pc:docMk/>
            <pc:sldMasterMk cId="3676200875" sldId="2147483648"/>
            <ac:spMk id="6" creationId="{00000000-0000-0000-0000-000000000000}"/>
          </ac:spMkLst>
        </pc:sp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1444357513" sldId="2147483649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444357513" sldId="2147483649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444357513" sldId="2147483649"/>
              <ac:spMk id="3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1073069076" sldId="2147483651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073069076" sldId="2147483651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1073069076" sldId="2147483651"/>
              <ac:spMk id="3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619886245" sldId="2147483652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619886245" sldId="2147483652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619886245" sldId="2147483652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535793967" sldId="2147483653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4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5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35793967" sldId="2147483653"/>
              <ac:spMk id="6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3540895647" sldId="2147483656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40895647" sldId="2147483656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3566899855" sldId="2147483657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3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3566899855" sldId="2147483657"/>
              <ac:spMk id="4" creationId="{00000000-0000-0000-0000-000000000000}"/>
            </ac:spMkLst>
          </pc:spChg>
        </pc:sldLayoutChg>
        <pc:sldLayoutChg chg="modSp">
          <pc:chgData name="Peter Bernhardt" userId="f2333933-0b12-4d6e-972f-f87625423892" providerId="ADAL" clId="{54BAB7D7-C378-4C4A-B0F8-9DF09AB8FC9C}" dt="2026-03-18T16:35:30.591" v="0"/>
          <pc:sldLayoutMkLst>
            <pc:docMk/>
            <pc:sldMasterMk cId="3676200875" sldId="2147483648"/>
            <pc:sldLayoutMk cId="2581529045" sldId="2147483659"/>
          </pc:sldLayoutMkLst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81529045" sldId="2147483659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6:35:30.591" v="0"/>
            <ac:spMkLst>
              <pc:docMk/>
              <pc:sldMasterMk cId="3676200875" sldId="2147483648"/>
              <pc:sldLayoutMk cId="2581529045" sldId="2147483659"/>
              <ac:spMk id="3" creationId="{00000000-0000-0000-0000-000000000000}"/>
            </ac:spMkLst>
          </pc:spChg>
        </pc:sldLayoutChg>
      </pc:sldMasterChg>
      <pc:sldMasterChg chg="modSp mod modSldLayout">
        <pc:chgData name="Peter Bernhardt" userId="f2333933-0b12-4d6e-972f-f87625423892" providerId="ADAL" clId="{54BAB7D7-C378-4C4A-B0F8-9DF09AB8FC9C}" dt="2026-03-18T17:16:09.783" v="436" actId="403"/>
        <pc:sldMasterMkLst>
          <pc:docMk/>
          <pc:sldMasterMk cId="3715007525" sldId="2147483750"/>
        </pc:sldMasterMkLst>
        <pc:spChg chg="mod">
          <ac:chgData name="Peter Bernhardt" userId="f2333933-0b12-4d6e-972f-f87625423892" providerId="ADAL" clId="{54BAB7D7-C378-4C4A-B0F8-9DF09AB8FC9C}" dt="2026-03-18T16:41:48.305" v="241" actId="20577"/>
          <ac:spMkLst>
            <pc:docMk/>
            <pc:sldMasterMk cId="3715007525" sldId="2147483750"/>
            <ac:spMk id="2" creationId="{00000000-0000-0000-0000-000000000000}"/>
          </ac:spMkLst>
        </pc:spChg>
        <pc:spChg chg="mod">
          <ac:chgData name="Peter Bernhardt" userId="f2333933-0b12-4d6e-972f-f87625423892" providerId="ADAL" clId="{54BAB7D7-C378-4C4A-B0F8-9DF09AB8FC9C}" dt="2026-03-18T16:42:03.580" v="272" actId="14100"/>
          <ac:spMkLst>
            <pc:docMk/>
            <pc:sldMasterMk cId="3715007525" sldId="2147483750"/>
            <ac:spMk id="3" creationId="{00000000-0000-0000-0000-000000000000}"/>
          </ac:spMkLst>
        </pc:spChg>
        <pc:cxnChg chg="mod">
          <ac:chgData name="Peter Bernhardt" userId="f2333933-0b12-4d6e-972f-f87625423892" providerId="ADAL" clId="{54BAB7D7-C378-4C4A-B0F8-9DF09AB8FC9C}" dt="2026-03-18T16:41:55.705" v="265" actId="1035"/>
          <ac:cxnSpMkLst>
            <pc:docMk/>
            <pc:sldMasterMk cId="3715007525" sldId="2147483750"/>
            <ac:cxnSpMk id="10" creationId="{00000000-0000-0000-0000-000000000000}"/>
          </ac:cxnSpMkLst>
        </pc:cxnChg>
        <pc:sldLayoutChg chg="modSp mod">
          <pc:chgData name="Peter Bernhardt" userId="f2333933-0b12-4d6e-972f-f87625423892" providerId="ADAL" clId="{54BAB7D7-C378-4C4A-B0F8-9DF09AB8FC9C}" dt="2026-03-18T16:42:12.756" v="279" actId="404"/>
          <pc:sldLayoutMkLst>
            <pc:docMk/>
            <pc:sldMasterMk cId="3715007525" sldId="2147483750"/>
            <pc:sldLayoutMk cId="1222138658" sldId="2147483751"/>
          </pc:sldLayoutMkLst>
          <pc:spChg chg="mod">
            <ac:chgData name="Peter Bernhardt" userId="f2333933-0b12-4d6e-972f-f87625423892" providerId="ADAL" clId="{54BAB7D7-C378-4C4A-B0F8-9DF09AB8FC9C}" dt="2026-03-18T16:42:12.756" v="279" actId="404"/>
            <ac:spMkLst>
              <pc:docMk/>
              <pc:sldMasterMk cId="3715007525" sldId="2147483750"/>
              <pc:sldLayoutMk cId="1222138658" sldId="2147483751"/>
              <ac:spMk id="2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7:16:09.783" v="436" actId="403"/>
          <pc:sldLayoutMkLst>
            <pc:docMk/>
            <pc:sldMasterMk cId="3715007525" sldId="2147483750"/>
            <pc:sldLayoutMk cId="2723228330" sldId="2147483752"/>
          </pc:sldLayoutMkLst>
          <pc:spChg chg="mod">
            <ac:chgData name="Peter Bernhardt" userId="f2333933-0b12-4d6e-972f-f87625423892" providerId="ADAL" clId="{54BAB7D7-C378-4C4A-B0F8-9DF09AB8FC9C}" dt="2026-03-18T16:41:24.217" v="210" actId="255"/>
            <ac:spMkLst>
              <pc:docMk/>
              <pc:sldMasterMk cId="3715007525" sldId="2147483750"/>
              <pc:sldLayoutMk cId="2723228330" sldId="2147483752"/>
              <ac:spMk id="2" creationId="{00000000-0000-0000-0000-000000000000}"/>
            </ac:spMkLst>
          </pc:spChg>
          <pc:spChg chg="mod">
            <ac:chgData name="Peter Bernhardt" userId="f2333933-0b12-4d6e-972f-f87625423892" providerId="ADAL" clId="{54BAB7D7-C378-4C4A-B0F8-9DF09AB8FC9C}" dt="2026-03-18T17:16:09.783" v="436" actId="403"/>
            <ac:spMkLst>
              <pc:docMk/>
              <pc:sldMasterMk cId="3715007525" sldId="2147483750"/>
              <pc:sldLayoutMk cId="2723228330" sldId="2147483752"/>
              <ac:spMk id="3" creationId="{00000000-0000-0000-0000-000000000000}"/>
            </ac:spMkLst>
          </pc:spChg>
        </pc:sldLayoutChg>
        <pc:sldLayoutChg chg="modSp mod">
          <pc:chgData name="Peter Bernhardt" userId="f2333933-0b12-4d6e-972f-f87625423892" providerId="ADAL" clId="{54BAB7D7-C378-4C4A-B0F8-9DF09AB8FC9C}" dt="2026-03-18T16:46:14.357" v="293" actId="113"/>
          <pc:sldLayoutMkLst>
            <pc:docMk/>
            <pc:sldMasterMk cId="3715007525" sldId="2147483750"/>
            <pc:sldLayoutMk cId="1145065635" sldId="2147483753"/>
          </pc:sldLayoutMkLst>
          <pc:spChg chg="mod">
            <ac:chgData name="Peter Bernhardt" userId="f2333933-0b12-4d6e-972f-f87625423892" providerId="ADAL" clId="{54BAB7D7-C378-4C4A-B0F8-9DF09AB8FC9C}" dt="2026-03-18T16:46:14.357" v="293" actId="113"/>
            <ac:spMkLst>
              <pc:docMk/>
              <pc:sldMasterMk cId="3715007525" sldId="2147483750"/>
              <pc:sldLayoutMk cId="1145065635" sldId="2147483753"/>
              <ac:spMk id="2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 noProof="0" dirty="0"/>
              <a:t>Entwicklung langlebiger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>
            <a:normAutofit fontScale="92500" lnSpcReduction="20000"/>
          </a:bodyPr>
          <a:lstStyle/>
          <a:p>
            <a:r>
              <a:rPr lang="de-DE" noProof="0" dirty="0"/>
              <a:t>Woche 1: </a:t>
            </a:r>
            <a:br>
              <a:rPr lang="de-DE" noProof="0" dirty="0"/>
            </a:br>
            <a:r>
              <a:rPr lang="de-DE" noProof="0" dirty="0"/>
              <a:t>Die Dimension Zeit &amp; Software-Erosion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1" y="4844840"/>
            <a:ext cx="1390652" cy="273844"/>
          </a:xfrm>
        </p:spPr>
        <p:txBody>
          <a:bodyPr/>
          <a:lstStyle/>
          <a:p>
            <a:r>
              <a:rPr lang="de-DE" noProof="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Willkommen &amp; Einordnung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Das Modul:</a:t>
            </a:r>
            <a:r>
              <a:rPr lang="de-DE" noProof="0" dirty="0"/>
              <a:t> Entwicklung langlebiger Software (</a:t>
            </a:r>
            <a:r>
              <a:rPr lang="de-DE" noProof="0" dirty="0" err="1"/>
              <a:t>Sustainable</a:t>
            </a:r>
            <a:r>
              <a:rPr lang="de-DE" noProof="0" dirty="0"/>
              <a:t> Software Engineering).</a:t>
            </a:r>
          </a:p>
          <a:p>
            <a:pPr lvl="0"/>
            <a:r>
              <a:rPr lang="de-DE" b="1" noProof="0" dirty="0"/>
              <a:t>Die Zielgruppe:</a:t>
            </a:r>
            <a:r>
              <a:rPr lang="de-DE" noProof="0" dirty="0"/>
              <a:t> Angehende (Verwaltungs-)Wirtschaftsinformatiker.</a:t>
            </a:r>
          </a:p>
          <a:p>
            <a:pPr lvl="0"/>
            <a:r>
              <a:rPr lang="de-DE" b="1" noProof="0" dirty="0"/>
              <a:t>Der Fokus:</a:t>
            </a:r>
            <a:r>
              <a:rPr lang="de-DE" noProof="0" dirty="0"/>
              <a:t> Wir lernen nicht, wie man </a:t>
            </a:r>
            <a:r>
              <a:rPr lang="de-DE" i="1" noProof="0" dirty="0"/>
              <a:t>schnell</a:t>
            </a:r>
            <a:r>
              <a:rPr lang="de-DE" noProof="0" dirty="0"/>
              <a:t> programmiert, sondern wie man Software baut, die </a:t>
            </a:r>
            <a:r>
              <a:rPr lang="de-DE" i="1" noProof="0" dirty="0"/>
              <a:t>bleibt</a:t>
            </a:r>
            <a:r>
              <a:rPr lang="de-DE" noProof="0" dirty="0"/>
              <a:t>.</a:t>
            </a:r>
          </a:p>
          <a:p>
            <a:pPr lvl="0"/>
            <a:r>
              <a:rPr lang="de-DE" b="1" noProof="0" dirty="0"/>
              <a:t>Das Ziel:</a:t>
            </a:r>
            <a:r>
              <a:rPr lang="de-DE" noProof="0" dirty="0"/>
              <a:t> IT-Investitionen über Jahrzehnte hinweg schützen und steuern.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Lernziele für diese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Verstehen:</a:t>
            </a:r>
            <a:r>
              <a:rPr lang="de-DE" noProof="0" dirty="0"/>
              <a:t> Warum das Konzept eines klassischen “Projekts” in der Softwareentwicklung in die Irre führt.</a:t>
            </a:r>
          </a:p>
          <a:p>
            <a:pPr lvl="0"/>
            <a:r>
              <a:rPr lang="de-DE" b="1" noProof="0" dirty="0"/>
              <a:t>Erklären:</a:t>
            </a:r>
            <a:r>
              <a:rPr lang="de-DE" noProof="0" dirty="0"/>
              <a:t> Was “Software-Erosion” ist und durch welche Faktoren sie ausgelöst wird.</a:t>
            </a:r>
          </a:p>
          <a:p>
            <a:pPr lvl="0"/>
            <a:r>
              <a:rPr lang="de-DE" b="1" noProof="0" dirty="0"/>
              <a:t>Analysieren:</a:t>
            </a:r>
            <a:r>
              <a:rPr lang="de-DE" noProof="0" dirty="0"/>
              <a:t> Wie sich die </a:t>
            </a:r>
            <a:r>
              <a:rPr lang="de-DE" noProof="0" dirty="0" err="1"/>
              <a:t>Lehman’schen</a:t>
            </a:r>
            <a:r>
              <a:rPr lang="de-DE" noProof="0" dirty="0"/>
              <a:t> Gesetze der Software-Evolution auf langlebige Systeme auswirken.</a:t>
            </a:r>
          </a:p>
          <a:p>
            <a:pPr lvl="0"/>
            <a:r>
              <a:rPr lang="de-DE" b="1" noProof="0" dirty="0"/>
              <a:t>Argumentieren:</a:t>
            </a:r>
            <a:r>
              <a:rPr lang="de-DE" noProof="0" dirty="0"/>
              <a:t> Warum “Technical </a:t>
            </a:r>
            <a:r>
              <a:rPr lang="de-DE" noProof="0" dirty="0" err="1"/>
              <a:t>Debt</a:t>
            </a:r>
            <a:r>
              <a:rPr lang="de-DE" noProof="0" dirty="0"/>
              <a:t>” (Technische Schulden) der zentrale wirtschaftliche Faktor bei IT-Budgets 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Was erwartet Sie im Modul?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Theorie (Vorlesung):</a:t>
            </a:r>
            <a:r>
              <a:rPr lang="de-DE" noProof="0" dirty="0"/>
              <a:t> Konzepte, Architekturmuster, ökonomische Modelle.</a:t>
            </a:r>
          </a:p>
          <a:p>
            <a:pPr lvl="0"/>
            <a:r>
              <a:rPr lang="de-DE" b="1" noProof="0" dirty="0"/>
              <a:t>Praxis (Übung):</a:t>
            </a:r>
            <a:r>
              <a:rPr lang="de-DE" noProof="0" dirty="0"/>
              <a:t> Ein 10 Jahre altes, schlecht geschriebenes C#-System (“Legacy Code”).</a:t>
            </a:r>
          </a:p>
          <a:p>
            <a:pPr lvl="0"/>
            <a:r>
              <a:rPr lang="de-DE" b="1" noProof="0" dirty="0"/>
              <a:t>Transformation:</a:t>
            </a:r>
            <a:r>
              <a:rPr lang="de-DE" noProof="0" dirty="0"/>
              <a:t> Sie werden dieses System in 7 Wochen schrittweise modernisieren, testen und containerisieren.</a:t>
            </a:r>
          </a:p>
          <a:p>
            <a:pPr lvl="0"/>
            <a:r>
              <a:rPr lang="de-DE" b="1" noProof="0" dirty="0"/>
              <a:t>Prüfungsrelevanz:</a:t>
            </a:r>
            <a:r>
              <a:rPr lang="de-DE" noProof="0" dirty="0"/>
              <a:t> Sowohl das theoretische “Warum” als auch das praktische “Wie” sind Bestandteil der Leistungskontrolle.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538" y="569913"/>
            <a:ext cx="5902948" cy="26733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dirty="0"/>
              <a:t>1. </a:t>
            </a:r>
            <a:r>
              <a:rPr lang="en-US" noProof="0" dirty="0" err="1"/>
              <a:t>Einführung</a:t>
            </a:r>
            <a:r>
              <a:rPr lang="en-US" noProof="0" dirty="0"/>
              <a:t> &amp; </a:t>
            </a:r>
            <a:r>
              <a:rPr lang="en-US" noProof="0" dirty="0" err="1"/>
              <a:t>Paradigmenwechsel</a:t>
            </a:r>
            <a:endParaRPr lang="en-US" noProof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F3127DF-8214-64CE-298A-497397B6C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Die Illusion des “fertigen” Projekts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Klassisches Projektmanagement:</a:t>
            </a:r>
            <a:r>
              <a:rPr lang="de-DE" noProof="0" dirty="0"/>
              <a:t> Ein Haus wird geplant, gebaut, übergeben und ist dann “fertig”.</a:t>
            </a:r>
          </a:p>
          <a:p>
            <a:pPr lvl="0"/>
            <a:r>
              <a:rPr lang="de-DE" b="1" noProof="0" dirty="0"/>
              <a:t>Der Software-Irrtum:</a:t>
            </a:r>
            <a:r>
              <a:rPr lang="de-DE" noProof="0" dirty="0"/>
              <a:t> Software wird oft fälschlicherweise genauso behandelt (Lastenheft -&gt; Entwicklung -&gt; Go-Live -&gt; Fertig).</a:t>
            </a:r>
          </a:p>
          <a:p>
            <a:pPr lvl="0"/>
            <a:r>
              <a:rPr lang="de-DE" b="1" noProof="0" dirty="0"/>
              <a:t>Die Realität:</a:t>
            </a:r>
            <a:r>
              <a:rPr lang="de-DE" noProof="0" dirty="0"/>
              <a:t> Der Go-Live ist nicht das Ende, sondern der </a:t>
            </a:r>
            <a:r>
              <a:rPr lang="de-DE" i="1" noProof="0" dirty="0"/>
              <a:t>Beginn</a:t>
            </a:r>
            <a:r>
              <a:rPr lang="de-DE" noProof="0" dirty="0"/>
              <a:t> des echten Lebenszyklus der Software.</a:t>
            </a:r>
          </a:p>
          <a:p>
            <a:pPr lvl="0"/>
            <a:r>
              <a:rPr lang="de-DE" b="1" noProof="0" dirty="0"/>
              <a:t>Die Folge:</a:t>
            </a:r>
            <a:r>
              <a:rPr lang="de-DE" noProof="0" dirty="0"/>
              <a:t> Budgets werden oft falsch allokiert (zu viel für die Initiale, zu wenig für die Evolution).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Produkt- vs. Projekt-Mindset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Projekt-Mindset:</a:t>
            </a:r>
            <a:r>
              <a:rPr lang="de-DE" noProof="0" dirty="0"/>
              <a:t> Fokus auf Enddatum und festes Budget. Das Team wird nach dem Go-Live aufgelöst.</a:t>
            </a:r>
          </a:p>
          <a:p>
            <a:pPr lvl="0"/>
            <a:r>
              <a:rPr lang="de-DE" b="1" noProof="0" dirty="0"/>
              <a:t>Produkt-Mindset:</a:t>
            </a:r>
            <a:r>
              <a:rPr lang="de-DE" noProof="0" dirty="0"/>
              <a:t> Fokus auf kontinuierliche Wertschöpfung. Ein festes Team pflegt und erweitert das System dauerhaft.</a:t>
            </a:r>
          </a:p>
          <a:p>
            <a:pPr lvl="0"/>
            <a:r>
              <a:rPr lang="de-DE" b="1" noProof="0" dirty="0"/>
              <a:t>Verantwortung:</a:t>
            </a:r>
            <a:r>
              <a:rPr lang="de-DE" noProof="0" dirty="0"/>
              <a:t> Im Produkt-Mindset spüren die Entwickler die Konsequenzen ihrer eigenen Architektur-Entscheidungen.</a:t>
            </a:r>
          </a:p>
          <a:p>
            <a:pPr lvl="0"/>
            <a:r>
              <a:rPr lang="de-DE" b="1" noProof="0" dirty="0"/>
              <a:t>Langlebigkeit:</a:t>
            </a:r>
            <a:r>
              <a:rPr lang="de-DE" noProof="0" dirty="0"/>
              <a:t> Setzt zwingend ein Produkt-Mindset voraus.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Reale Lebenszyklen von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Mobile Apps / Startups:</a:t>
            </a:r>
            <a:r>
              <a:rPr lang="de-DE" noProof="0" dirty="0"/>
              <a:t> Oft kurze Zyklen (1 bis 3 Jahre), Wegwerf-Code ist wirtschaftlich vertretbar.</a:t>
            </a:r>
          </a:p>
          <a:p>
            <a:pPr lvl="0"/>
            <a:r>
              <a:rPr lang="de-DE" b="1" noProof="0" dirty="0"/>
              <a:t>Unternehmens-IT (ERP/CRM):</a:t>
            </a:r>
            <a:r>
              <a:rPr lang="de-DE" noProof="0" dirty="0"/>
              <a:t> Lebenszyklen von 10 bis 15 Jahren sind die Regel.</a:t>
            </a:r>
          </a:p>
          <a:p>
            <a:pPr lvl="0"/>
            <a:r>
              <a:rPr lang="de-DE" b="1" noProof="0" dirty="0"/>
              <a:t>Öffentliche Verwaltung / Banken:</a:t>
            </a:r>
            <a:r>
              <a:rPr lang="de-DE" noProof="0" dirty="0"/>
              <a:t> Kernsysteme (Rente, Steuern, Transaktionen) laufen oft 20, 30 oder gar 40+ Jahre.</a:t>
            </a:r>
          </a:p>
          <a:p>
            <a:pPr lvl="0"/>
            <a:r>
              <a:rPr lang="de-DE" b="1" noProof="0" dirty="0"/>
              <a:t>Die Herausforderung:</a:t>
            </a:r>
            <a:r>
              <a:rPr lang="de-DE" noProof="0" dirty="0"/>
              <a:t> Sie schreiben heute Code für Hardware und Betriebssysteme, die erst in 15 Jahren erfunden werden.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Programmieren vs. 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Programmieren:</a:t>
            </a:r>
            <a:r>
              <a:rPr lang="de-DE" noProof="0" dirty="0"/>
              <a:t> Dem Computer Anweisungen geben, um ein aktuelles Problem zu lösen.</a:t>
            </a:r>
          </a:p>
          <a:p>
            <a:pPr lvl="0"/>
            <a:r>
              <a:rPr lang="de-DE" b="1" noProof="0" dirty="0"/>
              <a:t>Software Engineering: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Ein Zitat von Titus Winters (früher Google, nun Adobe) bringt es auf den Punkt: &gt; </a:t>
            </a:r>
            <a:r>
              <a:rPr lang="de-DE" i="1" noProof="0" dirty="0"/>
              <a:t>“</a:t>
            </a:r>
            <a:r>
              <a:rPr lang="de-DE" b="1" i="1" noProof="0" dirty="0">
                <a:solidFill>
                  <a:srgbClr val="0070C0"/>
                </a:solidFill>
              </a:rPr>
              <a:t>Software Engineering </a:t>
            </a:r>
            <a:r>
              <a:rPr lang="de-DE" b="1" i="1" noProof="0" dirty="0" err="1">
                <a:solidFill>
                  <a:srgbClr val="0070C0"/>
                </a:solidFill>
              </a:rPr>
              <a:t>is</a:t>
            </a:r>
            <a:r>
              <a:rPr lang="de-DE" b="1" i="1" noProof="0" dirty="0">
                <a:solidFill>
                  <a:srgbClr val="0070C0"/>
                </a:solidFill>
              </a:rPr>
              <a:t> </a:t>
            </a:r>
            <a:r>
              <a:rPr lang="de-DE" b="1" i="1" noProof="0" dirty="0" err="1">
                <a:solidFill>
                  <a:srgbClr val="0070C0"/>
                </a:solidFill>
              </a:rPr>
              <a:t>programming</a:t>
            </a:r>
            <a:r>
              <a:rPr lang="de-DE" b="1" i="1" noProof="0" dirty="0">
                <a:solidFill>
                  <a:srgbClr val="0070C0"/>
                </a:solidFill>
              </a:rPr>
              <a:t> </a:t>
            </a:r>
            <a:r>
              <a:rPr lang="de-DE" b="1" i="1" noProof="0" dirty="0" err="1">
                <a:solidFill>
                  <a:srgbClr val="0070C0"/>
                </a:solidFill>
              </a:rPr>
              <a:t>integrated</a:t>
            </a:r>
            <a:r>
              <a:rPr lang="de-DE" b="1" i="1" noProof="0" dirty="0">
                <a:solidFill>
                  <a:srgbClr val="0070C0"/>
                </a:solidFill>
              </a:rPr>
              <a:t> </a:t>
            </a:r>
            <a:r>
              <a:rPr lang="de-DE" b="1" i="1" noProof="0" dirty="0" err="1">
                <a:solidFill>
                  <a:srgbClr val="0070C0"/>
                </a:solidFill>
              </a:rPr>
              <a:t>over</a:t>
            </a:r>
            <a:r>
              <a:rPr lang="de-DE" b="1" i="1" noProof="0" dirty="0">
                <a:solidFill>
                  <a:srgbClr val="0070C0"/>
                </a:solidFill>
              </a:rPr>
              <a:t> time.</a:t>
            </a:r>
            <a:r>
              <a:rPr lang="de-DE" i="1" noProof="0" dirty="0"/>
              <a:t>”</a:t>
            </a:r>
          </a:p>
          <a:p>
            <a:pPr lvl="0"/>
            <a:r>
              <a:rPr lang="de-DE" b="1" noProof="0" dirty="0"/>
              <a:t>Der Unterschied:</a:t>
            </a:r>
            <a:r>
              <a:rPr lang="de-DE" noProof="0" dirty="0"/>
              <a:t> Es geht nicht nur darum, dass der Code </a:t>
            </a:r>
            <a:r>
              <a:rPr lang="de-DE" i="1" noProof="0" dirty="0"/>
              <a:t>heute</a:t>
            </a:r>
            <a:r>
              <a:rPr lang="de-DE" noProof="0" dirty="0"/>
              <a:t> funktioniert, sondern dass er auch </a:t>
            </a:r>
            <a:r>
              <a:rPr lang="de-DE" i="1" noProof="0" dirty="0"/>
              <a:t>morgen</a:t>
            </a:r>
            <a:r>
              <a:rPr lang="de-DE" noProof="0" dirty="0"/>
              <a:t> sicher anpassbar bleibt.</a:t>
            </a:r>
          </a:p>
          <a:p>
            <a:pPr lvl="0"/>
            <a:r>
              <a:rPr lang="de-DE" b="1" noProof="0" dirty="0"/>
              <a:t>Das Werkzeug:</a:t>
            </a:r>
            <a:r>
              <a:rPr lang="de-DE" noProof="0" dirty="0"/>
              <a:t> Architektur, Tests und Dokumentation.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Die Dimension der Zeit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Code ist temporär:</a:t>
            </a:r>
            <a:r>
              <a:rPr lang="de-DE" noProof="0" dirty="0"/>
              <a:t> Jede Zeile Code ist eine Hypothese darüber, wie die Welt heute funktioniert.</a:t>
            </a:r>
          </a:p>
          <a:p>
            <a:pPr lvl="0"/>
            <a:r>
              <a:rPr lang="de-DE" b="1" noProof="0" dirty="0"/>
              <a:t>Die Welt dreht sich:</a:t>
            </a:r>
            <a:r>
              <a:rPr lang="de-DE" noProof="0" dirty="0"/>
              <a:t> Steuersätze ändern sich, APIs werden abgeschaltet, Server wechseln.</a:t>
            </a:r>
          </a:p>
          <a:p>
            <a:pPr lvl="0"/>
            <a:r>
              <a:rPr lang="de-DE" b="1" noProof="0" dirty="0"/>
              <a:t>Zeitliche Kopplung:</a:t>
            </a:r>
            <a:r>
              <a:rPr lang="de-DE" noProof="0" dirty="0"/>
              <a:t> Wie viel Aufwand kostet es, eine Annahme aus dem Jahr 2015 im Jahr 2026 zu ändern?</a:t>
            </a:r>
          </a:p>
          <a:p>
            <a:pPr lvl="0"/>
            <a:r>
              <a:rPr lang="de-DE" b="1" noProof="0" dirty="0"/>
              <a:t>Ziel der Langlebigkeit:</a:t>
            </a:r>
            <a:r>
              <a:rPr lang="de-DE" noProof="0" dirty="0"/>
              <a:t> Den Code so entwerfen, dass der Faktor Zeit nicht zu exponentiellen Kosten führt.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Dimension der Skalierung (Teams)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Das 1-Entwickler-Szenario:</a:t>
            </a:r>
            <a:r>
              <a:rPr lang="de-DE" noProof="0" dirty="0"/>
              <a:t> Im Kopf des Autors macht der Code perfekten Sinn.</a:t>
            </a:r>
          </a:p>
          <a:p>
            <a:pPr lvl="0"/>
            <a:r>
              <a:rPr lang="de-DE" b="1" noProof="0" dirty="0"/>
              <a:t>Das Real-Szenario:</a:t>
            </a:r>
            <a:r>
              <a:rPr lang="de-DE" noProof="0" dirty="0"/>
              <a:t> Ein System, das 20 Jahre lebt, wird von 5 bis 10 verschiedenen Teams betreut werden.</a:t>
            </a:r>
          </a:p>
          <a:p>
            <a:pPr lvl="0"/>
            <a:r>
              <a:rPr lang="de-DE" b="1" noProof="0" dirty="0"/>
              <a:t>Wissenstransfer:</a:t>
            </a:r>
            <a:r>
              <a:rPr lang="de-DE" noProof="0" dirty="0"/>
              <a:t> Der Code muss seine Intention selbst erklären können, wenn der ursprüngliche Autor längst die Behörde verlassen hat.</a:t>
            </a:r>
          </a:p>
          <a:p>
            <a:pPr lvl="0"/>
            <a:r>
              <a:rPr lang="de-DE" b="1" noProof="0" dirty="0"/>
              <a:t>Fazit:</a:t>
            </a:r>
            <a:r>
              <a:rPr lang="de-DE" noProof="0" dirty="0"/>
              <a:t> Wir schreiben Code nicht für den Compiler, sondern für den Kollegen in der Zukunft.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Das Lese-Schreib-Verhältnis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Metrik:</a:t>
            </a:r>
            <a:r>
              <a:rPr lang="de-DE" noProof="0" dirty="0"/>
              <a:t> Entwickler verbringen ca. 10x mehr Zeit mit dem </a:t>
            </a:r>
            <a:r>
              <a:rPr lang="de-DE" i="1" noProof="0" dirty="0"/>
              <a:t>Lesen</a:t>
            </a:r>
            <a:r>
              <a:rPr lang="de-DE" noProof="0" dirty="0"/>
              <a:t> und Verstehen von altem Code als mit dem </a:t>
            </a:r>
            <a:r>
              <a:rPr lang="de-DE" i="1" noProof="0" dirty="0"/>
              <a:t>Schreiben</a:t>
            </a:r>
            <a:r>
              <a:rPr lang="de-DE" noProof="0" dirty="0"/>
              <a:t> von neuem.</a:t>
            </a:r>
          </a:p>
          <a:p>
            <a:pPr lvl="0"/>
            <a:r>
              <a:rPr lang="de-DE" b="1" noProof="0" dirty="0"/>
              <a:t>Konsequenz für das Engineering:</a:t>
            </a:r>
            <a:r>
              <a:rPr lang="de-DE" noProof="0" dirty="0"/>
              <a:t> Optimierung muss primär auf Lesbarkeit erfolgen.</a:t>
            </a:r>
          </a:p>
          <a:p>
            <a:pPr lvl="0"/>
            <a:r>
              <a:rPr lang="de-DE" b="1" noProof="0" dirty="0"/>
              <a:t>Clever vs. Klar:</a:t>
            </a:r>
            <a:r>
              <a:rPr lang="de-DE" noProof="0" dirty="0"/>
              <a:t> Ein “cleverer”, extrem kurzer Code-Block ist oft schlechter als ein längerer, aber klar verständlicher Block.</a:t>
            </a:r>
          </a:p>
          <a:p>
            <a:pPr lvl="0"/>
            <a:r>
              <a:rPr lang="de-DE" b="1" noProof="0" dirty="0" err="1"/>
              <a:t>Refactoring</a:t>
            </a:r>
            <a:r>
              <a:rPr lang="de-DE" b="1" noProof="0" dirty="0"/>
              <a:t>:</a:t>
            </a:r>
            <a:r>
              <a:rPr lang="de-DE" noProof="0" dirty="0"/>
              <a:t> Die Zeit, die wir in sauberen Code investieren, holen wir beim nächsten Lesen um ein Vielfaches wieder rein.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Der “Works on </a:t>
            </a:r>
            <a:r>
              <a:rPr lang="de-DE" noProof="0" dirty="0" err="1"/>
              <a:t>my</a:t>
            </a:r>
            <a:r>
              <a:rPr lang="de-DE" noProof="0" dirty="0"/>
              <a:t> </a:t>
            </a:r>
            <a:r>
              <a:rPr lang="de-DE" noProof="0" dirty="0" err="1"/>
              <a:t>machine</a:t>
            </a:r>
            <a:r>
              <a:rPr lang="de-DE" noProof="0" dirty="0"/>
              <a:t>”-Irrtum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Das Entwickler-Syndrom:</a:t>
            </a:r>
            <a:r>
              <a:rPr lang="de-DE" noProof="0" dirty="0"/>
              <a:t> “Auf meinem Laptop läuft die Software einwandfrei!”</a:t>
            </a:r>
          </a:p>
          <a:p>
            <a:pPr lvl="0"/>
            <a:r>
              <a:rPr lang="de-DE" b="1" noProof="0" dirty="0"/>
              <a:t>Das Problem:</a:t>
            </a:r>
            <a:r>
              <a:rPr lang="de-DE" noProof="0" dirty="0"/>
              <a:t> Der Laptop des Entwicklers ist nicht die Produktionsumgebung.</a:t>
            </a:r>
          </a:p>
          <a:p>
            <a:pPr lvl="0"/>
            <a:r>
              <a:rPr lang="de-DE" b="1" noProof="0" dirty="0"/>
              <a:t>Die Abhängigkeiten:</a:t>
            </a:r>
            <a:r>
              <a:rPr lang="de-DE" noProof="0" dirty="0"/>
              <a:t> Versteckte Umgebungsvariablen, lokal installierte Softwareversionen, spezielle Dateipfade.</a:t>
            </a:r>
          </a:p>
          <a:p>
            <a:pPr lvl="0"/>
            <a:r>
              <a:rPr lang="de-DE" b="1" noProof="0" dirty="0"/>
              <a:t>Die Lösung:</a:t>
            </a:r>
            <a:r>
              <a:rPr lang="de-DE" noProof="0" dirty="0"/>
              <a:t> Infrastruktur als Code (z.B. Docker). Die Umgebung muss genauso versioniert werden wie der Quellcode.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dirty="0"/>
              <a:t>2. Was </a:t>
            </a:r>
            <a:r>
              <a:rPr lang="en-US" noProof="0" dirty="0" err="1"/>
              <a:t>ist</a:t>
            </a:r>
            <a:r>
              <a:rPr lang="en-US" noProof="0" dirty="0"/>
              <a:t> Software-Erosion?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F703DD4-0F5C-5E36-561C-DE7602282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Hardware-Verschleiß vs. Software-Alterung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Hardware:</a:t>
            </a:r>
            <a:r>
              <a:rPr lang="de-DE" noProof="0" dirty="0"/>
              <a:t> Verschleißt durch physikalische Nutzung (Hitze, Reibung, Materialermüdung).</a:t>
            </a:r>
          </a:p>
          <a:p>
            <a:pPr lvl="0"/>
            <a:r>
              <a:rPr lang="de-DE" b="1" noProof="0" dirty="0"/>
              <a:t>Software:</a:t>
            </a:r>
            <a:r>
              <a:rPr lang="de-DE" noProof="0" dirty="0"/>
              <a:t> Nutzt sich physikalisch exakt </a:t>
            </a:r>
            <a:r>
              <a:rPr lang="de-DE" i="1" noProof="0" dirty="0"/>
              <a:t>null</a:t>
            </a:r>
            <a:r>
              <a:rPr lang="de-DE" noProof="0" dirty="0"/>
              <a:t> ab. Eine kompilierte .</a:t>
            </a:r>
            <a:r>
              <a:rPr lang="de-DE" noProof="0" dirty="0" err="1"/>
              <a:t>dll-Datei</a:t>
            </a:r>
            <a:r>
              <a:rPr lang="de-DE" noProof="0" dirty="0"/>
              <a:t> ist in 100 Jahren noch identisch.</a:t>
            </a:r>
          </a:p>
          <a:p>
            <a:pPr lvl="0"/>
            <a:r>
              <a:rPr lang="de-DE" b="1" noProof="0" dirty="0"/>
              <a:t>Das Paradoxon:</a:t>
            </a:r>
            <a:r>
              <a:rPr lang="de-DE" noProof="0" dirty="0"/>
              <a:t> Warum sagen wir dann, dass Software “kaputtgeht” oder “altert”?</a:t>
            </a:r>
          </a:p>
          <a:p>
            <a:pPr lvl="0"/>
            <a:r>
              <a:rPr lang="de-DE" b="1" noProof="0" dirty="0"/>
              <a:t>Die Antwort:</a:t>
            </a:r>
            <a:r>
              <a:rPr lang="de-DE" noProof="0" dirty="0"/>
              <a:t> Nicht die Software ändert sich, sondern das Universum um sie herum.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Definition: Software-Erosion (</a:t>
            </a:r>
            <a:r>
              <a:rPr lang="de-DE" noProof="0" dirty="0" err="1"/>
              <a:t>Aging</a:t>
            </a:r>
            <a:r>
              <a:rPr lang="de-DE" noProof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Software-Erosion:</a:t>
            </a:r>
            <a:r>
              <a:rPr lang="de-DE" noProof="0" dirty="0"/>
              <a:t> Der schleichende Prozess, bei dem Software an Wert, Sicherheit oder Stabilität verliert.</a:t>
            </a:r>
          </a:p>
          <a:p>
            <a:pPr lvl="0"/>
            <a:r>
              <a:rPr lang="de-DE" b="1" noProof="0" dirty="0"/>
              <a:t>Die Ursache:</a:t>
            </a:r>
            <a:r>
              <a:rPr lang="de-DE" noProof="0" dirty="0"/>
              <a:t> Fehlende Anpassung an eine sich kontinuierlich verändernde Systemumgebung.</a:t>
            </a:r>
          </a:p>
          <a:p>
            <a:pPr lvl="0"/>
            <a:r>
              <a:rPr lang="de-DE" b="1" noProof="0" dirty="0"/>
              <a:t>Die Analogie:</a:t>
            </a:r>
            <a:r>
              <a:rPr lang="de-DE" noProof="0" dirty="0"/>
              <a:t> Ein Haus, das nicht gewartet wird. Auch wenn niemand darin wohnt, wird es nach 20 Jahren Risse im Fundament haben.</a:t>
            </a:r>
          </a:p>
          <a:p>
            <a:pPr lvl="0"/>
            <a:r>
              <a:rPr lang="de-DE" b="1" noProof="0" dirty="0"/>
              <a:t>Die Regel:</a:t>
            </a:r>
            <a:r>
              <a:rPr lang="de-DE" noProof="0" dirty="0"/>
              <a:t> Ein System, das einfach nur “läuft” und nicht gewartet wird, stirbt.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Erosionsfaktor 1: Die technologische Basis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Betriebssysteme:</a:t>
            </a:r>
            <a:r>
              <a:rPr lang="de-DE" noProof="0" dirty="0"/>
              <a:t> Windows 7 wird nicht mehr unterstützt, Server wechseln von On-</a:t>
            </a:r>
            <a:r>
              <a:rPr lang="de-DE" noProof="0" dirty="0" err="1"/>
              <a:t>Premise</a:t>
            </a:r>
            <a:r>
              <a:rPr lang="de-DE" noProof="0" dirty="0"/>
              <a:t> in die Cloud.</a:t>
            </a:r>
          </a:p>
          <a:p>
            <a:pPr lvl="0"/>
            <a:r>
              <a:rPr lang="de-DE" b="1" noProof="0" dirty="0"/>
              <a:t>Laufzeitumgebungen:</a:t>
            </a:r>
            <a:r>
              <a:rPr lang="de-DE" noProof="0" dirty="0"/>
              <a:t> Das alte .NET Framework wird durch das moderne, plattformübergreifende .NET ersetzt.</a:t>
            </a:r>
          </a:p>
          <a:p>
            <a:pPr lvl="0"/>
            <a:r>
              <a:rPr lang="de-DE" b="1" noProof="0" dirty="0"/>
              <a:t>Hardware-Architektur:</a:t>
            </a:r>
            <a:r>
              <a:rPr lang="de-DE" noProof="0" dirty="0"/>
              <a:t> Der Wechsel von x86-Prozessoren zu ARM-Architekturen (z.B. in Server-Farmen).</a:t>
            </a:r>
          </a:p>
          <a:p>
            <a:pPr lvl="0"/>
            <a:r>
              <a:rPr lang="de-DE" b="1" noProof="0" dirty="0"/>
              <a:t>Konsequenz:</a:t>
            </a:r>
            <a:r>
              <a:rPr lang="de-DE" noProof="0" dirty="0"/>
              <a:t> Code, der hart an eine spezifische Hardware oder ein OS gebunden ist, erodiert am schnellsten.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Beispiel: Das Jahr-2038-Problem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Unix </a:t>
            </a:r>
            <a:r>
              <a:rPr lang="de-DE" b="1" noProof="0" dirty="0" err="1"/>
              <a:t>Epoch</a:t>
            </a:r>
            <a:r>
              <a:rPr lang="de-DE" b="1" noProof="0" dirty="0"/>
              <a:t>:</a:t>
            </a:r>
            <a:r>
              <a:rPr lang="de-DE" noProof="0" dirty="0"/>
              <a:t> Viele Systeme zählen die Zeit in Sekunden seit dem 1. Januar 1970 als 32-Bit-Integer.</a:t>
            </a:r>
          </a:p>
          <a:p>
            <a:pPr lvl="0"/>
            <a:r>
              <a:rPr lang="de-DE" b="1" noProof="0" dirty="0"/>
              <a:t>Der Überlauf:</a:t>
            </a:r>
            <a:r>
              <a:rPr lang="de-DE" noProof="0" dirty="0"/>
              <a:t> Am 19. Januar 2038 wird dieser Wert zu groß für 32-Bit. Die Zeit springt auf das Jahr 1901 zurück.</a:t>
            </a:r>
          </a:p>
          <a:p>
            <a:pPr lvl="0"/>
            <a:r>
              <a:rPr lang="de-DE" b="1" noProof="0" dirty="0"/>
              <a:t>Die Bedeutung:</a:t>
            </a:r>
            <a:r>
              <a:rPr lang="de-DE" noProof="0" dirty="0"/>
              <a:t> Ein klassisches Beispiel für Software-Erosion durch veraltete technologische Annahmen (32-Bit reicht für immer).</a:t>
            </a:r>
          </a:p>
          <a:p>
            <a:pPr lvl="0"/>
            <a:r>
              <a:rPr lang="de-DE" b="1" noProof="0" dirty="0"/>
              <a:t>Die Lösung:</a:t>
            </a:r>
            <a:r>
              <a:rPr lang="de-DE" noProof="0" dirty="0"/>
              <a:t> Weltweite, extrem teure Migrationen von Legacy-Systemen auf 64-Bit-Zeitsysteme.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Erosionsfaktor 2: Das Ökosystem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Third-Party-Bibliotheken:</a:t>
            </a:r>
            <a:r>
              <a:rPr lang="de-DE" noProof="0" dirty="0"/>
              <a:t> Moderne Software besteht zu 80-90% aus Fremdcode (</a:t>
            </a:r>
            <a:r>
              <a:rPr lang="de-DE" noProof="0" dirty="0" err="1"/>
              <a:t>NuGet</a:t>
            </a:r>
            <a:r>
              <a:rPr lang="de-DE" noProof="0" dirty="0"/>
              <a:t>, </a:t>
            </a:r>
            <a:r>
              <a:rPr lang="de-DE" noProof="0" dirty="0" err="1"/>
              <a:t>npm</a:t>
            </a:r>
            <a:r>
              <a:rPr lang="de-DE" noProof="0" dirty="0"/>
              <a:t>, Maven).</a:t>
            </a:r>
          </a:p>
          <a:p>
            <a:pPr lvl="0"/>
            <a:r>
              <a:rPr lang="de-DE" b="1" noProof="0" dirty="0"/>
              <a:t>Der Verfall:</a:t>
            </a:r>
            <a:r>
              <a:rPr lang="de-DE" noProof="0" dirty="0"/>
              <a:t> Open-Source-Projekte werden oft von Freiwilligen gepflegt. Verlieren diese die Lust, stirbt die Bibliothek.</a:t>
            </a:r>
          </a:p>
          <a:p>
            <a:pPr lvl="0"/>
            <a:r>
              <a:rPr lang="de-DE" b="1" noProof="0" dirty="0"/>
              <a:t>Sicherheitsrisiken:</a:t>
            </a:r>
            <a:r>
              <a:rPr lang="de-DE" noProof="0" dirty="0"/>
              <a:t> Neue Angriffsmuster (CVEs) werden entdeckt. Eine Bibliothek, die 2015 sicher war, ist heute ein Einfallstor.</a:t>
            </a:r>
          </a:p>
          <a:p>
            <a:pPr lvl="0"/>
            <a:r>
              <a:rPr lang="de-DE" b="1" noProof="0" dirty="0" err="1"/>
              <a:t>Dependency</a:t>
            </a:r>
            <a:r>
              <a:rPr lang="de-DE" b="1" noProof="0" dirty="0"/>
              <a:t> Hell:</a:t>
            </a:r>
            <a:r>
              <a:rPr lang="de-DE" noProof="0" dirty="0"/>
              <a:t> Das unkontrollierte Wachsen von Abhängigkeiten im eigenen Projekt.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Beispiel: Der “</a:t>
            </a:r>
            <a:r>
              <a:rPr lang="de-DE" noProof="0" dirty="0" err="1"/>
              <a:t>left</a:t>
            </a:r>
            <a:r>
              <a:rPr lang="de-DE" noProof="0" dirty="0"/>
              <a:t>-pad” Vorfall (2016)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Das Ereignis:</a:t>
            </a:r>
            <a:r>
              <a:rPr lang="de-DE" noProof="0" dirty="0"/>
              <a:t> Ein Entwickler löschte aus Wut ein winziges, 11-zeiliges Paket namens </a:t>
            </a:r>
            <a:r>
              <a:rPr lang="de-DE" noProof="0" dirty="0" err="1">
                <a:latin typeface="Courier"/>
              </a:rPr>
              <a:t>left</a:t>
            </a:r>
            <a:r>
              <a:rPr lang="de-DE" noProof="0" dirty="0">
                <a:latin typeface="Courier"/>
              </a:rPr>
              <a:t>-pad</a:t>
            </a:r>
            <a:r>
              <a:rPr lang="de-DE" noProof="0" dirty="0"/>
              <a:t> aus der NPM-Registry.</a:t>
            </a:r>
          </a:p>
          <a:p>
            <a:pPr lvl="0"/>
            <a:r>
              <a:rPr lang="de-DE" b="1" noProof="0" dirty="0"/>
              <a:t>Die Folge:</a:t>
            </a:r>
            <a:r>
              <a:rPr lang="de-DE" noProof="0" dirty="0"/>
              <a:t> Tausende Großprojekte (inklusive Facebook, Netflix) ließen sich weltweit nicht mehr kompilieren.</a:t>
            </a:r>
          </a:p>
          <a:p>
            <a:pPr lvl="0"/>
            <a:r>
              <a:rPr lang="de-DE" b="1" noProof="0" dirty="0"/>
              <a:t>Das Problem:</a:t>
            </a:r>
            <a:r>
              <a:rPr lang="de-DE" noProof="0" dirty="0"/>
              <a:t> Transitive Abhängigkeiten. Große Frameworks hingen unbewusst von diesem winzigen Paket ab.</a:t>
            </a:r>
          </a:p>
          <a:p>
            <a:pPr lvl="0"/>
            <a:r>
              <a:rPr lang="de-DE" b="1" noProof="0" dirty="0"/>
              <a:t>Die Lehre:</a:t>
            </a:r>
            <a:r>
              <a:rPr lang="de-DE" noProof="0" dirty="0"/>
              <a:t> Externe Abhängigkeiten sind ein massives Risiko für langlebige Software.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Erosionsfaktor 3: Fachliche Änderungen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echte Welt:</a:t>
            </a:r>
            <a:r>
              <a:rPr lang="de-DE" noProof="0" dirty="0"/>
              <a:t> Gesetze, Steuersätze und Geschäftsregeln ändern sich (manchmal über Nacht).</a:t>
            </a:r>
          </a:p>
          <a:p>
            <a:pPr lvl="0"/>
            <a:r>
              <a:rPr lang="de-DE" b="1" noProof="0" dirty="0"/>
              <a:t>Das Problem:</a:t>
            </a:r>
            <a:r>
              <a:rPr lang="de-DE" noProof="0" dirty="0"/>
              <a:t> Wenn Geschäftslogik wild im Code verstreut ist, wird jede fachliche Änderung zur Operation am offenen Herzen.</a:t>
            </a:r>
          </a:p>
          <a:p>
            <a:pPr lvl="0"/>
            <a:r>
              <a:rPr lang="de-DE" b="1" noProof="0" dirty="0"/>
              <a:t>Das Symptom:</a:t>
            </a:r>
            <a:r>
              <a:rPr lang="de-DE" noProof="0" dirty="0"/>
              <a:t> “Wir können den Kindergeld-Satz nicht erhöhen, ohne dass der PDF-Drucker abstürzt.”</a:t>
            </a:r>
          </a:p>
          <a:p>
            <a:pPr lvl="0"/>
            <a:r>
              <a:rPr lang="de-DE" b="1" noProof="0" dirty="0"/>
              <a:t>Die Lösung:</a:t>
            </a:r>
            <a:r>
              <a:rPr lang="de-DE" noProof="0" dirty="0"/>
              <a:t> Strikte Trennung von Fachlichkeit (Domain) und Infrastruktur (Datenbank/UI).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Bit Rot: Verrottender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Begriff “Bit Rot”:</a:t>
            </a:r>
            <a:r>
              <a:rPr lang="de-DE" noProof="0" dirty="0"/>
              <a:t> Beschreibt Software, die im Laufe der Zeit durch minimale, unstrukturierte Anpassungen degeneriert.</a:t>
            </a:r>
          </a:p>
          <a:p>
            <a:pPr lvl="0"/>
            <a:r>
              <a:rPr lang="de-DE" b="1" noProof="0" dirty="0"/>
              <a:t>Der Prozess:</a:t>
            </a:r>
            <a:r>
              <a:rPr lang="de-DE" noProof="0" dirty="0"/>
              <a:t> Jeder “schnelle Bugfix” und jeder “Hack” machen den Code etwas unverständlicher.</a:t>
            </a:r>
          </a:p>
          <a:p>
            <a:pPr lvl="0"/>
            <a:r>
              <a:rPr lang="de-DE" b="1" noProof="0" dirty="0"/>
              <a:t>Die Architektur-Divergenz:</a:t>
            </a:r>
            <a:r>
              <a:rPr lang="de-DE" noProof="0" dirty="0"/>
              <a:t> Die ursprünglich sauber geplante Architektur auf dem Whiteboard weicht immer stärker vom realen Code ab.</a:t>
            </a:r>
          </a:p>
          <a:p>
            <a:pPr lvl="0"/>
            <a:r>
              <a:rPr lang="de-DE" b="1" noProof="0" dirty="0"/>
              <a:t>Das Resultat:</a:t>
            </a:r>
            <a:r>
              <a:rPr lang="de-DE" noProof="0" dirty="0"/>
              <a:t> Ein monolithischer “Big Ball of Mud” (Großer Schlammball).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Der Faktor Mensch im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Personalwechsel:</a:t>
            </a:r>
            <a:r>
              <a:rPr lang="de-DE" noProof="0" dirty="0"/>
              <a:t> Entwickler gehen in Rente oder wechseln den Arbeitgeber.</a:t>
            </a:r>
          </a:p>
          <a:p>
            <a:pPr lvl="0"/>
            <a:r>
              <a:rPr lang="de-DE" b="1" noProof="0" dirty="0"/>
              <a:t>Verlust von Domänenwissen:</a:t>
            </a:r>
            <a:r>
              <a:rPr lang="de-DE" noProof="0" dirty="0"/>
              <a:t> Mit ihnen geht das Wissen, </a:t>
            </a:r>
            <a:r>
              <a:rPr lang="de-DE" i="1" noProof="0" dirty="0"/>
              <a:t>warum</a:t>
            </a:r>
            <a:r>
              <a:rPr lang="de-DE" noProof="0" dirty="0"/>
              <a:t> eine bestimmte Architektur gewählt wurde (</a:t>
            </a:r>
            <a:r>
              <a:rPr lang="de-DE" noProof="0" dirty="0" err="1"/>
              <a:t>Chesterton’s</a:t>
            </a:r>
            <a:r>
              <a:rPr lang="de-DE" noProof="0" dirty="0"/>
              <a:t> Fence).</a:t>
            </a:r>
          </a:p>
          <a:p>
            <a:pPr lvl="0"/>
            <a:r>
              <a:rPr lang="de-DE" b="1" noProof="0" dirty="0"/>
              <a:t>Die Gefahr:</a:t>
            </a:r>
            <a:r>
              <a:rPr lang="de-DE" noProof="0" dirty="0"/>
              <a:t> Neue Entwickler reißen Code ab, den sie nicht verstehen, und bauen versehentlich alte Bugs wieder ein.</a:t>
            </a:r>
          </a:p>
          <a:p>
            <a:pPr lvl="0"/>
            <a:r>
              <a:rPr lang="de-DE" b="1" noProof="0" dirty="0"/>
              <a:t>Gegenmaßnahme:</a:t>
            </a:r>
            <a:r>
              <a:rPr lang="de-DE" noProof="0" dirty="0"/>
              <a:t> Architecture </a:t>
            </a:r>
            <a:r>
              <a:rPr lang="de-DE" noProof="0" dirty="0" err="1"/>
              <a:t>Decision</a:t>
            </a:r>
            <a:r>
              <a:rPr lang="de-DE" noProof="0" dirty="0"/>
              <a:t> Records (ADRs) als historisches Gedächtnis des Projekts.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Neudefinition von “Legacy Code”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Klassische Definition:</a:t>
            </a:r>
            <a:r>
              <a:rPr lang="de-DE" noProof="0" dirty="0"/>
              <a:t> “Alter Code von früher, geschrieben in einer veralteten Sprache.”</a:t>
            </a:r>
          </a:p>
          <a:p>
            <a:pPr lvl="0"/>
            <a:r>
              <a:rPr lang="de-DE" b="1" noProof="0" dirty="0"/>
              <a:t>Die moderne Definition (Michael Feathers):</a:t>
            </a:r>
            <a:r>
              <a:rPr lang="de-DE" noProof="0" dirty="0"/>
              <a:t> “Legacy Code ist einfach Code ohne automatisierte Tests.”</a:t>
            </a:r>
          </a:p>
          <a:p>
            <a:pPr lvl="0"/>
            <a:r>
              <a:rPr lang="de-DE" b="1" noProof="0" dirty="0"/>
              <a:t>Warum diese Definition?</a:t>
            </a:r>
            <a:r>
              <a:rPr lang="de-DE" noProof="0" dirty="0"/>
              <a:t> Weil wir auch 2 Wochen alten Code ohne Tests nicht sicher verändern können. Er ist heute schon “Legacy”.</a:t>
            </a:r>
          </a:p>
          <a:p>
            <a:pPr lvl="0"/>
            <a:r>
              <a:rPr lang="de-DE" b="1" noProof="0" dirty="0"/>
              <a:t>Die Schlussfolgerung:</a:t>
            </a:r>
            <a:r>
              <a:rPr lang="de-DE" noProof="0" dirty="0"/>
              <a:t> Automatisierte Tests sind die Voraussetzung für jede Form von Langlebigkeit.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3. M.M. Lehman und die Software-Evolution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AF18B2-91AD-12FF-8DD6-25B1AA0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Wer war M.M. Lehman?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Hintergrund:</a:t>
            </a:r>
            <a:r>
              <a:rPr lang="de-DE" noProof="0" dirty="0"/>
              <a:t> Meir M. Lehman erforschte in den 1970er und 80er Jahren die Evolution von Software bei IBM.</a:t>
            </a:r>
          </a:p>
          <a:p>
            <a:pPr lvl="0"/>
            <a:r>
              <a:rPr lang="de-DE" b="1" noProof="0" dirty="0"/>
              <a:t>Die Erkenntnis:</a:t>
            </a:r>
            <a:r>
              <a:rPr lang="de-DE" noProof="0" dirty="0"/>
              <a:t> Software verhält sich ähnlich wie biologische Organismen; sie unterliegt Gesetzmäßigkeiten.</a:t>
            </a:r>
          </a:p>
          <a:p>
            <a:pPr lvl="0"/>
            <a:r>
              <a:rPr lang="de-DE" b="1" noProof="0" dirty="0" err="1"/>
              <a:t>Lehman’s</a:t>
            </a:r>
            <a:r>
              <a:rPr lang="de-DE" b="1" noProof="0" dirty="0"/>
              <a:t> Laws:</a:t>
            </a:r>
            <a:r>
              <a:rPr lang="de-DE" noProof="0" dirty="0"/>
              <a:t> Eine Reihe von Gesetzen, die empirisch belegen, wie Systeme über die Zeit “altern”.</a:t>
            </a:r>
          </a:p>
          <a:p>
            <a:pPr lvl="0"/>
            <a:r>
              <a:rPr lang="de-DE" b="1" noProof="0" dirty="0"/>
              <a:t>Relevanz:</a:t>
            </a:r>
            <a:r>
              <a:rPr lang="de-DE" noProof="0" dirty="0"/>
              <a:t> Diese Gesetze sind heute, im Zeitalter von Cloud und Microservices, aktueller denn je.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1. Gesetz: </a:t>
            </a:r>
            <a:r>
              <a:rPr lang="de-DE" noProof="0" dirty="0" err="1"/>
              <a:t>Continuing</a:t>
            </a:r>
            <a:r>
              <a:rPr lang="de-DE" noProof="0" dirty="0"/>
              <a:t>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Name:</a:t>
            </a:r>
            <a:r>
              <a:rPr lang="de-DE" noProof="0" dirty="0"/>
              <a:t> Gesetz der kontinuierlichen Änderung.</a:t>
            </a:r>
          </a:p>
          <a:p>
            <a:pPr lvl="0"/>
            <a:r>
              <a:rPr lang="de-DE" b="1" noProof="0" dirty="0"/>
              <a:t>Die These:</a:t>
            </a:r>
            <a:r>
              <a:rPr lang="de-DE" noProof="0" dirty="0"/>
              <a:t> Ein System, das in der realen Welt (E-Type Systeme) genutzt wird, muss kontinuierlich angepasst werden.</a:t>
            </a:r>
          </a:p>
          <a:p>
            <a:pPr lvl="0"/>
            <a:r>
              <a:rPr lang="de-DE" b="1" noProof="0" dirty="0"/>
              <a:t>Die Konsequenz:</a:t>
            </a:r>
            <a:r>
              <a:rPr lang="de-DE" noProof="0" dirty="0"/>
              <a:t> Geschieht dies nicht, verliert das System zunehmend an Wert für seine Nutzer.</a:t>
            </a:r>
          </a:p>
          <a:p>
            <a:pPr lvl="0"/>
            <a:r>
              <a:rPr lang="de-DE" b="1" noProof="0" dirty="0"/>
              <a:t>Wirtschaftliche Bedeutung:</a:t>
            </a:r>
            <a:r>
              <a:rPr lang="de-DE" noProof="0" dirty="0"/>
              <a:t> Ein “Wartungsmodus”, bei dem nur noch kritische Fehler behoben werden, bedeutet den langsamen Tod der Software.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2. Gesetz: </a:t>
            </a:r>
            <a:r>
              <a:rPr lang="de-DE" noProof="0" dirty="0" err="1"/>
              <a:t>Increasing</a:t>
            </a:r>
            <a:r>
              <a:rPr lang="de-DE" noProof="0" dirty="0"/>
              <a:t> </a:t>
            </a:r>
            <a:r>
              <a:rPr lang="de-DE" noProof="0" dirty="0" err="1"/>
              <a:t>Complexity</a:t>
            </a:r>
            <a:endParaRPr lang="de-D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Name:</a:t>
            </a:r>
            <a:r>
              <a:rPr lang="de-DE" noProof="0" dirty="0"/>
              <a:t> Gesetz der wachsenden Komplexität.</a:t>
            </a:r>
          </a:p>
          <a:p>
            <a:pPr lvl="0"/>
            <a:r>
              <a:rPr lang="de-DE" b="1" noProof="0" dirty="0"/>
              <a:t>Die These:</a:t>
            </a:r>
            <a:r>
              <a:rPr lang="de-DE" noProof="0" dirty="0"/>
              <a:t> Wenn ein System verändert wird, nimmt seine Komplexität unweigerlich zu…</a:t>
            </a:r>
          </a:p>
          <a:p>
            <a:pPr lvl="0"/>
            <a:r>
              <a:rPr lang="de-DE" b="1" noProof="0" dirty="0"/>
              <a:t>Die Bedingung:</a:t>
            </a:r>
            <a:r>
              <a:rPr lang="de-DE" noProof="0" dirty="0"/>
              <a:t> …es sei denn, es wird aktiv Arbeit investiert, um die Struktur zu erhalten oder zu vereinfachen.</a:t>
            </a:r>
          </a:p>
          <a:p>
            <a:pPr lvl="0"/>
            <a:r>
              <a:rPr lang="de-DE" b="1" noProof="0" dirty="0"/>
              <a:t>Der Alltag:</a:t>
            </a:r>
            <a:r>
              <a:rPr lang="de-DE" noProof="0" dirty="0"/>
              <a:t> Jeder schnelle Bugfix (“</a:t>
            </a:r>
            <a:r>
              <a:rPr lang="de-DE" noProof="0" dirty="0" err="1"/>
              <a:t>if-else</a:t>
            </a:r>
            <a:r>
              <a:rPr lang="de-DE" noProof="0" dirty="0"/>
              <a:t>”) macht den Code komplexer. Ohne </a:t>
            </a:r>
            <a:r>
              <a:rPr lang="de-DE" noProof="0" dirty="0" err="1"/>
              <a:t>Refactoring</a:t>
            </a:r>
            <a:r>
              <a:rPr lang="de-DE" noProof="0" dirty="0"/>
              <a:t> kollabiert das System irgendwann unter seinem eigenen Gewicht.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Visualisierung: Komplexität über Zeit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9116" y="1340481"/>
            <a:ext cx="2374567" cy="3366015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de-DE" b="1" noProof="0" dirty="0"/>
              <a:t>Obere Kurve: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Reine Feature-Entwicklung ohne Aufräumen (“Quick &amp; </a:t>
            </a:r>
            <a:r>
              <a:rPr lang="de-DE" noProof="0" dirty="0" err="1"/>
              <a:t>Dirty</a:t>
            </a:r>
            <a:r>
              <a:rPr lang="de-DE" noProof="0" dirty="0"/>
              <a:t>”).</a:t>
            </a:r>
          </a:p>
          <a:p>
            <a:pPr lvl="0"/>
            <a:r>
              <a:rPr lang="de-DE" b="1" noProof="0" dirty="0"/>
              <a:t>Untere Kurve: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Feature-Entwicklung gepaart mit kontinuierlichem </a:t>
            </a:r>
            <a:r>
              <a:rPr lang="de-DE" noProof="0" dirty="0" err="1"/>
              <a:t>Refactoring</a:t>
            </a:r>
            <a:r>
              <a:rPr lang="de-DE" noProof="0" dirty="0"/>
              <a:t> (Tilgung der Komplexität).</a:t>
            </a:r>
          </a:p>
          <a:p>
            <a:pPr lvl="0"/>
            <a:r>
              <a:rPr lang="de-DE" b="1" noProof="0" dirty="0"/>
              <a:t>Die Grenze: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Irgendwann ist die obere Kurve so steil, dass keine neuen Features mehr entwickelt werden können.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A5285D-914E-FA7D-F134-3B80DA48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36"/>
          <a:stretch>
            <a:fillRect/>
          </a:stretch>
        </p:blipFill>
        <p:spPr>
          <a:xfrm>
            <a:off x="244158" y="1436230"/>
            <a:ext cx="4000185" cy="265506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3. Gesetz: Self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Name:</a:t>
            </a:r>
            <a:r>
              <a:rPr lang="de-DE" noProof="0" dirty="0"/>
              <a:t> Gesetz der Selbstregulierung.</a:t>
            </a:r>
          </a:p>
          <a:p>
            <a:pPr lvl="0"/>
            <a:r>
              <a:rPr lang="de-DE" b="1" noProof="0" dirty="0"/>
              <a:t>Die These:</a:t>
            </a:r>
            <a:r>
              <a:rPr lang="de-DE" noProof="0" dirty="0"/>
              <a:t> Der Evolutionsprozess eines Systems ist selbstregulierend.</a:t>
            </a:r>
          </a:p>
          <a:p>
            <a:pPr lvl="0"/>
            <a:r>
              <a:rPr lang="de-DE" b="1" noProof="0" dirty="0"/>
              <a:t>Die Metrik:</a:t>
            </a:r>
            <a:r>
              <a:rPr lang="de-DE" noProof="0" dirty="0"/>
              <a:t> Die Verteilung von Releases und Fehlerquoten bleibt über die Zeit relativ konstant.</a:t>
            </a:r>
          </a:p>
          <a:p>
            <a:pPr lvl="0"/>
            <a:r>
              <a:rPr lang="de-DE" b="1" noProof="0" dirty="0"/>
              <a:t>Bedeutung für Manager:</a:t>
            </a:r>
            <a:r>
              <a:rPr lang="de-DE" noProof="0" dirty="0"/>
              <a:t> Man kann die Entwicklung eines Legacy-Systems nicht durch das reine Hinzufügen von Personal (“</a:t>
            </a:r>
            <a:r>
              <a:rPr lang="de-DE" noProof="0" dirty="0" err="1"/>
              <a:t>Mythical</a:t>
            </a:r>
            <a:r>
              <a:rPr lang="de-DE" noProof="0" dirty="0"/>
              <a:t> Man-</a:t>
            </a:r>
            <a:r>
              <a:rPr lang="de-DE" noProof="0" dirty="0" err="1"/>
              <a:t>Month</a:t>
            </a:r>
            <a:r>
              <a:rPr lang="de-DE" noProof="0" dirty="0"/>
              <a:t>”) erzwingen oder radikal beschleunigen.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6. Gesetz: </a:t>
            </a:r>
            <a:r>
              <a:rPr lang="de-DE" noProof="0" dirty="0" err="1"/>
              <a:t>Continuing</a:t>
            </a:r>
            <a:r>
              <a:rPr lang="de-DE" noProof="0" dirty="0"/>
              <a:t>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Name:</a:t>
            </a:r>
            <a:r>
              <a:rPr lang="de-DE" noProof="0" dirty="0"/>
              <a:t> Gesetz des kontinuierlichen Wachstums.</a:t>
            </a:r>
          </a:p>
          <a:p>
            <a:pPr lvl="0"/>
            <a:r>
              <a:rPr lang="de-DE" b="1" noProof="0" dirty="0"/>
              <a:t>Die These:</a:t>
            </a:r>
            <a:r>
              <a:rPr lang="de-DE" noProof="0" dirty="0"/>
              <a:t> Die funktionale Kapazität (Features) muss kontinuierlich wachsen, um die Zufriedenheit der Nutzer aufrechtzuerhalten.</a:t>
            </a:r>
          </a:p>
          <a:p>
            <a:pPr lvl="0"/>
            <a:r>
              <a:rPr lang="de-DE" b="1" noProof="0" dirty="0"/>
              <a:t>Das Dilemma:</a:t>
            </a:r>
            <a:r>
              <a:rPr lang="de-DE" noProof="0" dirty="0"/>
              <a:t> Die Software muss wachsen (Gesetz 6), aber dadurch wird sie komplexer und schwerer zu warten (Gesetz 2).</a:t>
            </a:r>
          </a:p>
          <a:p>
            <a:pPr lvl="0"/>
            <a:r>
              <a:rPr lang="de-DE" b="1" noProof="0" dirty="0"/>
              <a:t>Die Lösung:</a:t>
            </a:r>
            <a:r>
              <a:rPr lang="de-DE" noProof="0" dirty="0"/>
              <a:t> Skalierbare, modulare Architekturen (wie Microservices oder saubere Monolithen).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7. Gesetz: </a:t>
            </a:r>
            <a:r>
              <a:rPr lang="de-DE" noProof="0" dirty="0" err="1"/>
              <a:t>Declining</a:t>
            </a:r>
            <a:r>
              <a:rPr lang="de-DE" noProof="0" dirty="0"/>
              <a:t>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Name:</a:t>
            </a:r>
            <a:r>
              <a:rPr lang="de-DE" noProof="0" dirty="0"/>
              <a:t> Gesetz der abnehmenden Qualität.</a:t>
            </a:r>
          </a:p>
          <a:p>
            <a:pPr lvl="0"/>
            <a:r>
              <a:rPr lang="de-DE" b="1" noProof="0" dirty="0"/>
              <a:t>Die These:</a:t>
            </a:r>
            <a:r>
              <a:rPr lang="de-DE" noProof="0" dirty="0"/>
              <a:t> Die Qualität eines Systems wird als abnehmend wahrgenommen, wenn es nicht rigoros an Veränderungen der Einsatzumgebung angepasst wird.</a:t>
            </a:r>
          </a:p>
          <a:p>
            <a:pPr lvl="0"/>
            <a:r>
              <a:rPr lang="de-DE" b="1" noProof="0" dirty="0"/>
              <a:t>Nutzer-Wahrnehmung:</a:t>
            </a:r>
            <a:r>
              <a:rPr lang="de-DE" noProof="0" dirty="0"/>
              <a:t> Auch wenn der Code unverändert bleibt, steigen die Erwartungen der Nutzer (z.B. an UI, Geschwindigkeit, mobile Verfügbarkeit).</a:t>
            </a:r>
          </a:p>
          <a:p>
            <a:pPr lvl="0"/>
            <a:r>
              <a:rPr lang="de-DE" b="1" noProof="0" dirty="0"/>
              <a:t>Stillstand ist Rückschritt:</a:t>
            </a:r>
            <a:r>
              <a:rPr lang="de-DE" noProof="0" dirty="0"/>
              <a:t> Ein technologisch stagnierendes System ist ein qualitativ sinkendes System.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Illusion der perfekten 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Suche nach dem Heiligen Gral:</a:t>
            </a:r>
            <a:r>
              <a:rPr lang="de-DE" noProof="0" dirty="0"/>
              <a:t> Es gibt keine Architektur, die für die Ewigkeit gebaut ist.</a:t>
            </a:r>
          </a:p>
          <a:p>
            <a:pPr lvl="0"/>
            <a:r>
              <a:rPr lang="de-DE" b="1" noProof="0" dirty="0"/>
              <a:t>Das Problem mit Vorhersagen:</a:t>
            </a:r>
            <a:r>
              <a:rPr lang="de-DE" noProof="0" dirty="0"/>
              <a:t> Wir können nicht voraussehen, welche Frameworks in 10 Jahren Standard sind.</a:t>
            </a:r>
          </a:p>
          <a:p>
            <a:pPr lvl="0"/>
            <a:r>
              <a:rPr lang="de-DE" b="1" noProof="0" dirty="0"/>
              <a:t>Der echte Wert:</a:t>
            </a:r>
            <a:r>
              <a:rPr lang="de-DE" noProof="0" dirty="0"/>
              <a:t> Eine gute langlebige Architektur zeichnet sich durch </a:t>
            </a:r>
            <a:r>
              <a:rPr lang="de-DE" i="1" noProof="0" dirty="0"/>
              <a:t>Isolierung</a:t>
            </a:r>
            <a:r>
              <a:rPr lang="de-DE" noProof="0" dirty="0"/>
              <a:t> und </a:t>
            </a:r>
            <a:r>
              <a:rPr lang="de-DE" i="1" noProof="0" dirty="0"/>
              <a:t>Austauschbarkeit</a:t>
            </a:r>
            <a:r>
              <a:rPr lang="de-DE" noProof="0" dirty="0"/>
              <a:t> der Komponenten aus.</a:t>
            </a:r>
          </a:p>
          <a:p>
            <a:pPr lvl="0"/>
            <a:r>
              <a:rPr lang="de-DE" b="1" noProof="0" dirty="0"/>
              <a:t>Das Motto:</a:t>
            </a:r>
            <a:r>
              <a:rPr lang="de-DE" noProof="0" dirty="0"/>
              <a:t> “Design </a:t>
            </a:r>
            <a:r>
              <a:rPr lang="de-DE" noProof="0" dirty="0" err="1"/>
              <a:t>for</a:t>
            </a:r>
            <a:r>
              <a:rPr lang="de-DE" noProof="0" dirty="0"/>
              <a:t> </a:t>
            </a:r>
            <a:r>
              <a:rPr lang="de-DE" noProof="0" dirty="0" err="1"/>
              <a:t>replacement</a:t>
            </a:r>
            <a:r>
              <a:rPr lang="de-DE" noProof="0" dirty="0"/>
              <a:t>, not </a:t>
            </a:r>
            <a:r>
              <a:rPr lang="de-DE" noProof="0" dirty="0" err="1"/>
              <a:t>for</a:t>
            </a:r>
            <a:r>
              <a:rPr lang="de-DE" noProof="0" dirty="0"/>
              <a:t> </a:t>
            </a:r>
            <a:r>
              <a:rPr lang="de-DE" noProof="0" dirty="0" err="1"/>
              <a:t>eternity</a:t>
            </a:r>
            <a:r>
              <a:rPr lang="de-DE" noProof="0" dirty="0"/>
              <a:t>.”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4. Die ökonomische Perspektive (TCO)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79806A-06EA-A213-011E-BFD782E82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Beschaffungs-Illusion in der Verwaltung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Ausschreibung:</a:t>
            </a:r>
            <a:r>
              <a:rPr lang="de-DE" noProof="0" dirty="0"/>
              <a:t> Software wird oft nach dem günstigsten initialen Entwicklungspreis eingekauft.</a:t>
            </a:r>
          </a:p>
          <a:p>
            <a:pPr lvl="0"/>
            <a:r>
              <a:rPr lang="de-DE" b="1" noProof="0" dirty="0"/>
              <a:t>Das Problem:</a:t>
            </a:r>
            <a:r>
              <a:rPr lang="de-DE" noProof="0" dirty="0"/>
              <a:t> Der Dienstleister hat einen massiven Anreiz, schnell und “schmutzig” zu programmieren, um die Marge zu halten.</a:t>
            </a:r>
          </a:p>
          <a:p>
            <a:pPr lvl="0"/>
            <a:r>
              <a:rPr lang="de-DE" b="1" noProof="0" dirty="0"/>
              <a:t>Das Erwachen:</a:t>
            </a:r>
            <a:r>
              <a:rPr lang="de-DE" noProof="0" dirty="0"/>
              <a:t> Die wahren Kosten entstehen erst Jahre später bei der internen IT-Abteilung, die das System warten muss.</a:t>
            </a:r>
          </a:p>
          <a:p>
            <a:pPr lvl="0"/>
            <a:r>
              <a:rPr lang="de-DE" b="1" noProof="0" dirty="0"/>
              <a:t>Der Shift:</a:t>
            </a:r>
            <a:r>
              <a:rPr lang="de-DE" noProof="0" dirty="0"/>
              <a:t> Einkäufer müssen Architekturvorgaben und Testabdeckung vertraglich absichern, nicht nur Features.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Das Eisberg-Modell der Softwarekosten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Total </a:t>
            </a:r>
            <a:r>
              <a:rPr lang="de-DE" b="1" noProof="0" dirty="0" err="1"/>
              <a:t>Cost</a:t>
            </a:r>
            <a:r>
              <a:rPr lang="de-DE" b="1" noProof="0" dirty="0"/>
              <a:t> of Ownership (TCO):</a:t>
            </a:r>
            <a:r>
              <a:rPr lang="de-DE" noProof="0" dirty="0"/>
              <a:t> Die Gesamtkosten über den gesamten Lebenszyklus.</a:t>
            </a:r>
          </a:p>
          <a:p>
            <a:pPr lvl="0"/>
            <a:r>
              <a:rPr lang="de-DE" b="1" noProof="0" dirty="0"/>
              <a:t>Die Spitze des Eisbergs:</a:t>
            </a:r>
            <a:r>
              <a:rPr lang="de-DE" noProof="0" dirty="0"/>
              <a:t> ca. 20% der Kosten entstehen in der initialen Projektphase bis zum Go-Live (Sichtbar für das Management).</a:t>
            </a:r>
          </a:p>
          <a:p>
            <a:pPr lvl="0"/>
            <a:r>
              <a:rPr lang="de-DE" b="1" noProof="0" dirty="0"/>
              <a:t>Unter Wasser:</a:t>
            </a:r>
            <a:r>
              <a:rPr lang="de-DE" noProof="0" dirty="0"/>
              <a:t> ca. 80% der Kosten entstehen in der jahrzehntelangen Wartungs- und Evolutionsphase.</a:t>
            </a:r>
          </a:p>
          <a:p>
            <a:pPr lvl="0"/>
            <a:r>
              <a:rPr lang="de-DE" b="1" noProof="0" dirty="0"/>
              <a:t>Die Hebelwirkung:</a:t>
            </a:r>
            <a:r>
              <a:rPr lang="de-DE" noProof="0" dirty="0"/>
              <a:t> Wer an der Architektur (den 20%) spart, potenziert die Kosten bei den restlichen 80%.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Time-</a:t>
            </a:r>
            <a:r>
              <a:rPr lang="de-DE" noProof="0" dirty="0" err="1"/>
              <a:t>to</a:t>
            </a:r>
            <a:r>
              <a:rPr lang="de-DE" noProof="0" dirty="0"/>
              <a:t>-Market vs. Langfristige Qualität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Der Druck:</a:t>
            </a:r>
            <a:r>
              <a:rPr lang="de-DE" noProof="0" dirty="0"/>
              <a:t> Startups und Fachabteilungen wollen Features so schnell wie möglich (“Time-</a:t>
            </a:r>
            <a:r>
              <a:rPr lang="de-DE" noProof="0" dirty="0" err="1"/>
              <a:t>to</a:t>
            </a:r>
            <a:r>
              <a:rPr lang="de-DE" noProof="0" dirty="0"/>
              <a:t>-Market”).</a:t>
            </a:r>
          </a:p>
          <a:p>
            <a:pPr lvl="0"/>
            <a:r>
              <a:rPr lang="de-DE" b="1" noProof="0" dirty="0"/>
              <a:t>Die Ausrede:</a:t>
            </a:r>
            <a:r>
              <a:rPr lang="de-DE" noProof="0" dirty="0"/>
              <a:t> “Wir machen das jetzt schnell und unsauber, und räumen das später auf.” (Spoiler: Es wird fast nie aufgeräumt).</a:t>
            </a:r>
          </a:p>
          <a:p>
            <a:pPr lvl="0"/>
            <a:r>
              <a:rPr lang="de-DE" b="1" noProof="0" dirty="0"/>
              <a:t>Die Balance:</a:t>
            </a:r>
            <a:r>
              <a:rPr lang="de-DE" noProof="0" dirty="0"/>
              <a:t> Ein Wirtschaftsinformatiker muss zwischen kurzfristigem Nutzen und langfristiger Wartbarkeit vermitteln.</a:t>
            </a:r>
          </a:p>
          <a:p>
            <a:pPr lvl="0"/>
            <a:r>
              <a:rPr lang="de-DE" b="1" noProof="0" dirty="0"/>
              <a:t>Die Ausnahme:</a:t>
            </a:r>
            <a:r>
              <a:rPr lang="de-DE" noProof="0" dirty="0"/>
              <a:t> Prototypen und “</a:t>
            </a:r>
            <a:r>
              <a:rPr lang="de-DE" noProof="0" dirty="0" err="1"/>
              <a:t>Throw</a:t>
            </a:r>
            <a:r>
              <a:rPr lang="de-DE" noProof="0" dirty="0"/>
              <a:t>-</a:t>
            </a:r>
            <a:r>
              <a:rPr lang="de-DE" noProof="0" dirty="0" err="1"/>
              <a:t>away</a:t>
            </a:r>
            <a:r>
              <a:rPr lang="de-DE" noProof="0" dirty="0"/>
              <a:t>-Code” zum Testen von Ideen sind legitim – sofern sie danach auch wirklich weggeworfen werden.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Technische Schulden (Technical </a:t>
            </a:r>
            <a:r>
              <a:rPr lang="de-DE" noProof="0" dirty="0" err="1"/>
              <a:t>Debt</a:t>
            </a:r>
            <a:r>
              <a:rPr lang="de-DE" noProof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Metapher:</a:t>
            </a:r>
            <a:r>
              <a:rPr lang="de-DE" noProof="0" dirty="0"/>
              <a:t> Von Ward Cunningham (Erfinder des Wikis) geprägt.</a:t>
            </a:r>
          </a:p>
          <a:p>
            <a:pPr lvl="0"/>
            <a:r>
              <a:rPr lang="de-DE" b="1" noProof="0" dirty="0"/>
              <a:t>Was es bedeutet:</a:t>
            </a:r>
            <a:r>
              <a:rPr lang="de-DE" noProof="0" dirty="0"/>
              <a:t> Wir “leihen” uns Zeit aus der Zukunft (indem wir unsauber coden), um heute schneller ein Feature zu liefern.</a:t>
            </a:r>
          </a:p>
          <a:p>
            <a:pPr lvl="0"/>
            <a:r>
              <a:rPr lang="de-DE" b="1" noProof="0" dirty="0"/>
              <a:t>Strategische Schulden:</a:t>
            </a:r>
            <a:r>
              <a:rPr lang="de-DE" noProof="0" dirty="0"/>
              <a:t> Bewusst aufgenommene Schulden, um einen echten Markt-Vorteil zu erlangen (mit festem Plan zur Tilgung).</a:t>
            </a:r>
          </a:p>
          <a:p>
            <a:pPr lvl="0"/>
            <a:r>
              <a:rPr lang="de-DE" b="1" noProof="0" dirty="0"/>
              <a:t>Fahrlässige Schulden:</a:t>
            </a:r>
            <a:r>
              <a:rPr lang="de-DE" noProof="0" dirty="0"/>
              <a:t> Schulden aus Inkompetenz, Zeitdruck oder mangelndem Verständnis der Architektur.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Zinsen zahlen vs. Tilgung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Zinsen zahlen:</a:t>
            </a:r>
            <a:r>
              <a:rPr lang="de-DE" noProof="0" dirty="0"/>
              <a:t> Jedes neue Feature, das auf einer verschuldeten Code-Basis entwickelt wird, dauert länger und ist fehleranfälliger. Die Mehrkosten sind die Zinsen.</a:t>
            </a:r>
          </a:p>
          <a:p>
            <a:pPr lvl="0"/>
            <a:r>
              <a:rPr lang="de-DE" b="1" noProof="0" dirty="0"/>
              <a:t>Die Bank gewinnt immer:</a:t>
            </a:r>
            <a:r>
              <a:rPr lang="de-DE" noProof="0" dirty="0"/>
              <a:t> Wenn die Zinslast zu hoch wird, steht die Entwicklung faktisch still (“</a:t>
            </a:r>
            <a:r>
              <a:rPr lang="de-DE" noProof="0" dirty="0" err="1"/>
              <a:t>Bankruptcy</a:t>
            </a:r>
            <a:r>
              <a:rPr lang="de-DE" noProof="0" dirty="0"/>
              <a:t>”).</a:t>
            </a:r>
          </a:p>
          <a:p>
            <a:pPr lvl="0"/>
            <a:r>
              <a:rPr lang="de-DE" b="1" noProof="0" dirty="0"/>
              <a:t>Die Tilgung:</a:t>
            </a:r>
            <a:r>
              <a:rPr lang="de-DE" noProof="0" dirty="0"/>
              <a:t> </a:t>
            </a:r>
            <a:r>
              <a:rPr lang="de-DE" noProof="0" dirty="0" err="1"/>
              <a:t>Refactoring</a:t>
            </a:r>
            <a:r>
              <a:rPr lang="de-DE" noProof="0" dirty="0"/>
              <a:t> (das Aufräumen des Codes) und das nachträgliche Schreiben von Tests sind die Tilgung der Schulden.</a:t>
            </a:r>
          </a:p>
          <a:p>
            <a:pPr lvl="0"/>
            <a:r>
              <a:rPr lang="de-DE" b="1" noProof="0" dirty="0"/>
              <a:t>Der Konflikt:</a:t>
            </a:r>
            <a:r>
              <a:rPr lang="de-DE" noProof="0" dirty="0"/>
              <a:t> Fachabteilungen sehen oft den Wert von </a:t>
            </a:r>
            <a:r>
              <a:rPr lang="de-DE" noProof="0" dirty="0" err="1"/>
              <a:t>Refactoring</a:t>
            </a:r>
            <a:r>
              <a:rPr lang="de-DE" noProof="0" dirty="0"/>
              <a:t> (“Tilgung”) nicht, da keine neuen Features entstehen.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Der Zinseszinseffekt von schlechtem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Ein Teufelskreis:</a:t>
            </a:r>
            <a:r>
              <a:rPr lang="de-DE" noProof="0" dirty="0"/>
              <a:t> Schlechter Code macht es extrem schwer, neue Features sauber zu implementieren.</a:t>
            </a:r>
          </a:p>
          <a:p>
            <a:pPr lvl="0"/>
            <a:r>
              <a:rPr lang="de-DE" b="1" noProof="0" dirty="0"/>
              <a:t>Die Folge:</a:t>
            </a:r>
            <a:r>
              <a:rPr lang="de-DE" noProof="0" dirty="0"/>
              <a:t> Auch neue Features werden unsauber implementiert, was die Code-Basis weiter verschlechtert.</a:t>
            </a:r>
          </a:p>
          <a:p>
            <a:pPr lvl="0"/>
            <a:r>
              <a:rPr lang="de-DE" b="1" noProof="0" dirty="0"/>
              <a:t>Das Resultat:</a:t>
            </a:r>
            <a:r>
              <a:rPr lang="de-DE" noProof="0" dirty="0"/>
              <a:t> Kleine Änderungen (z.B. Text auf einem Button ändern) dauern in alten Legacy-Systemen oft Tage, weil Dutzende Nebeneffekte geprüft werden müssen.</a:t>
            </a:r>
          </a:p>
          <a:p>
            <a:pPr lvl="0"/>
            <a:r>
              <a:rPr lang="de-DE" b="1" noProof="0" dirty="0"/>
              <a:t>Die Frustration:</a:t>
            </a:r>
            <a:r>
              <a:rPr lang="de-DE" noProof="0" dirty="0"/>
              <a:t> Entwickler demotivieren und verlassen das Projekt.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Ökonomie der Software-Erosion - Warum wir über Geld sprechen müssen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b="1" noProof="0" dirty="0"/>
              <a:t>Die Realität:</a:t>
            </a:r>
            <a:r>
              <a:rPr lang="de-DE" noProof="0" dirty="0"/>
              <a:t> Technische Entscheidungen sind immer auch wirtschaftliche Entscheidungen.</a:t>
            </a:r>
          </a:p>
          <a:p>
            <a:pPr lvl="0"/>
            <a:r>
              <a:rPr lang="de-DE" b="1" noProof="0" dirty="0"/>
              <a:t>Die Herausforderung:</a:t>
            </a:r>
            <a:r>
              <a:rPr lang="de-DE" noProof="0" dirty="0"/>
              <a:t> Entwickler argumentieren mit “schönem Code” – das Management versteht nur “Kosten und Risiken”.</a:t>
            </a:r>
          </a:p>
          <a:p>
            <a:pPr lvl="0"/>
            <a:r>
              <a:rPr lang="de-DE" b="1" noProof="0" dirty="0"/>
              <a:t>Die Brücke:</a:t>
            </a:r>
            <a:r>
              <a:rPr lang="de-DE" noProof="0" dirty="0"/>
              <a:t> Wir müssen lernen, technische Qualität in Euro und Cent zu übersetzen.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Die 1-10-100-Regel (</a:t>
            </a:r>
            <a:r>
              <a:rPr lang="de-DE" noProof="0" dirty="0" err="1"/>
              <a:t>Boehm’s</a:t>
            </a:r>
            <a:r>
              <a:rPr lang="de-DE" noProof="0" dirty="0"/>
              <a:t> Law)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Erkenntnis:</a:t>
            </a:r>
            <a:r>
              <a:rPr lang="de-DE" noProof="0" dirty="0"/>
              <a:t> Barry Boehm (USC) bewies bereits in den 1980ern, dass Fehler-Kosten exponentiell mit der Zeit steigen.</a:t>
            </a:r>
          </a:p>
          <a:p>
            <a:pPr lvl="0"/>
            <a:r>
              <a:rPr lang="de-DE" b="1" noProof="0" dirty="0"/>
              <a:t>Die Regel:</a:t>
            </a:r>
          </a:p>
          <a:p>
            <a:pPr lvl="1"/>
            <a:r>
              <a:rPr lang="de-DE" noProof="0" dirty="0"/>
              <a:t>Ein Fehler, der in der </a:t>
            </a:r>
            <a:r>
              <a:rPr lang="de-DE" b="1" noProof="0" dirty="0"/>
              <a:t>Entwicklung</a:t>
            </a:r>
            <a:r>
              <a:rPr lang="de-DE" noProof="0" dirty="0"/>
              <a:t> 1€ kostet</a:t>
            </a:r>
          </a:p>
          <a:p>
            <a:pPr lvl="1"/>
            <a:r>
              <a:rPr lang="de-DE" noProof="0" dirty="0"/>
              <a:t>kostet im </a:t>
            </a:r>
            <a:r>
              <a:rPr lang="de-DE" b="1" noProof="0" dirty="0"/>
              <a:t>Test</a:t>
            </a:r>
            <a:r>
              <a:rPr lang="de-DE" noProof="0" dirty="0"/>
              <a:t> 10€</a:t>
            </a:r>
          </a:p>
          <a:p>
            <a:pPr lvl="1"/>
            <a:r>
              <a:rPr lang="de-DE" noProof="0" dirty="0"/>
              <a:t>und in der </a:t>
            </a:r>
            <a:r>
              <a:rPr lang="de-DE" b="1" noProof="0" dirty="0"/>
              <a:t>Produktion</a:t>
            </a:r>
            <a:r>
              <a:rPr lang="de-DE" noProof="0" dirty="0"/>
              <a:t> 100€</a:t>
            </a:r>
          </a:p>
          <a:p>
            <a:pPr lvl="0"/>
            <a:r>
              <a:rPr lang="de-DE" b="1" noProof="0" dirty="0"/>
              <a:t>Die Konsequenz:</a:t>
            </a:r>
            <a:r>
              <a:rPr lang="de-DE" noProof="0" dirty="0"/>
              <a:t> Investitionen in Qualität (Tests, Reviews, Architektur) zahlen sich vielfach aus.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Kostenkurve technischer Schulden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597040"/>
              </p:ext>
            </p:extLst>
          </p:nvPr>
        </p:nvGraphicFramePr>
        <p:xfrm>
          <a:off x="694138" y="2515605"/>
          <a:ext cx="5657847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Jahr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Aufwand für Feature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Kumulierte Kosten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40 Stunden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40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80 Stunden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120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160 Stunden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280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2034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320 Stunden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e-DE" noProof="0" dirty="0"/>
                        <a:t>600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4294967295"/>
          </p:nvPr>
        </p:nvSpPr>
        <p:spPr>
          <a:xfrm>
            <a:off x="617220" y="1134622"/>
            <a:ext cx="5658165" cy="3863459"/>
          </a:xfrm>
        </p:spPr>
        <p:txBody>
          <a:bodyPr>
            <a:normAutofit/>
          </a:bodyPr>
          <a:lstStyle/>
          <a:p>
            <a:pPr lvl="0"/>
            <a:r>
              <a:rPr lang="de-DE" b="1" noProof="0" dirty="0"/>
              <a:t>Das Gesetz:</a:t>
            </a:r>
            <a:r>
              <a:rPr lang="de-DE" noProof="0" dirty="0"/>
              <a:t> Ohne aktive Pflege verdoppeln sich die Wartungskosten ca. alle 3-5 Jahre.</a:t>
            </a:r>
          </a:p>
          <a:p>
            <a:pPr lvl="0"/>
            <a:r>
              <a:rPr lang="de-DE" b="1" noProof="0" dirty="0"/>
              <a:t>Die Mechanik:</a:t>
            </a:r>
            <a:r>
              <a:rPr lang="de-DE" noProof="0" dirty="0"/>
              <a:t> Jeder “Quick Fix” macht den nächsten Fix komplexer. Es entsteht ein Zinseszinseffekt.</a:t>
            </a:r>
          </a:p>
          <a:p>
            <a:pPr lvl="0"/>
            <a:r>
              <a:rPr lang="de-DE" b="1" noProof="0" dirty="0"/>
              <a:t>Das Beispiel:</a:t>
            </a:r>
          </a:p>
          <a:p>
            <a:pPr lvl="0"/>
            <a:endParaRPr lang="de-DE" b="1" dirty="0"/>
          </a:p>
          <a:p>
            <a:pPr lvl="0"/>
            <a:endParaRPr lang="de-DE" b="1" noProof="0" dirty="0"/>
          </a:p>
          <a:p>
            <a:pPr lvl="0"/>
            <a:endParaRPr lang="de-DE" b="1" dirty="0"/>
          </a:p>
          <a:p>
            <a:pPr lvl="0"/>
            <a:endParaRPr lang="de-DE" b="1" noProof="0" dirty="0"/>
          </a:p>
          <a:p>
            <a:br>
              <a:rPr lang="de-DE" b="1" dirty="0"/>
            </a:br>
            <a:r>
              <a:rPr lang="de-DE" b="1" dirty="0"/>
              <a:t>Die Botschaft:</a:t>
            </a:r>
            <a:r>
              <a:rPr lang="de-DE" dirty="0"/>
              <a:t> Ein Feature, das heute 1 Woche dauert, dauert in 10 Jahren ohne Pflege 2 Monate.</a:t>
            </a:r>
          </a:p>
          <a:p>
            <a:pPr marL="0" lvl="0" indent="0">
              <a:buNone/>
            </a:pPr>
            <a:endParaRPr lang="de-DE" b="1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ROI-Rechnung für </a:t>
            </a:r>
            <a:r>
              <a:rPr lang="de-DE" noProof="0" dirty="0" err="1"/>
              <a:t>Refactoring</a:t>
            </a:r>
            <a:endParaRPr lang="de-D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Die Investition:</a:t>
            </a:r>
            <a:r>
              <a:rPr lang="de-DE" noProof="0" dirty="0"/>
              <a:t> 2 Wochen </a:t>
            </a:r>
            <a:r>
              <a:rPr lang="de-DE" noProof="0" dirty="0" err="1"/>
              <a:t>Refactoring</a:t>
            </a:r>
            <a:r>
              <a:rPr lang="de-DE" noProof="0" dirty="0"/>
              <a:t> = 80 Stunden × 100€/h = 8.000€</a:t>
            </a:r>
          </a:p>
          <a:p>
            <a:pPr lvl="0"/>
            <a:r>
              <a:rPr lang="de-DE" b="1" noProof="0" dirty="0"/>
              <a:t>Die Einsparung:</a:t>
            </a:r>
            <a:r>
              <a:rPr lang="de-DE" noProof="0" dirty="0"/>
              <a:t> Nächstes Feature dauert statt 4 Wochen nur noch 1 Woche = 120 Stunden gespart = 12.000€</a:t>
            </a:r>
          </a:p>
          <a:p>
            <a:pPr lvl="0"/>
            <a:r>
              <a:rPr lang="de-DE" b="1" noProof="0" dirty="0"/>
              <a:t>Die Rendite:</a:t>
            </a:r>
            <a:r>
              <a:rPr lang="de-DE" noProof="0" dirty="0"/>
              <a:t> (12.000€ - 8.000€) / 8.000€ = </a:t>
            </a:r>
            <a:r>
              <a:rPr lang="de-DE" b="1" noProof="0" dirty="0"/>
              <a:t>50% ROI</a:t>
            </a:r>
          </a:p>
          <a:p>
            <a:pPr lvl="0"/>
            <a:r>
              <a:rPr lang="de-DE" b="1" noProof="0" dirty="0"/>
              <a:t>Die Botschaft:</a:t>
            </a:r>
            <a:r>
              <a:rPr lang="de-DE" noProof="0" dirty="0"/>
              <a:t> </a:t>
            </a:r>
            <a:r>
              <a:rPr lang="de-DE" noProof="0" dirty="0" err="1"/>
              <a:t>Refactoring</a:t>
            </a:r>
            <a:r>
              <a:rPr lang="de-DE" noProof="0" dirty="0"/>
              <a:t> ist keine Kostenstelle, sondern eine Investition mit messbarem Return.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Total </a:t>
            </a:r>
            <a:r>
              <a:rPr lang="de-DE" noProof="0" dirty="0" err="1"/>
              <a:t>Cost</a:t>
            </a:r>
            <a:r>
              <a:rPr lang="de-DE" noProof="0" dirty="0"/>
              <a:t> of Ownership (TCO) vs. Time-</a:t>
            </a:r>
            <a:r>
              <a:rPr lang="de-DE" noProof="0" dirty="0" err="1"/>
              <a:t>to</a:t>
            </a:r>
            <a:r>
              <a:rPr lang="de-DE" noProof="0" dirty="0"/>
              <a:t>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Time-</a:t>
            </a:r>
            <a:r>
              <a:rPr lang="de-DE" b="1" noProof="0" dirty="0" err="1"/>
              <a:t>to</a:t>
            </a:r>
            <a:r>
              <a:rPr lang="de-DE" b="1" noProof="0" dirty="0"/>
              <a:t>-Market (TTM):</a:t>
            </a:r>
            <a:r>
              <a:rPr lang="de-DE" noProof="0" dirty="0"/>
              <a:t> Wie schnell ist das System einsatzbereit?</a:t>
            </a:r>
          </a:p>
          <a:p>
            <a:pPr lvl="0"/>
            <a:r>
              <a:rPr lang="de-DE" b="1" noProof="0" dirty="0"/>
              <a:t>Total </a:t>
            </a:r>
            <a:r>
              <a:rPr lang="de-DE" b="1" noProof="0" dirty="0" err="1"/>
              <a:t>Cost</a:t>
            </a:r>
            <a:r>
              <a:rPr lang="de-DE" b="1" noProof="0" dirty="0"/>
              <a:t> of Ownership (TCO):</a:t>
            </a:r>
            <a:r>
              <a:rPr lang="de-DE" noProof="0" dirty="0"/>
              <a:t> Was kostet das System über seinen gesamten Lebenszyklus (20+ Jahre)?</a:t>
            </a:r>
          </a:p>
          <a:p>
            <a:pPr lvl="0"/>
            <a:r>
              <a:rPr lang="de-DE" b="1" noProof="0" dirty="0"/>
              <a:t>Der Konflikt:</a:t>
            </a:r>
            <a:r>
              <a:rPr lang="de-DE" noProof="0" dirty="0"/>
              <a:t> Optimierung auf TTM erhöht fast immer den TCO.</a:t>
            </a:r>
          </a:p>
          <a:p>
            <a:pPr lvl="0"/>
            <a:r>
              <a:rPr lang="de-DE" b="1" noProof="0" dirty="0"/>
              <a:t>Die Balance:</a:t>
            </a:r>
            <a:r>
              <a:rPr lang="de-DE" noProof="0" dirty="0"/>
              <a:t> Für ein Startup mit 2 Jahren Lebensdauer ist TTM wichtiger. Für eine Behörde mit 20 Jahren ist TCO entscheidend.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Argumentation mit dem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Falsch:</a:t>
            </a:r>
            <a:r>
              <a:rPr lang="de-DE" noProof="0" dirty="0"/>
              <a:t> “Der Code ist hässlich und braucht Interfaces.”</a:t>
            </a:r>
          </a:p>
          <a:p>
            <a:pPr lvl="0"/>
            <a:r>
              <a:rPr lang="de-DE" b="1" noProof="0" dirty="0"/>
              <a:t>Richtig:</a:t>
            </a:r>
            <a:r>
              <a:rPr lang="de-DE" noProof="0" dirty="0"/>
              <a:t> “Unser System hat eine </a:t>
            </a:r>
            <a:r>
              <a:rPr lang="de-DE" noProof="0" dirty="0" err="1"/>
              <a:t>Zyklomatische</a:t>
            </a:r>
            <a:r>
              <a:rPr lang="de-DE" noProof="0" dirty="0"/>
              <a:t> Komplexität von 25 in der Kernmethode. Das bedeutet: Jede Änderung benötigt 5x mehr Zeit als nötig. Ein </a:t>
            </a:r>
            <a:r>
              <a:rPr lang="de-DE" noProof="0" dirty="0" err="1"/>
              <a:t>Refactoring</a:t>
            </a:r>
            <a:r>
              <a:rPr lang="de-DE" noProof="0" dirty="0"/>
              <a:t> würde uns pro Jahr ca. 200 Entwicklerstunden sparen – das sind 20.000€.”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Die Budget-Falle </a:t>
            </a:r>
            <a:br>
              <a:rPr lang="de-DE" noProof="0" dirty="0"/>
            </a:br>
            <a:r>
              <a:rPr lang="de-DE" noProof="0" dirty="0"/>
              <a:t>(oftmals Realität in Kommunen)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6436" y="1094502"/>
            <a:ext cx="2953847" cy="3603318"/>
          </a:xfrm>
        </p:spPr>
        <p:txBody>
          <a:bodyPr>
            <a:normAutofit fontScale="85000" lnSpcReduction="10000"/>
          </a:bodyPr>
          <a:lstStyle/>
          <a:p>
            <a:pPr indent="0">
              <a:buNone/>
            </a:pPr>
            <a:endParaRPr lang="de-DE" noProof="0" dirty="0">
              <a:latin typeface="Courier"/>
            </a:endParaRPr>
          </a:p>
          <a:p>
            <a:pPr lvl="0"/>
            <a:r>
              <a:rPr lang="de-DE" b="1" noProof="0" dirty="0"/>
              <a:t>Die Analyse: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Die meisten Organisationen geben den Großteil ihres Budgets aus, nur um den Status Quo zu erhalten (“Keep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lights</a:t>
            </a:r>
            <a:r>
              <a:rPr lang="de-DE" noProof="0" dirty="0"/>
              <a:t> on”).</a:t>
            </a:r>
          </a:p>
          <a:p>
            <a:pPr lvl="0"/>
            <a:r>
              <a:rPr lang="de-DE" b="1" noProof="0" dirty="0"/>
              <a:t>Innovationsstau: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Für echte Digitalisierungsprojekte fehlt schlicht das Geld und die Entwicklerzeit.</a:t>
            </a:r>
          </a:p>
          <a:p>
            <a:pPr lvl="0"/>
            <a:r>
              <a:rPr lang="de-DE" b="1" noProof="0" dirty="0"/>
              <a:t>Die Lösung: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Nachhaltige Architektur reduziert den Wartungsanteil und befreit Budget für Innovation.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8B658D4-67D0-EA1C-5507-2CCA466560CB}"/>
              </a:ext>
            </a:extLst>
          </p:cNvPr>
          <p:cNvGrpSpPr/>
          <p:nvPr/>
        </p:nvGrpSpPr>
        <p:grpSpPr>
          <a:xfrm>
            <a:off x="840641" y="1388355"/>
            <a:ext cx="1931284" cy="2613826"/>
            <a:chOff x="774155" y="1388355"/>
            <a:chExt cx="1639677" cy="2219161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947B2390-B0EC-259F-930A-6900CD49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4155" y="1388355"/>
              <a:ext cx="1639677" cy="1634310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C9D17E6C-6CEC-E98A-6B0B-52194B236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641" y="3221027"/>
              <a:ext cx="1506703" cy="3864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5. Überleitung zur Praxis: Unser Szenario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E75BA3-E6A0-72F3-7B54-1EBCF166B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Der “Wohngeld-Rechner 2015”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Das Übungsszenario:</a:t>
            </a:r>
            <a:r>
              <a:rPr lang="de-DE" noProof="0" dirty="0"/>
              <a:t> Ab sofort wechseln wir in die Praxis. Sie erhalten ein 10 Jahre altes C#-System.</a:t>
            </a:r>
          </a:p>
          <a:p>
            <a:pPr lvl="0"/>
            <a:r>
              <a:rPr lang="de-DE" b="1" noProof="0" dirty="0"/>
              <a:t>Der Hintergrund:</a:t>
            </a:r>
            <a:r>
              <a:rPr lang="de-DE" noProof="0" dirty="0"/>
              <a:t> Eine fiktive Kommune hat das System 2015 von einem externen Dienstleister billig einkaufen lassen.</a:t>
            </a:r>
          </a:p>
          <a:p>
            <a:pPr lvl="0"/>
            <a:r>
              <a:rPr lang="de-DE" b="1" noProof="0" dirty="0"/>
              <a:t>Der Zustand:</a:t>
            </a:r>
            <a:r>
              <a:rPr lang="de-DE" noProof="0" dirty="0"/>
              <a:t> Das System berechnet das Wohngeld, hat aber </a:t>
            </a:r>
            <a:r>
              <a:rPr lang="de-DE" i="1" noProof="0" dirty="0"/>
              <a:t>keine einzige</a:t>
            </a:r>
            <a:r>
              <a:rPr lang="de-DE" noProof="0" dirty="0"/>
              <a:t> automatisierte Testmethode.</a:t>
            </a:r>
          </a:p>
          <a:p>
            <a:pPr lvl="0"/>
            <a:r>
              <a:rPr lang="de-DE" b="1" noProof="0" dirty="0"/>
              <a:t>Die Anforderung:</a:t>
            </a:r>
            <a:r>
              <a:rPr lang="de-DE" noProof="0" dirty="0"/>
              <a:t> Die Fachabteilung möchte neue gesetzliche Sätze für das Jahr 2026 einpflegen.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noProof="0" dirty="0"/>
              <a:t>Das Anti-Pattern: Das “</a:t>
            </a:r>
            <a:r>
              <a:rPr lang="de-DE" noProof="0" dirty="0" err="1"/>
              <a:t>God</a:t>
            </a:r>
            <a:r>
              <a:rPr lang="de-DE" noProof="0" dirty="0"/>
              <a:t> </a:t>
            </a:r>
            <a:r>
              <a:rPr lang="de-DE" noProof="0" dirty="0" err="1"/>
              <a:t>Object</a:t>
            </a:r>
            <a:r>
              <a:rPr lang="de-DE" noProof="0" dirty="0"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Was ist ein </a:t>
            </a:r>
            <a:r>
              <a:rPr lang="de-DE" b="1" noProof="0" dirty="0" err="1"/>
              <a:t>God</a:t>
            </a:r>
            <a:r>
              <a:rPr lang="de-DE" b="1" noProof="0" dirty="0"/>
              <a:t> </a:t>
            </a:r>
            <a:r>
              <a:rPr lang="de-DE" b="1" noProof="0" dirty="0" err="1"/>
              <a:t>Object</a:t>
            </a:r>
            <a:r>
              <a:rPr lang="de-DE" b="1" noProof="0" dirty="0"/>
              <a:t>?</a:t>
            </a:r>
            <a:r>
              <a:rPr lang="de-DE" noProof="0" dirty="0"/>
              <a:t> Eine einzelne Klasse oder Methode, die “alles weiß und alles macht”.</a:t>
            </a:r>
          </a:p>
          <a:p>
            <a:pPr lvl="0"/>
            <a:r>
              <a:rPr lang="de-DE" b="1" noProof="0" dirty="0"/>
              <a:t>Die Verstöße:</a:t>
            </a:r>
            <a:r>
              <a:rPr lang="de-DE" noProof="0" dirty="0"/>
              <a:t> Mischt Geschäftslogik (Berechnung), Benutzeroberfläche (Konsolenausgaben) und Infrastruktur (Datenbankverbindungen).</a:t>
            </a:r>
          </a:p>
          <a:p>
            <a:pPr lvl="0"/>
            <a:r>
              <a:rPr lang="de-DE" b="1" noProof="0" dirty="0"/>
              <a:t>Das Problem:</a:t>
            </a:r>
            <a:r>
              <a:rPr lang="de-DE" noProof="0" dirty="0"/>
              <a:t> Wenn das Datenbankschema sich ändert, bricht die Berechnung. Wenn die Berechnung sich ändert, bricht die Konsole.</a:t>
            </a:r>
          </a:p>
          <a:p>
            <a:pPr lvl="0"/>
            <a:r>
              <a:rPr lang="de-DE" b="1" noProof="0" dirty="0"/>
              <a:t>Spaghetticode:</a:t>
            </a:r>
            <a:r>
              <a:rPr lang="de-DE" noProof="0" dirty="0"/>
              <a:t> Der Kontrollfluss ist ein undurchsichtiges Knäuel aus </a:t>
            </a:r>
            <a:r>
              <a:rPr lang="de-DE" noProof="0" dirty="0" err="1">
                <a:latin typeface="Courier"/>
              </a:rPr>
              <a:t>if</a:t>
            </a:r>
            <a:r>
              <a:rPr lang="de-DE" noProof="0" dirty="0"/>
              <a:t>- und </a:t>
            </a:r>
            <a:r>
              <a:rPr lang="de-DE" noProof="0" dirty="0" err="1">
                <a:latin typeface="Courier"/>
              </a:rPr>
              <a:t>else</a:t>
            </a:r>
            <a:r>
              <a:rPr lang="de-DE" noProof="0" dirty="0"/>
              <a:t>-Bedingungen.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Code-Beispiel: Der Spaghetticode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// Ein Blick in Ihren Übungscode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b="1" noProof="0" dirty="0" err="1">
                <a:solidFill>
                  <a:srgbClr val="007020"/>
                </a:solidFill>
                <a:latin typeface="Consolas" panose="020B0609020204030204" pitchFamily="49" charset="0"/>
              </a:rPr>
              <a:t>public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solidFill>
                  <a:srgbClr val="902000"/>
                </a:solidFill>
                <a:latin typeface="Consolas" panose="020B0609020204030204" pitchFamily="49" charset="0"/>
              </a:rPr>
              <a:t>void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solidFill>
                  <a:srgbClr val="06287E"/>
                </a:solidFill>
                <a:latin typeface="Consolas" panose="020B0609020204030204" pitchFamily="49" charset="0"/>
              </a:rPr>
              <a:t>BerechneUndSpeichereWohngeld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050" noProof="0" dirty="0" err="1">
                <a:solidFill>
                  <a:srgbClr val="902000"/>
                </a:solidFill>
                <a:latin typeface="Consolas" panose="020B0609020204030204" pitchFamily="49" charset="0"/>
              </a:rPr>
              <a:t>int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latin typeface="Consolas" panose="020B0609020204030204" pitchFamily="49" charset="0"/>
              </a:rPr>
              <a:t>id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,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902000"/>
                </a:solidFill>
                <a:latin typeface="Consolas" panose="020B0609020204030204" pitchFamily="49" charset="0"/>
              </a:rPr>
              <a:t>double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latin typeface="Consolas" panose="020B0609020204030204" pitchFamily="49" charset="0"/>
              </a:rPr>
              <a:t>bruttoEinkommen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)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noProof="0" dirty="0" err="1">
                <a:latin typeface="Consolas" panose="020B0609020204030204" pitchFamily="49" charset="0"/>
              </a:rPr>
              <a:t>Console</a:t>
            </a:r>
            <a:r>
              <a:rPr lang="de-DE" sz="1050" noProof="0" dirty="0" err="1">
                <a:solidFill>
                  <a:srgbClr val="666666"/>
                </a:solidFill>
                <a:latin typeface="Consolas" panose="020B0609020204030204" pitchFamily="49" charset="0"/>
              </a:rPr>
              <a:t>.</a:t>
            </a:r>
            <a:r>
              <a:rPr lang="de-DE" sz="1050" noProof="0" dirty="0" err="1">
                <a:solidFill>
                  <a:srgbClr val="06287E"/>
                </a:solidFill>
                <a:latin typeface="Consolas" panose="020B0609020204030204" pitchFamily="49" charset="0"/>
              </a:rPr>
              <a:t>WriteLine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050" noProof="0" dirty="0">
                <a:solidFill>
                  <a:srgbClr val="4070A0"/>
                </a:solidFill>
                <a:latin typeface="Consolas" panose="020B0609020204030204" pitchFamily="49" charset="0"/>
              </a:rPr>
              <a:t>"Starte Berechnung..."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);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noProof="0" dirty="0">
                <a:solidFill>
                  <a:srgbClr val="902000"/>
                </a:solidFill>
                <a:latin typeface="Consolas" panose="020B0609020204030204" pitchFamily="49" charset="0"/>
              </a:rPr>
              <a:t>double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latin typeface="Consolas" panose="020B0609020204030204" pitchFamily="49" charset="0"/>
              </a:rPr>
              <a:t>maxEinkommen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40A070"/>
                </a:solidFill>
                <a:latin typeface="Consolas" panose="020B0609020204030204" pitchFamily="49" charset="0"/>
              </a:rPr>
              <a:t>25000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// Magic </a:t>
            </a:r>
            <a:r>
              <a:rPr lang="de-DE" sz="1050" i="1" noProof="0" dirty="0" err="1">
                <a:solidFill>
                  <a:srgbClr val="60A0B0"/>
                </a:solidFill>
                <a:latin typeface="Consolas" panose="020B0609020204030204" pitchFamily="49" charset="0"/>
              </a:rPr>
              <a:t>Number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// ... Tief verschachtelte Logik ...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b="1" noProof="0" dirty="0" err="1">
                <a:solidFill>
                  <a:srgbClr val="007020"/>
                </a:solidFill>
                <a:latin typeface="Consolas" panose="020B0609020204030204" pitchFamily="49" charset="0"/>
              </a:rPr>
              <a:t>using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050" noProof="0" dirty="0" err="1">
                <a:latin typeface="Consolas" panose="020B0609020204030204" pitchFamily="49" charset="0"/>
              </a:rPr>
              <a:t>SqlConnection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latin typeface="Consolas" panose="020B0609020204030204" pitchFamily="49" charset="0"/>
              </a:rPr>
              <a:t>conn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b="1" noProof="0" dirty="0" err="1">
                <a:solidFill>
                  <a:srgbClr val="007020"/>
                </a:solidFill>
                <a:latin typeface="Consolas" panose="020B0609020204030204" pitchFamily="49" charset="0"/>
              </a:rPr>
              <a:t>new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solidFill>
                  <a:srgbClr val="06287E"/>
                </a:solidFill>
                <a:latin typeface="Consolas" panose="020B0609020204030204" pitchFamily="49" charset="0"/>
              </a:rPr>
              <a:t>SqlConnection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(</a:t>
            </a:r>
            <a:r>
              <a:rPr lang="de-DE" sz="1050" noProof="0" dirty="0">
                <a:solidFill>
                  <a:srgbClr val="4070A0"/>
                </a:solidFill>
                <a:latin typeface="Consolas" panose="020B0609020204030204" pitchFamily="49" charset="0"/>
              </a:rPr>
              <a:t>"Server=</a:t>
            </a:r>
            <a:r>
              <a:rPr lang="de-DE" sz="1050" noProof="0" dirty="0" err="1">
                <a:solidFill>
                  <a:srgbClr val="4070A0"/>
                </a:solidFill>
                <a:latin typeface="Consolas" panose="020B0609020204030204" pitchFamily="49" charset="0"/>
              </a:rPr>
              <a:t>old-sql</a:t>
            </a:r>
            <a:r>
              <a:rPr lang="de-DE" sz="1050" noProof="0" dirty="0">
                <a:solidFill>
                  <a:srgbClr val="4070A0"/>
                </a:solidFill>
                <a:latin typeface="Consolas" panose="020B0609020204030204" pitchFamily="49" charset="0"/>
              </a:rPr>
              <a:t>;"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))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{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    </a:t>
            </a: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// SQL-</a:t>
            </a:r>
            <a:r>
              <a:rPr lang="de-DE" sz="1050" i="1" noProof="0" dirty="0" err="1">
                <a:solidFill>
                  <a:srgbClr val="60A0B0"/>
                </a:solidFill>
                <a:latin typeface="Consolas" panose="020B0609020204030204" pitchFamily="49" charset="0"/>
              </a:rPr>
              <a:t>Injection</a:t>
            </a: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 Risiko &amp; Harte DB-Bindung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    </a:t>
            </a:r>
            <a:r>
              <a:rPr lang="de-DE" sz="1050" noProof="0" dirty="0" err="1">
                <a:solidFill>
                  <a:srgbClr val="902000"/>
                </a:solidFill>
                <a:latin typeface="Consolas" panose="020B0609020204030204" pitchFamily="49" charset="0"/>
              </a:rPr>
              <a:t>string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 err="1">
                <a:latin typeface="Consolas" panose="020B0609020204030204" pitchFamily="49" charset="0"/>
              </a:rPr>
              <a:t>sql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=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r>
              <a:rPr lang="de-DE" sz="1050" noProof="0" dirty="0">
                <a:solidFill>
                  <a:srgbClr val="4070A0"/>
                </a:solidFill>
                <a:latin typeface="Consolas" panose="020B0609020204030204" pitchFamily="49" charset="0"/>
              </a:rPr>
              <a:t>"INSERT INTO Bescheide ..."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;</a:t>
            </a:r>
            <a:r>
              <a:rPr lang="de-DE" sz="1050" noProof="0" dirty="0">
                <a:latin typeface="Consolas" panose="020B0609020204030204" pitchFamily="49" charset="0"/>
              </a:rPr>
              <a:t> 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    </a:t>
            </a:r>
            <a:r>
              <a:rPr lang="de-DE" sz="1050" i="1" noProof="0" dirty="0">
                <a:solidFill>
                  <a:srgbClr val="60A0B0"/>
                </a:solidFill>
                <a:latin typeface="Consolas" panose="020B0609020204030204" pitchFamily="49" charset="0"/>
              </a:rPr>
              <a:t>// ...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latin typeface="Consolas" panose="020B0609020204030204" pitchFamily="49" charset="0"/>
              </a:rPr>
              <a:t>    </a:t>
            </a: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  <a:br>
              <a:rPr lang="de-DE" sz="1050" noProof="0" dirty="0">
                <a:latin typeface="Consolas" panose="020B0609020204030204" pitchFamily="49" charset="0"/>
              </a:rPr>
            </a:br>
            <a:r>
              <a:rPr lang="de-DE" sz="1050" noProof="0" dirty="0">
                <a:solidFill>
                  <a:srgbClr val="666666"/>
                </a:solidFill>
                <a:latin typeface="Consolas" panose="020B0609020204030204" pitchFamily="49" charset="0"/>
              </a:rPr>
              <a:t>}</a:t>
            </a:r>
          </a:p>
          <a:p>
            <a:pPr lvl="0"/>
            <a:r>
              <a:rPr lang="de-DE" b="1" noProof="0" dirty="0"/>
              <a:t>Ihre Aufgabe: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Versuchen Sie, diesen Code ohne Tests für das Jahr 2026 anzupassen, ohne die Altfälle von 2015 kaputtzumachen. </a:t>
            </a:r>
            <a:br>
              <a:rPr lang="de-DE" noProof="0" dirty="0"/>
            </a:br>
            <a:r>
              <a:rPr lang="de-DE" noProof="0" dirty="0"/>
              <a:t>(Spoiler: Es wird schmerzhaft).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Das Ziel der heutigen Übung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Schmerz erfühlen:</a:t>
            </a:r>
            <a:r>
              <a:rPr lang="de-DE" noProof="0" dirty="0"/>
              <a:t> Sie sollen am eigenen Leib spüren, wie sehr technische Schulden (Technical </a:t>
            </a:r>
            <a:r>
              <a:rPr lang="de-DE" noProof="0" dirty="0" err="1"/>
              <a:t>Debt</a:t>
            </a:r>
            <a:r>
              <a:rPr lang="de-DE" noProof="0" dirty="0"/>
              <a:t>) die Produktivität bremsen.</a:t>
            </a:r>
          </a:p>
          <a:p>
            <a:pPr lvl="0"/>
            <a:r>
              <a:rPr lang="de-DE" b="1" noProof="0" dirty="0"/>
              <a:t>Aufwandsabschätzung:</a:t>
            </a:r>
            <a:r>
              <a:rPr lang="de-DE" noProof="0" dirty="0"/>
              <a:t> Berechnen Sie, was diese kleine fachliche Änderung die Kommune an realen Entwicklerstunden kosten würde.</a:t>
            </a:r>
          </a:p>
          <a:p>
            <a:pPr lvl="0"/>
            <a:r>
              <a:rPr lang="de-DE" b="1" noProof="0" dirty="0"/>
              <a:t>Der Aha-Moment:</a:t>
            </a:r>
            <a:r>
              <a:rPr lang="de-DE" noProof="0" dirty="0"/>
              <a:t> Erkennen, dass ein einfacher Neustart (“Wir schreiben alles neu”) oft keine Option ist, weil das Domänenwissen nur noch im Spaghetticode existiert.</a:t>
            </a:r>
          </a:p>
          <a:p>
            <a:pPr lvl="0"/>
            <a:r>
              <a:rPr lang="de-DE" b="1" noProof="0" dirty="0"/>
              <a:t>Vorbereitung:</a:t>
            </a:r>
            <a:r>
              <a:rPr lang="de-DE" noProof="0" dirty="0"/>
              <a:t> Wir legen den Grundstein für das </a:t>
            </a:r>
            <a:r>
              <a:rPr lang="de-DE" noProof="0" dirty="0" err="1"/>
              <a:t>Refactoring</a:t>
            </a:r>
            <a:r>
              <a:rPr lang="de-DE" noProof="0" dirty="0"/>
              <a:t> in Woche 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Abschluss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49AC46-4BA5-444E-F92D-A58BAB78C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Zusammenfassung der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Software lebt:</a:t>
            </a:r>
            <a:r>
              <a:rPr lang="de-DE" noProof="0" dirty="0"/>
              <a:t> Ein System ohne kontinuierliche Anpassung und </a:t>
            </a:r>
            <a:r>
              <a:rPr lang="de-DE" noProof="0" dirty="0" err="1"/>
              <a:t>Refactoring</a:t>
            </a:r>
            <a:r>
              <a:rPr lang="de-DE" noProof="0" dirty="0"/>
              <a:t> verliert an Wert und wird zur “Legacy”.</a:t>
            </a:r>
          </a:p>
          <a:p>
            <a:pPr lvl="0"/>
            <a:r>
              <a:rPr lang="de-DE" b="1" noProof="0" dirty="0"/>
              <a:t>Erosion ist real:</a:t>
            </a:r>
            <a:r>
              <a:rPr lang="de-DE" noProof="0" dirty="0"/>
              <a:t> Die Umwelt (Hardware, APIs, Gesetze) verändert sich, was den unbeweglichen Code zerstört.</a:t>
            </a:r>
          </a:p>
          <a:p>
            <a:pPr lvl="0"/>
            <a:r>
              <a:rPr lang="de-DE" b="1" noProof="0" dirty="0"/>
              <a:t>Wirtschaftlicher Faktor:</a:t>
            </a:r>
            <a:r>
              <a:rPr lang="de-DE" noProof="0" dirty="0"/>
              <a:t> Architektur und Tests sind keine “Nice-</a:t>
            </a:r>
            <a:r>
              <a:rPr lang="de-DE" noProof="0" dirty="0" err="1"/>
              <a:t>to</a:t>
            </a:r>
            <a:r>
              <a:rPr lang="de-DE" noProof="0" dirty="0"/>
              <a:t>-</a:t>
            </a:r>
            <a:r>
              <a:rPr lang="de-DE" noProof="0" dirty="0" err="1"/>
              <a:t>have</a:t>
            </a:r>
            <a:r>
              <a:rPr lang="de-DE" noProof="0" dirty="0"/>
              <a:t>”-Spielereien, sondern der einzige Weg, die Total </a:t>
            </a:r>
            <a:r>
              <a:rPr lang="de-DE" noProof="0" dirty="0" err="1"/>
              <a:t>Cost</a:t>
            </a:r>
            <a:r>
              <a:rPr lang="de-DE" noProof="0" dirty="0"/>
              <a:t> of Ownership (TCO) niedrig zu halten.</a:t>
            </a:r>
          </a:p>
          <a:p>
            <a:pPr lvl="0"/>
            <a:r>
              <a:rPr lang="de-DE" b="1" noProof="0" dirty="0"/>
              <a:t>Code </a:t>
            </a:r>
            <a:r>
              <a:rPr lang="de-DE" b="1" noProof="0" dirty="0" err="1"/>
              <a:t>is</a:t>
            </a:r>
            <a:r>
              <a:rPr lang="de-DE" b="1" noProof="0" dirty="0"/>
              <a:t> </a:t>
            </a:r>
            <a:r>
              <a:rPr lang="de-DE" b="1" noProof="0" dirty="0" err="1"/>
              <a:t>for</a:t>
            </a:r>
            <a:r>
              <a:rPr lang="de-DE" b="1" noProof="0" dirty="0"/>
              <a:t> </a:t>
            </a:r>
            <a:r>
              <a:rPr lang="de-DE" b="1" noProof="0" dirty="0" err="1"/>
              <a:t>Humans</a:t>
            </a:r>
            <a:r>
              <a:rPr lang="de-DE" b="1" noProof="0" dirty="0"/>
              <a:t>:</a:t>
            </a:r>
            <a:r>
              <a:rPr lang="de-DE" noProof="0" dirty="0"/>
              <a:t> Wir schreiben Code primär, damit der Kollege ihn in 5 Jahren noch gefahrlos anpassen kann.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Ausblick auf Woche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b="1" noProof="0" dirty="0"/>
              <a:t>Von Spaghetticode zur Struktur:</a:t>
            </a:r>
            <a:r>
              <a:rPr lang="de-DE" noProof="0" dirty="0"/>
              <a:t> Wie trennen wir die Geschäftslogik sicher von der Datenbank und der UI?</a:t>
            </a:r>
          </a:p>
          <a:p>
            <a:pPr lvl="0"/>
            <a:r>
              <a:rPr lang="de-DE" b="1" noProof="0" dirty="0"/>
              <a:t>Die Hexagonale Architektur:</a:t>
            </a:r>
            <a:r>
              <a:rPr lang="de-DE" noProof="0" dirty="0"/>
              <a:t> Wir führen das “Ports &amp; Adapters” Architekturmuster ein.</a:t>
            </a:r>
          </a:p>
          <a:p>
            <a:pPr lvl="0"/>
            <a:r>
              <a:rPr lang="de-DE" b="1" noProof="0" dirty="0" err="1"/>
              <a:t>Dependency</a:t>
            </a:r>
            <a:r>
              <a:rPr lang="de-DE" b="1" noProof="0" dirty="0"/>
              <a:t> </a:t>
            </a:r>
            <a:r>
              <a:rPr lang="de-DE" b="1" noProof="0" dirty="0" err="1"/>
              <a:t>Injection</a:t>
            </a:r>
            <a:r>
              <a:rPr lang="de-DE" b="1" noProof="0" dirty="0"/>
              <a:t> (DI):</a:t>
            </a:r>
            <a:r>
              <a:rPr lang="de-DE" noProof="0" dirty="0"/>
              <a:t> Wir lernen das wichtigste C#-Konzept für langlebige Software kennen: Abhängigkeiten von außen steuern, statt sie hart zu verdrahten.</a:t>
            </a:r>
          </a:p>
          <a:p>
            <a:pPr lvl="0"/>
            <a:r>
              <a:rPr lang="de-DE" b="1" noProof="0" dirty="0"/>
              <a:t>Hausaufgabe:</a:t>
            </a:r>
            <a:r>
              <a:rPr lang="de-DE" noProof="0" dirty="0"/>
              <a:t> Bitte frischen Sie bis zur nächsten Vorlesung Ihr Wissen zu C#-Interfaces (</a:t>
            </a:r>
            <a:r>
              <a:rPr lang="de-DE" noProof="0" dirty="0">
                <a:latin typeface="Courier"/>
              </a:rPr>
              <a:t>interface</a:t>
            </a:r>
            <a:r>
              <a:rPr lang="de-DE" noProof="0" dirty="0"/>
              <a:t>) und Objektinstanziierung auf!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3752</Words>
  <Application>Microsoft Office PowerPoint</Application>
  <PresentationFormat>Benutzerdefiniert</PresentationFormat>
  <Paragraphs>264</Paragraphs>
  <Slides>55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</vt:vector>
  </HeadingPairs>
  <TitlesOfParts>
    <vt:vector size="60" baseType="lpstr">
      <vt:lpstr>Calibri</vt:lpstr>
      <vt:lpstr>Calibri Light</vt:lpstr>
      <vt:lpstr>Consolas</vt:lpstr>
      <vt:lpstr>Courier</vt:lpstr>
      <vt:lpstr>Rückblick</vt:lpstr>
      <vt:lpstr>Entwicklung langlebiger Software</vt:lpstr>
      <vt:lpstr>Willkommen &amp; Einordnung</vt:lpstr>
      <vt:lpstr>Lernziele für diese Woche</vt:lpstr>
      <vt:lpstr>Was erwartet Sie im Modul?</vt:lpstr>
      <vt:lpstr>1. Einführung &amp; Paradigmenwechsel</vt:lpstr>
      <vt:lpstr>Die Illusion des “fertigen” Projekts</vt:lpstr>
      <vt:lpstr>Produkt- vs. Projekt-Mindset</vt:lpstr>
      <vt:lpstr>Reale Lebenszyklen von Software</vt:lpstr>
      <vt:lpstr>Programmieren vs. Software Engineering</vt:lpstr>
      <vt:lpstr>Die Dimension der Zeit</vt:lpstr>
      <vt:lpstr>Die Dimension der Skalierung (Teams)</vt:lpstr>
      <vt:lpstr>Das Lese-Schreib-Verhältnis</vt:lpstr>
      <vt:lpstr>Der “Works on my machine”-Irrtum</vt:lpstr>
      <vt:lpstr>2. Was ist Software-Erosion?</vt:lpstr>
      <vt:lpstr>Hardware-Verschleiß vs. Software-Alterung</vt:lpstr>
      <vt:lpstr>Definition: Software-Erosion (Aging)</vt:lpstr>
      <vt:lpstr>Erosionsfaktor 1: Die technologische Basis</vt:lpstr>
      <vt:lpstr>Beispiel: Das Jahr-2038-Problem</vt:lpstr>
      <vt:lpstr>Erosionsfaktor 2: Das Ökosystem</vt:lpstr>
      <vt:lpstr>Beispiel: Der “left-pad” Vorfall (2016)</vt:lpstr>
      <vt:lpstr>Erosionsfaktor 3: Fachliche Änderungen</vt:lpstr>
      <vt:lpstr>Bit Rot: Verrottender Code</vt:lpstr>
      <vt:lpstr>Der Faktor Mensch im System</vt:lpstr>
      <vt:lpstr>Die Neudefinition von “Legacy Code”</vt:lpstr>
      <vt:lpstr>3. M.M. Lehman und die Software-Evolution</vt:lpstr>
      <vt:lpstr>Wer war M.M. Lehman?</vt:lpstr>
      <vt:lpstr>1. Gesetz: Continuing Change</vt:lpstr>
      <vt:lpstr>2. Gesetz: Increasing Complexity</vt:lpstr>
      <vt:lpstr>Visualisierung: Komplexität über Zeit</vt:lpstr>
      <vt:lpstr>3. Gesetz: Self Regulation</vt:lpstr>
      <vt:lpstr>6. Gesetz: Continuing Growth</vt:lpstr>
      <vt:lpstr>7. Gesetz: Declining Quality</vt:lpstr>
      <vt:lpstr>Die Illusion der perfekten Architektur</vt:lpstr>
      <vt:lpstr>4. Die ökonomische Perspektive (TCO)</vt:lpstr>
      <vt:lpstr>Die Beschaffungs-Illusion in der Verwaltung</vt:lpstr>
      <vt:lpstr>Das Eisberg-Modell der Softwarekosten</vt:lpstr>
      <vt:lpstr>Time-to-Market vs. Langfristige Qualität</vt:lpstr>
      <vt:lpstr>Technische Schulden (Technical Debt)</vt:lpstr>
      <vt:lpstr>Zinsen zahlen vs. Tilgung</vt:lpstr>
      <vt:lpstr>Der Zinseszinseffekt von schlechtem Code</vt:lpstr>
      <vt:lpstr>Die Ökonomie der Software-Erosion - Warum wir über Geld sprechen müssen</vt:lpstr>
      <vt:lpstr>Die 1-10-100-Regel (Boehm’s Law)</vt:lpstr>
      <vt:lpstr>Die Kostenkurve technischer Schulden</vt:lpstr>
      <vt:lpstr>ROI-Rechnung für Refactoring</vt:lpstr>
      <vt:lpstr>Total Cost of Ownership (TCO) vs. Time-to-Market</vt:lpstr>
      <vt:lpstr>Argumentation mit dem Management</vt:lpstr>
      <vt:lpstr>Die Budget-Falle  (oftmals Realität in Kommunen)</vt:lpstr>
      <vt:lpstr>5. Überleitung zur Praxis: Unser Szenario</vt:lpstr>
      <vt:lpstr>Der “Wohngeld-Rechner 2015”</vt:lpstr>
      <vt:lpstr>Das Anti-Pattern: Das “God Object”</vt:lpstr>
      <vt:lpstr>Code-Beispiel: Der Spaghetticode</vt:lpstr>
      <vt:lpstr>Das Ziel der heutigen Übung</vt:lpstr>
      <vt:lpstr>Abschluss</vt:lpstr>
      <vt:lpstr>Zusammenfassung der Woche</vt:lpstr>
      <vt:lpstr>Ausblick auf Woche 2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1</cp:revision>
  <dcterms:created xsi:type="dcterms:W3CDTF">2026-03-18T16:32:38Z</dcterms:created>
  <dcterms:modified xsi:type="dcterms:W3CDTF">2026-03-18T17:27:25Z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