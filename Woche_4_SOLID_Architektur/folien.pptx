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1" Type="http://schemas.openxmlformats.org/officeDocument/2006/relationships/viewProps" Target="viewProps.xml" /><Relationship Id="rId60" Type="http://schemas.openxmlformats.org/officeDocument/2006/relationships/presProps" Target="presProps.xml" /><Relationship Id="rId1" Type="http://schemas.openxmlformats.org/officeDocument/2006/relationships/slideMaster" Target="slideMasters/slideMaster1.xml" /><Relationship Id="rId63" Type="http://schemas.openxmlformats.org/officeDocument/2006/relationships/tableStyles" Target="tableStyles.xml" /><Relationship Id="rId6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Objektorientierte Programmierung (Vertiefung)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Woche 4: SOLID-Prinzipien und Architektur</a:t>
            </a:r>
            <a:br/>
            <a:br/>
            <a:r>
              <a:rPr/>
              <a:t>Peter Bernhardt</a:t>
            </a:r>
          </a:p>
        </p:txBody>
      </p:sp>
      <p:sp>
        <p:nvSpPr>
          <p:cNvPr id="4" name="Date Placeholder 3"/>
          <p:cNvSpPr>
            <a:spLocks noGrp="1"/>
          </p:cNvSpPr>
          <p:nvPr>
            <p:ph idx="10" sz="half" type="dt"/>
          </p:nvPr>
        </p:nvSpPr>
        <p:spPr/>
        <p:txBody>
          <a:bodyPr/>
          <a:lstStyle/>
          <a:p>
            <a:pPr lvl="0" indent="0" marL="0">
              <a:buNone/>
            </a:pPr>
            <a:r>
              <a:rPr/>
              <a:t>März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1: Vom Code zum System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Willkommen zu Woche 4</a:t>
            </a:r>
          </a:p>
        </p:txBody>
      </p:sp>
      <p:sp>
        <p:nvSpPr>
          <p:cNvPr id="3" name="Content Placeholder 2"/>
          <p:cNvSpPr>
            <a:spLocks noGrp="1"/>
          </p:cNvSpPr>
          <p:nvPr>
            <p:ph idx="1"/>
          </p:nvPr>
        </p:nvSpPr>
        <p:spPr/>
        <p:txBody>
          <a:bodyPr/>
          <a:lstStyle/>
          <a:p>
            <a:pPr lvl="0" indent="0" marL="0">
              <a:buNone/>
            </a:pPr>
            <a:r>
              <a:rPr/>
              <a:t>In den ersten Wochen haben wir die handwerklichen Details betrachtet: wie formatiere ich eine Methode, wie nutze ich ein Design Pattern. Heute zoomen wir heraus. Wir betrachten die System-Architektur. Wie bauen wir ein gesamtes “Fachverfahren”, das auch nach Jahren noch pflegbar bleibt?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Ziele der heutigen Sitzung</a:t>
            </a:r>
          </a:p>
        </p:txBody>
      </p:sp>
      <p:sp>
        <p:nvSpPr>
          <p:cNvPr id="3" name="Content Placeholder 2"/>
          <p:cNvSpPr>
            <a:spLocks noGrp="1"/>
          </p:cNvSpPr>
          <p:nvPr>
            <p:ph idx="1"/>
          </p:nvPr>
        </p:nvSpPr>
        <p:spPr/>
        <p:txBody>
          <a:bodyPr/>
          <a:lstStyle/>
          <a:p>
            <a:pPr lvl="0"/>
            <a:r>
              <a:rPr/>
              <a:t>Die fünf SOLID-Prinzipien im Detail verstehen.</a:t>
            </a:r>
          </a:p>
          <a:p>
            <a:pPr lvl="0"/>
            <a:r>
              <a:rPr/>
              <a:t>Das Konzept der Dependency Injection (DI) meistern.</a:t>
            </a:r>
          </a:p>
          <a:p>
            <a:pPr lvl="0"/>
            <a:r>
              <a:rPr/>
              <a:t>Die klassische Schichtenarchitektur (UI, BLL, DAL) aufbauen können.</a:t>
            </a:r>
          </a:p>
          <a:p>
            <a:pPr lvl="0"/>
            <a:r>
              <a:rPr/>
              <a:t>Vor- und Nachteile architektonischer Entscheidungen abwägen.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Was ist SOLID?</a:t>
            </a:r>
          </a:p>
        </p:txBody>
      </p:sp>
      <p:sp>
        <p:nvSpPr>
          <p:cNvPr id="3" name="Content Placeholder 2"/>
          <p:cNvSpPr>
            <a:spLocks noGrp="1"/>
          </p:cNvSpPr>
          <p:nvPr>
            <p:ph idx="1"/>
          </p:nvPr>
        </p:nvSpPr>
        <p:spPr/>
        <p:txBody>
          <a:bodyPr/>
          <a:lstStyle/>
          <a:p>
            <a:pPr lvl="0" indent="0" marL="0">
              <a:buNone/>
            </a:pPr>
            <a:r>
              <a:rPr/>
              <a:t>SOLID ist ein Akronym, das von Robert C. Martin (“Uncle Bob”) geprägt wurde. Es fasst fünf essenzielle Prinzipien des objektorientierten Designs zusammen. Wenn Ihr Code diese Prinzipien verletzt, wird das System im Laufe der Zeit starr, zerbrechlich und immobil (“Spaghetti-Code”). Befolgen Sie SOLID, bauen Sie Software, die flexibel und robust ist.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Kritik an SOLID</a:t>
            </a:r>
          </a:p>
        </p:txBody>
      </p:sp>
      <p:sp>
        <p:nvSpPr>
          <p:cNvPr id="3" name="Content Placeholder 2"/>
          <p:cNvSpPr>
            <a:spLocks noGrp="1"/>
          </p:cNvSpPr>
          <p:nvPr>
            <p:ph idx="1"/>
          </p:nvPr>
        </p:nvSpPr>
        <p:spPr/>
        <p:txBody>
          <a:bodyPr/>
          <a:lstStyle/>
          <a:p>
            <a:pPr lvl="0"/>
            <a:r>
              <a:rPr/>
              <a:t>Manche Entwickler halten SOLID für zu theoretisch oder schwer anwendbar.</a:t>
            </a:r>
          </a:p>
          <a:p>
            <a:pPr lvl="0"/>
            <a:r>
              <a:rPr/>
              <a:t>Es gibt Fälle, in denen eine Verletzung eines SOLID-Prinzips pragmatisch sein kann (z.B. bei sehr kleinen Projekten).</a:t>
            </a:r>
          </a:p>
          <a:p>
            <a:pPr lvl="0"/>
            <a:r>
              <a:rPr/>
              <a:t>Dennoch ist es ein bewährtes Set von Richtlinien, das in der Praxis immer wieder seine Nützlichkeit bewiesen hat.</a:t>
            </a:r>
          </a:p>
          <a:p>
            <a:pPr lvl="0" indent="0" marL="0">
              <a:buNone/>
            </a:pPr>
            <a:r>
              <a:rPr/>
              <a:t>Die Prinzipien sind nicht als Dogma zu verstehen, sondern als Leitplanken, die uns helfen, bessere Software zu schreiben. Sie sind Werkzeuge, kein Gesetz.</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2: S – Single Responsibility Principle (SRP)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Definition</a:t>
            </a:r>
          </a:p>
        </p:txBody>
      </p:sp>
      <p:sp>
        <p:nvSpPr>
          <p:cNvPr id="3" name="Content Placeholder 2"/>
          <p:cNvSpPr>
            <a:spLocks noGrp="1"/>
          </p:cNvSpPr>
          <p:nvPr>
            <p:ph idx="1"/>
          </p:nvPr>
        </p:nvSpPr>
        <p:spPr/>
        <p:txBody>
          <a:bodyPr/>
          <a:lstStyle/>
          <a:p>
            <a:pPr lvl="0" indent="0" marL="0">
              <a:buNone/>
            </a:pPr>
            <a:r>
              <a:rPr i="1"/>
              <a:t>“Eine Klasse sollte nur genau einen Grund haben, sich zu ändern.”</a:t>
            </a:r>
            <a:r>
              <a:rPr/>
              <a:t> Das bedeutet: Eine Klasse hat nur exakt eine einzige Verantwortlichkeit (Aufgabe) im System. Jede Änderung der Anforderungen sollte nur eine überschaubare Anzahl an Klassen betreffen.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Das Problem der Gott-Klasse</a:t>
            </a:r>
          </a:p>
        </p:txBody>
      </p:sp>
      <p:sp>
        <p:nvSpPr>
          <p:cNvPr id="3" name="Content Placeholder 2"/>
          <p:cNvSpPr>
            <a:spLocks noGrp="1"/>
          </p:cNvSpPr>
          <p:nvPr>
            <p:ph idx="1"/>
          </p:nvPr>
        </p:nvSpPr>
        <p:spPr/>
        <p:txBody>
          <a:bodyPr/>
          <a:lstStyle/>
          <a:p>
            <a:pPr lvl="0" indent="0" marL="0">
              <a:buNone/>
            </a:pPr>
            <a:r>
              <a:rPr/>
              <a:t>Oft sehen wir in der Verwaltung Klassen wie den </a:t>
            </a:r>
            <a:r>
              <a:rPr>
                <a:latin typeface="Courier"/>
              </a:rPr>
              <a:t>AntragsManager</a:t>
            </a:r>
            <a:r>
              <a:rPr/>
              <a:t>. Was tut er? Er prüft die Fachregeln, er baut einen SQL-String zusammen und ruft die Datenbank auf, er formatiert das PDF für den Ausdruck. Das ist eine “Gott-Klasse” – sie weiß alles und tut alles. Wenn sich das Datenbankschema ändert, müssen wir den AntragsManager ändern. Wenn sich das Layout des PDFs ändert, müssen wir ihn wieder ändern.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Die </a:t>
            </a:r>
            <a:r>
              <a:rPr i="1"/>
              <a:t>Gott-Klasse</a:t>
            </a:r>
            <a:r>
              <a:rPr/>
              <a:t> ist ein Anti-Pattern</a:t>
            </a:r>
          </a:p>
        </p:txBody>
      </p:sp>
      <p:sp>
        <p:nvSpPr>
          <p:cNvPr id="3" name="Content Placeholder 2"/>
          <p:cNvSpPr>
            <a:spLocks noGrp="1"/>
          </p:cNvSpPr>
          <p:nvPr>
            <p:ph idx="1"/>
          </p:nvPr>
        </p:nvSpPr>
        <p:spPr/>
        <p:txBody>
          <a:bodyPr/>
          <a:lstStyle/>
          <a:p>
            <a:pPr lvl="0" indent="0" marL="0">
              <a:buNone/>
            </a:pPr>
            <a:r>
              <a:rPr/>
              <a:t>Eine ganz schlechte </a:t>
            </a:r>
            <a:r>
              <a:rPr i="1"/>
              <a:t>Gott-Klasse</a:t>
            </a:r>
            <a:r>
              <a:rPr/>
              <a:t>. Eine Klasse mit einer Methode, die sowohl für die Prüfung der Fachregeln, das Zusammenbauen eines SQL-Strings und den Datenbankzugriff sowie das Erstellen des PDFs für den Ausdruck verantwortlich ist.</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AntragManager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BearbeiteAntrag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1. Fachregeln prüfen</a:t>
            </a:r>
            <a:br/>
            <a:r>
              <a:rPr>
                <a:latin typeface="Courier"/>
              </a:rPr>
              <a:t>        </a:t>
            </a:r>
            <a:r>
              <a:rPr>
                <a:solidFill>
                  <a:srgbClr val="902000"/>
                </a:solidFill>
                <a:latin typeface="Courier"/>
              </a:rPr>
              <a:t>bool</a:t>
            </a:r>
            <a:r>
              <a:rPr>
                <a:latin typeface="Courier"/>
              </a:rPr>
              <a:t> fachregelnErfuellt </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Logik zur Prüfung der Fachregeln</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fachregelnErfuellt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Exception</a:t>
            </a:r>
            <a:r>
              <a:rPr>
                <a:solidFill>
                  <a:srgbClr val="666666"/>
                </a:solidFill>
                <a:latin typeface="Courier"/>
              </a:rPr>
              <a:t>(</a:t>
            </a:r>
            <a:r>
              <a:rPr>
                <a:solidFill>
                  <a:srgbClr val="4070A0"/>
                </a:solidFill>
                <a:latin typeface="Courier"/>
              </a:rPr>
              <a:t>"Antrag erfüllt nicht die Fachregeln."</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2. SQL-String zusammenbauen</a:t>
            </a:r>
            <a:br/>
            <a:r>
              <a:rPr>
                <a:latin typeface="Courier"/>
              </a:rPr>
              <a:t>        </a:t>
            </a:r>
            <a:r>
              <a:rPr>
                <a:solidFill>
                  <a:srgbClr val="902000"/>
                </a:solidFill>
                <a:latin typeface="Courier"/>
              </a:rPr>
              <a:t>string</a:t>
            </a:r>
            <a:r>
              <a:rPr>
                <a:latin typeface="Courier"/>
              </a:rPr>
              <a:t> sql </a:t>
            </a:r>
            <a:r>
              <a:rPr>
                <a:solidFill>
                  <a:srgbClr val="666666"/>
                </a:solidFill>
                <a:latin typeface="Courier"/>
              </a:rPr>
              <a:t>=</a:t>
            </a:r>
            <a:r>
              <a:rPr>
                <a:latin typeface="Courier"/>
              </a:rPr>
              <a:t> </a:t>
            </a:r>
            <a:r>
              <a:rPr>
                <a:solidFill>
                  <a:srgbClr val="4070A0"/>
                </a:solidFill>
                <a:latin typeface="Courier"/>
              </a:rPr>
              <a:t>"INSERT INTO Antraege ..."</a:t>
            </a:r>
            <a:r>
              <a:rPr>
                <a:solidFill>
                  <a:srgbClr val="666666"/>
                </a:solidFill>
                <a:latin typeface="Courier"/>
              </a:rPr>
              <a:t>;</a:t>
            </a:r>
            <a:r>
              <a:rPr>
                <a:latin typeface="Courier"/>
              </a:rPr>
              <a:t> </a:t>
            </a:r>
            <a:r>
              <a:rPr i="1">
                <a:solidFill>
                  <a:srgbClr val="60A0B0"/>
                </a:solidFill>
                <a:latin typeface="Courier"/>
              </a:rPr>
              <a:t>// Logik zum Zusammenbauen des SQL-Strings</a:t>
            </a:r>
            <a:br/>
            <a:br/>
            <a:r>
              <a:rPr>
                <a:latin typeface="Courier"/>
              </a:rPr>
              <a:t>        </a:t>
            </a:r>
            <a:r>
              <a:rPr i="1">
                <a:solidFill>
                  <a:srgbClr val="60A0B0"/>
                </a:solidFill>
                <a:latin typeface="Courier"/>
              </a:rPr>
              <a:t>// 3. Datenbankzugriff</a:t>
            </a:r>
            <a:br/>
            <a:r>
              <a:rPr>
                <a:latin typeface="Courier"/>
              </a:rPr>
              <a:t>        Datenbank</a:t>
            </a:r>
            <a:r>
              <a:rPr>
                <a:solidFill>
                  <a:srgbClr val="666666"/>
                </a:solidFill>
                <a:latin typeface="Courier"/>
              </a:rPr>
              <a:t>.</a:t>
            </a:r>
            <a:r>
              <a:rPr>
                <a:solidFill>
                  <a:srgbClr val="06287E"/>
                </a:solidFill>
                <a:latin typeface="Courier"/>
              </a:rPr>
              <a:t>Execute</a:t>
            </a:r>
            <a:r>
              <a:rPr>
                <a:solidFill>
                  <a:srgbClr val="666666"/>
                </a:solidFill>
                <a:latin typeface="Courier"/>
              </a:rPr>
              <a:t>(</a:t>
            </a:r>
            <a:r>
              <a:rPr>
                <a:latin typeface="Courier"/>
              </a:rPr>
              <a:t>sql</a:t>
            </a:r>
            <a:r>
              <a:rPr>
                <a:solidFill>
                  <a:srgbClr val="666666"/>
                </a:solidFill>
                <a:latin typeface="Courier"/>
              </a:rPr>
              <a:t>);</a:t>
            </a:r>
            <a:br/>
            <a:br/>
            <a:r>
              <a:rPr>
                <a:latin typeface="Courier"/>
              </a:rPr>
              <a:t>        </a:t>
            </a:r>
            <a:r>
              <a:rPr i="1">
                <a:solidFill>
                  <a:srgbClr val="60A0B0"/>
                </a:solidFill>
                <a:latin typeface="Courier"/>
              </a:rPr>
              <a:t>// 4. PDF erstellen und drucken</a:t>
            </a:r>
            <a:br/>
            <a:r>
              <a:rPr>
                <a:latin typeface="Courier"/>
              </a:rPr>
              <a:t>        </a:t>
            </a:r>
            <a:r>
              <a:rPr>
                <a:solidFill>
                  <a:srgbClr val="902000"/>
                </a:solidFill>
                <a:latin typeface="Courier"/>
              </a:rPr>
              <a:t>string</a:t>
            </a:r>
            <a:r>
              <a:rPr>
                <a:latin typeface="Courier"/>
              </a:rPr>
              <a:t> pdfPfad </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Logik zum Erstellen des PDFs;</a:t>
            </a:r>
            <a:br/>
            <a:r>
              <a:rPr>
                <a:latin typeface="Courier"/>
              </a:rPr>
              <a:t>        Drucker</a:t>
            </a:r>
            <a:r>
              <a:rPr>
                <a:solidFill>
                  <a:srgbClr val="666666"/>
                </a:solidFill>
                <a:latin typeface="Courier"/>
              </a:rPr>
              <a:t>.</a:t>
            </a:r>
            <a:r>
              <a:rPr>
                <a:solidFill>
                  <a:srgbClr val="06287E"/>
                </a:solidFill>
                <a:latin typeface="Courier"/>
              </a:rPr>
              <a:t>Drucke</a:t>
            </a:r>
            <a:r>
              <a:rPr>
                <a:solidFill>
                  <a:srgbClr val="666666"/>
                </a:solidFill>
                <a:latin typeface="Courier"/>
              </a:rPr>
              <a:t>(</a:t>
            </a:r>
            <a:r>
              <a:rPr>
                <a:latin typeface="Courier"/>
              </a:rPr>
              <a:t>pdfPfad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Die Lösung durch Dekomposition auf Methoden-Ebene</a:t>
            </a:r>
          </a:p>
        </p:txBody>
      </p:sp>
      <p:sp>
        <p:nvSpPr>
          <p:cNvPr id="3" name="Content Placeholder 2"/>
          <p:cNvSpPr>
            <a:spLocks noGrp="1"/>
          </p:cNvSpPr>
          <p:nvPr>
            <p:ph idx="1"/>
          </p:nvPr>
        </p:nvSpPr>
        <p:spPr/>
        <p:txBody>
          <a:bodyPr/>
          <a:lstStyle/>
          <a:p>
            <a:pPr lvl="0" indent="0" marL="0">
              <a:buNone/>
            </a:pPr>
            <a:r>
              <a:rPr/>
              <a:t>Die Klasse </a:t>
            </a:r>
            <a:r>
              <a:rPr>
                <a:latin typeface="Courier"/>
              </a:rPr>
              <a:t>AntragManager</a:t>
            </a:r>
            <a:r>
              <a:rPr/>
              <a:t> hat jetzt zwar mehrere Methoden, aber sie ist immer noch eine “Gott-Klasse”, weil sie immer noch alle Verantwortlichkeiten in sich vereint. Sie prüft die Fachregeln, baut den SQL-String zusammen, führt den Datenbankzugriff durch und erstellt das PDF. Es ist nur eine kleine Verbesserung, aber die Klasse ist immer noch schwer zu warten und zu erweitern.</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AntragManager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BearbeiteAntrag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1. Fachregeln prüfen</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solidFill>
                  <a:srgbClr val="06287E"/>
                </a:solidFill>
                <a:latin typeface="Courier"/>
              </a:rPr>
              <a:t>PruefeFachregeln</a:t>
            </a:r>
            <a:r>
              <a:rPr>
                <a:solidFill>
                  <a:srgbClr val="666666"/>
                </a:solidFill>
                <a:latin typeface="Courier"/>
              </a:rPr>
              <a:t>(</a:t>
            </a:r>
            <a:r>
              <a:rPr>
                <a:latin typeface="Courier"/>
              </a:rPr>
              <a:t>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Exception</a:t>
            </a:r>
            <a:r>
              <a:rPr>
                <a:solidFill>
                  <a:srgbClr val="666666"/>
                </a:solidFill>
                <a:latin typeface="Courier"/>
              </a:rPr>
              <a:t>(</a:t>
            </a:r>
            <a:r>
              <a:rPr>
                <a:solidFill>
                  <a:srgbClr val="4070A0"/>
                </a:solidFill>
                <a:latin typeface="Courier"/>
              </a:rPr>
              <a:t>"Antrag erfüllt nicht die Fachregeln."</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2. SQL-String zusammenbauen</a:t>
            </a:r>
            <a:br/>
            <a:r>
              <a:rPr>
                <a:latin typeface="Courier"/>
              </a:rPr>
              <a:t>        </a:t>
            </a:r>
            <a:r>
              <a:rPr>
                <a:solidFill>
                  <a:srgbClr val="902000"/>
                </a:solidFill>
                <a:latin typeface="Courier"/>
              </a:rPr>
              <a:t>string</a:t>
            </a:r>
            <a:r>
              <a:rPr>
                <a:latin typeface="Courier"/>
              </a:rPr>
              <a:t> sql </a:t>
            </a:r>
            <a:r>
              <a:rPr>
                <a:solidFill>
                  <a:srgbClr val="666666"/>
                </a:solidFill>
                <a:latin typeface="Courier"/>
              </a:rPr>
              <a:t>=</a:t>
            </a:r>
            <a:r>
              <a:rPr>
                <a:latin typeface="Courier"/>
              </a:rPr>
              <a:t> </a:t>
            </a:r>
            <a:r>
              <a:rPr>
                <a:solidFill>
                  <a:srgbClr val="06287E"/>
                </a:solidFill>
                <a:latin typeface="Courier"/>
              </a:rPr>
              <a:t>BaueSqlString</a:t>
            </a:r>
            <a:r>
              <a:rPr>
                <a:solidFill>
                  <a:srgbClr val="666666"/>
                </a:solidFill>
                <a:latin typeface="Courier"/>
              </a:rPr>
              <a:t>(</a:t>
            </a:r>
            <a:r>
              <a:rPr>
                <a:latin typeface="Courier"/>
              </a:rPr>
              <a:t>antrag</a:t>
            </a:r>
            <a:r>
              <a:rPr>
                <a:solidFill>
                  <a:srgbClr val="666666"/>
                </a:solidFill>
                <a:latin typeface="Courier"/>
              </a:rPr>
              <a:t>);</a:t>
            </a:r>
            <a:br/>
            <a:br/>
            <a:r>
              <a:rPr>
                <a:latin typeface="Courier"/>
              </a:rPr>
              <a:t>        </a:t>
            </a:r>
            <a:r>
              <a:rPr i="1">
                <a:solidFill>
                  <a:srgbClr val="60A0B0"/>
                </a:solidFill>
                <a:latin typeface="Courier"/>
              </a:rPr>
              <a:t>// 3. Datenbankzugriff</a:t>
            </a:r>
            <a:br/>
            <a:r>
              <a:rPr>
                <a:latin typeface="Courier"/>
              </a:rPr>
              <a:t>        Datenbank</a:t>
            </a:r>
            <a:r>
              <a:rPr>
                <a:solidFill>
                  <a:srgbClr val="666666"/>
                </a:solidFill>
                <a:latin typeface="Courier"/>
              </a:rPr>
              <a:t>.</a:t>
            </a:r>
            <a:r>
              <a:rPr>
                <a:solidFill>
                  <a:srgbClr val="06287E"/>
                </a:solidFill>
                <a:latin typeface="Courier"/>
              </a:rPr>
              <a:t>Execute</a:t>
            </a:r>
            <a:r>
              <a:rPr>
                <a:solidFill>
                  <a:srgbClr val="666666"/>
                </a:solidFill>
                <a:latin typeface="Courier"/>
              </a:rPr>
              <a:t>(</a:t>
            </a:r>
            <a:r>
              <a:rPr>
                <a:latin typeface="Courier"/>
              </a:rPr>
              <a:t>sql</a:t>
            </a:r>
            <a:r>
              <a:rPr>
                <a:solidFill>
                  <a:srgbClr val="666666"/>
                </a:solidFill>
                <a:latin typeface="Courier"/>
              </a:rPr>
              <a:t>);</a:t>
            </a:r>
            <a:br/>
            <a:br/>
            <a:r>
              <a:rPr>
                <a:latin typeface="Courier"/>
              </a:rPr>
              <a:t>        </a:t>
            </a:r>
            <a:r>
              <a:rPr i="1">
                <a:solidFill>
                  <a:srgbClr val="60A0B0"/>
                </a:solidFill>
                <a:latin typeface="Courier"/>
              </a:rPr>
              <a:t>// 4. PDF erstellen und drucken</a:t>
            </a:r>
            <a:br/>
            <a:r>
              <a:rPr>
                <a:latin typeface="Courier"/>
              </a:rPr>
              <a:t>        </a:t>
            </a:r>
            <a:r>
              <a:rPr>
                <a:solidFill>
                  <a:srgbClr val="902000"/>
                </a:solidFill>
                <a:latin typeface="Courier"/>
              </a:rPr>
              <a:t>string</a:t>
            </a:r>
            <a:r>
              <a:rPr>
                <a:latin typeface="Courier"/>
              </a:rPr>
              <a:t> pdfContent </a:t>
            </a:r>
            <a:r>
              <a:rPr>
                <a:solidFill>
                  <a:srgbClr val="666666"/>
                </a:solidFill>
                <a:latin typeface="Courier"/>
              </a:rPr>
              <a:t>=</a:t>
            </a:r>
            <a:r>
              <a:rPr>
                <a:latin typeface="Courier"/>
              </a:rPr>
              <a:t> </a:t>
            </a:r>
            <a:r>
              <a:rPr>
                <a:solidFill>
                  <a:srgbClr val="06287E"/>
                </a:solidFill>
                <a:latin typeface="Courier"/>
              </a:rPr>
              <a:t>ErstellePdf</a:t>
            </a:r>
            <a:r>
              <a:rPr>
                <a:solidFill>
                  <a:srgbClr val="666666"/>
                </a:solidFill>
                <a:latin typeface="Courier"/>
              </a:rPr>
              <a:t>(</a:t>
            </a:r>
            <a:r>
              <a:rPr>
                <a:latin typeface="Courier"/>
              </a:rPr>
              <a:t>antrag</a:t>
            </a:r>
            <a:r>
              <a:rPr>
                <a:solidFill>
                  <a:srgbClr val="666666"/>
                </a:solidFill>
                <a:latin typeface="Courier"/>
              </a:rPr>
              <a:t>);</a:t>
            </a:r>
            <a:br/>
            <a:r>
              <a:rPr>
                <a:latin typeface="Courier"/>
              </a:rPr>
              <a:t>        Drucker</a:t>
            </a:r>
            <a:r>
              <a:rPr>
                <a:solidFill>
                  <a:srgbClr val="666666"/>
                </a:solidFill>
                <a:latin typeface="Courier"/>
              </a:rPr>
              <a:t>.</a:t>
            </a:r>
            <a:r>
              <a:rPr>
                <a:solidFill>
                  <a:srgbClr val="06287E"/>
                </a:solidFill>
                <a:latin typeface="Courier"/>
              </a:rPr>
              <a:t>Drucke</a:t>
            </a:r>
            <a:r>
              <a:rPr>
                <a:solidFill>
                  <a:srgbClr val="666666"/>
                </a:solidFill>
                <a:latin typeface="Courier"/>
              </a:rPr>
              <a:t>(</a:t>
            </a:r>
            <a:r>
              <a:rPr>
                <a:latin typeface="Courier"/>
              </a:rPr>
              <a:t>pdfContent</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902000"/>
                </a:solidFill>
                <a:latin typeface="Courier"/>
              </a:rPr>
              <a:t>bool</a:t>
            </a:r>
            <a:r>
              <a:rPr>
                <a:latin typeface="Courier"/>
              </a:rPr>
              <a:t> </a:t>
            </a:r>
            <a:r>
              <a:rPr>
                <a:solidFill>
                  <a:srgbClr val="06287E"/>
                </a:solidFill>
                <a:latin typeface="Courier"/>
              </a:rPr>
              <a:t>PruefeFachregeln</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zur Prüfung der Fachregeln</a:t>
            </a:r>
            <a:br/>
            <a:r>
              <a:rPr>
                <a:latin typeface="Courier"/>
              </a:rPr>
              <a:t>        </a:t>
            </a:r>
            <a:r>
              <a:rPr b="1">
                <a:solidFill>
                  <a:srgbClr val="007020"/>
                </a:solidFill>
                <a:latin typeface="Courier"/>
              </a:rPr>
              <a:t>return</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i="1">
                <a:solidFill>
                  <a:srgbClr val="60A0B0"/>
                </a:solidFill>
                <a:latin typeface="Courier"/>
              </a:rPr>
              <a:t>// Placeholder</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902000"/>
                </a:solidFill>
                <a:latin typeface="Courier"/>
              </a:rPr>
              <a:t>string</a:t>
            </a:r>
            <a:r>
              <a:rPr>
                <a:latin typeface="Courier"/>
              </a:rPr>
              <a:t> </a:t>
            </a:r>
            <a:r>
              <a:rPr>
                <a:solidFill>
                  <a:srgbClr val="06287E"/>
                </a:solidFill>
                <a:latin typeface="Courier"/>
              </a:rPr>
              <a:t>BaueSqlString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zum Zusammenbauen des SQL-Strings</a:t>
            </a:r>
            <a:br/>
            <a:r>
              <a:rPr>
                <a:latin typeface="Courier"/>
              </a:rPr>
              <a:t>        </a:t>
            </a:r>
            <a:r>
              <a:rPr b="1">
                <a:solidFill>
                  <a:srgbClr val="007020"/>
                </a:solidFill>
                <a:latin typeface="Courier"/>
              </a:rPr>
              <a:t>return</a:t>
            </a:r>
            <a:r>
              <a:rPr>
                <a:latin typeface="Courier"/>
              </a:rPr>
              <a:t> </a:t>
            </a:r>
            <a:r>
              <a:rPr>
                <a:solidFill>
                  <a:srgbClr val="4070A0"/>
                </a:solidFill>
                <a:latin typeface="Courier"/>
              </a:rPr>
              <a:t>"INSERT INTO Antraege ..."</a:t>
            </a:r>
            <a:r>
              <a:rPr>
                <a:solidFill>
                  <a:srgbClr val="666666"/>
                </a:solidFill>
                <a:latin typeface="Courier"/>
              </a:rPr>
              <a:t>;</a:t>
            </a:r>
            <a:r>
              <a:rPr>
                <a:latin typeface="Courier"/>
              </a:rPr>
              <a:t> </a:t>
            </a:r>
            <a:r>
              <a:rPr i="1">
                <a:solidFill>
                  <a:srgbClr val="60A0B0"/>
                </a:solidFill>
                <a:latin typeface="Courier"/>
              </a:rPr>
              <a:t>// Placeholder</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902000"/>
                </a:solidFill>
                <a:latin typeface="Courier"/>
              </a:rPr>
              <a:t>string</a:t>
            </a:r>
            <a:r>
              <a:rPr>
                <a:latin typeface="Courier"/>
              </a:rPr>
              <a:t> </a:t>
            </a:r>
            <a:r>
              <a:rPr>
                <a:solidFill>
                  <a:srgbClr val="06287E"/>
                </a:solidFill>
                <a:latin typeface="Courier"/>
              </a:rPr>
              <a:t>ErstellePdf</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zum Erstellen des PDFs</a:t>
            </a:r>
            <a:br/>
            <a:r>
              <a:rPr>
                <a:latin typeface="Courier"/>
              </a:rPr>
              <a:t>        </a:t>
            </a:r>
            <a:r>
              <a:rPr b="1">
                <a:solidFill>
                  <a:srgbClr val="007020"/>
                </a:solidFill>
                <a:latin typeface="Courier"/>
              </a:rPr>
              <a:t>return</a:t>
            </a:r>
            <a:r>
              <a:rPr>
                <a:latin typeface="Courier"/>
              </a:rPr>
              <a:t> </a:t>
            </a:r>
            <a:r>
              <a:rPr>
                <a:solidFill>
                  <a:srgbClr val="4070A0"/>
                </a:solidFill>
                <a:latin typeface="Courier"/>
              </a:rPr>
              <a:t>"PDF-Inhalt"</a:t>
            </a:r>
            <a:r>
              <a:rPr>
                <a:solidFill>
                  <a:srgbClr val="666666"/>
                </a:solidFill>
                <a:latin typeface="Courier"/>
              </a:rPr>
              <a:t>;</a:t>
            </a:r>
            <a:r>
              <a:rPr>
                <a:latin typeface="Courier"/>
              </a:rPr>
              <a:t> </a:t>
            </a:r>
            <a:r>
              <a:rPr i="1">
                <a:solidFill>
                  <a:srgbClr val="60A0B0"/>
                </a:solidFill>
                <a:latin typeface="Courier"/>
              </a:rPr>
              <a:t>// Placeholder</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Die Lösung durch Dekomposition auf Klassen-Ebene</a:t>
            </a:r>
          </a:p>
        </p:txBody>
      </p:sp>
      <p:sp>
        <p:nvSpPr>
          <p:cNvPr id="3" name="Content Placeholder 2"/>
          <p:cNvSpPr>
            <a:spLocks noGrp="1"/>
          </p:cNvSpPr>
          <p:nvPr>
            <p:ph idx="1"/>
          </p:nvPr>
        </p:nvSpPr>
        <p:spPr/>
        <p:txBody>
          <a:bodyPr/>
          <a:lstStyle/>
          <a:p>
            <a:pPr lvl="0" indent="0" marL="0">
              <a:buNone/>
            </a:pPr>
            <a:r>
              <a:rPr/>
              <a:t>Obwohl wir die Methoden aufgeteilt haben, ist die Klasse </a:t>
            </a:r>
            <a:r>
              <a:rPr>
                <a:latin typeface="Courier"/>
              </a:rPr>
              <a:t>AntragManager</a:t>
            </a:r>
            <a:r>
              <a:rPr/>
              <a:t> immer noch eine “Gott-Klasse”, weil sie immer noch alle Verantwortlichkeiten in sich vereint. Sie prüft die Fachregeln, baut den SQL-String zusammen, führt den Datenbankzugriff durch und erstellt das PDF. Es ist nur eine kleine Verbesserung, aber die Klasse ist immer noch schwer zu warten und zu erweitern.</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AntragManager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FachregelPruefer _fachregelPruefer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FachregelPruefer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DatenbankService _datenbankService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DatenbankService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PdfErsteller _pdfErsteller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PdfErsteller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BearbeiteAntrag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1. Fachregeln prüfen</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_fachregelPruefer</a:t>
            </a:r>
            <a:r>
              <a:rPr>
                <a:solidFill>
                  <a:srgbClr val="666666"/>
                </a:solidFill>
                <a:latin typeface="Courier"/>
              </a:rPr>
              <a:t>.</a:t>
            </a:r>
            <a:r>
              <a:rPr>
                <a:solidFill>
                  <a:srgbClr val="06287E"/>
                </a:solidFill>
                <a:latin typeface="Courier"/>
              </a:rPr>
              <a:t>Pruefe</a:t>
            </a:r>
            <a:r>
              <a:rPr>
                <a:solidFill>
                  <a:srgbClr val="666666"/>
                </a:solidFill>
                <a:latin typeface="Courier"/>
              </a:rPr>
              <a:t>(</a:t>
            </a:r>
            <a:r>
              <a:rPr>
                <a:latin typeface="Courier"/>
              </a:rPr>
              <a:t>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Exception</a:t>
            </a:r>
            <a:r>
              <a:rPr>
                <a:solidFill>
                  <a:srgbClr val="666666"/>
                </a:solidFill>
                <a:latin typeface="Courier"/>
              </a:rPr>
              <a:t>(</a:t>
            </a:r>
            <a:r>
              <a:rPr>
                <a:solidFill>
                  <a:srgbClr val="4070A0"/>
                </a:solidFill>
                <a:latin typeface="Courier"/>
              </a:rPr>
              <a:t>"Antrag erfüllt nicht die Fachregeln."</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2. Datenbankzugriff</a:t>
            </a:r>
            <a:br/>
            <a:r>
              <a:rPr>
                <a:latin typeface="Courier"/>
              </a:rPr>
              <a:t>        _datenbankService</a:t>
            </a:r>
            <a:r>
              <a:rPr>
                <a:solidFill>
                  <a:srgbClr val="666666"/>
                </a:solidFill>
                <a:latin typeface="Courier"/>
              </a:rPr>
              <a:t>.</a:t>
            </a:r>
            <a:r>
              <a:rPr>
                <a:solidFill>
                  <a:srgbClr val="06287E"/>
                </a:solidFill>
                <a:latin typeface="Courier"/>
              </a:rPr>
              <a:t>SpeichereAntrag</a:t>
            </a:r>
            <a:r>
              <a:rPr>
                <a:solidFill>
                  <a:srgbClr val="666666"/>
                </a:solidFill>
                <a:latin typeface="Courier"/>
              </a:rPr>
              <a:t>(</a:t>
            </a:r>
            <a:r>
              <a:rPr>
                <a:latin typeface="Courier"/>
              </a:rPr>
              <a:t>antrag</a:t>
            </a:r>
            <a:r>
              <a:rPr>
                <a:solidFill>
                  <a:srgbClr val="666666"/>
                </a:solidFill>
                <a:latin typeface="Courier"/>
              </a:rPr>
              <a:t>);</a:t>
            </a:r>
            <a:br/>
            <a:br/>
            <a:r>
              <a:rPr>
                <a:latin typeface="Courier"/>
              </a:rPr>
              <a:t>        </a:t>
            </a:r>
            <a:r>
              <a:rPr i="1">
                <a:solidFill>
                  <a:srgbClr val="60A0B0"/>
                </a:solidFill>
                <a:latin typeface="Courier"/>
              </a:rPr>
              <a:t>// 3. PDF erstellen und drucken</a:t>
            </a:r>
            <a:br/>
            <a:r>
              <a:rPr>
                <a:latin typeface="Courier"/>
              </a:rPr>
              <a:t>        </a:t>
            </a:r>
            <a:r>
              <a:rPr>
                <a:solidFill>
                  <a:srgbClr val="902000"/>
                </a:solidFill>
                <a:latin typeface="Courier"/>
              </a:rPr>
              <a:t>string</a:t>
            </a:r>
            <a:r>
              <a:rPr>
                <a:latin typeface="Courier"/>
              </a:rPr>
              <a:t> pdfContent </a:t>
            </a:r>
            <a:r>
              <a:rPr>
                <a:solidFill>
                  <a:srgbClr val="666666"/>
                </a:solidFill>
                <a:latin typeface="Courier"/>
              </a:rPr>
              <a:t>=</a:t>
            </a:r>
            <a:r>
              <a:rPr>
                <a:latin typeface="Courier"/>
              </a:rPr>
              <a:t> _pdfErsteller</a:t>
            </a:r>
            <a:r>
              <a:rPr>
                <a:solidFill>
                  <a:srgbClr val="666666"/>
                </a:solidFill>
                <a:latin typeface="Courier"/>
              </a:rPr>
              <a:t>.</a:t>
            </a:r>
            <a:r>
              <a:rPr>
                <a:solidFill>
                  <a:srgbClr val="06287E"/>
                </a:solidFill>
                <a:latin typeface="Courier"/>
              </a:rPr>
              <a:t>ErstellePdf</a:t>
            </a:r>
            <a:r>
              <a:rPr>
                <a:solidFill>
                  <a:srgbClr val="666666"/>
                </a:solidFill>
                <a:latin typeface="Courier"/>
              </a:rPr>
              <a:t>(</a:t>
            </a:r>
            <a:r>
              <a:rPr>
                <a:latin typeface="Courier"/>
              </a:rPr>
              <a:t>antrag</a:t>
            </a:r>
            <a:r>
              <a:rPr>
                <a:solidFill>
                  <a:srgbClr val="666666"/>
                </a:solidFill>
                <a:latin typeface="Courier"/>
              </a:rPr>
              <a:t>);</a:t>
            </a:r>
            <a:br/>
            <a:r>
              <a:rPr>
                <a:latin typeface="Courier"/>
              </a:rPr>
              <a:t>        Drucker</a:t>
            </a:r>
            <a:r>
              <a:rPr>
                <a:solidFill>
                  <a:srgbClr val="666666"/>
                </a:solidFill>
                <a:latin typeface="Courier"/>
              </a:rPr>
              <a:t>.</a:t>
            </a:r>
            <a:r>
              <a:rPr>
                <a:solidFill>
                  <a:srgbClr val="06287E"/>
                </a:solidFill>
                <a:latin typeface="Courier"/>
              </a:rPr>
              <a:t>Drucke</a:t>
            </a:r>
            <a:r>
              <a:rPr>
                <a:solidFill>
                  <a:srgbClr val="666666"/>
                </a:solidFill>
                <a:latin typeface="Courier"/>
              </a:rPr>
              <a:t>(</a:t>
            </a:r>
            <a:r>
              <a:rPr>
                <a:latin typeface="Courier"/>
              </a:rPr>
              <a:t>pdfContent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FachregelPruefer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bool</a:t>
            </a:r>
            <a:r>
              <a:rPr>
                <a:latin typeface="Courier"/>
              </a:rPr>
              <a:t> </a:t>
            </a:r>
            <a:r>
              <a:rPr>
                <a:solidFill>
                  <a:srgbClr val="06287E"/>
                </a:solidFill>
                <a:latin typeface="Courier"/>
              </a:rPr>
              <a:t>Pruefe</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zur Prüfung der Fachregeln</a:t>
            </a:r>
            <a:br/>
            <a:r>
              <a:rPr>
                <a:latin typeface="Courier"/>
              </a:rPr>
              <a:t>        </a:t>
            </a:r>
            <a:r>
              <a:rPr b="1">
                <a:solidFill>
                  <a:srgbClr val="007020"/>
                </a:solidFill>
                <a:latin typeface="Courier"/>
              </a:rPr>
              <a:t>return</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i="1">
                <a:solidFill>
                  <a:srgbClr val="60A0B0"/>
                </a:solidFill>
                <a:latin typeface="Courier"/>
              </a:rPr>
              <a:t>// Placeholder</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DatenbankService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SpeichereAntrag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zum Speichern des Antrags in der Datenbank</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PdfErsteller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string</a:t>
            </a:r>
            <a:r>
              <a:rPr>
                <a:latin typeface="Courier"/>
              </a:rPr>
              <a:t> </a:t>
            </a:r>
            <a:r>
              <a:rPr>
                <a:solidFill>
                  <a:srgbClr val="06287E"/>
                </a:solidFill>
                <a:latin typeface="Courier"/>
              </a:rPr>
              <a:t>ErstellePdf</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Logik zum Erstellen des PDFs</a:t>
            </a:r>
            <a:br/>
            <a:r>
              <a:rPr>
                <a:latin typeface="Courier"/>
              </a:rPr>
              <a:t>        </a:t>
            </a:r>
            <a:r>
              <a:rPr b="1">
                <a:solidFill>
                  <a:srgbClr val="007020"/>
                </a:solidFill>
                <a:latin typeface="Courier"/>
              </a:rPr>
              <a:t>return</a:t>
            </a:r>
            <a:r>
              <a:rPr>
                <a:latin typeface="Courier"/>
              </a:rPr>
              <a:t> </a:t>
            </a:r>
            <a:r>
              <a:rPr>
                <a:solidFill>
                  <a:srgbClr val="4070A0"/>
                </a:solidFill>
                <a:latin typeface="Courier"/>
              </a:rPr>
              <a:t>"PDF-Inhalt"</a:t>
            </a:r>
            <a:r>
              <a:rPr>
                <a:solidFill>
                  <a:srgbClr val="666666"/>
                </a:solidFill>
                <a:latin typeface="Courier"/>
              </a:rPr>
              <a:t>;</a:t>
            </a:r>
            <a:r>
              <a:rPr>
                <a:latin typeface="Courier"/>
              </a:rPr>
              <a:t> </a:t>
            </a:r>
            <a:r>
              <a:rPr i="1">
                <a:solidFill>
                  <a:srgbClr val="60A0B0"/>
                </a:solidFill>
                <a:latin typeface="Courier"/>
              </a:rPr>
              <a:t>// Placeholder</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SRP: Die Lösung durch Dekomposition</a:t>
            </a:r>
          </a:p>
        </p:txBody>
      </p:sp>
      <p:sp>
        <p:nvSpPr>
          <p:cNvPr id="3" name="Content Placeholder 2"/>
          <p:cNvSpPr>
            <a:spLocks noGrp="1"/>
          </p:cNvSpPr>
          <p:nvPr>
            <p:ph idx="1"/>
          </p:nvPr>
        </p:nvSpPr>
        <p:spPr/>
        <p:txBody>
          <a:bodyPr/>
          <a:lstStyle/>
          <a:p>
            <a:pPr lvl="0" indent="0" marL="0">
              <a:buNone/>
            </a:pPr>
            <a:r>
              <a:rPr/>
              <a:t>Wir spalten die Gott-Klasse auf:</a:t>
            </a:r>
          </a:p>
          <a:p>
            <a:pPr lvl="0" indent="-342900" marL="342900">
              <a:buAutoNum type="arabicPeriod"/>
            </a:pPr>
            <a:r>
              <a:rPr>
                <a:latin typeface="Courier"/>
              </a:rPr>
              <a:t>FachregelPruefer</a:t>
            </a:r>
            <a:r>
              <a:rPr/>
              <a:t>: Prüft nur die Fachregeln (z.B. ist der Bürger alt genug?).</a:t>
            </a:r>
          </a:p>
          <a:p>
            <a:pPr lvl="0" indent="-342900" marL="342900">
              <a:buAutoNum type="arabicPeriod"/>
            </a:pPr>
            <a:r>
              <a:rPr>
                <a:latin typeface="Courier"/>
              </a:rPr>
              <a:t>DatenbankService</a:t>
            </a:r>
            <a:r>
              <a:rPr/>
              <a:t>: Kapselt nur den reinen Datenbankzugriff.</a:t>
            </a:r>
          </a:p>
          <a:p>
            <a:pPr lvl="0" indent="-342900" marL="342900">
              <a:buAutoNum type="arabicPeriod"/>
            </a:pPr>
            <a:r>
              <a:rPr>
                <a:latin typeface="Courier"/>
              </a:rPr>
              <a:t>PdfErsteller</a:t>
            </a:r>
            <a:r>
              <a:rPr/>
              <a:t>: Kümmert sich ausschließlich um das Generieren des Dokuments.</a:t>
            </a:r>
          </a:p>
          <a:p>
            <a:pPr lvl="0" indent="-342900" marL="342900">
              <a:buAutoNum type="arabicPeriod"/>
            </a:pPr>
            <a:r>
              <a:rPr>
                <a:latin typeface="Courier"/>
              </a:rPr>
              <a:t>AntragsManager</a:t>
            </a:r>
            <a:r>
              <a:rPr/>
              <a:t>: Orchestriert nur die Zusammenarbeit der anderen Klassen.</a:t>
            </a:r>
          </a:p>
          <a:p>
            <a:pPr lvl="0" indent="0" marL="0">
              <a:buNone/>
            </a:pPr>
            <a:r>
              <a:rPr/>
              <a:t>Jede Klasse hat nun nur noch </a:t>
            </a:r>
            <a:r>
              <a:rPr b="1"/>
              <a:t>einen</a:t>
            </a:r>
            <a:r>
              <a:rPr/>
              <a:t> Grund, sich zu ändern.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3: O – Open-Closed Principle (OCP)</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OCP: Definition</a:t>
            </a:r>
          </a:p>
        </p:txBody>
      </p:sp>
      <p:sp>
        <p:nvSpPr>
          <p:cNvPr id="3" name="Content Placeholder 2"/>
          <p:cNvSpPr>
            <a:spLocks noGrp="1"/>
          </p:cNvSpPr>
          <p:nvPr>
            <p:ph idx="1"/>
          </p:nvPr>
        </p:nvSpPr>
        <p:spPr/>
        <p:txBody>
          <a:bodyPr/>
          <a:lstStyle/>
          <a:p>
            <a:pPr lvl="0" indent="0" marL="0">
              <a:buNone/>
            </a:pPr>
            <a:r>
              <a:rPr i="1"/>
              <a:t>“Software-Einheiten (Klassen, Module, Funktionen) sollten offen für Erweiterungen, aber geschlossen für Modifikationen sein.”</a:t>
            </a:r>
            <a:r>
              <a:rPr/>
              <a:t> Das klingt wie ein Paradoxon: Wie erweitere ich ein System, ohne seinen Code zu verändern?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OCP: In der Praxis</a:t>
            </a:r>
          </a:p>
        </p:txBody>
      </p:sp>
      <p:sp>
        <p:nvSpPr>
          <p:cNvPr id="3" name="Content Placeholder 2"/>
          <p:cNvSpPr>
            <a:spLocks noGrp="1"/>
          </p:cNvSpPr>
          <p:nvPr>
            <p:ph idx="1"/>
          </p:nvPr>
        </p:nvSpPr>
        <p:spPr/>
        <p:txBody>
          <a:bodyPr/>
          <a:lstStyle/>
          <a:p>
            <a:pPr lvl="0" indent="0" marL="0">
              <a:buNone/>
            </a:pPr>
            <a:r>
              <a:rPr/>
              <a:t>Wir haben dieses Prinzip beim </a:t>
            </a:r>
            <a:r>
              <a:rPr b="1"/>
              <a:t>Strategy-Pattern</a:t>
            </a:r>
            <a:r>
              <a:rPr/>
              <a:t> (Woche 3) kennengelernt! Wenn wir eine neue Gebührensatzung für eine neue Stadt einführen wollen, passen wir nicht den bestehenden </a:t>
            </a:r>
            <a:r>
              <a:rPr>
                <a:latin typeface="Courier"/>
              </a:rPr>
              <a:t>GebuehrenRechner</a:t>
            </a:r>
            <a:r>
              <a:rPr/>
              <a:t> an (geschlossen für Modifikation). Stattdessen schreiben wir eine völlig neue Klasse </a:t>
            </a:r>
            <a:r>
              <a:rPr>
                <a:latin typeface="Courier"/>
              </a:rPr>
              <a:t>SatzungLeipzig</a:t>
            </a:r>
            <a:r>
              <a:rPr/>
              <a:t>, die ein Interface implementiert (offen für Erweiterung).</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OCP: Vorteile</a:t>
            </a:r>
          </a:p>
        </p:txBody>
      </p:sp>
      <p:sp>
        <p:nvSpPr>
          <p:cNvPr id="3" name="Content Placeholder 2"/>
          <p:cNvSpPr>
            <a:spLocks noGrp="1"/>
          </p:cNvSpPr>
          <p:nvPr>
            <p:ph idx="1"/>
          </p:nvPr>
        </p:nvSpPr>
        <p:spPr/>
        <p:txBody>
          <a:bodyPr/>
          <a:lstStyle/>
          <a:p>
            <a:pPr lvl="0" indent="0" marL="0">
              <a:buNone/>
            </a:pPr>
            <a:r>
              <a:rPr/>
              <a:t>Durch OCP minimieren wir das Risiko, bei Erweiterungen bestehende, bereits getestete Funktionalität zu beschädigen (Regressionsfehler). Das System wird modular und lässt sich wie mit Legosteinen erweitern.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4: L – Liskov Substitution Principle (LSP)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LSP: Definition</a:t>
            </a:r>
          </a:p>
        </p:txBody>
      </p:sp>
      <p:sp>
        <p:nvSpPr>
          <p:cNvPr id="3" name="Content Placeholder 2"/>
          <p:cNvSpPr>
            <a:spLocks noGrp="1"/>
          </p:cNvSpPr>
          <p:nvPr>
            <p:ph idx="1"/>
          </p:nvPr>
        </p:nvSpPr>
        <p:spPr/>
        <p:txBody>
          <a:bodyPr/>
          <a:lstStyle/>
          <a:p>
            <a:pPr lvl="0" indent="0" marL="0">
              <a:buNone/>
            </a:pPr>
            <a:r>
              <a:rPr i="1"/>
              <a:t>“Objekte einer Unterklasse müssen sich so verhalten wie Objekte der Oberklasse, ohne dass das Programm fehlerhaft wird.”</a:t>
            </a:r>
            <a:r>
              <a:rPr/>
              <a:t> Das bedeutet: Wer Vererbung nutzt, darf das zugesicherte Verhalten der Basisklasse nicht brechen.</a:t>
            </a:r>
          </a:p>
          <a:p>
            <a:pPr lvl="0" indent="0" marL="0">
              <a:buNone/>
            </a:pPr>
            <a:r>
              <a:rPr/>
              <a:t>Unterklassen sollten die Semantik der Basisklasse erweitern, aber niemals einschränken oder korrumpieren.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LSP: Das Problem mit Exceptions</a:t>
            </a:r>
          </a:p>
        </p:txBody>
      </p:sp>
      <p:sp>
        <p:nvSpPr>
          <p:cNvPr id="3" name="Content Placeholder 2"/>
          <p:cNvSpPr>
            <a:spLocks noGrp="1"/>
          </p:cNvSpPr>
          <p:nvPr>
            <p:ph idx="1"/>
          </p:nvPr>
        </p:nvSpPr>
        <p:spPr/>
        <p:txBody>
          <a:bodyPr/>
          <a:lstStyle/>
          <a:p>
            <a:pPr lvl="0" indent="0" marL="0">
              <a:buNone/>
            </a:pPr>
            <a:r>
              <a:rPr/>
              <a:t>Stellen Sie sich vor, Sie haben ein Interface </a:t>
            </a:r>
            <a:r>
              <a:rPr>
                <a:latin typeface="Courier"/>
              </a:rPr>
              <a:t>IDokument</a:t>
            </a:r>
            <a:r>
              <a:rPr/>
              <a:t> mit den Methoden </a:t>
            </a:r>
            <a:r>
              <a:rPr>
                <a:latin typeface="Courier"/>
              </a:rPr>
              <a:t>Speichern()</a:t>
            </a:r>
            <a:r>
              <a:rPr/>
              <a:t> und </a:t>
            </a:r>
            <a:r>
              <a:rPr>
                <a:latin typeface="Courier"/>
              </a:rPr>
              <a:t>Drucken()</a:t>
            </a:r>
            <a:r>
              <a:rPr/>
              <a:t>. Ein </a:t>
            </a:r>
            <a:r>
              <a:rPr>
                <a:latin typeface="Courier"/>
              </a:rPr>
              <a:t>BescheidDokument</a:t>
            </a:r>
            <a:r>
              <a:rPr/>
              <a:t> kann sowohl speichern als auch drucken. Nun fügen Sie ein </a:t>
            </a:r>
            <a:r>
              <a:rPr>
                <a:latin typeface="Courier"/>
              </a:rPr>
              <a:t>DigitalOnlyDokument</a:t>
            </a:r>
            <a:r>
              <a:rPr/>
              <a:t> hinzu, welches nur speichern kann.</a:t>
            </a:r>
          </a:p>
          <a:p>
            <a:pPr lvl="0" indent="0" marL="0">
              <a:buNone/>
            </a:pPr>
            <a:r>
              <a:rPr/>
              <a:t>Das bricht LSP! Eine Schleife, die über alle Dokumente geht und </a:t>
            </a:r>
            <a:r>
              <a:rPr>
                <a:latin typeface="Courier"/>
              </a:rPr>
              <a:t>Drucken()</a:t>
            </a:r>
            <a:r>
              <a:rPr/>
              <a:t> aufruft, wird nun abstürzen.</a:t>
            </a:r>
          </a:p>
          <a:p>
            <a:pPr lvl="0" indent="0">
              <a:buNone/>
            </a:pPr>
            <a:r>
              <a:rPr b="1">
                <a:solidFill>
                  <a:srgbClr val="007020"/>
                </a:solidFill>
                <a:latin typeface="Courier"/>
              </a:rPr>
              <a:t>public</a:t>
            </a:r>
            <a:r>
              <a:rPr>
                <a:latin typeface="Courier"/>
              </a:rPr>
              <a:t> </a:t>
            </a:r>
            <a:r>
              <a:rPr b="1">
                <a:solidFill>
                  <a:srgbClr val="007020"/>
                </a:solidFill>
                <a:latin typeface="Courier"/>
              </a:rPr>
              <a:t>interface</a:t>
            </a:r>
            <a:r>
              <a:rPr>
                <a:latin typeface="Courier"/>
              </a:rPr>
              <a:t> IDokument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Drucken</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BescheidDokument </a:t>
            </a:r>
            <a:r>
              <a:rPr>
                <a:solidFill>
                  <a:srgbClr val="666666"/>
                </a:solidFill>
                <a:latin typeface="Courier"/>
              </a:rPr>
              <a:t>:</a:t>
            </a:r>
            <a:r>
              <a:rPr>
                <a:latin typeface="Courier"/>
              </a:rPr>
              <a:t> IDokument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Drucken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DigitalOnlyDokument </a:t>
            </a:r>
            <a:r>
              <a:rPr>
                <a:solidFill>
                  <a:srgbClr val="666666"/>
                </a:solidFill>
                <a:latin typeface="Courier"/>
              </a:rPr>
              <a:t>:</a:t>
            </a:r>
            <a:r>
              <a:rPr>
                <a:latin typeface="Courier"/>
              </a:rPr>
              <a:t> IDokument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Drucken</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6287E"/>
                </a:solidFill>
                <a:latin typeface="Courier"/>
              </a:rPr>
              <a:t>NotImplementedException</a:t>
            </a:r>
            <a:r>
              <a:rPr>
                <a:solidFill>
                  <a:srgbClr val="666666"/>
                </a:solidFill>
                <a:latin typeface="Courier"/>
              </a:rPr>
              <a:t>(</a:t>
            </a:r>
            <a:r>
              <a:rPr>
                <a:solidFill>
                  <a:srgbClr val="4070A0"/>
                </a:solidFill>
                <a:latin typeface="Courier"/>
              </a:rPr>
              <a:t>"Dieses Dokument kann nicht gedruckt werden."</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latin typeface="Courier"/>
              </a:rPr>
              <a:t> </a:t>
            </a:r>
            <a:r>
              <a:rPr>
                <a:solidFill>
                  <a:srgbClr val="666666"/>
                </a:solidFill>
                <a:latin typeface="Courier"/>
              </a:rPr>
              <a:t>{</a:t>
            </a:r>
            <a:br/>
            <a:r>
              <a:rPr>
                <a:latin typeface="Courier"/>
              </a:rPr>
              <a:t>    List</a:t>
            </a:r>
            <a:r>
              <a:rPr>
                <a:solidFill>
                  <a:srgbClr val="666666"/>
                </a:solidFill>
                <a:latin typeface="Courier"/>
              </a:rPr>
              <a:t>&lt;</a:t>
            </a:r>
            <a:r>
              <a:rPr>
                <a:latin typeface="Courier"/>
              </a:rPr>
              <a:t>IDokument</a:t>
            </a:r>
            <a:r>
              <a:rPr>
                <a:solidFill>
                  <a:srgbClr val="666666"/>
                </a:solidFill>
                <a:latin typeface="Courier"/>
              </a:rPr>
              <a:t>&gt;</a:t>
            </a:r>
            <a:r>
              <a:rPr>
                <a:latin typeface="Courier"/>
              </a:rPr>
              <a:t> dokumente </a:t>
            </a:r>
            <a:r>
              <a:rPr>
                <a:solidFill>
                  <a:srgbClr val="666666"/>
                </a:solidFill>
                <a:latin typeface="Courier"/>
              </a:rPr>
              <a:t>=</a:t>
            </a:r>
            <a:r>
              <a:rPr>
                <a:latin typeface="Courier"/>
              </a:rPr>
              <a:t> </a:t>
            </a:r>
            <a:r>
              <a:rPr b="1">
                <a:solidFill>
                  <a:srgbClr val="007020"/>
                </a:solidFill>
                <a:latin typeface="Courier"/>
              </a:rPr>
              <a:t>new</a:t>
            </a:r>
            <a:r>
              <a:rPr>
                <a:latin typeface="Courier"/>
              </a:rPr>
              <a:t> List</a:t>
            </a:r>
            <a:r>
              <a:rPr>
                <a:solidFill>
                  <a:srgbClr val="666666"/>
                </a:solidFill>
                <a:latin typeface="Courier"/>
              </a:rPr>
              <a:t>&lt;</a:t>
            </a:r>
            <a:r>
              <a:rPr>
                <a:latin typeface="Courier"/>
              </a:rPr>
              <a:t>IDokument</a:t>
            </a:r>
            <a:r>
              <a:rPr>
                <a:solidFill>
                  <a:srgbClr val="666666"/>
                </a:solidFill>
                <a:latin typeface="Courier"/>
              </a:rPr>
              <a:t>&gt;</a:t>
            </a:r>
            <a:r>
              <a:rPr>
                <a:latin typeface="Courier"/>
              </a:rPr>
              <a:t>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BescheidDokument</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DigitalOnlyDokument</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foreach</a:t>
            </a:r>
            <a:r>
              <a:rPr>
                <a:latin typeface="Courier"/>
              </a:rPr>
              <a:t> </a:t>
            </a:r>
            <a:r>
              <a:rPr>
                <a:solidFill>
                  <a:srgbClr val="666666"/>
                </a:solidFill>
                <a:latin typeface="Courier"/>
              </a:rPr>
              <a:t>(</a:t>
            </a:r>
            <a:r>
              <a:rPr>
                <a:solidFill>
                  <a:srgbClr val="902000"/>
                </a:solidFill>
                <a:latin typeface="Courier"/>
              </a:rPr>
              <a:t>var</a:t>
            </a:r>
            <a:r>
              <a:rPr>
                <a:latin typeface="Courier"/>
              </a:rPr>
              <a:t> doc </a:t>
            </a:r>
            <a:r>
              <a:rPr b="1">
                <a:solidFill>
                  <a:srgbClr val="007020"/>
                </a:solidFill>
                <a:latin typeface="Courier"/>
              </a:rPr>
              <a:t>in</a:t>
            </a:r>
            <a:r>
              <a:rPr>
                <a:latin typeface="Courier"/>
              </a:rPr>
              <a:t> dokumente</a:t>
            </a:r>
            <a:r>
              <a:rPr>
                <a:solidFill>
                  <a:srgbClr val="666666"/>
                </a:solidFill>
                <a:latin typeface="Courier"/>
              </a:rPr>
              <a:t>)</a:t>
            </a:r>
            <a:r>
              <a:rPr>
                <a:latin typeface="Courier"/>
              </a:rPr>
              <a:t> </a:t>
            </a:r>
            <a:r>
              <a:rPr>
                <a:solidFill>
                  <a:srgbClr val="666666"/>
                </a:solidFill>
                <a:latin typeface="Courier"/>
              </a:rPr>
              <a:t>{</a:t>
            </a:r>
            <a:br/>
            <a:r>
              <a:rPr>
                <a:latin typeface="Courier"/>
              </a:rPr>
              <a:t>        doc</a:t>
            </a:r>
            <a:r>
              <a:rPr>
                <a:solidFill>
                  <a:srgbClr val="666666"/>
                </a:solidFill>
                <a:latin typeface="Courier"/>
              </a:rPr>
              <a:t>.</a:t>
            </a:r>
            <a:r>
              <a:rPr>
                <a:solidFill>
                  <a:srgbClr val="06287E"/>
                </a:solidFill>
                <a:latin typeface="Courier"/>
              </a:rPr>
              <a:t>Drucken</a:t>
            </a:r>
            <a:r>
              <a:rPr>
                <a:solidFill>
                  <a:srgbClr val="666666"/>
                </a:solidFill>
                <a:latin typeface="Courier"/>
              </a:rPr>
              <a:t>();</a:t>
            </a:r>
            <a:r>
              <a:rPr>
                <a:latin typeface="Courier"/>
              </a:rPr>
              <a:t> </a:t>
            </a:r>
            <a:r>
              <a:rPr i="1">
                <a:solidFill>
                  <a:srgbClr val="60A0B0"/>
                </a:solidFill>
                <a:latin typeface="Courier"/>
              </a:rPr>
              <a:t>// Hier wird die NotImplementedException ausgelöst!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LSP: Favor Composition over Inheritance</a:t>
            </a:r>
          </a:p>
        </p:txBody>
      </p:sp>
      <p:sp>
        <p:nvSpPr>
          <p:cNvPr id="3" name="Content Placeholder 2"/>
          <p:cNvSpPr>
            <a:spLocks noGrp="1"/>
          </p:cNvSpPr>
          <p:nvPr>
            <p:ph idx="1"/>
          </p:nvPr>
        </p:nvSpPr>
        <p:spPr/>
        <p:txBody>
          <a:bodyPr/>
          <a:lstStyle/>
          <a:p>
            <a:pPr lvl="0" indent="0" marL="0">
              <a:buNone/>
            </a:pPr>
            <a:r>
              <a:rPr/>
              <a:t>Wenn eine Unterklasse eine Methode der Basisklasse nicht sinnvoll unterstützen kann, ist Vererbung oft das falsche Werkzeug.</a:t>
            </a:r>
          </a:p>
          <a:p>
            <a:pPr lvl="0" indent="0" marL="0">
              <a:buNone/>
            </a:pPr>
            <a:r>
              <a:rPr/>
              <a:t>Damit Komposition können wir die Funktionalität flexibel zusammenstellen, ohne die Verträge der Basisklasse zu verletzen. In unserem Beispiel könnten wir stattdessen ein separates Interface </a:t>
            </a:r>
            <a:r>
              <a:rPr>
                <a:latin typeface="Courier"/>
              </a:rPr>
              <a:t>IDruckbar</a:t>
            </a:r>
            <a:r>
              <a:rPr/>
              <a:t> definieren, das nur die Dokumente implementieren, die tatsächlich druckbar sind.</a:t>
            </a:r>
          </a:p>
          <a:p>
            <a:pPr lvl="0" indent="0">
              <a:buNone/>
            </a:pPr>
            <a:r>
              <a:rPr b="1">
                <a:solidFill>
                  <a:srgbClr val="007020"/>
                </a:solidFill>
                <a:latin typeface="Courier"/>
              </a:rPr>
              <a:t>public</a:t>
            </a:r>
            <a:r>
              <a:rPr>
                <a:latin typeface="Courier"/>
              </a:rPr>
              <a:t> </a:t>
            </a:r>
            <a:r>
              <a:rPr b="1">
                <a:solidFill>
                  <a:srgbClr val="007020"/>
                </a:solidFill>
                <a:latin typeface="Courier"/>
              </a:rPr>
              <a:t>interface</a:t>
            </a:r>
            <a:r>
              <a:rPr>
                <a:latin typeface="Courier"/>
              </a:rPr>
              <a:t> ISpeicherbar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IDruckbar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Drucken</a:t>
            </a:r>
            <a:r>
              <a:rPr>
                <a:solidFill>
                  <a:srgbClr val="666666"/>
                </a:solidFill>
                <a:latin typeface="Courier"/>
              </a:rPr>
              <a:t>();</a:t>
            </a:r>
            <a:br/>
            <a:r>
              <a:rPr>
                <a:solidFill>
                  <a:srgbClr val="666666"/>
                </a:solidFill>
                <a:latin typeface="Courier"/>
              </a:rPr>
              <a:t>}</a:t>
            </a:r>
            <a:br/>
            <a:br/>
            <a:r>
              <a:rPr i="1">
                <a:solidFill>
                  <a:srgbClr val="60A0B0"/>
                </a:solidFill>
                <a:latin typeface="Courier"/>
              </a:rPr>
              <a:t>// 2. Klassen implementieren nur, was sie wirklich können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BescheidDokument </a:t>
            </a:r>
            <a:r>
              <a:rPr>
                <a:solidFill>
                  <a:srgbClr val="666666"/>
                </a:solidFill>
                <a:latin typeface="Courier"/>
              </a:rPr>
              <a:t>:</a:t>
            </a:r>
            <a:r>
              <a:rPr>
                <a:latin typeface="Courier"/>
              </a:rPr>
              <a:t> ISpeicherbar</a:t>
            </a:r>
            <a:r>
              <a:rPr>
                <a:solidFill>
                  <a:srgbClr val="666666"/>
                </a:solidFill>
                <a:latin typeface="Courier"/>
              </a:rPr>
              <a:t>,</a:t>
            </a:r>
            <a:r>
              <a:rPr>
                <a:latin typeface="Courier"/>
              </a:rPr>
              <a:t> IDruckbar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Drucken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DigitalOnlyDokument </a:t>
            </a:r>
            <a:r>
              <a:rPr>
                <a:solidFill>
                  <a:srgbClr val="666666"/>
                </a:solidFill>
                <a:latin typeface="Courier"/>
              </a:rPr>
              <a:t>:</a:t>
            </a:r>
            <a:r>
              <a:rPr>
                <a:latin typeface="Courier"/>
              </a:rPr>
              <a:t> ISpeicherbar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Speichern</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Kein Drucken – der Vertrag wird gar nicht erst versprochen</a:t>
            </a:r>
            <a:br/>
            <a:r>
              <a:rPr>
                <a:solidFill>
                  <a:srgbClr val="666666"/>
                </a:solidFill>
                <a:latin typeface="Courier"/>
              </a:rPr>
              <a:t>}</a:t>
            </a:r>
            <a:br/>
            <a:b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latin typeface="Courier"/>
              </a:rPr>
              <a:t> </a:t>
            </a:r>
            <a:r>
              <a:rPr>
                <a:solidFill>
                  <a:srgbClr val="666666"/>
                </a:solidFill>
                <a:latin typeface="Courier"/>
              </a:rPr>
              <a:t>{</a:t>
            </a:r>
            <a:br/>
            <a:r>
              <a:rPr>
                <a:latin typeface="Courier"/>
              </a:rPr>
              <a:t>    List</a:t>
            </a:r>
            <a:r>
              <a:rPr>
                <a:solidFill>
                  <a:srgbClr val="666666"/>
                </a:solidFill>
                <a:latin typeface="Courier"/>
              </a:rPr>
              <a:t>&lt;</a:t>
            </a:r>
            <a:r>
              <a:rPr>
                <a:latin typeface="Courier"/>
              </a:rPr>
              <a:t>IDruckbar</a:t>
            </a:r>
            <a:r>
              <a:rPr>
                <a:solidFill>
                  <a:srgbClr val="666666"/>
                </a:solidFill>
                <a:latin typeface="Courier"/>
              </a:rPr>
              <a:t>&gt;</a:t>
            </a:r>
            <a:r>
              <a:rPr>
                <a:latin typeface="Courier"/>
              </a:rPr>
              <a:t> druckbare </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BescheidDokument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foreach</a:t>
            </a:r>
            <a:r>
              <a:rPr>
                <a:latin typeface="Courier"/>
              </a:rPr>
              <a:t> </a:t>
            </a:r>
            <a:r>
              <a:rPr>
                <a:solidFill>
                  <a:srgbClr val="666666"/>
                </a:solidFill>
                <a:latin typeface="Courier"/>
              </a:rPr>
              <a:t>(</a:t>
            </a:r>
            <a:r>
              <a:rPr>
                <a:solidFill>
                  <a:srgbClr val="902000"/>
                </a:solidFill>
                <a:latin typeface="Courier"/>
              </a:rPr>
              <a:t>var</a:t>
            </a:r>
            <a:r>
              <a:rPr>
                <a:latin typeface="Courier"/>
              </a:rPr>
              <a:t> dok </a:t>
            </a:r>
            <a:r>
              <a:rPr b="1">
                <a:solidFill>
                  <a:srgbClr val="007020"/>
                </a:solidFill>
                <a:latin typeface="Courier"/>
              </a:rPr>
              <a:t>in</a:t>
            </a:r>
            <a:r>
              <a:rPr>
                <a:latin typeface="Courier"/>
              </a:rPr>
              <a:t> druckbare</a:t>
            </a:r>
            <a:r>
              <a:rPr>
                <a:solidFill>
                  <a:srgbClr val="666666"/>
                </a:solidFill>
                <a:latin typeface="Courier"/>
              </a:rPr>
              <a:t>)</a:t>
            </a:r>
            <a:br/>
            <a:r>
              <a:rPr>
                <a:latin typeface="Courier"/>
              </a:rPr>
              <a:t>        dok</a:t>
            </a:r>
            <a:r>
              <a:rPr>
                <a:solidFill>
                  <a:srgbClr val="666666"/>
                </a:solidFill>
                <a:latin typeface="Courier"/>
              </a:rPr>
              <a:t>.</a:t>
            </a:r>
            <a:r>
              <a:rPr>
                <a:solidFill>
                  <a:srgbClr val="06287E"/>
                </a:solidFill>
                <a:latin typeface="Courier"/>
              </a:rPr>
              <a:t>Drucken</a:t>
            </a:r>
            <a:r>
              <a:rPr>
                <a:solidFill>
                  <a:srgbClr val="666666"/>
                </a:solidFill>
                <a:latin typeface="Courier"/>
              </a:rPr>
              <a:t>();</a:t>
            </a:r>
            <a:r>
              <a:rPr>
                <a:latin typeface="Courier"/>
              </a:rPr>
              <a:t> </a:t>
            </a:r>
            <a:r>
              <a:rPr i="1">
                <a:solidFill>
                  <a:srgbClr val="60A0B0"/>
                </a:solidFill>
                <a:latin typeface="Courier"/>
              </a:rPr>
              <a:t>// ✅ Kein Absturz möglich</a:t>
            </a:r>
            <a:br/>
            <a:r>
              <a:rPr>
                <a:solidFill>
                  <a:srgbClr val="666666"/>
                </a:solidFill>
                <a:latin typeface="Courier"/>
              </a:rPr>
              <a:t>}</a:t>
            </a:r>
          </a:p>
          <a:p>
            <a:pPr lvl="0" indent="0" marL="0">
              <a:spcBef>
                <a:spcPts val="3000"/>
              </a:spcBef>
              <a:buNone/>
            </a:pPr>
            <a:r>
              <a:rPr b="1"/>
              <a:t>LSP: Vorteile</a:t>
            </a:r>
          </a:p>
          <a:p>
            <a:pPr lvl="0"/>
            <a:r>
              <a:rPr/>
              <a:t>Verhindert Laufzeitfehler durch ungültige Unterklassen.</a:t>
            </a:r>
          </a:p>
          <a:p>
            <a:pPr lvl="0"/>
            <a:r>
              <a:rPr/>
              <a:t>Fördert die Nutzung von Interfaces und Komposition.</a:t>
            </a:r>
          </a:p>
          <a:p>
            <a:pPr lvl="0"/>
            <a:r>
              <a:rPr/>
              <a:t>Erhöht die Flexibilität und Wiederverwendbarkeit von Code.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5: I – Interface Segregation Principle (ISP)</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ISP: Definition</a:t>
            </a:r>
          </a:p>
        </p:txBody>
      </p:sp>
      <p:sp>
        <p:nvSpPr>
          <p:cNvPr id="3" name="Content Placeholder 2"/>
          <p:cNvSpPr>
            <a:spLocks noGrp="1"/>
          </p:cNvSpPr>
          <p:nvPr>
            <p:ph idx="1"/>
          </p:nvPr>
        </p:nvSpPr>
        <p:spPr/>
        <p:txBody>
          <a:bodyPr/>
          <a:lstStyle/>
          <a:p>
            <a:pPr lvl="0" indent="0" marL="0">
              <a:buNone/>
            </a:pPr>
            <a:r>
              <a:rPr i="1"/>
              <a:t>“Clients sollten nicht dazu gezwungen werden, von Interfaces abzuhängen, die sie nicht benutzen.”</a:t>
            </a:r>
            <a:r>
              <a:rPr/>
              <a:t> Es ist besser, viele kleine, spezifische Interfaces zu haben als ein riesiges, allgemeines.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ISP: Das Problem “Fetter” Interfaces</a:t>
            </a:r>
          </a:p>
        </p:txBody>
      </p:sp>
      <p:sp>
        <p:nvSpPr>
          <p:cNvPr id="3" name="Content Placeholder 2"/>
          <p:cNvSpPr>
            <a:spLocks noGrp="1"/>
          </p:cNvSpPr>
          <p:nvPr>
            <p:ph idx="1"/>
          </p:nvPr>
        </p:nvSpPr>
        <p:spPr/>
        <p:txBody>
          <a:bodyPr/>
          <a:lstStyle/>
          <a:p>
            <a:pPr lvl="0" indent="0" marL="0">
              <a:buNone/>
            </a:pPr>
            <a:r>
              <a:rPr/>
              <a:t>Wenn Sie ein riesiges Interface </a:t>
            </a:r>
            <a:r>
              <a:rPr>
                <a:latin typeface="Courier"/>
              </a:rPr>
              <a:t>IDokument</a:t>
            </a:r>
            <a:r>
              <a:rPr/>
              <a:t> haben, das </a:t>
            </a:r>
            <a:r>
              <a:rPr>
                <a:latin typeface="Courier"/>
              </a:rPr>
              <a:t>Drucke()</a:t>
            </a:r>
            <a:r>
              <a:rPr/>
              <a:t>, </a:t>
            </a:r>
            <a:r>
              <a:rPr>
                <a:latin typeface="Courier"/>
              </a:rPr>
              <a:t>Speichere()</a:t>
            </a:r>
            <a:r>
              <a:rPr/>
              <a:t>, </a:t>
            </a:r>
            <a:r>
              <a:rPr>
                <a:latin typeface="Courier"/>
              </a:rPr>
              <a:t>Validiere()</a:t>
            </a:r>
            <a:r>
              <a:rPr/>
              <a:t>, und </a:t>
            </a:r>
            <a:r>
              <a:rPr>
                <a:latin typeface="Courier"/>
              </a:rPr>
              <a:t>Archiviere()</a:t>
            </a:r>
            <a:r>
              <a:rPr/>
              <a:t> vorschreibt, zwingen Sie alle Klassen, all dies zu implementieren, auch wenn ein spezieller Vorgang z.B. gar nicht gedruckt werden kann.</a:t>
            </a:r>
          </a:p>
          <a:p>
            <a:pPr lvl="0" indent="0" marL="0">
              <a:buNone/>
            </a:pPr>
            <a:r>
              <a:rPr/>
              <a:t>Siehe das Beispiel in LSP: </a:t>
            </a:r>
            <a:r>
              <a:rPr>
                <a:latin typeface="Courier"/>
              </a:rPr>
              <a:t>DigitalOnlyDokument</a:t>
            </a:r>
            <a:r>
              <a:rPr/>
              <a:t> muss eine </a:t>
            </a:r>
            <a:r>
              <a:rPr>
                <a:latin typeface="Courier"/>
              </a:rPr>
              <a:t>Drucken()</a:t>
            </a:r>
            <a:r>
              <a:rPr/>
              <a:t>-Methode implementieren, obwohl sie diese Funktionalität nicht unterstützt. Das führt zu unübersichtlichem Code und potenziellen Laufzeitfehlern.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ISP: Kleine, fokussierte Interfaces</a:t>
            </a:r>
          </a:p>
        </p:txBody>
      </p:sp>
      <p:sp>
        <p:nvSpPr>
          <p:cNvPr id="3" name="Content Placeholder 2"/>
          <p:cNvSpPr>
            <a:spLocks noGrp="1"/>
          </p:cNvSpPr>
          <p:nvPr>
            <p:ph idx="1"/>
          </p:nvPr>
        </p:nvSpPr>
        <p:spPr/>
        <p:txBody>
          <a:bodyPr/>
          <a:lstStyle/>
          <a:p>
            <a:pPr lvl="0" indent="0" marL="0">
              <a:buNone/>
            </a:pPr>
            <a:r>
              <a:rPr/>
              <a:t>Lösung: Trennen Sie in </a:t>
            </a:r>
            <a:r>
              <a:rPr>
                <a:latin typeface="Courier"/>
              </a:rPr>
              <a:t>IDruckbar</a:t>
            </a:r>
            <a:r>
              <a:rPr/>
              <a:t>, </a:t>
            </a:r>
            <a:r>
              <a:rPr>
                <a:latin typeface="Courier"/>
              </a:rPr>
              <a:t>ISpeicherbar</a:t>
            </a:r>
            <a:r>
              <a:rPr/>
              <a:t>, </a:t>
            </a:r>
            <a:r>
              <a:rPr>
                <a:latin typeface="Courier"/>
              </a:rPr>
              <a:t>IValidierbar</a:t>
            </a:r>
            <a:r>
              <a:rPr/>
              <a:t>, etc.</a:t>
            </a:r>
          </a:p>
          <a:p>
            <a:pPr lvl="0" indent="0" marL="0">
              <a:buNone/>
            </a:pPr>
            <a:r>
              <a:rPr/>
              <a:t>Ein Modul für den Sachbearbeiter implementiert dann nur noch das, was es wirklich braucht. Dies erhöht die Übersichtlichkeit und reduziert unnötige Abhängigkeiten.</a:t>
            </a:r>
          </a:p>
          <a:p>
            <a:pPr lvl="0" indent="0" marL="0">
              <a:buNone/>
            </a:pPr>
            <a:r>
              <a:rPr/>
              <a:t>Siehe das Beispiel am Ende von LSP: </a:t>
            </a:r>
            <a:r>
              <a:rPr>
                <a:latin typeface="Courier"/>
              </a:rPr>
              <a:t>BescheidDokument</a:t>
            </a:r>
            <a:r>
              <a:rPr/>
              <a:t> implementiert sowohl </a:t>
            </a:r>
            <a:r>
              <a:rPr>
                <a:latin typeface="Courier"/>
              </a:rPr>
              <a:t>ISpeicherbar</a:t>
            </a:r>
            <a:r>
              <a:rPr/>
              <a:t> als auch </a:t>
            </a:r>
            <a:r>
              <a:rPr>
                <a:latin typeface="Courier"/>
              </a:rPr>
              <a:t>IDruckbar</a:t>
            </a:r>
            <a:r>
              <a:rPr/>
              <a:t>, während </a:t>
            </a:r>
            <a:r>
              <a:rPr>
                <a:latin typeface="Courier"/>
              </a:rPr>
              <a:t>DigitalOnlyDokument</a:t>
            </a:r>
            <a:r>
              <a:rPr/>
              <a:t> nur </a:t>
            </a:r>
            <a:r>
              <a:rPr>
                <a:latin typeface="Courier"/>
              </a:rPr>
              <a:t>ISpeicherbar</a:t>
            </a:r>
            <a:r>
              <a:rPr/>
              <a:t> implementiert. So wird der Vertrag klar und es gibt keine ungenutzten Methoden.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ISP: Vorteile</a:t>
            </a:r>
          </a:p>
        </p:txBody>
      </p:sp>
      <p:sp>
        <p:nvSpPr>
          <p:cNvPr id="3" name="Content Placeholder 2"/>
          <p:cNvSpPr>
            <a:spLocks noGrp="1"/>
          </p:cNvSpPr>
          <p:nvPr>
            <p:ph idx="1"/>
          </p:nvPr>
        </p:nvSpPr>
        <p:spPr/>
        <p:txBody>
          <a:bodyPr/>
          <a:lstStyle/>
          <a:p>
            <a:pPr lvl="0"/>
            <a:r>
              <a:rPr/>
              <a:t>Erhöht die Flexibilität und Wiederverwendbarkeit von Code.</a:t>
            </a:r>
          </a:p>
          <a:p>
            <a:pPr lvl="0"/>
            <a:r>
              <a:rPr/>
              <a:t>Verhindert die Implementierung von Methoden, die nicht benötigt werden.</a:t>
            </a:r>
          </a:p>
          <a:p>
            <a:pPr lvl="0"/>
            <a:r>
              <a:rPr/>
              <a:t>Erleichtert die Wartbarkeit und Testbarkeit von Klassen.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6: D – Dependency Inversion Principle (DIP)</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DIP: Definition</a:t>
            </a:r>
          </a:p>
        </p:txBody>
      </p:sp>
      <p:sp>
        <p:nvSpPr>
          <p:cNvPr id="3" name="Content Placeholder 2"/>
          <p:cNvSpPr>
            <a:spLocks noGrp="1"/>
          </p:cNvSpPr>
          <p:nvPr>
            <p:ph idx="1"/>
          </p:nvPr>
        </p:nvSpPr>
        <p:spPr/>
        <p:txBody>
          <a:bodyPr/>
          <a:lstStyle/>
          <a:p>
            <a:pPr lvl="0" indent="0" marL="0">
              <a:buNone/>
            </a:pPr>
            <a:r>
              <a:rPr i="1"/>
              <a:t>“Abhängigkeiten sollten gegen Abstraktionen gerichtet sein, nicht gegen konkrete Klassen.”</a:t>
            </a:r>
            <a:r>
              <a:rPr/>
              <a:t> High-Level-Module (Fachlogik) sollten nicht von Low-Level-Modulen (Datenbank-Zugriff) abhängen. Beide sollten von Abstraktionen (Interfaces) abhängen.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DIP: Die Umkehrung der Abhängigkeit</a:t>
            </a:r>
          </a:p>
        </p:txBody>
      </p:sp>
      <p:sp>
        <p:nvSpPr>
          <p:cNvPr id="3" name="Content Placeholder 2"/>
          <p:cNvSpPr>
            <a:spLocks noGrp="1"/>
          </p:cNvSpPr>
          <p:nvPr>
            <p:ph idx="1"/>
          </p:nvPr>
        </p:nvSpPr>
        <p:spPr/>
        <p:txBody>
          <a:bodyPr/>
          <a:lstStyle/>
          <a:p>
            <a:pPr lvl="0" indent="0" marL="0">
              <a:buNone/>
            </a:pPr>
            <a:r>
              <a:rPr/>
              <a:t>Traditionell ruft die Fachlogik die Datenbank direkt auf. DIP dreht das um: Die Fachlogik definiert ein Interface (</a:t>
            </a:r>
            <a:r>
              <a:rPr>
                <a:latin typeface="Courier"/>
              </a:rPr>
              <a:t>IDatenbank</a:t>
            </a:r>
            <a:r>
              <a:rPr/>
              <a:t>), und die Datenbank-Schicht implementiert dieses Interface. Damit “besitzt” die Fachlogik die Definition ihrer Abhängigkeiten.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7: Dependency Injection (DI)</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Die Umsetzung des DIP</a:t>
            </a:r>
          </a:p>
        </p:txBody>
      </p:sp>
      <p:sp>
        <p:nvSpPr>
          <p:cNvPr id="3" name="Content Placeholder 2"/>
          <p:cNvSpPr>
            <a:spLocks noGrp="1"/>
          </p:cNvSpPr>
          <p:nvPr>
            <p:ph idx="1"/>
          </p:nvPr>
        </p:nvSpPr>
        <p:spPr/>
        <p:txBody>
          <a:bodyPr/>
          <a:lstStyle/>
          <a:p>
            <a:pPr lvl="0" indent="0" marL="0">
              <a:buNone/>
            </a:pPr>
            <a:r>
              <a:rPr/>
              <a:t>Das Dependency Inversion Principle führt uns zur Dependency Injection. DI ist eine Technik, um die Abhängigkeiten einer Klasse von außen bereitzustellen, anstatt dass die Klasse sie selbst erstellt oder hart verdrahtet.</a:t>
            </a:r>
          </a:p>
          <a:p>
            <a:pPr lvl="0" indent="0" marL="0">
              <a:buNone/>
            </a:pPr>
            <a:r>
              <a:rPr/>
              <a:t>Die Kernidee: “Frag nicht nach deinen Abhängigkeiten, lass sie dir geben.” (</a:t>
            </a:r>
            <a:r>
              <a:rPr i="1"/>
              <a:t>Hollywood-Prinzip</a:t>
            </a:r>
            <a:r>
              <a:rPr/>
              <a:t>: Don’t call us, we call you).</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vs. DIP</a:t>
            </a:r>
          </a:p>
        </p:txBody>
      </p:sp>
      <p:sp>
        <p:nvSpPr>
          <p:cNvPr id="3" name="Content Placeholder 2"/>
          <p:cNvSpPr>
            <a:spLocks noGrp="1"/>
          </p:cNvSpPr>
          <p:nvPr>
            <p:ph idx="1"/>
          </p:nvPr>
        </p:nvSpPr>
        <p:spPr/>
        <p:txBody>
          <a:bodyPr/>
          <a:lstStyle/>
          <a:p>
            <a:pPr lvl="0" indent="0" marL="0">
              <a:buNone/>
            </a:pPr>
            <a:r>
              <a:rPr/>
              <a:t>DIP ist das </a:t>
            </a:r>
            <a:r>
              <a:rPr b="1"/>
              <a:t>Prinzip</a:t>
            </a:r>
            <a:r>
              <a:rPr/>
              <a:t> (das Ziel: lose Kopplung über Abstraktionen). DI ist die </a:t>
            </a:r>
            <a:r>
              <a:rPr b="1"/>
              <a:t>Technik</a:t>
            </a:r>
            <a:r>
              <a:rPr/>
              <a:t> (der Weg: wie kommen die Instanzen in die Klasse?). DI ist also ein Werkzeug, um DIP im Code umzusetzen.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Enge Kopplung (Das Anti-Pattern)</a:t>
            </a:r>
          </a:p>
        </p:txBody>
      </p:sp>
      <p:sp>
        <p:nvSpPr>
          <p:cNvPr id="3" name="Content Placeholder 2"/>
          <p:cNvSpPr>
            <a:spLocks noGrp="1"/>
          </p:cNvSpPr>
          <p:nvPr>
            <p:ph idx="1"/>
          </p:nvPr>
        </p:nvSpPr>
        <p:spPr/>
        <p:txBody>
          <a:bodyPr/>
          <a:lstStyle/>
          <a:p>
            <a:pPr lvl="0" indent="0" marL="0">
              <a:buNone/>
            </a:pPr>
            <a:r>
              <a:rPr/>
              <a:t>In diesem Beispiel erstellt die Klasse ihre Abhängigkeit selbst. Sie ist “eng gekoppelt” an die konkrete Klasse </a:t>
            </a:r>
            <a:r>
              <a:rPr>
                <a:latin typeface="Courier"/>
              </a:rPr>
              <a:t>SqlDatenbank</a:t>
            </a:r>
            <a:r>
              <a:rPr/>
              <a:t>.</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Fachverfahren</a:t>
            </a:r>
            <a:br/>
            <a:r>
              <a:rPr>
                <a:solidFill>
                  <a:srgbClr val="666666"/>
                </a:solidFill>
                <a:latin typeface="Courier"/>
              </a:rPr>
              <a:t>{</a:t>
            </a:r>
            <a:br/>
            <a:r>
              <a:rPr>
                <a:latin typeface="Courier"/>
              </a:rPr>
              <a:t>    </a:t>
            </a:r>
            <a:r>
              <a:rPr i="1">
                <a:solidFill>
                  <a:srgbClr val="60A0B0"/>
                </a:solidFill>
                <a:latin typeface="Courier"/>
              </a:rPr>
              <a:t>// Die Abhängigkeit wird hart verdrahtet</a:t>
            </a:r>
            <a:br/>
            <a:r>
              <a:rPr>
                <a:latin typeface="Courier"/>
              </a:rPr>
              <a:t>    </a:t>
            </a:r>
            <a:r>
              <a:rPr b="1">
                <a:solidFill>
                  <a:srgbClr val="007020"/>
                </a:solidFill>
                <a:latin typeface="Courier"/>
              </a:rPr>
              <a:t>private</a:t>
            </a:r>
            <a:r>
              <a:rPr>
                <a:latin typeface="Courier"/>
              </a:rPr>
              <a:t> SqlDatenbank _db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SqlDatenbank</a:t>
            </a:r>
            <a:r>
              <a:rPr>
                <a:solidFill>
                  <a:srgbClr val="666666"/>
                </a:solidFill>
                <a:latin typeface="Courier"/>
              </a:rPr>
              <a:t>();</a:t>
            </a:r>
            <a:r>
              <a:rPr>
                <a:latin typeface="Courier"/>
              </a:rPr>
              <a:t> </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Verarbeite</a:t>
            </a:r>
            <a:r>
              <a:rPr>
                <a:solidFill>
                  <a:srgbClr val="666666"/>
                </a:solidFill>
                <a:latin typeface="Courier"/>
              </a:rPr>
              <a:t>(</a:t>
            </a:r>
            <a:r>
              <a:rPr>
                <a:latin typeface="Courier"/>
              </a:rPr>
              <a:t>Antrag a</a:t>
            </a:r>
            <a:r>
              <a:rPr>
                <a:solidFill>
                  <a:srgbClr val="666666"/>
                </a:solidFill>
                <a:latin typeface="Courier"/>
              </a:rPr>
              <a:t>)</a:t>
            </a:r>
            <a:r>
              <a:rPr>
                <a:latin typeface="Courier"/>
              </a:rPr>
              <a:t> </a:t>
            </a:r>
            <a:br/>
            <a:r>
              <a:rPr>
                <a:latin typeface="Courier"/>
              </a:rPr>
              <a:t>    </a:t>
            </a:r>
            <a:r>
              <a:rPr>
                <a:solidFill>
                  <a:srgbClr val="666666"/>
                </a:solidFill>
                <a:latin typeface="Courier"/>
              </a:rPr>
              <a:t>{</a:t>
            </a:r>
            <a:br/>
            <a:r>
              <a:rPr>
                <a:latin typeface="Courier"/>
              </a:rPr>
              <a:t>        _db</a:t>
            </a:r>
            <a:r>
              <a:rPr>
                <a:solidFill>
                  <a:srgbClr val="666666"/>
                </a:solidFill>
                <a:latin typeface="Courier"/>
              </a:rPr>
              <a:t>.</a:t>
            </a:r>
            <a:r>
              <a:rPr>
                <a:solidFill>
                  <a:srgbClr val="06287E"/>
                </a:solidFill>
                <a:latin typeface="Courier"/>
              </a:rPr>
              <a:t>Save</a:t>
            </a:r>
            <a:r>
              <a:rPr>
                <a:solidFill>
                  <a:srgbClr val="666666"/>
                </a:solidFill>
                <a:latin typeface="Courier"/>
              </a:rPr>
              <a:t>(</a:t>
            </a:r>
            <a:r>
              <a:rPr>
                <a:latin typeface="Courier"/>
              </a:rPr>
              <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Enge Kopplung im AntragsManager (Das Anti-Pattern)</a:t>
            </a:r>
          </a:p>
        </p:txBody>
      </p:sp>
      <p:sp>
        <p:nvSpPr>
          <p:cNvPr id="3" name="Content Placeholder 2"/>
          <p:cNvSpPr>
            <a:spLocks noGrp="1"/>
          </p:cNvSpPr>
          <p:nvPr>
            <p:ph idx="1"/>
          </p:nvPr>
        </p:nvSpPr>
        <p:spPr/>
        <p:txBody>
          <a:bodyPr/>
          <a:lstStyle/>
          <a:p>
            <a:pPr lvl="0" indent="0" marL="0">
              <a:buNone/>
            </a:pPr>
            <a:r>
              <a:rPr/>
              <a:t>Auch in unserem </a:t>
            </a:r>
            <a:r>
              <a:rPr>
                <a:latin typeface="Courier"/>
              </a:rPr>
              <a:t>AntragManager</a:t>
            </a:r>
            <a:r>
              <a:rPr/>
              <a:t> haben wir eine enge Kopplung. Er erstellt selbst die Instanzen von </a:t>
            </a:r>
            <a:r>
              <a:rPr>
                <a:latin typeface="Courier"/>
              </a:rPr>
              <a:t>FachregelPruefer</a:t>
            </a:r>
            <a:r>
              <a:rPr/>
              <a:t>, </a:t>
            </a:r>
            <a:r>
              <a:rPr>
                <a:latin typeface="Courier"/>
              </a:rPr>
              <a:t>DatenbankService</a:t>
            </a:r>
            <a:r>
              <a:rPr/>
              <a:t> und </a:t>
            </a:r>
            <a:r>
              <a:rPr>
                <a:latin typeface="Courier"/>
              </a:rPr>
              <a:t>PdfErsteller</a:t>
            </a:r>
            <a:r>
              <a:rPr/>
              <a:t>.</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AntragManager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FachregelPruefer _fachregelPruefer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FachregelPruefer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DatenbankService _datenbankService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DatenbankService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PdfErsteller _pdfErsteller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PdfErsteller</a:t>
            </a:r>
            <a:r>
              <a:rPr>
                <a:solidFill>
                  <a:srgbClr val="666666"/>
                </a:solidFill>
                <a:latin typeface="Courier"/>
              </a:rPr>
              <a:t>();</a:t>
            </a:r>
            <a:b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Warum enge Kopplung schlecht ist</a:t>
            </a:r>
          </a:p>
        </p:txBody>
      </p:sp>
      <p:sp>
        <p:nvSpPr>
          <p:cNvPr id="3" name="Content Placeholder 2"/>
          <p:cNvSpPr>
            <a:spLocks noGrp="1"/>
          </p:cNvSpPr>
          <p:nvPr>
            <p:ph idx="1"/>
          </p:nvPr>
        </p:nvSpPr>
        <p:spPr/>
        <p:txBody>
          <a:bodyPr/>
          <a:lstStyle/>
          <a:p>
            <a:pPr lvl="0" indent="0" marL="0">
              <a:buNone/>
            </a:pPr>
            <a:r>
              <a:rPr/>
              <a:t>Wie wollen wir diese Klasse jemals mit einer Mock-Datenbank (für Tests) aufrufen? Es ist unmöglich!</a:t>
            </a:r>
          </a:p>
          <a:p>
            <a:pPr lvl="0" indent="0" marL="0">
              <a:buNone/>
            </a:pPr>
            <a:r>
              <a:rPr/>
              <a:t>Zudem müsste bei einem Wechsel zu einer Oracle-Datenbank der Code des </a:t>
            </a:r>
            <a:r>
              <a:rPr>
                <a:latin typeface="Courier"/>
              </a:rPr>
              <a:t>Fachverfahrens</a:t>
            </a:r>
            <a:r>
              <a:rPr/>
              <a:t> geändert werden, was OCP verletzt.</a:t>
            </a:r>
          </a:p>
          <a:p>
            <a:pPr lvl="0" indent="0" marL="0">
              <a:buNone/>
            </a:pPr>
            <a:r>
              <a:rPr/>
              <a:t>Man sollte die Klasse nicht zwingen, von einer konkreten Implementierung abhängig zu sein. Das macht sie starr und schwer erweiterbar.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Lose Kopplung (Die Lösung)</a:t>
            </a:r>
          </a:p>
        </p:txBody>
      </p:sp>
      <p:sp>
        <p:nvSpPr>
          <p:cNvPr id="3" name="Content Placeholder 2"/>
          <p:cNvSpPr>
            <a:spLocks noGrp="1"/>
          </p:cNvSpPr>
          <p:nvPr>
            <p:ph idx="1"/>
          </p:nvPr>
        </p:nvSpPr>
        <p:spPr/>
        <p:txBody>
          <a:bodyPr/>
          <a:lstStyle/>
          <a:p>
            <a:pPr lvl="0" indent="0" marL="0">
              <a:buNone/>
            </a:pPr>
            <a:r>
              <a:rPr/>
              <a:t>Wir verlangen eine Abstraktion (Interface) über den Konstruktor.</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Fachverfahren</a:t>
            </a:r>
            <a:b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IDatenbank _db</a:t>
            </a:r>
            <a:r>
              <a:rPr>
                <a:solidFill>
                  <a:srgbClr val="666666"/>
                </a:solidFill>
                <a:latin typeface="Courier"/>
              </a:rPr>
              <a:t>;</a:t>
            </a:r>
            <a:br/>
            <a:br/>
            <a:r>
              <a:rPr>
                <a:latin typeface="Courier"/>
              </a:rPr>
              <a:t>    </a:t>
            </a:r>
            <a:r>
              <a:rPr i="1">
                <a:solidFill>
                  <a:srgbClr val="60A0B0"/>
                </a:solidFill>
                <a:latin typeface="Courier"/>
              </a:rPr>
              <a:t>// Konstruktor-Injection: Wir lassen uns die DB geben</a:t>
            </a:r>
            <a:br/>
            <a:r>
              <a:rPr>
                <a:latin typeface="Courier"/>
              </a:rPr>
              <a:t>    </a:t>
            </a:r>
            <a:r>
              <a:rPr b="1">
                <a:solidFill>
                  <a:srgbClr val="007020"/>
                </a:solidFill>
                <a:latin typeface="Courier"/>
              </a:rPr>
              <a:t>public</a:t>
            </a:r>
            <a:r>
              <a:rPr>
                <a:latin typeface="Courier"/>
              </a:rPr>
              <a:t> </a:t>
            </a:r>
            <a:r>
              <a:rPr>
                <a:solidFill>
                  <a:srgbClr val="06287E"/>
                </a:solidFill>
                <a:latin typeface="Courier"/>
              </a:rPr>
              <a:t>Fachverfahren</a:t>
            </a:r>
            <a:r>
              <a:rPr>
                <a:solidFill>
                  <a:srgbClr val="666666"/>
                </a:solidFill>
                <a:latin typeface="Courier"/>
              </a:rPr>
              <a:t>(</a:t>
            </a:r>
            <a:r>
              <a:rPr>
                <a:latin typeface="Courier"/>
              </a:rPr>
              <a:t>IDatenbank db</a:t>
            </a:r>
            <a:r>
              <a:rPr>
                <a:solidFill>
                  <a:srgbClr val="666666"/>
                </a:solidFill>
                <a:latin typeface="Courier"/>
              </a:rPr>
              <a:t>)</a:t>
            </a:r>
            <a:r>
              <a:rPr>
                <a:latin typeface="Courier"/>
              </a:rPr>
              <a:t> </a:t>
            </a:r>
            <a:br/>
            <a:r>
              <a:rPr>
                <a:latin typeface="Courier"/>
              </a:rPr>
              <a:t>    </a:t>
            </a:r>
            <a:r>
              <a:rPr>
                <a:solidFill>
                  <a:srgbClr val="666666"/>
                </a:solidFill>
                <a:latin typeface="Courier"/>
              </a:rPr>
              <a:t>{</a:t>
            </a:r>
            <a:br/>
            <a:r>
              <a:rPr>
                <a:latin typeface="Courier"/>
              </a:rPr>
              <a:t>        _db </a:t>
            </a:r>
            <a:r>
              <a:rPr>
                <a:solidFill>
                  <a:srgbClr val="666666"/>
                </a:solidFill>
                <a:latin typeface="Courier"/>
              </a:rPr>
              <a:t>=</a:t>
            </a:r>
            <a:r>
              <a:rPr>
                <a:latin typeface="Courier"/>
              </a:rPr>
              <a:t> db</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Verarbeite</a:t>
            </a:r>
            <a:r>
              <a:rPr>
                <a:solidFill>
                  <a:srgbClr val="666666"/>
                </a:solidFill>
                <a:latin typeface="Courier"/>
              </a:rPr>
              <a:t>(</a:t>
            </a:r>
            <a:r>
              <a:rPr>
                <a:latin typeface="Courier"/>
              </a:rPr>
              <a:t>Antrag a</a:t>
            </a:r>
            <a:r>
              <a:rPr>
                <a:solidFill>
                  <a:srgbClr val="666666"/>
                </a:solidFill>
                <a:latin typeface="Courier"/>
              </a:rPr>
              <a:t>)</a:t>
            </a:r>
            <a:r>
              <a:rPr>
                <a:latin typeface="Courier"/>
              </a:rPr>
              <a:t> </a:t>
            </a:r>
            <a:r>
              <a:rPr>
                <a:solidFill>
                  <a:srgbClr val="666666"/>
                </a:solidFill>
                <a:latin typeface="Courier"/>
              </a:rPr>
              <a:t>=&gt;</a:t>
            </a:r>
            <a:r>
              <a:rPr>
                <a:latin typeface="Courier"/>
              </a:rPr>
              <a:t> _db</a:t>
            </a:r>
            <a:r>
              <a:rPr>
                <a:solidFill>
                  <a:srgbClr val="666666"/>
                </a:solidFill>
                <a:latin typeface="Courier"/>
              </a:rPr>
              <a:t>.</a:t>
            </a:r>
            <a:r>
              <a:rPr>
                <a:solidFill>
                  <a:srgbClr val="06287E"/>
                </a:solidFill>
                <a:latin typeface="Courier"/>
              </a:rPr>
              <a:t>Save</a:t>
            </a:r>
            <a:r>
              <a:rPr>
                <a:solidFill>
                  <a:srgbClr val="666666"/>
                </a:solidFill>
                <a:latin typeface="Courier"/>
              </a:rPr>
              <a:t>(</a:t>
            </a:r>
            <a:r>
              <a:rPr>
                <a:latin typeface="Courier"/>
              </a:rPr>
              <a:t>a</a:t>
            </a:r>
            <a:r>
              <a:rPr>
                <a:solidFill>
                  <a:srgbClr val="666666"/>
                </a:solidFill>
                <a:latin typeface="Courier"/>
              </a:rPr>
              <a:t>);</a:t>
            </a:r>
            <a:br/>
            <a:r>
              <a:rPr>
                <a:solidFill>
                  <a:srgbClr val="666666"/>
                </a:solidFill>
                <a:latin typeface="Courie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Lose Kopplung im AntragsManager (1/4)</a:t>
            </a:r>
          </a:p>
        </p:txBody>
      </p:sp>
      <p:sp>
        <p:nvSpPr>
          <p:cNvPr id="3" name="Content Placeholder 2"/>
          <p:cNvSpPr>
            <a:spLocks noGrp="1"/>
          </p:cNvSpPr>
          <p:nvPr>
            <p:ph idx="1"/>
          </p:nvPr>
        </p:nvSpPr>
        <p:spPr/>
        <p:txBody>
          <a:bodyPr/>
          <a:lstStyle/>
          <a:p>
            <a:pPr lvl="0" indent="0" marL="0">
              <a:buNone/>
            </a:pPr>
            <a:r>
              <a:rPr/>
              <a:t>Zuerst definieren wir Interfaces für die Abhängigkeiten. Das sind reine Verträge, die keine Implementierung enthalten.</a:t>
            </a:r>
          </a:p>
          <a:p>
            <a:pPr lvl="0" indent="0" marL="0">
              <a:buNone/>
            </a:pPr>
            <a:r>
              <a:rPr/>
              <a:t>Die konkreten Klassen implementieren diese Interfaces, aber der </a:t>
            </a:r>
            <a:r>
              <a:rPr>
                <a:latin typeface="Courier"/>
              </a:rPr>
              <a:t>AntragManager</a:t>
            </a:r>
            <a:r>
              <a:rPr/>
              <a:t> kennt nur die Interfaces.</a:t>
            </a:r>
          </a:p>
          <a:p>
            <a:pPr lvl="0" indent="0">
              <a:buNone/>
            </a:pPr>
            <a:r>
              <a:rPr b="1">
                <a:solidFill>
                  <a:srgbClr val="007020"/>
                </a:solidFill>
                <a:latin typeface="Courier"/>
              </a:rPr>
              <a:t>public</a:t>
            </a:r>
            <a:r>
              <a:rPr>
                <a:latin typeface="Courier"/>
              </a:rPr>
              <a:t> </a:t>
            </a:r>
            <a:r>
              <a:rPr b="1">
                <a:solidFill>
                  <a:srgbClr val="007020"/>
                </a:solidFill>
                <a:latin typeface="Courier"/>
              </a:rPr>
              <a:t>interface</a:t>
            </a:r>
            <a:r>
              <a:rPr>
                <a:latin typeface="Courier"/>
              </a:rPr>
              <a:t> IFachregelPruefer </a:t>
            </a:r>
            <a:r>
              <a:rPr>
                <a:solidFill>
                  <a:srgbClr val="666666"/>
                </a:solidFill>
                <a:latin typeface="Courier"/>
              </a:rPr>
              <a:t>{</a:t>
            </a:r>
            <a:br/>
            <a:r>
              <a:rPr>
                <a:latin typeface="Courier"/>
              </a:rPr>
              <a:t>    </a:t>
            </a:r>
            <a:r>
              <a:rPr>
                <a:solidFill>
                  <a:srgbClr val="902000"/>
                </a:solidFill>
                <a:latin typeface="Courier"/>
              </a:rPr>
              <a:t>bool</a:t>
            </a:r>
            <a:r>
              <a:rPr>
                <a:latin typeface="Courier"/>
              </a:rPr>
              <a:t> </a:t>
            </a:r>
            <a:r>
              <a:rPr>
                <a:solidFill>
                  <a:srgbClr val="06287E"/>
                </a:solidFill>
                <a:latin typeface="Courier"/>
              </a:rPr>
              <a:t>Pruefe</a:t>
            </a:r>
            <a:r>
              <a:rPr>
                <a:solidFill>
                  <a:srgbClr val="666666"/>
                </a:solidFill>
                <a:latin typeface="Courier"/>
              </a:rPr>
              <a:t>(</a:t>
            </a:r>
            <a:r>
              <a:rPr>
                <a:latin typeface="Courier"/>
              </a:rPr>
              <a:t>Antrag antrag</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IDatenbankService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SpeichereAntrag</a:t>
            </a:r>
            <a:r>
              <a:rPr>
                <a:solidFill>
                  <a:srgbClr val="666666"/>
                </a:solidFill>
                <a:latin typeface="Courier"/>
              </a:rPr>
              <a:t>(</a:t>
            </a:r>
            <a:r>
              <a:rPr>
                <a:latin typeface="Courier"/>
              </a:rPr>
              <a:t>Antrag antrag</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IPdfErsteller </a:t>
            </a:r>
            <a:r>
              <a:rPr>
                <a:solidFill>
                  <a:srgbClr val="666666"/>
                </a:solidFill>
                <a:latin typeface="Courier"/>
              </a:rPr>
              <a:t>{</a:t>
            </a:r>
            <a:br/>
            <a:r>
              <a:rPr>
                <a:latin typeface="Courier"/>
              </a:rPr>
              <a:t>    </a:t>
            </a:r>
            <a:r>
              <a:rPr>
                <a:solidFill>
                  <a:srgbClr val="902000"/>
                </a:solidFill>
                <a:latin typeface="Courier"/>
              </a:rPr>
              <a:t>string</a:t>
            </a:r>
            <a:r>
              <a:rPr>
                <a:latin typeface="Courier"/>
              </a:rPr>
              <a:t> </a:t>
            </a:r>
            <a:r>
              <a:rPr>
                <a:solidFill>
                  <a:srgbClr val="06287E"/>
                </a:solidFill>
                <a:latin typeface="Courier"/>
              </a:rPr>
              <a:t>ErstellePdf</a:t>
            </a:r>
            <a:r>
              <a:rPr>
                <a:solidFill>
                  <a:srgbClr val="666666"/>
                </a:solidFill>
                <a:latin typeface="Courier"/>
              </a:rPr>
              <a:t>(</a:t>
            </a:r>
            <a:r>
              <a:rPr>
                <a:latin typeface="Courier"/>
              </a:rPr>
              <a:t>Antrag antrag</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FachregelPruefer </a:t>
            </a:r>
            <a:r>
              <a:rPr>
                <a:solidFill>
                  <a:srgbClr val="666666"/>
                </a:solidFill>
                <a:latin typeface="Courier"/>
              </a:rPr>
              <a:t>:</a:t>
            </a:r>
            <a:r>
              <a:rPr>
                <a:latin typeface="Courier"/>
              </a:rPr>
              <a:t> IFachregelPruefer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DatenbankService </a:t>
            </a:r>
            <a:r>
              <a:rPr>
                <a:solidFill>
                  <a:srgbClr val="666666"/>
                </a:solidFill>
                <a:latin typeface="Courier"/>
              </a:rPr>
              <a:t>:</a:t>
            </a:r>
            <a:r>
              <a:rPr>
                <a:latin typeface="Courier"/>
              </a:rPr>
              <a:t> IDatenbankService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PdfErsteller </a:t>
            </a:r>
            <a:r>
              <a:rPr>
                <a:solidFill>
                  <a:srgbClr val="666666"/>
                </a:solidFill>
                <a:latin typeface="Courier"/>
              </a:rPr>
              <a:t>:</a:t>
            </a:r>
            <a:r>
              <a:rPr>
                <a:latin typeface="Courier"/>
              </a:rPr>
              <a:t> IPdfErsteller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Lose Kopplung im AntragsManager (2/4)</a:t>
            </a:r>
          </a:p>
        </p:txBody>
      </p:sp>
      <p:sp>
        <p:nvSpPr>
          <p:cNvPr id="3" name="Content Placeholder 2"/>
          <p:cNvSpPr>
            <a:spLocks noGrp="1"/>
          </p:cNvSpPr>
          <p:nvPr>
            <p:ph idx="1"/>
          </p:nvPr>
        </p:nvSpPr>
        <p:spPr/>
        <p:txBody>
          <a:bodyPr/>
          <a:lstStyle/>
          <a:p>
            <a:pPr lvl="0" indent="0" marL="0">
              <a:buNone/>
            </a:pPr>
            <a:r>
              <a:rPr/>
              <a:t>Die Klasse </a:t>
            </a:r>
            <a:r>
              <a:rPr>
                <a:latin typeface="Courier"/>
              </a:rPr>
              <a:t>AntragManager</a:t>
            </a:r>
            <a:r>
              <a:rPr/>
              <a:t> erhält ihre Abhängigkeiten über den Konstruktor. Sie kennt nur die Interfaces, nicht die konkreten Implementierungen. Das macht sie flexibel und testbar.</a:t>
            </a:r>
          </a:p>
          <a:p>
            <a:pPr lvl="0" indent="0" marL="0">
              <a:buNone/>
            </a:pPr>
            <a:r>
              <a:rPr/>
              <a:t>Dieses Verfahren nennt man </a:t>
            </a:r>
            <a:r>
              <a:rPr b="1"/>
              <a:t>Constructor Injection</a:t>
            </a:r>
            <a:r>
              <a:rPr/>
              <a:t>. Es ist die gebräuchlichste Form der Dependency Injection.</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AntragManager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IFachregelPruefer _fachregelPruefer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IDatenbankService _datenbankService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readonly</a:t>
            </a:r>
            <a:r>
              <a:rPr>
                <a:latin typeface="Courier"/>
              </a:rPr>
              <a:t> IPdfErsteller _pdfErsteller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AntragManager</a:t>
            </a:r>
            <a:r>
              <a:rPr>
                <a:solidFill>
                  <a:srgbClr val="666666"/>
                </a:solidFill>
                <a:latin typeface="Courier"/>
              </a:rPr>
              <a:t>(</a:t>
            </a:r>
            <a:r>
              <a:rPr>
                <a:latin typeface="Courier"/>
              </a:rPr>
              <a:t>IFachregelPruefer fachregelPruefer</a:t>
            </a:r>
            <a:r>
              <a:rPr>
                <a:solidFill>
                  <a:srgbClr val="666666"/>
                </a:solidFill>
                <a:latin typeface="Courier"/>
              </a:rPr>
              <a:t>,</a:t>
            </a:r>
            <a:r>
              <a:rPr>
                <a:latin typeface="Courier"/>
              </a:rPr>
              <a:t> IDatenbankService datenbankService</a:t>
            </a:r>
            <a:r>
              <a:rPr>
                <a:solidFill>
                  <a:srgbClr val="666666"/>
                </a:solidFill>
                <a:latin typeface="Courier"/>
              </a:rPr>
              <a:t>,</a:t>
            </a:r>
            <a:r>
              <a:rPr>
                <a:latin typeface="Courier"/>
              </a:rPr>
              <a:t> IPdfErsteller pdfErsteller</a:t>
            </a:r>
            <a:r>
              <a:rPr>
                <a:solidFill>
                  <a:srgbClr val="666666"/>
                </a:solidFill>
                <a:latin typeface="Courier"/>
              </a:rPr>
              <a:t>)</a:t>
            </a:r>
            <a:r>
              <a:rPr>
                <a:latin typeface="Courier"/>
              </a:rPr>
              <a:t> </a:t>
            </a:r>
            <a:r>
              <a:rPr>
                <a:solidFill>
                  <a:srgbClr val="666666"/>
                </a:solidFill>
                <a:latin typeface="Courier"/>
              </a:rPr>
              <a:t>{</a:t>
            </a:r>
            <a:br/>
            <a:r>
              <a:rPr>
                <a:latin typeface="Courier"/>
              </a:rPr>
              <a:t>        _fachregelPruefer </a:t>
            </a:r>
            <a:r>
              <a:rPr>
                <a:solidFill>
                  <a:srgbClr val="666666"/>
                </a:solidFill>
                <a:latin typeface="Courier"/>
              </a:rPr>
              <a:t>=</a:t>
            </a:r>
            <a:r>
              <a:rPr>
                <a:latin typeface="Courier"/>
              </a:rPr>
              <a:t> fachregelPruefer</a:t>
            </a:r>
            <a:r>
              <a:rPr>
                <a:solidFill>
                  <a:srgbClr val="666666"/>
                </a:solidFill>
                <a:latin typeface="Courier"/>
              </a:rPr>
              <a:t>;</a:t>
            </a:r>
            <a:br/>
            <a:r>
              <a:rPr>
                <a:latin typeface="Courier"/>
              </a:rPr>
              <a:t>        _datenbankService </a:t>
            </a:r>
            <a:r>
              <a:rPr>
                <a:solidFill>
                  <a:srgbClr val="666666"/>
                </a:solidFill>
                <a:latin typeface="Courier"/>
              </a:rPr>
              <a:t>=</a:t>
            </a:r>
            <a:r>
              <a:rPr>
                <a:latin typeface="Courier"/>
              </a:rPr>
              <a:t> datenbankService</a:t>
            </a:r>
            <a:r>
              <a:rPr>
                <a:solidFill>
                  <a:srgbClr val="666666"/>
                </a:solidFill>
                <a:latin typeface="Courier"/>
              </a:rPr>
              <a:t>;</a:t>
            </a:r>
            <a:br/>
            <a:r>
              <a:rPr>
                <a:latin typeface="Courier"/>
              </a:rPr>
              <a:t>        _pdfErsteller </a:t>
            </a:r>
            <a:r>
              <a:rPr>
                <a:solidFill>
                  <a:srgbClr val="666666"/>
                </a:solidFill>
                <a:latin typeface="Courier"/>
              </a:rPr>
              <a:t>=</a:t>
            </a:r>
            <a:r>
              <a:rPr>
                <a:latin typeface="Courier"/>
              </a:rPr>
              <a:t> pdfErsteller</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BearbeiteAntrag</a:t>
            </a:r>
            <a:r>
              <a:rPr>
                <a:solidFill>
                  <a:srgbClr val="666666"/>
                </a:solidFill>
                <a:latin typeface="Courier"/>
              </a:rPr>
              <a:t>(</a:t>
            </a:r>
            <a:r>
              <a:rPr>
                <a:latin typeface="Courier"/>
              </a:rPr>
              <a:t>Antrag antrag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Lose Kopplung im AntragsManager (3/4)</a:t>
            </a:r>
          </a:p>
        </p:txBody>
      </p:sp>
      <p:sp>
        <p:nvSpPr>
          <p:cNvPr id="3" name="Content Placeholder 2"/>
          <p:cNvSpPr>
            <a:spLocks noGrp="1"/>
          </p:cNvSpPr>
          <p:nvPr>
            <p:ph idx="1"/>
          </p:nvPr>
        </p:nvSpPr>
        <p:spPr/>
        <p:txBody>
          <a:bodyPr/>
          <a:lstStyle/>
          <a:p>
            <a:pPr lvl="0" indent="0" marL="0">
              <a:buNone/>
            </a:pPr>
            <a:r>
              <a:rPr/>
              <a:t>Im Hauptprogramm oder in der Startup-Klasse konfigurieren wir, welche konkreten Implementierungen für welche Interfaces verwendet werden sollen. Man “baut” das System einmalig zusammen. Dieser Vorgang wird als “Composition Root” bezeichnet.</a:t>
            </a:r>
          </a:p>
          <a:p>
            <a:pPr lvl="0" indent="0">
              <a:buNone/>
            </a:pP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Manuelles Zusammenbauen der Abhängigkeiten</a:t>
            </a:r>
            <a:br/>
            <a:r>
              <a:rPr>
                <a:latin typeface="Courier"/>
              </a:rPr>
              <a:t>    IFachregelPruefer fachregelPruefer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FachregelPruefer</a:t>
            </a:r>
            <a:r>
              <a:rPr>
                <a:solidFill>
                  <a:srgbClr val="666666"/>
                </a:solidFill>
                <a:latin typeface="Courier"/>
              </a:rPr>
              <a:t>();</a:t>
            </a:r>
            <a:br/>
            <a:r>
              <a:rPr>
                <a:latin typeface="Courier"/>
              </a:rPr>
              <a:t>    IDatenbankService datenbankService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DatenbankService</a:t>
            </a:r>
            <a:r>
              <a:rPr>
                <a:solidFill>
                  <a:srgbClr val="666666"/>
                </a:solidFill>
                <a:latin typeface="Courier"/>
              </a:rPr>
              <a:t>();</a:t>
            </a:r>
            <a:br/>
            <a:r>
              <a:rPr>
                <a:latin typeface="Courier"/>
              </a:rPr>
              <a:t>    IPdfErsteller pdfErsteller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PdfErsteller</a:t>
            </a:r>
            <a:r>
              <a:rPr>
                <a:solidFill>
                  <a:srgbClr val="666666"/>
                </a:solidFill>
                <a:latin typeface="Courier"/>
              </a:rPr>
              <a:t>();</a:t>
            </a:r>
            <a:br/>
            <a:br/>
            <a:r>
              <a:rPr>
                <a:latin typeface="Courier"/>
              </a:rPr>
              <a:t>    AntragManager antragManager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AntragManager</a:t>
            </a:r>
            <a:r>
              <a:rPr>
                <a:solidFill>
                  <a:srgbClr val="666666"/>
                </a:solidFill>
                <a:latin typeface="Courier"/>
              </a:rPr>
              <a:t>(</a:t>
            </a:r>
            <a:r>
              <a:rPr>
                <a:latin typeface="Courier"/>
              </a:rPr>
              <a:t>fachregelPruefer</a:t>
            </a:r>
            <a:r>
              <a:rPr>
                <a:solidFill>
                  <a:srgbClr val="666666"/>
                </a:solidFill>
                <a:latin typeface="Courier"/>
              </a:rPr>
              <a:t>,</a:t>
            </a:r>
            <a:r>
              <a:rPr>
                <a:latin typeface="Courier"/>
              </a:rPr>
              <a:t> datenbankService</a:t>
            </a:r>
            <a:r>
              <a:rPr>
                <a:solidFill>
                  <a:srgbClr val="666666"/>
                </a:solidFill>
                <a:latin typeface="Courier"/>
              </a:rPr>
              <a:t>,</a:t>
            </a:r>
            <a:r>
              <a:rPr>
                <a:latin typeface="Courier"/>
              </a:rPr>
              <a:t> pdfErsteller</a:t>
            </a:r>
            <a:r>
              <a:rPr>
                <a:solidFill>
                  <a:srgbClr val="666666"/>
                </a:solidFill>
                <a:latin typeface="Courier"/>
              </a:rPr>
              <a:t>);</a:t>
            </a:r>
            <a:br/>
            <a:br/>
            <a:r>
              <a:rPr>
                <a:latin typeface="Courier"/>
              </a:rPr>
              <a:t>    Antrag 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Antrag</a:t>
            </a:r>
            <a:r>
              <a:rPr>
                <a:solidFill>
                  <a:srgbClr val="666666"/>
                </a:solidFill>
                <a:latin typeface="Courier"/>
              </a:rPr>
              <a:t>();</a:t>
            </a:r>
            <a:r>
              <a:rPr>
                <a:latin typeface="Courier"/>
              </a:rPr>
              <a:t> </a:t>
            </a:r>
            <a:r>
              <a:rPr i="1">
                <a:solidFill>
                  <a:srgbClr val="60A0B0"/>
                </a:solidFill>
                <a:latin typeface="Courier"/>
              </a:rPr>
              <a:t>// Beispielantrag</a:t>
            </a:r>
            <a:br/>
            <a:r>
              <a:rPr>
                <a:latin typeface="Courier"/>
              </a:rPr>
              <a:t>    antragManager</a:t>
            </a:r>
            <a:r>
              <a:rPr>
                <a:solidFill>
                  <a:srgbClr val="666666"/>
                </a:solidFill>
                <a:latin typeface="Courier"/>
              </a:rPr>
              <a:t>.</a:t>
            </a:r>
            <a:r>
              <a:rPr>
                <a:solidFill>
                  <a:srgbClr val="06287E"/>
                </a:solidFill>
                <a:latin typeface="Courier"/>
              </a:rPr>
              <a:t>BearbeiteAntrag</a:t>
            </a:r>
            <a:r>
              <a:rPr>
                <a:solidFill>
                  <a:srgbClr val="666666"/>
                </a:solidFill>
                <a:latin typeface="Courier"/>
              </a:rPr>
              <a:t>(</a:t>
            </a:r>
            <a:r>
              <a:rPr>
                <a:latin typeface="Courier"/>
              </a:rPr>
              <a:t>antrag</a:t>
            </a:r>
            <a:r>
              <a:rPr>
                <a:solidFill>
                  <a:srgbClr val="666666"/>
                </a:solidFill>
                <a:latin typeface="Courier"/>
              </a:rPr>
              <a:t>);</a:t>
            </a:r>
            <a:br/>
            <a:r>
              <a:rPr>
                <a:solidFill>
                  <a:srgbClr val="666666"/>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DI-Container: Das Herz moderner Anwendungen</a:t>
            </a:r>
          </a:p>
        </p:txBody>
      </p:sp>
      <p:sp>
        <p:nvSpPr>
          <p:cNvPr id="3" name="Content Placeholder 2"/>
          <p:cNvSpPr>
            <a:spLocks noGrp="1"/>
          </p:cNvSpPr>
          <p:nvPr>
            <p:ph idx="1"/>
          </p:nvPr>
        </p:nvSpPr>
        <p:spPr/>
        <p:txBody>
          <a:bodyPr/>
          <a:lstStyle/>
          <a:p>
            <a:pPr lvl="0" indent="0" marL="0">
              <a:buNone/>
            </a:pPr>
            <a:r>
              <a:rPr/>
              <a:t>Das manuelle Konfigurieren der Abhängigkeiten im “Composition Root” ist bei kleinen Projekten machbar, aber bei größeren Systemen mit vielen Abhängigkeiten schnell unübersichtlich.</a:t>
            </a:r>
          </a:p>
          <a:p>
            <a:pPr lvl="0" indent="0" marL="0">
              <a:buNone/>
            </a:pPr>
            <a:r>
              <a:rPr/>
              <a:t>In modernen Frameworks (wie ASP.NET Core) müssen wir nicht hunderte Male </a:t>
            </a:r>
            <a:r>
              <a:rPr>
                <a:latin typeface="Courier"/>
              </a:rPr>
              <a:t>new</a:t>
            </a:r>
            <a:r>
              <a:rPr/>
              <a:t> aufrufen, um die Klassen zusammenzustecken. Eine spzeielle Software, </a:t>
            </a:r>
            <a:r>
              <a:rPr b="1"/>
              <a:t>DI-Container</a:t>
            </a:r>
            <a:r>
              <a:rPr/>
              <a:t> (oder IoC-Container) genannt, übernimmt das.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Funktionsweise eines DI-Containers</a:t>
            </a:r>
          </a:p>
        </p:txBody>
      </p:sp>
      <p:sp>
        <p:nvSpPr>
          <p:cNvPr id="3" name="Content Placeholder 2"/>
          <p:cNvSpPr>
            <a:spLocks noGrp="1"/>
          </p:cNvSpPr>
          <p:nvPr>
            <p:ph idx="1"/>
          </p:nvPr>
        </p:nvSpPr>
        <p:spPr/>
        <p:txBody>
          <a:bodyPr/>
          <a:lstStyle/>
          <a:p>
            <a:pPr lvl="0" indent="0" marL="0">
              <a:buNone/>
            </a:pPr>
            <a:r>
              <a:rPr/>
              <a:t>Beim Programmstart registrieren wir Typen: </a:t>
            </a:r>
            <a:r>
              <a:rPr i="1"/>
              <a:t>“Wann immer jemand eine </a:t>
            </a:r>
            <a:r>
              <a:rPr i="1">
                <a:latin typeface="Courier"/>
              </a:rPr>
              <a:t>IDatenbank</a:t>
            </a:r>
            <a:r>
              <a:rPr i="1"/>
              <a:t> benötigt, erzeuge eine Instanz von </a:t>
            </a:r>
            <a:r>
              <a:rPr i="1">
                <a:latin typeface="Courier"/>
              </a:rPr>
              <a:t>SqlDatenbank</a:t>
            </a:r>
            <a:r>
              <a:rPr i="1"/>
              <a:t> und gib sie ihm.”</a:t>
            </a:r>
            <a:r>
              <a:rPr/>
              <a:t> Der Container speichert diese Regeln und erstellt die Objekte automatisch, wenn sie benötigt werden. Er löst die Abhängigkeiten rekursiv auf: Wenn </a:t>
            </a:r>
            <a:r>
              <a:rPr>
                <a:latin typeface="Courier"/>
              </a:rPr>
              <a:t>AntragManager</a:t>
            </a:r>
            <a:r>
              <a:rPr/>
              <a:t> eine </a:t>
            </a:r>
            <a:r>
              <a:rPr>
                <a:latin typeface="Courier"/>
              </a:rPr>
              <a:t>IDatenbank</a:t>
            </a:r>
            <a:r>
              <a:rPr/>
              <a:t> braucht, fragt er den Container, der dann eine </a:t>
            </a:r>
            <a:r>
              <a:rPr>
                <a:latin typeface="Courier"/>
              </a:rPr>
              <a:t>SqlDatenbank</a:t>
            </a:r>
            <a:r>
              <a:rPr/>
              <a:t> erstellt. Wenn </a:t>
            </a:r>
            <a:r>
              <a:rPr>
                <a:latin typeface="Courier"/>
              </a:rPr>
              <a:t>SqlDatenbank</a:t>
            </a:r>
            <a:r>
              <a:rPr/>
              <a:t> wiederum eine </a:t>
            </a:r>
            <a:r>
              <a:rPr>
                <a:latin typeface="Courier"/>
              </a:rPr>
              <a:t>ILogger</a:t>
            </a:r>
            <a:r>
              <a:rPr/>
              <a:t> benötigt, fragt er den Container erneut, und so weiter.</a:t>
            </a:r>
          </a:p>
          <a:p>
            <a:pPr lvl="0" indent="0" marL="0">
              <a:buNone/>
            </a:pPr>
            <a:r>
              <a:rPr/>
              <a:t>Der Container löst also den gesamten Abhängigkeitsbaum automatisch auf, egal wie tief er verschachtelt ist.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 Lose Kopplung im AntragsManager (4/4)</a:t>
            </a:r>
          </a:p>
        </p:txBody>
      </p:sp>
      <p:sp>
        <p:nvSpPr>
          <p:cNvPr id="3" name="Content Placeholder 2"/>
          <p:cNvSpPr>
            <a:spLocks noGrp="1"/>
          </p:cNvSpPr>
          <p:nvPr>
            <p:ph idx="1"/>
          </p:nvPr>
        </p:nvSpPr>
        <p:spPr/>
        <p:txBody>
          <a:bodyPr/>
          <a:lstStyle/>
          <a:p>
            <a:pPr lvl="0" indent="0" marL="0">
              <a:buNone/>
            </a:pPr>
            <a:r>
              <a:rPr/>
              <a:t>Zum Schluss sieht unser Hauptprogramm so aus. Es ist extrem schlank, weil der DI-Container die ganze Arbeit erledigt. Wir müssen nur einmal angeben, welche Implementierungen wir für welche Interfaces verwenden wollen.</a:t>
            </a:r>
          </a:p>
          <a:p>
            <a:pPr lvl="0" indent="0">
              <a:buNone/>
            </a:pPr>
            <a:r>
              <a:rPr b="1">
                <a:solidFill>
                  <a:srgbClr val="00702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Zusammenbauen der Abhängigkeiten mittels DI-Container</a:t>
            </a:r>
            <a:br/>
            <a:r>
              <a:rPr>
                <a:latin typeface="Courier"/>
              </a:rPr>
              <a:t>    </a:t>
            </a:r>
            <a:r>
              <a:rPr>
                <a:solidFill>
                  <a:srgbClr val="902000"/>
                </a:solidFill>
                <a:latin typeface="Courier"/>
              </a:rPr>
              <a:t>var</a:t>
            </a:r>
            <a:r>
              <a:rPr>
                <a:latin typeface="Courier"/>
              </a:rPr>
              <a:t> services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ServiceCollection</a:t>
            </a:r>
            <a:r>
              <a:rPr>
                <a:solidFill>
                  <a:srgbClr val="666666"/>
                </a:solidFill>
                <a:latin typeface="Courier"/>
              </a:rPr>
              <a:t>();</a:t>
            </a:r>
            <a:br/>
            <a:r>
              <a:rPr>
                <a:latin typeface="Courier"/>
              </a:rPr>
              <a:t>    services</a:t>
            </a:r>
            <a:r>
              <a:rPr>
                <a:solidFill>
                  <a:srgbClr val="666666"/>
                </a:solidFill>
                <a:latin typeface="Courier"/>
              </a:rPr>
              <a:t>.</a:t>
            </a:r>
            <a:r>
              <a:rPr>
                <a:solidFill>
                  <a:srgbClr val="06287E"/>
                </a:solidFill>
                <a:latin typeface="Courier"/>
              </a:rPr>
              <a:t>AddTransient</a:t>
            </a:r>
            <a:r>
              <a:rPr>
                <a:solidFill>
                  <a:srgbClr val="666666"/>
                </a:solidFill>
                <a:latin typeface="Courier"/>
              </a:rPr>
              <a:t>&lt;</a:t>
            </a:r>
            <a:r>
              <a:rPr>
                <a:latin typeface="Courier"/>
              </a:rPr>
              <a:t>IFachregelPruefer</a:t>
            </a:r>
            <a:r>
              <a:rPr>
                <a:solidFill>
                  <a:srgbClr val="666666"/>
                </a:solidFill>
                <a:latin typeface="Courier"/>
              </a:rPr>
              <a:t>,</a:t>
            </a:r>
            <a:r>
              <a:rPr>
                <a:latin typeface="Courier"/>
              </a:rPr>
              <a:t> FachregelPruefer</a:t>
            </a:r>
            <a:r>
              <a:rPr>
                <a:solidFill>
                  <a:srgbClr val="666666"/>
                </a:solidFill>
                <a:latin typeface="Courier"/>
              </a:rPr>
              <a:t>&gt;();</a:t>
            </a:r>
            <a:br/>
            <a:r>
              <a:rPr>
                <a:latin typeface="Courier"/>
              </a:rPr>
              <a:t>    services</a:t>
            </a:r>
            <a:r>
              <a:rPr>
                <a:solidFill>
                  <a:srgbClr val="666666"/>
                </a:solidFill>
                <a:latin typeface="Courier"/>
              </a:rPr>
              <a:t>.</a:t>
            </a:r>
            <a:r>
              <a:rPr>
                <a:solidFill>
                  <a:srgbClr val="06287E"/>
                </a:solidFill>
                <a:latin typeface="Courier"/>
              </a:rPr>
              <a:t>AddTransient</a:t>
            </a:r>
            <a:r>
              <a:rPr>
                <a:solidFill>
                  <a:srgbClr val="666666"/>
                </a:solidFill>
                <a:latin typeface="Courier"/>
              </a:rPr>
              <a:t>&lt;</a:t>
            </a:r>
            <a:r>
              <a:rPr>
                <a:latin typeface="Courier"/>
              </a:rPr>
              <a:t>IDatenbankService</a:t>
            </a:r>
            <a:r>
              <a:rPr>
                <a:solidFill>
                  <a:srgbClr val="666666"/>
                </a:solidFill>
                <a:latin typeface="Courier"/>
              </a:rPr>
              <a:t>,</a:t>
            </a:r>
            <a:r>
              <a:rPr>
                <a:latin typeface="Courier"/>
              </a:rPr>
              <a:t> DatenbankService</a:t>
            </a:r>
            <a:r>
              <a:rPr>
                <a:solidFill>
                  <a:srgbClr val="666666"/>
                </a:solidFill>
                <a:latin typeface="Courier"/>
              </a:rPr>
              <a:t>&gt;();</a:t>
            </a:r>
            <a:br/>
            <a:r>
              <a:rPr>
                <a:latin typeface="Courier"/>
              </a:rPr>
              <a:t>    services</a:t>
            </a:r>
            <a:r>
              <a:rPr>
                <a:solidFill>
                  <a:srgbClr val="666666"/>
                </a:solidFill>
                <a:latin typeface="Courier"/>
              </a:rPr>
              <a:t>.</a:t>
            </a:r>
            <a:r>
              <a:rPr>
                <a:solidFill>
                  <a:srgbClr val="06287E"/>
                </a:solidFill>
                <a:latin typeface="Courier"/>
              </a:rPr>
              <a:t>AddTransient</a:t>
            </a:r>
            <a:r>
              <a:rPr>
                <a:solidFill>
                  <a:srgbClr val="666666"/>
                </a:solidFill>
                <a:latin typeface="Courier"/>
              </a:rPr>
              <a:t>&lt;</a:t>
            </a:r>
            <a:r>
              <a:rPr>
                <a:latin typeface="Courier"/>
              </a:rPr>
              <a:t>IPdfErsteller</a:t>
            </a:r>
            <a:r>
              <a:rPr>
                <a:solidFill>
                  <a:srgbClr val="666666"/>
                </a:solidFill>
                <a:latin typeface="Courier"/>
              </a:rPr>
              <a:t>,</a:t>
            </a:r>
            <a:r>
              <a:rPr>
                <a:latin typeface="Courier"/>
              </a:rPr>
              <a:t> PdfErsteller</a:t>
            </a:r>
            <a:r>
              <a:rPr>
                <a:solidFill>
                  <a:srgbClr val="666666"/>
                </a:solidFill>
                <a:latin typeface="Courier"/>
              </a:rPr>
              <a:t>&gt;();</a:t>
            </a:r>
            <a:br/>
            <a:r>
              <a:rPr>
                <a:latin typeface="Courier"/>
              </a:rPr>
              <a:t>    services</a:t>
            </a:r>
            <a:r>
              <a:rPr>
                <a:solidFill>
                  <a:srgbClr val="666666"/>
                </a:solidFill>
                <a:latin typeface="Courier"/>
              </a:rPr>
              <a:t>.</a:t>
            </a:r>
            <a:r>
              <a:rPr>
                <a:solidFill>
                  <a:srgbClr val="06287E"/>
                </a:solidFill>
                <a:latin typeface="Courier"/>
              </a:rPr>
              <a:t>AddTransient</a:t>
            </a:r>
            <a:r>
              <a:rPr>
                <a:solidFill>
                  <a:srgbClr val="666666"/>
                </a:solidFill>
                <a:latin typeface="Courier"/>
              </a:rPr>
              <a:t>&lt;</a:t>
            </a:r>
            <a:r>
              <a:rPr>
                <a:latin typeface="Courier"/>
              </a:rPr>
              <a:t>AntragManager</a:t>
            </a:r>
            <a:r>
              <a:rPr>
                <a:solidFill>
                  <a:srgbClr val="666666"/>
                </a:solidFill>
                <a:latin typeface="Courier"/>
              </a:rPr>
              <a:t>&gt;();</a:t>
            </a:r>
            <a:br/>
            <a:r>
              <a:rPr>
                <a:latin typeface="Courier"/>
              </a:rPr>
              <a:t>    </a:t>
            </a:r>
            <a:r>
              <a:rPr>
                <a:solidFill>
                  <a:srgbClr val="902000"/>
                </a:solidFill>
                <a:latin typeface="Courier"/>
              </a:rPr>
              <a:t>var</a:t>
            </a:r>
            <a:r>
              <a:rPr>
                <a:latin typeface="Courier"/>
              </a:rPr>
              <a:t> serviceProvider </a:t>
            </a:r>
            <a:r>
              <a:rPr>
                <a:solidFill>
                  <a:srgbClr val="666666"/>
                </a:solidFill>
                <a:latin typeface="Courier"/>
              </a:rPr>
              <a:t>=</a:t>
            </a:r>
            <a:r>
              <a:rPr>
                <a:latin typeface="Courier"/>
              </a:rPr>
              <a:t> services</a:t>
            </a:r>
            <a:r>
              <a:rPr>
                <a:solidFill>
                  <a:srgbClr val="666666"/>
                </a:solidFill>
                <a:latin typeface="Courier"/>
              </a:rPr>
              <a:t>.</a:t>
            </a:r>
            <a:r>
              <a:rPr>
                <a:solidFill>
                  <a:srgbClr val="06287E"/>
                </a:solidFill>
                <a:latin typeface="Courier"/>
              </a:rPr>
              <a:t>BuildServiceProvider</a:t>
            </a:r>
            <a:r>
              <a:rPr>
                <a:solidFill>
                  <a:srgbClr val="666666"/>
                </a:solidFill>
                <a:latin typeface="Courier"/>
              </a:rPr>
              <a:t>();</a:t>
            </a:r>
            <a:br/>
            <a:br/>
            <a:r>
              <a:rPr>
                <a:latin typeface="Courier"/>
              </a:rPr>
              <a:t>    AntragManager antragManager </a:t>
            </a:r>
            <a:r>
              <a:rPr>
                <a:solidFill>
                  <a:srgbClr val="666666"/>
                </a:solidFill>
                <a:latin typeface="Courier"/>
              </a:rPr>
              <a:t>=</a:t>
            </a:r>
            <a:r>
              <a:rPr>
                <a:latin typeface="Courier"/>
              </a:rPr>
              <a:t> serviceProvider</a:t>
            </a:r>
            <a:r>
              <a:rPr>
                <a:solidFill>
                  <a:srgbClr val="666666"/>
                </a:solidFill>
                <a:latin typeface="Courier"/>
              </a:rPr>
              <a:t>.</a:t>
            </a:r>
            <a:r>
              <a:rPr>
                <a:solidFill>
                  <a:srgbClr val="06287E"/>
                </a:solidFill>
                <a:latin typeface="Courier"/>
              </a:rPr>
              <a:t>GetRequiredService</a:t>
            </a:r>
            <a:r>
              <a:rPr>
                <a:solidFill>
                  <a:srgbClr val="666666"/>
                </a:solidFill>
                <a:latin typeface="Courier"/>
              </a:rPr>
              <a:t>&lt;</a:t>
            </a:r>
            <a:r>
              <a:rPr>
                <a:latin typeface="Courier"/>
              </a:rPr>
              <a:t>AntragManager</a:t>
            </a:r>
            <a:r>
              <a:rPr>
                <a:solidFill>
                  <a:srgbClr val="666666"/>
                </a:solidFill>
                <a:latin typeface="Courier"/>
              </a:rPr>
              <a:t>&gt;();</a:t>
            </a:r>
            <a:br/>
            <a:br/>
            <a:r>
              <a:rPr>
                <a:latin typeface="Courier"/>
              </a:rPr>
              <a:t>    Antrag antrag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Antrag</a:t>
            </a:r>
            <a:r>
              <a:rPr>
                <a:solidFill>
                  <a:srgbClr val="666666"/>
                </a:solidFill>
                <a:latin typeface="Courier"/>
              </a:rPr>
              <a:t>();</a:t>
            </a:r>
            <a:r>
              <a:rPr>
                <a:latin typeface="Courier"/>
              </a:rPr>
              <a:t> </a:t>
            </a:r>
            <a:r>
              <a:rPr i="1">
                <a:solidFill>
                  <a:srgbClr val="60A0B0"/>
                </a:solidFill>
                <a:latin typeface="Courier"/>
              </a:rPr>
              <a:t>// Beispielantrag</a:t>
            </a:r>
            <a:br/>
            <a:r>
              <a:rPr>
                <a:latin typeface="Courier"/>
              </a:rPr>
              <a:t>    antragManager</a:t>
            </a:r>
            <a:r>
              <a:rPr>
                <a:solidFill>
                  <a:srgbClr val="666666"/>
                </a:solidFill>
                <a:latin typeface="Courier"/>
              </a:rPr>
              <a:t>.</a:t>
            </a:r>
            <a:r>
              <a:rPr>
                <a:solidFill>
                  <a:srgbClr val="06287E"/>
                </a:solidFill>
                <a:latin typeface="Courier"/>
              </a:rPr>
              <a:t>BearbeiteAntrag</a:t>
            </a:r>
            <a:r>
              <a:rPr>
                <a:solidFill>
                  <a:srgbClr val="666666"/>
                </a:solidFill>
                <a:latin typeface="Courier"/>
              </a:rPr>
              <a:t>(</a:t>
            </a:r>
            <a:r>
              <a:rPr>
                <a:latin typeface="Courier"/>
              </a:rPr>
              <a:t>antrag</a:t>
            </a:r>
            <a:r>
              <a:rPr>
                <a:solidFill>
                  <a:srgbClr val="666666"/>
                </a:solidFill>
                <a:latin typeface="Courier"/>
              </a:rPr>
              <a:t>);</a:t>
            </a:r>
            <a:br/>
            <a:r>
              <a:rPr>
                <a:solidFill>
                  <a:srgbClr val="666666"/>
                </a:solidFill>
                <a:latin typeface="Courier"/>
              </a:rPr>
              <a: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Vorteile von Constructor Injection</a:t>
            </a:r>
          </a:p>
        </p:txBody>
      </p:sp>
      <p:sp>
        <p:nvSpPr>
          <p:cNvPr id="3" name="Content Placeholder 2"/>
          <p:cNvSpPr>
            <a:spLocks noGrp="1"/>
          </p:cNvSpPr>
          <p:nvPr>
            <p:ph idx="1"/>
          </p:nvPr>
        </p:nvSpPr>
        <p:spPr/>
        <p:txBody>
          <a:bodyPr/>
          <a:lstStyle/>
          <a:p>
            <a:pPr lvl="0" indent="-342900" marL="342900">
              <a:buAutoNum type="arabicPeriod"/>
            </a:pPr>
            <a:r>
              <a:rPr b="1"/>
              <a:t>Transparenz:</a:t>
            </a:r>
            <a:r>
              <a:rPr/>
              <a:t> Man sieht sofort, was die Klasse zum Arbeiten benötigt.</a:t>
            </a:r>
          </a:p>
          <a:p>
            <a:pPr lvl="0" indent="-342900" marL="342900">
              <a:buAutoNum type="arabicPeriod"/>
            </a:pPr>
            <a:r>
              <a:rPr b="1"/>
              <a:t>Testbarkeit:</a:t>
            </a:r>
            <a:r>
              <a:rPr/>
              <a:t> Im Unit Test können wir einfach ein Mock-Objekt übergeben.</a:t>
            </a:r>
          </a:p>
          <a:p>
            <a:pPr lvl="0" indent="-342900" marL="342900">
              <a:buAutoNum type="arabicPeriod"/>
            </a:pPr>
            <a:r>
              <a:rPr b="1"/>
              <a:t>Unveränderlichkeit:</a:t>
            </a:r>
            <a:r>
              <a:rPr/>
              <a:t> Durch </a:t>
            </a:r>
            <a:r>
              <a:rPr>
                <a:latin typeface="Courier"/>
              </a:rPr>
              <a:t>readonly</a:t>
            </a:r>
            <a:r>
              <a:rPr/>
              <a:t> stellen wir sicher, dass die Abhängigkeit nach der Initialisierung nicht mehr geändert wird.</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8: Schichtenarchitektur</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Layered Architecture (Schichtenarchitektur)</a:t>
            </a:r>
          </a:p>
        </p:txBody>
      </p:sp>
      <p:sp>
        <p:nvSpPr>
          <p:cNvPr id="3" name="Content Placeholder 2"/>
          <p:cNvSpPr>
            <a:spLocks noGrp="1"/>
          </p:cNvSpPr>
          <p:nvPr>
            <p:ph idx="1"/>
          </p:nvPr>
        </p:nvSpPr>
        <p:spPr/>
        <p:txBody>
          <a:bodyPr/>
          <a:lstStyle/>
          <a:p>
            <a:pPr lvl="0" indent="0" marL="0">
              <a:buNone/>
            </a:pPr>
            <a:r>
              <a:rPr/>
              <a:t>Wenn Fachverfahren wachsen, brauchen sie eine grobe Struktur. Wir teilen den Code in logische Schichten (Layers).</a:t>
            </a:r>
          </a:p>
          <a:p>
            <a:pPr lvl="0" indent="0" marL="0">
              <a:buNone/>
            </a:pPr>
            <a:r>
              <a:rPr/>
              <a:t>Die drei klassischen Schichten sind:</a:t>
            </a:r>
          </a:p>
          <a:p>
            <a:pPr lvl="0" indent="-342900" marL="342900">
              <a:buAutoNum type="arabicPeriod"/>
            </a:pPr>
            <a:r>
              <a:rPr b="1"/>
              <a:t>Presentation Layer (UI):</a:t>
            </a:r>
            <a:r>
              <a:rPr/>
              <a:t> Das Gesicht der Anwendung.</a:t>
            </a:r>
          </a:p>
          <a:p>
            <a:pPr lvl="0" indent="-342900" marL="342900">
              <a:buAutoNum type="arabicPeriod"/>
            </a:pPr>
            <a:r>
              <a:rPr b="1"/>
              <a:t>Business Logic Layer (BLL):</a:t>
            </a:r>
            <a:r>
              <a:rPr/>
              <a:t> Das Gehirn der Anwendung (Fachlogik).</a:t>
            </a:r>
          </a:p>
          <a:p>
            <a:pPr lvl="0" indent="-342900" marL="342900">
              <a:buAutoNum type="arabicPeriod"/>
            </a:pPr>
            <a:r>
              <a:rPr b="1"/>
              <a:t>Data Access Layer (DAL):</a:t>
            </a:r>
            <a:r>
              <a:rPr/>
              <a:t> Das Gedächtnis der Anwendung (Datenhaltung).</a:t>
            </a:r>
          </a:p>
          <a:p>
            <a:pPr lvl="0" indent="0" marL="0">
              <a:buNone/>
            </a:pPr>
            <a:r>
              <a:rPr/>
              <a:t>Die absolut wichtigste Regel: </a:t>
            </a:r>
            <a:r>
              <a:rPr b="1"/>
              <a:t>Abhängigkeiten zeigen immer nur in eine Richtung, von oben nach unten.</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Visualisierung: Schichtenarchitektur</a:t>
            </a:r>
          </a:p>
        </p:txBody>
      </p:sp>
      <p:sp>
        <p:nvSpPr>
          <p:cNvPr id="4" name="Text Placeholder 3"/>
          <p:cNvSpPr>
            <a:spLocks noGrp="1"/>
          </p:cNvSpPr>
          <p:nvPr>
            <p:ph idx="2" sz="half" type="body"/>
          </p:nvPr>
        </p:nvSpPr>
        <p:spPr/>
        <p:txBody>
          <a:bodyPr/>
          <a:lstStyle/>
          <a:p>
            <a:pPr lvl="0" indent="0">
              <a:buNone/>
            </a:pPr>
            <a:r>
              <a:rPr>
                <a:latin typeface="Courier"/>
              </a:rPr>
              <a:t>flowchart TB
    UI[Presentation Layer - UI] --&gt; BLL[Business Logic Layer - BLL]
    BLL --&gt; DAL[Data Access Layer - DAL]
    UI_NOTE["Interaktion mit Nutzern, Keine Fachlogik"]
    BLL_NOTE["Fachregeln, Berechnungen, Orchestrierung"]
    DAL_NOTE["Persistenz, Datenquellen, externe APIs"]
    UI -.-&gt; UI_NOTE
    BLL -.-&gt; BLL_NOTE
    DAL -.-&gt; DAL_NOTE
    classDef layer fill:#e8f1ff,stroke:#245ea8,stroke-width:2px,color:#0d2747;
    classDef note fill:#fff8e1,stroke:#9a6b00,stroke-width:1.5px,color:#4d3600;
    class UI,BLL,DAL layer;
    class UI_NOTE,BLL_NOTE,DAL_NOTE note;</a:t>
            </a:r>
          </a:p>
        </p:txBody>
      </p:sp>
      <p:pic>
        <p:nvPicPr>
          <p:cNvPr descr="Schichtenarchitektur.png" id="0" name="Picture 1"/>
          <p:cNvPicPr>
            <a:picLocks noGrp="1" noChangeAspect="1"/>
          </p:cNvPicPr>
          <p:nvPr/>
        </p:nvPicPr>
        <p:blipFill>
          <a:blip r:embed="rId2"/>
          <a:stretch>
            <a:fillRect/>
          </a:stretch>
        </p:blipFill>
        <p:spPr bwMode="auto">
          <a:xfrm>
            <a:off x="3568700" y="546100"/>
            <a:ext cx="5105400" cy="32004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Schichtenarchitektur</a:t>
            </a:r>
          </a:p>
        </p:txBody>
      </p:sp>
      <p:sp>
        <p:nvSpPr>
          <p:cNvPr id="3" name="Content Placeholder 2"/>
          <p:cNvSpPr>
            <a:spLocks noGrp="1"/>
          </p:cNvSpPr>
          <p:nvPr>
            <p:ph idx="1"/>
          </p:nvPr>
        </p:nvSpPr>
        <p:spPr/>
        <p:txBody>
          <a:bodyPr/>
          <a:lstStyle/>
          <a:p>
            <a:pPr lvl="0" indent="0" marL="0">
              <a:buNone/>
            </a:pPr>
            <a:r>
              <a:rPr/>
              <a:t>Die Pfeile zeigen die erlaubte Abhängigkeitsrichtung: </a:t>
            </a:r>
            <a:r>
              <a:rPr b="1"/>
              <a:t>nur von oben nach unten</a:t>
            </a:r>
            <a: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Presentation Layer (User Interface)</a:t>
            </a:r>
          </a:p>
        </p:txBody>
      </p:sp>
      <p:sp>
        <p:nvSpPr>
          <p:cNvPr id="3" name="Content Placeholder 2"/>
          <p:cNvSpPr>
            <a:spLocks noGrp="1"/>
          </p:cNvSpPr>
          <p:nvPr>
            <p:ph idx="1"/>
          </p:nvPr>
        </p:nvSpPr>
        <p:spPr/>
        <p:txBody>
          <a:bodyPr/>
          <a:lstStyle/>
          <a:p>
            <a:pPr lvl="0" indent="0" marL="0">
              <a:buNone/>
            </a:pPr>
            <a:r>
              <a:rPr/>
              <a:t>Diese Schicht kümmert sich um die Interaktion mit dem Nutzer.</a:t>
            </a:r>
          </a:p>
          <a:p>
            <a:pPr lvl="0"/>
            <a:r>
              <a:rPr/>
              <a:t>Typen: Console-App, WPF Desktop-App, ASP.NET Web API.</a:t>
            </a:r>
          </a:p>
          <a:p>
            <a:pPr lvl="0"/>
            <a:r>
              <a:rPr/>
              <a:t>Darf </a:t>
            </a:r>
            <a:r>
              <a:rPr b="1"/>
              <a:t>nur</a:t>
            </a:r>
            <a:r>
              <a:rPr/>
              <a:t> die Business-Schicht aufrufen.</a:t>
            </a:r>
          </a:p>
          <a:p>
            <a:pPr lvl="0"/>
            <a:r>
              <a:rPr/>
              <a:t>Enthält </a:t>
            </a:r>
            <a:r>
              <a:rPr b="1"/>
              <a:t>keine</a:t>
            </a:r>
            <a:r>
              <a:rPr/>
              <a:t> Geschäftsregeln (z.B. keine Gebührenberechnung).</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Business Logic Layer (BLL)</a:t>
            </a:r>
          </a:p>
        </p:txBody>
      </p:sp>
      <p:sp>
        <p:nvSpPr>
          <p:cNvPr id="3" name="Content Placeholder 2"/>
          <p:cNvSpPr>
            <a:spLocks noGrp="1"/>
          </p:cNvSpPr>
          <p:nvPr>
            <p:ph idx="1"/>
          </p:nvPr>
        </p:nvSpPr>
        <p:spPr/>
        <p:txBody>
          <a:bodyPr/>
          <a:lstStyle/>
          <a:p>
            <a:pPr lvl="0" indent="0" marL="0">
              <a:buNone/>
            </a:pPr>
            <a:r>
              <a:rPr/>
              <a:t>Hier sitzt das eigentliche Fachwissen der Behörde.</a:t>
            </a:r>
          </a:p>
          <a:p>
            <a:pPr lvl="0"/>
            <a:r>
              <a:rPr/>
              <a:t>Prüft Gesetze, führt Berechnungen aus, orchestriert Workflows.</a:t>
            </a:r>
          </a:p>
          <a:p>
            <a:pPr lvl="0"/>
            <a:r>
              <a:rPr/>
              <a:t>Darf </a:t>
            </a:r>
            <a:r>
              <a:rPr b="1"/>
              <a:t>nur</a:t>
            </a:r>
            <a:r>
              <a:rPr/>
              <a:t> auf die Data Access Schicht zugreifen.</a:t>
            </a:r>
          </a:p>
          <a:p>
            <a:pPr lvl="0"/>
            <a:r>
              <a:rPr/>
              <a:t>Ist unabhängig von der UI (kann im Web oder auf der Konsole exakt gleich genutzt werden!).</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Access Layer (DAL)</a:t>
            </a:r>
          </a:p>
        </p:txBody>
      </p:sp>
      <p:sp>
        <p:nvSpPr>
          <p:cNvPr id="3" name="Content Placeholder 2"/>
          <p:cNvSpPr>
            <a:spLocks noGrp="1"/>
          </p:cNvSpPr>
          <p:nvPr>
            <p:ph idx="1"/>
          </p:nvPr>
        </p:nvSpPr>
        <p:spPr/>
        <p:txBody>
          <a:bodyPr/>
          <a:lstStyle/>
          <a:p>
            <a:pPr lvl="0" indent="0" marL="0">
              <a:buNone/>
            </a:pPr>
            <a:r>
              <a:rPr/>
              <a:t>Kümmert sich rein um das Speichern und Laden von Daten.</a:t>
            </a:r>
          </a:p>
          <a:p>
            <a:pPr lvl="0"/>
            <a:r>
              <a:rPr/>
              <a:t>Verbindungen zur SQL-Datenbank, Lesen von XML-Dateien, Aufruf von externen REST-APIs.</a:t>
            </a:r>
          </a:p>
          <a:p>
            <a:pPr lvl="0"/>
            <a:r>
              <a:rPr/>
              <a:t>Kennt keine andere Schicht. Darf keine Fachlogik enthalten.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Praxisbeispiel: Schichtenarchitektur</a:t>
            </a:r>
          </a:p>
        </p:txBody>
      </p:sp>
      <p:sp>
        <p:nvSpPr>
          <p:cNvPr id="4" name="Text Placeholder 3"/>
          <p:cNvSpPr>
            <a:spLocks noGrp="1"/>
          </p:cNvSpPr>
          <p:nvPr>
            <p:ph idx="2" sz="half" type="body"/>
          </p:nvPr>
        </p:nvSpPr>
        <p:spPr/>
        <p:txBody>
          <a:bodyPr/>
          <a:lstStyle/>
          <a:p>
            <a:pPr lvl="0" indent="0">
              <a:buNone/>
            </a:pPr>
            <a:r>
              <a:rPr>
                <a:latin typeface="Courier"/>
              </a:rPr>
              <a:t>flowchart TB
    subgraph UI[Presentation Layer]
        WebApi[ASP.NET Web API]
        ConsoleUi[Konsolenanwendung]
    end
    subgraph BLL[Business Logic Layer]
        AntragService[AntragService]
        GebuehrenService[GebuehrenService]
        FachregelPruefer[FachregelPruefer]
    end
    subgraph DAL[Data Access Layer]
        SqlRepo[SqlRepository]
        ApiClient[RegisterApiClient]
    end
    Db[(SQL Server)]
    ExtApi[(Melderegister REST API)]
    WebApi --&gt; AntragService
    WebApi --&gt; GebuehrenService
    ConsoleUi --&gt; GebuehrenService
    AntragService --&gt; FachregelPruefer
    AntragService --&gt; SqlRepo
    GebuehrenService --&gt; SqlRepo
    FachregelPruefer --&gt; ApiClient
    SqlRepo --&gt; Db
    ApiClient --&gt; ExtApi
    classDef ui fill:#e6f7ff,stroke:#0b7285,stroke-width:2px,color:#083344;
    classDef bll fill:#fff4e6,stroke:#b45309,stroke-width:2px,color:#7c2d12;
    classDef dal fill:#ecfdf3,stroke:#2f855a,stroke-width:2px,color:#14532d;
    classDef ext fill:#f3f4f6,stroke:#4b5563,stroke-width:1.5px,color:#111827;
    class WebApi,ConsoleUi ui;
    class AntragService,GebuehrenService,FachregelPruefer bll;
    class SqlRepo,ApiClient dal;
    class Db,ExtApi ext;</a:t>
            </a:r>
          </a:p>
        </p:txBody>
      </p:sp>
      <p:pic>
        <p:nvPicPr>
          <p:cNvPr descr="Praxisbeispiel%20Schichtenarchitektur.png" id="0" name="Picture 1"/>
          <p:cNvPicPr>
            <a:picLocks noGrp="1" noChangeAspect="1"/>
          </p:cNvPicPr>
          <p:nvPr/>
        </p:nvPicPr>
        <p:blipFill>
          <a:blip r:embed="rId2"/>
          <a:stretch>
            <a:fillRect/>
          </a:stretch>
        </p:blipFill>
        <p:spPr bwMode="auto">
          <a:xfrm>
            <a:off x="4356100" y="203200"/>
            <a:ext cx="35179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Praxisbeispiel</a:t>
            </a:r>
          </a:p>
        </p:txBody>
      </p:sp>
      <p:sp>
        <p:nvSpPr>
          <p:cNvPr id="3" name="Content Placeholder 2"/>
          <p:cNvSpPr>
            <a:spLocks noGrp="1"/>
          </p:cNvSpPr>
          <p:nvPr>
            <p:ph idx="1"/>
          </p:nvPr>
        </p:nvSpPr>
        <p:spPr/>
        <p:txBody>
          <a:bodyPr/>
          <a:lstStyle/>
          <a:p>
            <a:pPr lvl="0" indent="0" marL="0">
              <a:buNone/>
            </a:pPr>
            <a:r>
              <a:rPr/>
              <a:t>Beobachtung: Die Aufrufe verlaufen nur von oben nach unten; UI ruft keine DAL-Komponenten direkt auf.</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Vorteile der Schichtenarchitektur</a:t>
            </a:r>
          </a:p>
        </p:txBody>
      </p:sp>
      <p:sp>
        <p:nvSpPr>
          <p:cNvPr id="3" name="Content Placeholder 2"/>
          <p:cNvSpPr>
            <a:spLocks noGrp="1"/>
          </p:cNvSpPr>
          <p:nvPr>
            <p:ph idx="1"/>
          </p:nvPr>
        </p:nvSpPr>
        <p:spPr/>
        <p:txBody>
          <a:bodyPr/>
          <a:lstStyle/>
          <a:p>
            <a:pPr lvl="0"/>
            <a:r>
              <a:rPr b="1"/>
              <a:t>Austauschbarkeit:</a:t>
            </a:r>
            <a:r>
              <a:rPr/>
              <a:t> Die Web-UI kann durch eine Mobile-App ersetzt werden, ohne die Fachlogik anzufassen.</a:t>
            </a:r>
          </a:p>
          <a:p>
            <a:pPr lvl="0"/>
            <a:r>
              <a:rPr b="1"/>
              <a:t>Testbarkeit:</a:t>
            </a:r>
            <a:r>
              <a:rPr/>
              <a:t> Wir können die BLL testen, indem wir den DAL weg-mocken.</a:t>
            </a:r>
          </a:p>
          <a:p>
            <a:pPr lvl="0"/>
            <a:r>
              <a:rPr b="1"/>
              <a:t>Wartbarkeit:</a:t>
            </a:r>
            <a:r>
              <a:rPr/>
              <a:t> Klare Strukturen helfen neuen Entwicklern, sich schnell zurechtzufinden.</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Nachteile der Schichtenarchitektur</a:t>
            </a:r>
          </a:p>
        </p:txBody>
      </p:sp>
      <p:sp>
        <p:nvSpPr>
          <p:cNvPr id="3" name="Content Placeholder 2"/>
          <p:cNvSpPr>
            <a:spLocks noGrp="1"/>
          </p:cNvSpPr>
          <p:nvPr>
            <p:ph idx="1"/>
          </p:nvPr>
        </p:nvSpPr>
        <p:spPr/>
        <p:txBody>
          <a:bodyPr/>
          <a:lstStyle/>
          <a:p>
            <a:pPr lvl="0"/>
            <a:r>
              <a:rPr b="1"/>
              <a:t>Overhead:</a:t>
            </a:r>
            <a:r>
              <a:rPr/>
              <a:t> Für sehr kleine Anwendungen (CRUD) wirkt die Trennung oft übertrieben (“Code-Vervielfältigung”).</a:t>
            </a:r>
          </a:p>
          <a:p>
            <a:pPr lvl="0"/>
            <a:r>
              <a:rPr b="1"/>
              <a:t>Performance:</a:t>
            </a:r>
            <a:r>
              <a:rPr/>
              <a:t> Theoretisch minimaler Overhead durch die vielen Aufrufe über Schichtgrenzen hinweg (in der Praxis meist vernachlässigbar).</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Praxis-Beispiel: Projektstruktur in .NET</a:t>
            </a:r>
          </a:p>
        </p:txBody>
      </p:sp>
      <p:sp>
        <p:nvSpPr>
          <p:cNvPr id="3" name="Content Placeholder 2"/>
          <p:cNvSpPr>
            <a:spLocks noGrp="1"/>
          </p:cNvSpPr>
          <p:nvPr>
            <p:ph idx="1"/>
          </p:nvPr>
        </p:nvSpPr>
        <p:spPr/>
        <p:txBody>
          <a:bodyPr/>
          <a:lstStyle/>
          <a:p>
            <a:pPr lvl="0" indent="0" marL="0">
              <a:buNone/>
            </a:pPr>
            <a:r>
              <a:rPr/>
              <a:t>So sieht eine saubere Solution in Visual Studio aus:</a:t>
            </a:r>
          </a:p>
          <a:p>
            <a:pPr lvl="0" indent="0">
              <a:buNone/>
            </a:pPr>
            <a:r>
              <a:rPr>
                <a:latin typeface="Courier"/>
              </a:rPr>
              <a:t>Solution: BehoerdenFachverfahren
├── Projekt.UI (Console App)
│   └── Referenziert Projekt.Business
│
├── Projekt.Business (Class Library)
│   ├── Interfaces (z.B. IDatenbank, IAntragService)
│   ├── Models (z.B. Antrag, Buerger)
│   ├── Services (Fachlogik)
│   └── Referenziert Projekt.Data
│
└── Projekt.Data (Class Library)
    ├── SqlRepository (Implementiert IDatenbank)
    └── Referenziert keine anderen Projekte!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Geheimnis der Abstraktion</a:t>
            </a:r>
          </a:p>
        </p:txBody>
      </p:sp>
      <p:sp>
        <p:nvSpPr>
          <p:cNvPr id="3" name="Content Placeholder 2"/>
          <p:cNvSpPr>
            <a:spLocks noGrp="1"/>
          </p:cNvSpPr>
          <p:nvPr>
            <p:ph idx="1"/>
          </p:nvPr>
        </p:nvSpPr>
        <p:spPr/>
        <p:txBody>
          <a:bodyPr/>
          <a:lstStyle/>
          <a:p>
            <a:pPr lvl="0" indent="0" marL="0">
              <a:buNone/>
            </a:pPr>
            <a:r>
              <a:rPr/>
              <a:t>Wie kann der Business-Layer die Datenbank aufrufen, wenn die Abhängigkeit nach unten zeigt? Indem der Business-Layer die </a:t>
            </a:r>
            <a:r>
              <a:rPr b="1"/>
              <a:t>Interfaces</a:t>
            </a:r>
            <a:r>
              <a:rPr/>
              <a:t> definiert (z.B. </a:t>
            </a:r>
            <a:r>
              <a:rPr>
                <a:latin typeface="Courier"/>
              </a:rPr>
              <a:t>IDatenbank</a:t>
            </a:r>
            <a:r>
              <a:rPr/>
              <a:t>), und der Data-Layer diese Interfaces </a:t>
            </a:r>
            <a:r>
              <a:rPr b="1"/>
              <a:t>implementiert</a:t>
            </a:r>
            <a:r>
              <a:rPr/>
              <a:t>. Das ist die perfekte Anwendung des Dependency Inversion Principles!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Reality Check: Schichtenarchitektur in der Praxis</a:t>
            </a:r>
          </a:p>
        </p:txBody>
      </p:sp>
      <p:sp>
        <p:nvSpPr>
          <p:cNvPr id="3" name="Content Placeholder 2"/>
          <p:cNvSpPr>
            <a:spLocks noGrp="1"/>
          </p:cNvSpPr>
          <p:nvPr>
            <p:ph idx="1"/>
          </p:nvPr>
        </p:nvSpPr>
        <p:spPr/>
        <p:txBody>
          <a:bodyPr/>
          <a:lstStyle/>
          <a:p>
            <a:pPr lvl="0" indent="0" marL="0">
              <a:buNone/>
            </a:pPr>
            <a:r>
              <a:rPr/>
              <a:t>In der Praxis ist es oft so, dass die Schichten nicht 100% strikt eingehalten werden.</a:t>
            </a:r>
          </a:p>
          <a:p>
            <a:pPr lvl="0" indent="0" marL="0">
              <a:buNone/>
            </a:pPr>
            <a:r>
              <a:rPr/>
              <a:t>Kleine Ausnahmen kommen vor (z.B. direkte Read-Model-Abfragen für Reporting), sollten aber bewusst entschieden und klar begründet sein.</a:t>
            </a:r>
          </a:p>
          <a:p>
            <a:pPr lvl="0" indent="0" marL="0">
              <a:buNone/>
            </a:pPr>
            <a:r>
              <a:rPr/>
              <a:t>Für wartbare Systeme gilt als Leitlinie: Verstöße bleiben die Ausnahme, und die Kern-Fachlogik bleibt sauber in der BLL gekapselt.</a:t>
            </a:r>
          </a:p>
          <a:p>
            <a:pPr lvl="0" indent="0" marL="0">
              <a:buNone/>
            </a:pPr>
            <a:r>
              <a:rPr/>
              <a:t>Neben der klassischen Schichtenarchitektur gibt es auch andere Architekturstile (z.B. Hexagonal Architecture, Clean Architecture), die ähnliche Prinzipien verfolgen, aber mit anderen Schichtbezeichnungen und Abhängigkeitsregeln arbeiten.</a:t>
            </a:r>
          </a:p>
          <a:p>
            <a:pPr lvl="0" indent="0" marL="0">
              <a:buNone/>
            </a:pPr>
            <a:r>
              <a:rPr/>
              <a:t>Die Grundidee bleibt jedoch immer die gleiche: lose Kopplung, klare Verantwortlichkeiten und die Einhaltung von SOLID-Prinzipien.</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9: Zusammenfassung</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Wrap-up Woche 4</a:t>
            </a:r>
          </a:p>
        </p:txBody>
      </p:sp>
      <p:sp>
        <p:nvSpPr>
          <p:cNvPr id="3" name="Content Placeholder 2"/>
          <p:cNvSpPr>
            <a:spLocks noGrp="1"/>
          </p:cNvSpPr>
          <p:nvPr>
            <p:ph idx="1"/>
          </p:nvPr>
        </p:nvSpPr>
        <p:spPr/>
        <p:txBody>
          <a:bodyPr/>
          <a:lstStyle/>
          <a:p>
            <a:pPr lvl="0"/>
            <a:r>
              <a:rPr b="1"/>
              <a:t>SOLID-Prinzipien</a:t>
            </a:r>
            <a:r>
              <a:rPr/>
              <a:t> bewahren Code vor dem schleichenden Verfall und ermöglichen nachhaltige Software.</a:t>
            </a:r>
          </a:p>
          <a:p>
            <a:pPr lvl="0"/>
            <a:r>
              <a:rPr b="1"/>
              <a:t>Dependency Injection</a:t>
            </a:r>
            <a:r>
              <a:rPr/>
              <a:t> sorgt für lose Kopplung und ist die Voraussetzung für moderne, testbare Architekturen.</a:t>
            </a:r>
          </a:p>
          <a:p>
            <a:pPr lvl="0"/>
            <a:r>
              <a:rPr/>
              <a:t>Die </a:t>
            </a:r>
            <a:r>
              <a:rPr b="1"/>
              <a:t>Schichtenarchitektur</a:t>
            </a:r>
            <a:r>
              <a:rPr/>
              <a:t> trennt UI, Fachlogik und Datenhaltung strikt voneinander und erlaubt den isolierten Austausch von Komponenten.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Ausblick auf Woche 5</a:t>
            </a:r>
          </a:p>
        </p:txBody>
      </p:sp>
      <p:sp>
        <p:nvSpPr>
          <p:cNvPr id="3" name="Content Placeholder 2"/>
          <p:cNvSpPr>
            <a:spLocks noGrp="1"/>
          </p:cNvSpPr>
          <p:nvPr>
            <p:ph idx="1"/>
          </p:nvPr>
        </p:nvSpPr>
        <p:spPr/>
        <p:txBody>
          <a:bodyPr/>
          <a:lstStyle/>
          <a:p>
            <a:pPr lvl="0" indent="0" marL="0">
              <a:buNone/>
            </a:pPr>
            <a:r>
              <a:rPr/>
              <a:t>Wir haben nun gelernt, wie man Architekturen baut, die “testbar” sind. In der nächsten Woche schauen wir uns an, wie wir dieses Potenzial nutzen: Wir steigen in das </a:t>
            </a:r>
            <a:r>
              <a:rPr b="1"/>
              <a:t>Automatisierte Unit Testing</a:t>
            </a:r>
            <a:r>
              <a:rPr/>
              <a:t> mit xUnit und in das </a:t>
            </a:r>
            <a:r>
              <a:rPr b="1"/>
              <a:t>Test-Driven Development (TDD)</a:t>
            </a:r>
            <a:r>
              <a:rPr/>
              <a:t> ein.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Objektorientierte Programmierung (Vertiefung)</dc:title>
  <dc:creator>Peter Bernhardt</dc:creator>
  <cp:keywords/>
  <dcterms:created xsi:type="dcterms:W3CDTF">2026-04-08T08:12:30Z</dcterms:created>
  <dcterms:modified xsi:type="dcterms:W3CDTF">2026-04-08T08:12:30Z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März 2026</vt:lpwstr>
  </property>
  <property fmtid="{D5CDD505-2E9C-101B-9397-08002B2CF9AE}" pid="3" name="section-titles">
    <vt:lpwstr>True</vt:lpwstr>
  </property>
  <property fmtid="{D5CDD505-2E9C-101B-9397-08002B2CF9AE}" pid="4" name="subtitle">
    <vt:lpwstr>Woche 4: SOLID-Prinzipien und Architektur</vt:lpwstr>
  </property>
</Properties>
</file>