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94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95" r:id="rId27"/>
    <p:sldId id="280" r:id="rId28"/>
    <p:sldId id="281" r:id="rId29"/>
    <p:sldId id="282" r:id="rId30"/>
    <p:sldId id="283" r:id="rId31"/>
    <p:sldId id="284" r:id="rId32"/>
    <p:sldId id="296" r:id="rId33"/>
    <p:sldId id="285" r:id="rId34"/>
    <p:sldId id="286" r:id="rId35"/>
    <p:sldId id="297" r:id="rId36"/>
    <p:sldId id="287" r:id="rId37"/>
    <p:sldId id="298" r:id="rId38"/>
    <p:sldId id="288" r:id="rId39"/>
    <p:sldId id="289" r:id="rId40"/>
    <p:sldId id="290" r:id="rId41"/>
    <p:sldId id="291" r:id="rId42"/>
    <p:sldId id="292" r:id="rId43"/>
  </p:sldIdLst>
  <p:sldSz cx="6858000" cy="5143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9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4071D5-657E-40C2-8A2E-40D68ADC4956}" v="2" dt="2026-04-16T15:06:40.7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36" autoAdjust="0"/>
    <p:restoredTop sz="94694" autoAdjust="0"/>
  </p:normalViewPr>
  <p:slideViewPr>
    <p:cSldViewPr snapToGrid="0" snapToObjects="1">
      <p:cViewPr varScale="1">
        <p:scale>
          <a:sx n="121" d="100"/>
          <a:sy n="121" d="100"/>
        </p:scale>
        <p:origin x="1275" y="57"/>
      </p:cViewPr>
      <p:guideLst>
        <p:guide orient="horz" pos="162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982" y="3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Bernhardt" userId="f2333933-0b12-4d6e-972f-f87625423892" providerId="ADAL" clId="{34DA1458-4058-4912-885C-C6A06A12728D}"/>
    <pc:docChg chg="undo custSel modSld">
      <pc:chgData name="Peter Bernhardt" userId="f2333933-0b12-4d6e-972f-f87625423892" providerId="ADAL" clId="{34DA1458-4058-4912-885C-C6A06A12728D}" dt="2026-04-16T15:10:15.066" v="107" actId="20577"/>
      <pc:docMkLst>
        <pc:docMk/>
      </pc:docMkLst>
      <pc:sldChg chg="modSp mod">
        <pc:chgData name="Peter Bernhardt" userId="f2333933-0b12-4d6e-972f-f87625423892" providerId="ADAL" clId="{34DA1458-4058-4912-885C-C6A06A12728D}" dt="2026-04-16T15:05:26.147" v="17" actId="6549"/>
        <pc:sldMkLst>
          <pc:docMk/>
          <pc:sldMk cId="0" sldId="276"/>
        </pc:sldMkLst>
        <pc:spChg chg="mod">
          <ac:chgData name="Peter Bernhardt" userId="f2333933-0b12-4d6e-972f-f87625423892" providerId="ADAL" clId="{34DA1458-4058-4912-885C-C6A06A12728D}" dt="2026-04-16T15:05:26.147" v="17" actId="6549"/>
          <ac:spMkLst>
            <pc:docMk/>
            <pc:sldMk cId="0" sldId="276"/>
            <ac:spMk id="5" creationId="{A3F127D8-282E-CBE4-BCD8-14C7D1C4E5D2}"/>
          </ac:spMkLst>
        </pc:spChg>
      </pc:sldChg>
      <pc:sldChg chg="modSp mod">
        <pc:chgData name="Peter Bernhardt" userId="f2333933-0b12-4d6e-972f-f87625423892" providerId="ADAL" clId="{34DA1458-4058-4912-885C-C6A06A12728D}" dt="2026-04-16T15:10:15.066" v="107" actId="20577"/>
        <pc:sldMkLst>
          <pc:docMk/>
          <pc:sldMk cId="0" sldId="277"/>
        </pc:sldMkLst>
        <pc:spChg chg="mod">
          <ac:chgData name="Peter Bernhardt" userId="f2333933-0b12-4d6e-972f-f87625423892" providerId="ADAL" clId="{34DA1458-4058-4912-885C-C6A06A12728D}" dt="2026-04-16T15:10:15.066" v="107" actId="20577"/>
          <ac:spMkLst>
            <pc:docMk/>
            <pc:sldMk cId="0" sldId="277"/>
            <ac:spMk id="5" creationId="{4B41DC61-843A-B8C9-D92B-D9C1E87C11CB}"/>
          </ac:spMkLst>
        </pc:spChg>
      </pc:sldChg>
      <pc:sldChg chg="modSp mod">
        <pc:chgData name="Peter Bernhardt" userId="f2333933-0b12-4d6e-972f-f87625423892" providerId="ADAL" clId="{34DA1458-4058-4912-885C-C6A06A12728D}" dt="2026-04-16T15:05:05.800" v="15" actId="20577"/>
        <pc:sldMkLst>
          <pc:docMk/>
          <pc:sldMk cId="1813317568" sldId="294"/>
        </pc:sldMkLst>
        <pc:spChg chg="mod">
          <ac:chgData name="Peter Bernhardt" userId="f2333933-0b12-4d6e-972f-f87625423892" providerId="ADAL" clId="{34DA1458-4058-4912-885C-C6A06A12728D}" dt="2026-04-16T15:05:05.800" v="15" actId="20577"/>
          <ac:spMkLst>
            <pc:docMk/>
            <pc:sldMk cId="1813317568" sldId="294"/>
            <ac:spMk id="5" creationId="{671E2580-9449-227B-EC67-8FB9BFB4B60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49CCAA-07DF-42FD-853A-A8E7367CA22F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67C2042E-56BC-4AAD-A30A-5680822B45A9}">
      <dgm:prSet phldrT="[Text]" phldr="0" custT="1"/>
      <dgm:spPr>
        <a:solidFill>
          <a:srgbClr val="FF0000"/>
        </a:solidFill>
      </dgm:spPr>
      <dgm:t>
        <a:bodyPr/>
        <a:lstStyle/>
        <a:p>
          <a:r>
            <a:rPr lang="de-DE" sz="1600" dirty="0" err="1"/>
            <a:t>Red</a:t>
          </a:r>
          <a:endParaRPr lang="de-DE" sz="1600" dirty="0"/>
        </a:p>
      </dgm:t>
    </dgm:pt>
    <dgm:pt modelId="{9C9A1FF9-4487-47B9-9924-DDE31908A86A}" type="parTrans" cxnId="{4D63302D-14DE-4662-85D2-865A0545424D}">
      <dgm:prSet/>
      <dgm:spPr/>
      <dgm:t>
        <a:bodyPr/>
        <a:lstStyle/>
        <a:p>
          <a:endParaRPr lang="de-DE" sz="1200"/>
        </a:p>
      </dgm:t>
    </dgm:pt>
    <dgm:pt modelId="{05E489D7-97E5-454E-9DE1-ED3186F70BEC}" type="sibTrans" cxnId="{4D63302D-14DE-4662-85D2-865A0545424D}">
      <dgm:prSet/>
      <dgm:spPr>
        <a:ln w="57150"/>
      </dgm:spPr>
      <dgm:t>
        <a:bodyPr/>
        <a:lstStyle/>
        <a:p>
          <a:endParaRPr lang="de-DE" sz="1200"/>
        </a:p>
      </dgm:t>
    </dgm:pt>
    <dgm:pt modelId="{7C9C5590-FEAE-41DA-B6B6-BC4E0CEF3DAF}">
      <dgm:prSet phldrT="[Text]" phldr="0" custT="1"/>
      <dgm:spPr>
        <a:solidFill>
          <a:srgbClr val="00B050"/>
        </a:solidFill>
      </dgm:spPr>
      <dgm:t>
        <a:bodyPr/>
        <a:lstStyle/>
        <a:p>
          <a:r>
            <a:rPr lang="de-DE" sz="1600" dirty="0"/>
            <a:t>Green</a:t>
          </a:r>
        </a:p>
      </dgm:t>
    </dgm:pt>
    <dgm:pt modelId="{10011A2D-4163-46F8-9064-97D8594E212B}" type="parTrans" cxnId="{83627956-9E5B-40BD-93B9-6AD2FA2BEF2A}">
      <dgm:prSet/>
      <dgm:spPr/>
      <dgm:t>
        <a:bodyPr/>
        <a:lstStyle/>
        <a:p>
          <a:endParaRPr lang="de-DE" sz="1200"/>
        </a:p>
      </dgm:t>
    </dgm:pt>
    <dgm:pt modelId="{B75708D5-1F15-42C4-8840-F0669D4FD40C}" type="sibTrans" cxnId="{83627956-9E5B-40BD-93B9-6AD2FA2BEF2A}">
      <dgm:prSet/>
      <dgm:spPr>
        <a:ln w="57150"/>
      </dgm:spPr>
      <dgm:t>
        <a:bodyPr/>
        <a:lstStyle/>
        <a:p>
          <a:endParaRPr lang="de-DE" sz="1200"/>
        </a:p>
      </dgm:t>
    </dgm:pt>
    <dgm:pt modelId="{590A149E-1502-4C46-8E53-00C81AFA32EC}">
      <dgm:prSet phldrT="[Text]" phldr="0" custT="1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de-DE" sz="1600"/>
            <a:t>Refactor</a:t>
          </a:r>
        </a:p>
      </dgm:t>
    </dgm:pt>
    <dgm:pt modelId="{85BC088B-24E2-4E56-8552-B162B11EA890}" type="parTrans" cxnId="{82243382-0B6D-46E4-8A96-BEB31CD32794}">
      <dgm:prSet/>
      <dgm:spPr/>
      <dgm:t>
        <a:bodyPr/>
        <a:lstStyle/>
        <a:p>
          <a:endParaRPr lang="de-DE" sz="1200"/>
        </a:p>
      </dgm:t>
    </dgm:pt>
    <dgm:pt modelId="{DFC47E5A-BF7B-49AB-8A68-E78A12258DC8}" type="sibTrans" cxnId="{82243382-0B6D-46E4-8A96-BEB31CD32794}">
      <dgm:prSet/>
      <dgm:spPr>
        <a:ln w="57150"/>
      </dgm:spPr>
      <dgm:t>
        <a:bodyPr/>
        <a:lstStyle/>
        <a:p>
          <a:endParaRPr lang="de-DE" sz="1200"/>
        </a:p>
      </dgm:t>
    </dgm:pt>
    <dgm:pt modelId="{E3531A2F-2393-4AAC-943C-5D65256E97AB}" type="pres">
      <dgm:prSet presAssocID="{AC49CCAA-07DF-42FD-853A-A8E7367CA22F}" presName="cycle" presStyleCnt="0">
        <dgm:presLayoutVars>
          <dgm:dir/>
          <dgm:resizeHandles val="exact"/>
        </dgm:presLayoutVars>
      </dgm:prSet>
      <dgm:spPr/>
    </dgm:pt>
    <dgm:pt modelId="{AA5EC7BB-42D1-46A4-9B0E-FF7895C43ADD}" type="pres">
      <dgm:prSet presAssocID="{67C2042E-56BC-4AAD-A30A-5680822B45A9}" presName="node" presStyleLbl="node1" presStyleIdx="0" presStyleCnt="3">
        <dgm:presLayoutVars>
          <dgm:bulletEnabled val="1"/>
        </dgm:presLayoutVars>
      </dgm:prSet>
      <dgm:spPr/>
    </dgm:pt>
    <dgm:pt modelId="{F2409623-17F6-4A37-8FFA-6D6EB33B3FC3}" type="pres">
      <dgm:prSet presAssocID="{67C2042E-56BC-4AAD-A30A-5680822B45A9}" presName="spNode" presStyleCnt="0"/>
      <dgm:spPr/>
    </dgm:pt>
    <dgm:pt modelId="{BB1F01C3-796E-4D55-8748-E59DA7E0181E}" type="pres">
      <dgm:prSet presAssocID="{05E489D7-97E5-454E-9DE1-ED3186F70BEC}" presName="sibTrans" presStyleLbl="sibTrans1D1" presStyleIdx="0" presStyleCnt="3"/>
      <dgm:spPr/>
    </dgm:pt>
    <dgm:pt modelId="{7E8AE932-5599-4ED4-9C51-17086B270D72}" type="pres">
      <dgm:prSet presAssocID="{7C9C5590-FEAE-41DA-B6B6-BC4E0CEF3DAF}" presName="node" presStyleLbl="node1" presStyleIdx="1" presStyleCnt="3">
        <dgm:presLayoutVars>
          <dgm:bulletEnabled val="1"/>
        </dgm:presLayoutVars>
      </dgm:prSet>
      <dgm:spPr/>
    </dgm:pt>
    <dgm:pt modelId="{D6F45DD0-8B15-4466-B866-BE202D6C9F81}" type="pres">
      <dgm:prSet presAssocID="{7C9C5590-FEAE-41DA-B6B6-BC4E0CEF3DAF}" presName="spNode" presStyleCnt="0"/>
      <dgm:spPr/>
    </dgm:pt>
    <dgm:pt modelId="{74998AA8-81BA-4CDC-A33D-E44C8900CD3E}" type="pres">
      <dgm:prSet presAssocID="{B75708D5-1F15-42C4-8840-F0669D4FD40C}" presName="sibTrans" presStyleLbl="sibTrans1D1" presStyleIdx="1" presStyleCnt="3"/>
      <dgm:spPr/>
    </dgm:pt>
    <dgm:pt modelId="{456AE841-2FFC-4A0A-A7FA-3504E404298C}" type="pres">
      <dgm:prSet presAssocID="{590A149E-1502-4C46-8E53-00C81AFA32EC}" presName="node" presStyleLbl="node1" presStyleIdx="2" presStyleCnt="3">
        <dgm:presLayoutVars>
          <dgm:bulletEnabled val="1"/>
        </dgm:presLayoutVars>
      </dgm:prSet>
      <dgm:spPr/>
    </dgm:pt>
    <dgm:pt modelId="{8E393F64-A68D-4E29-92C5-3C0C348F5444}" type="pres">
      <dgm:prSet presAssocID="{590A149E-1502-4C46-8E53-00C81AFA32EC}" presName="spNode" presStyleCnt="0"/>
      <dgm:spPr/>
    </dgm:pt>
    <dgm:pt modelId="{C835505F-7BF4-4F95-B468-2CF8A532649F}" type="pres">
      <dgm:prSet presAssocID="{DFC47E5A-BF7B-49AB-8A68-E78A12258DC8}" presName="sibTrans" presStyleLbl="sibTrans1D1" presStyleIdx="2" presStyleCnt="3"/>
      <dgm:spPr/>
    </dgm:pt>
  </dgm:ptLst>
  <dgm:cxnLst>
    <dgm:cxn modelId="{60B8D91A-192F-4A69-8932-0E592E255F4F}" type="presOf" srcId="{05E489D7-97E5-454E-9DE1-ED3186F70BEC}" destId="{BB1F01C3-796E-4D55-8748-E59DA7E0181E}" srcOrd="0" destOrd="0" presId="urn:microsoft.com/office/officeart/2005/8/layout/cycle5"/>
    <dgm:cxn modelId="{A692A220-868D-4EF2-8403-4324213CCE06}" type="presOf" srcId="{DFC47E5A-BF7B-49AB-8A68-E78A12258DC8}" destId="{C835505F-7BF4-4F95-B468-2CF8A532649F}" srcOrd="0" destOrd="0" presId="urn:microsoft.com/office/officeart/2005/8/layout/cycle5"/>
    <dgm:cxn modelId="{4D63302D-14DE-4662-85D2-865A0545424D}" srcId="{AC49CCAA-07DF-42FD-853A-A8E7367CA22F}" destId="{67C2042E-56BC-4AAD-A30A-5680822B45A9}" srcOrd="0" destOrd="0" parTransId="{9C9A1FF9-4487-47B9-9924-DDE31908A86A}" sibTransId="{05E489D7-97E5-454E-9DE1-ED3186F70BEC}"/>
    <dgm:cxn modelId="{0D57F238-A73A-4833-9756-866307B47D05}" type="presOf" srcId="{67C2042E-56BC-4AAD-A30A-5680822B45A9}" destId="{AA5EC7BB-42D1-46A4-9B0E-FF7895C43ADD}" srcOrd="0" destOrd="0" presId="urn:microsoft.com/office/officeart/2005/8/layout/cycle5"/>
    <dgm:cxn modelId="{68CBE366-2A5B-409A-8EB2-20385FB592C1}" type="presOf" srcId="{AC49CCAA-07DF-42FD-853A-A8E7367CA22F}" destId="{E3531A2F-2393-4AAC-943C-5D65256E97AB}" srcOrd="0" destOrd="0" presId="urn:microsoft.com/office/officeart/2005/8/layout/cycle5"/>
    <dgm:cxn modelId="{8E033347-56AB-4015-985A-FB887C302CFC}" type="presOf" srcId="{7C9C5590-FEAE-41DA-B6B6-BC4E0CEF3DAF}" destId="{7E8AE932-5599-4ED4-9C51-17086B270D72}" srcOrd="0" destOrd="0" presId="urn:microsoft.com/office/officeart/2005/8/layout/cycle5"/>
    <dgm:cxn modelId="{1011E571-A6FD-49E5-860C-23B9A1FFCCFF}" type="presOf" srcId="{590A149E-1502-4C46-8E53-00C81AFA32EC}" destId="{456AE841-2FFC-4A0A-A7FA-3504E404298C}" srcOrd="0" destOrd="0" presId="urn:microsoft.com/office/officeart/2005/8/layout/cycle5"/>
    <dgm:cxn modelId="{83627956-9E5B-40BD-93B9-6AD2FA2BEF2A}" srcId="{AC49CCAA-07DF-42FD-853A-A8E7367CA22F}" destId="{7C9C5590-FEAE-41DA-B6B6-BC4E0CEF3DAF}" srcOrd="1" destOrd="0" parTransId="{10011A2D-4163-46F8-9064-97D8594E212B}" sibTransId="{B75708D5-1F15-42C4-8840-F0669D4FD40C}"/>
    <dgm:cxn modelId="{82243382-0B6D-46E4-8A96-BEB31CD32794}" srcId="{AC49CCAA-07DF-42FD-853A-A8E7367CA22F}" destId="{590A149E-1502-4C46-8E53-00C81AFA32EC}" srcOrd="2" destOrd="0" parTransId="{85BC088B-24E2-4E56-8552-B162B11EA890}" sibTransId="{DFC47E5A-BF7B-49AB-8A68-E78A12258DC8}"/>
    <dgm:cxn modelId="{24A23DB1-1B32-4999-B3AD-61357E9F317A}" type="presOf" srcId="{B75708D5-1F15-42C4-8840-F0669D4FD40C}" destId="{74998AA8-81BA-4CDC-A33D-E44C8900CD3E}" srcOrd="0" destOrd="0" presId="urn:microsoft.com/office/officeart/2005/8/layout/cycle5"/>
    <dgm:cxn modelId="{8EED50FB-2F7C-42ED-B616-73B26B73C151}" type="presParOf" srcId="{E3531A2F-2393-4AAC-943C-5D65256E97AB}" destId="{AA5EC7BB-42D1-46A4-9B0E-FF7895C43ADD}" srcOrd="0" destOrd="0" presId="urn:microsoft.com/office/officeart/2005/8/layout/cycle5"/>
    <dgm:cxn modelId="{9EAB520C-1FA2-4E25-8416-0B756D091169}" type="presParOf" srcId="{E3531A2F-2393-4AAC-943C-5D65256E97AB}" destId="{F2409623-17F6-4A37-8FFA-6D6EB33B3FC3}" srcOrd="1" destOrd="0" presId="urn:microsoft.com/office/officeart/2005/8/layout/cycle5"/>
    <dgm:cxn modelId="{5F230CD2-C9CF-4430-88C9-92B69DDB333D}" type="presParOf" srcId="{E3531A2F-2393-4AAC-943C-5D65256E97AB}" destId="{BB1F01C3-796E-4D55-8748-E59DA7E0181E}" srcOrd="2" destOrd="0" presId="urn:microsoft.com/office/officeart/2005/8/layout/cycle5"/>
    <dgm:cxn modelId="{8C38541E-711B-4B03-BFFE-E88FE173E30D}" type="presParOf" srcId="{E3531A2F-2393-4AAC-943C-5D65256E97AB}" destId="{7E8AE932-5599-4ED4-9C51-17086B270D72}" srcOrd="3" destOrd="0" presId="urn:microsoft.com/office/officeart/2005/8/layout/cycle5"/>
    <dgm:cxn modelId="{4314FC92-3463-4BAB-A558-212316DD331E}" type="presParOf" srcId="{E3531A2F-2393-4AAC-943C-5D65256E97AB}" destId="{D6F45DD0-8B15-4466-B866-BE202D6C9F81}" srcOrd="4" destOrd="0" presId="urn:microsoft.com/office/officeart/2005/8/layout/cycle5"/>
    <dgm:cxn modelId="{A4D19009-BB07-4FE6-A7DF-9FC8B6585467}" type="presParOf" srcId="{E3531A2F-2393-4AAC-943C-5D65256E97AB}" destId="{74998AA8-81BA-4CDC-A33D-E44C8900CD3E}" srcOrd="5" destOrd="0" presId="urn:microsoft.com/office/officeart/2005/8/layout/cycle5"/>
    <dgm:cxn modelId="{22B715FD-F407-46DE-BE37-8874FAF38E83}" type="presParOf" srcId="{E3531A2F-2393-4AAC-943C-5D65256E97AB}" destId="{456AE841-2FFC-4A0A-A7FA-3504E404298C}" srcOrd="6" destOrd="0" presId="urn:microsoft.com/office/officeart/2005/8/layout/cycle5"/>
    <dgm:cxn modelId="{374EA084-FE82-4E2C-B803-60C2318448EC}" type="presParOf" srcId="{E3531A2F-2393-4AAC-943C-5D65256E97AB}" destId="{8E393F64-A68D-4E29-92C5-3C0C348F5444}" srcOrd="7" destOrd="0" presId="urn:microsoft.com/office/officeart/2005/8/layout/cycle5"/>
    <dgm:cxn modelId="{EE3A26E6-5BB1-40CA-8AEB-D5AA3196C13A}" type="presParOf" srcId="{E3531A2F-2393-4AAC-943C-5D65256E97AB}" destId="{C835505F-7BF4-4F95-B468-2CF8A532649F}" srcOrd="8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5EC7BB-42D1-46A4-9B0E-FF7895C43ADD}">
      <dsp:nvSpPr>
        <dsp:cNvPr id="0" name=""/>
        <dsp:cNvSpPr/>
      </dsp:nvSpPr>
      <dsp:spPr>
        <a:xfrm>
          <a:off x="1186253" y="1315"/>
          <a:ext cx="1056493" cy="686720"/>
        </a:xfrm>
        <a:prstGeom prst="roundRect">
          <a:avLst/>
        </a:prstGeom>
        <a:solidFill>
          <a:srgbClr val="FF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 err="1"/>
            <a:t>Red</a:t>
          </a:r>
          <a:endParaRPr lang="de-DE" sz="1600" kern="1200" dirty="0"/>
        </a:p>
      </dsp:txBody>
      <dsp:txXfrm>
        <a:off x="1219776" y="34838"/>
        <a:ext cx="989447" cy="619674"/>
      </dsp:txXfrm>
    </dsp:sp>
    <dsp:sp modelId="{BB1F01C3-796E-4D55-8748-E59DA7E0181E}">
      <dsp:nvSpPr>
        <dsp:cNvPr id="0" name=""/>
        <dsp:cNvSpPr/>
      </dsp:nvSpPr>
      <dsp:spPr>
        <a:xfrm>
          <a:off x="799609" y="344675"/>
          <a:ext cx="1829781" cy="1829781"/>
        </a:xfrm>
        <a:custGeom>
          <a:avLst/>
          <a:gdLst/>
          <a:ahLst/>
          <a:cxnLst/>
          <a:rect l="0" t="0" r="0" b="0"/>
          <a:pathLst>
            <a:path>
              <a:moveTo>
                <a:pt x="1584576" y="291556"/>
              </a:moveTo>
              <a:arcTo wR="914890" hR="914890" stAng="19023183" swAng="2299455"/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8AE932-5599-4ED4-9C51-17086B270D72}">
      <dsp:nvSpPr>
        <dsp:cNvPr id="0" name=""/>
        <dsp:cNvSpPr/>
      </dsp:nvSpPr>
      <dsp:spPr>
        <a:xfrm>
          <a:off x="1978571" y="1373651"/>
          <a:ext cx="1056493" cy="686720"/>
        </a:xfrm>
        <a:prstGeom prst="roundRect">
          <a:avLst/>
        </a:prstGeom>
        <a:solidFill>
          <a:srgbClr val="00B05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/>
            <a:t>Green</a:t>
          </a:r>
        </a:p>
      </dsp:txBody>
      <dsp:txXfrm>
        <a:off x="2012094" y="1407174"/>
        <a:ext cx="989447" cy="619674"/>
      </dsp:txXfrm>
    </dsp:sp>
    <dsp:sp modelId="{74998AA8-81BA-4CDC-A33D-E44C8900CD3E}">
      <dsp:nvSpPr>
        <dsp:cNvPr id="0" name=""/>
        <dsp:cNvSpPr/>
      </dsp:nvSpPr>
      <dsp:spPr>
        <a:xfrm>
          <a:off x="799609" y="344675"/>
          <a:ext cx="1829781" cy="1829781"/>
        </a:xfrm>
        <a:custGeom>
          <a:avLst/>
          <a:gdLst/>
          <a:ahLst/>
          <a:cxnLst/>
          <a:rect l="0" t="0" r="0" b="0"/>
          <a:pathLst>
            <a:path>
              <a:moveTo>
                <a:pt x="1195123" y="1785806"/>
              </a:moveTo>
              <a:arcTo wR="914890" hR="914890" stAng="4329810" swAng="2140379"/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6AE841-2FFC-4A0A-A7FA-3504E404298C}">
      <dsp:nvSpPr>
        <dsp:cNvPr id="0" name=""/>
        <dsp:cNvSpPr/>
      </dsp:nvSpPr>
      <dsp:spPr>
        <a:xfrm>
          <a:off x="393934" y="1373651"/>
          <a:ext cx="1056493" cy="686720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Refactor</a:t>
          </a:r>
        </a:p>
      </dsp:txBody>
      <dsp:txXfrm>
        <a:off x="427457" y="1407174"/>
        <a:ext cx="989447" cy="619674"/>
      </dsp:txXfrm>
    </dsp:sp>
    <dsp:sp modelId="{C835505F-7BF4-4F95-B468-2CF8A532649F}">
      <dsp:nvSpPr>
        <dsp:cNvPr id="0" name=""/>
        <dsp:cNvSpPr/>
      </dsp:nvSpPr>
      <dsp:spPr>
        <a:xfrm>
          <a:off x="799609" y="344675"/>
          <a:ext cx="1829781" cy="1829781"/>
        </a:xfrm>
        <a:custGeom>
          <a:avLst/>
          <a:gdLst/>
          <a:ahLst/>
          <a:cxnLst/>
          <a:rect l="0" t="0" r="0" b="0"/>
          <a:pathLst>
            <a:path>
              <a:moveTo>
                <a:pt x="2976" y="841156"/>
              </a:moveTo>
              <a:arcTo wR="914890" hR="914890" stAng="11077362" swAng="2299455"/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E66AD-FDB0-4D6F-9C9A-174F6869DEE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3361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569214"/>
            <a:ext cx="565785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8779" y="3341716"/>
            <a:ext cx="565785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79308" y="3257550"/>
            <a:ext cx="5554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2138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28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20" y="3339846"/>
            <a:ext cx="565785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79308" y="3257550"/>
            <a:ext cx="5554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06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17220" y="214953"/>
            <a:ext cx="5657850" cy="108806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7220" y="1384302"/>
            <a:ext cx="2777490" cy="30175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97580" y="1384301"/>
            <a:ext cx="2777490" cy="3017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39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17220" y="214953"/>
            <a:ext cx="5657850" cy="108806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20" y="1384539"/>
            <a:ext cx="277749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" y="1936751"/>
            <a:ext cx="2777490" cy="246507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97580" y="1384539"/>
            <a:ext cx="277749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97580" y="1936751"/>
            <a:ext cx="2777490" cy="246507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47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16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7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" y="0"/>
            <a:ext cx="227857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72540" y="0"/>
            <a:ext cx="36005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445769"/>
            <a:ext cx="1800225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0338" y="548640"/>
            <a:ext cx="3651885" cy="39433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7175" y="2194560"/>
            <a:ext cx="1800225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61851" y="4844840"/>
            <a:ext cx="1472912" cy="273844"/>
          </a:xfrm>
        </p:spPr>
        <p:txBody>
          <a:bodyPr/>
          <a:lstStyle>
            <a:lvl1pPr algn="l">
              <a:defRPr/>
            </a:lvl1pPr>
          </a:lstStyle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00337" y="4844840"/>
            <a:ext cx="2614613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45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3714750"/>
            <a:ext cx="6856214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" y="368630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3806190"/>
            <a:ext cx="5692140" cy="617220"/>
          </a:xfrm>
        </p:spPr>
        <p:txBody>
          <a:bodyPr tIns="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" y="0"/>
            <a:ext cx="6857992" cy="3686307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20" y="4430268"/>
            <a:ext cx="5692140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830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3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09226"/>
            <a:ext cx="1478756" cy="431992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09226"/>
            <a:ext cx="4350544" cy="4319924"/>
          </a:xfrm>
        </p:spPr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6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800600"/>
            <a:ext cx="6858001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4750737"/>
            <a:ext cx="6858001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7220" y="214953"/>
            <a:ext cx="5657850" cy="8204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19" y="1103179"/>
            <a:ext cx="5657851" cy="360331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1" y="4844840"/>
            <a:ext cx="139065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73480" y="4844840"/>
            <a:ext cx="271282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69009" y="4844840"/>
            <a:ext cx="73801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71362" y="1058938"/>
            <a:ext cx="560641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007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b="1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569214"/>
            <a:ext cx="5657850" cy="2674620"/>
          </a:xfrm>
        </p:spPr>
        <p:txBody>
          <a:bodyPr/>
          <a:lstStyle/>
          <a:p>
            <a:r>
              <a:rPr lang="de-DE" dirty="0"/>
              <a:t>Objektorientierte Programmierung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8779" y="3341716"/>
            <a:ext cx="5657850" cy="857250"/>
          </a:xfrm>
        </p:spPr>
        <p:txBody>
          <a:bodyPr>
            <a:normAutofit fontScale="92500" lnSpcReduction="20000"/>
          </a:bodyPr>
          <a:lstStyle/>
          <a:p>
            <a:r>
              <a:rPr lang="de-DE"/>
              <a:t>Woche 5: Qualitätssicherung – Testing und Refactoring</a:t>
            </a:r>
            <a:br>
              <a:rPr lang="de-DE"/>
            </a:br>
            <a:br>
              <a:rPr lang="de-DE"/>
            </a:br>
            <a:r>
              <a:rPr lang="de-DE"/>
              <a:t>Peter Bernhardt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17221" y="4844840"/>
            <a:ext cx="1390652" cy="273844"/>
          </a:xfrm>
        </p:spPr>
        <p:txBody>
          <a:bodyPr/>
          <a:lstStyle/>
          <a:p>
            <a:r>
              <a:rPr lang="de-DE"/>
              <a:t>März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>
            <a:normAutofit/>
          </a:bodyPr>
          <a:lstStyle/>
          <a:p>
            <a:r>
              <a:rPr lang="de-DE" dirty="0"/>
              <a:t>Teil 1: </a:t>
            </a:r>
            <a:br>
              <a:rPr lang="de-DE" dirty="0"/>
            </a:br>
            <a:r>
              <a:rPr lang="de-DE" dirty="0"/>
              <a:t>Einführung in automatisierte Tests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D7BDA14-DA95-0684-2FE9-26E02A34B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Willkommen zu Woche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548" y="1103179"/>
            <a:ext cx="5585522" cy="3603318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</a:rPr>
              <a:t>Software, die </a:t>
            </a:r>
            <a:r>
              <a:rPr b="1" dirty="0" err="1">
                <a:solidFill>
                  <a:srgbClr val="0070C0"/>
                </a:solidFill>
              </a:rPr>
              <a:t>ungetestet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ist</a:t>
            </a:r>
            <a:r>
              <a:rPr b="1" dirty="0">
                <a:solidFill>
                  <a:srgbClr val="0070C0"/>
                </a:solidFill>
              </a:rPr>
              <a:t>, </a:t>
            </a:r>
            <a:r>
              <a:rPr b="1" dirty="0" err="1">
                <a:solidFill>
                  <a:srgbClr val="0070C0"/>
                </a:solidFill>
              </a:rPr>
              <a:t>ist</a:t>
            </a:r>
            <a:r>
              <a:rPr b="1" dirty="0">
                <a:solidFill>
                  <a:srgbClr val="0070C0"/>
                </a:solidFill>
              </a:rPr>
              <a:t> Software, der man nicht </a:t>
            </a:r>
            <a:r>
              <a:rPr b="1" dirty="0" err="1">
                <a:solidFill>
                  <a:srgbClr val="0070C0"/>
                </a:solidFill>
              </a:rPr>
              <a:t>vertrauen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kann</a:t>
            </a:r>
            <a:r>
              <a:rPr b="1" dirty="0">
                <a:solidFill>
                  <a:srgbClr val="0070C0"/>
                </a:solidFill>
              </a:rPr>
              <a:t>. </a:t>
            </a:r>
            <a:endParaRPr lang="de-DE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dirty="0"/>
              <a:t>Fehler </a:t>
            </a:r>
            <a:r>
              <a:rPr dirty="0" err="1"/>
              <a:t>können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Datenverlust</a:t>
            </a:r>
            <a:r>
              <a:rPr dirty="0"/>
              <a:t>, </a:t>
            </a:r>
            <a:r>
              <a:rPr dirty="0" err="1"/>
              <a:t>Sicherheitslücken</a:t>
            </a:r>
            <a:r>
              <a:rPr dirty="0"/>
              <a:t> und </a:t>
            </a:r>
            <a:r>
              <a:rPr dirty="0" err="1"/>
              <a:t>Imageschäden</a:t>
            </a:r>
            <a:r>
              <a:rPr dirty="0"/>
              <a:t> </a:t>
            </a:r>
            <a:r>
              <a:rPr dirty="0" err="1"/>
              <a:t>führen</a:t>
            </a:r>
            <a:r>
              <a:rPr dirty="0"/>
              <a:t>. Daher </a:t>
            </a:r>
            <a:r>
              <a:rPr dirty="0" err="1"/>
              <a:t>ist</a:t>
            </a:r>
            <a:r>
              <a:rPr dirty="0"/>
              <a:t> es </a:t>
            </a:r>
            <a:r>
              <a:rPr dirty="0" err="1"/>
              <a:t>essenziell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wir </a:t>
            </a:r>
            <a:r>
              <a:rPr dirty="0" err="1"/>
              <a:t>unseren</a:t>
            </a:r>
            <a:r>
              <a:rPr dirty="0"/>
              <a:t> Code </a:t>
            </a:r>
            <a:r>
              <a:rPr dirty="0" err="1"/>
              <a:t>systematisch</a:t>
            </a:r>
            <a:r>
              <a:rPr dirty="0"/>
              <a:t> </a:t>
            </a:r>
            <a:r>
              <a:rPr dirty="0" err="1"/>
              <a:t>testen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Bisher </a:t>
            </a:r>
            <a:r>
              <a:rPr dirty="0" err="1"/>
              <a:t>haben</a:t>
            </a:r>
            <a:r>
              <a:rPr dirty="0"/>
              <a:t> wir </a:t>
            </a:r>
            <a:r>
              <a:rPr dirty="0" err="1"/>
              <a:t>unseren</a:t>
            </a:r>
            <a:r>
              <a:rPr dirty="0"/>
              <a:t> Code </a:t>
            </a:r>
            <a:r>
              <a:rPr dirty="0" err="1"/>
              <a:t>manuell</a:t>
            </a:r>
            <a:r>
              <a:rPr dirty="0"/>
              <a:t> </a:t>
            </a:r>
            <a:r>
              <a:rPr dirty="0" err="1"/>
              <a:t>geprüft</a:t>
            </a:r>
            <a:r>
              <a:rPr dirty="0"/>
              <a:t>, </a:t>
            </a:r>
            <a:r>
              <a:rPr dirty="0" err="1"/>
              <a:t>indem</a:t>
            </a:r>
            <a:r>
              <a:rPr dirty="0"/>
              <a:t> wir das </a:t>
            </a:r>
            <a:r>
              <a:rPr dirty="0" err="1"/>
              <a:t>Programm</a:t>
            </a:r>
            <a:r>
              <a:rPr dirty="0"/>
              <a:t> </a:t>
            </a:r>
            <a:r>
              <a:rPr dirty="0" err="1"/>
              <a:t>gestartet</a:t>
            </a:r>
            <a:r>
              <a:rPr dirty="0"/>
              <a:t> und </a:t>
            </a:r>
            <a:r>
              <a:rPr dirty="0" err="1"/>
              <a:t>Eingaben</a:t>
            </a:r>
            <a:r>
              <a:rPr dirty="0"/>
              <a:t> </a:t>
            </a:r>
            <a:r>
              <a:rPr dirty="0" err="1"/>
              <a:t>gemacht</a:t>
            </a:r>
            <a:r>
              <a:rPr dirty="0"/>
              <a:t> </a:t>
            </a:r>
            <a:r>
              <a:rPr dirty="0" err="1"/>
              <a:t>haben</a:t>
            </a:r>
            <a:r>
              <a:rPr dirty="0"/>
              <a:t>. Das </a:t>
            </a:r>
            <a:r>
              <a:rPr dirty="0" err="1"/>
              <a:t>ist</a:t>
            </a:r>
            <a:r>
              <a:rPr dirty="0"/>
              <a:t> auf Dauer nicht </a:t>
            </a:r>
            <a:r>
              <a:rPr dirty="0" err="1"/>
              <a:t>tragbar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Heute </a:t>
            </a:r>
            <a:r>
              <a:rPr dirty="0" err="1"/>
              <a:t>lernen</a:t>
            </a:r>
            <a:r>
              <a:rPr dirty="0"/>
              <a:t> wir, </a:t>
            </a:r>
            <a:r>
              <a:rPr dirty="0" err="1"/>
              <a:t>wie</a:t>
            </a:r>
            <a:r>
              <a:rPr dirty="0"/>
              <a:t> Code </a:t>
            </a:r>
            <a:r>
              <a:rPr dirty="0" err="1"/>
              <a:t>automatisch</a:t>
            </a:r>
            <a:r>
              <a:rPr dirty="0"/>
              <a:t> seinen </a:t>
            </a:r>
            <a:r>
              <a:rPr dirty="0" err="1"/>
              <a:t>eigenen</a:t>
            </a:r>
            <a:r>
              <a:rPr dirty="0"/>
              <a:t> Code </a:t>
            </a:r>
            <a:r>
              <a:rPr dirty="0" err="1"/>
              <a:t>testet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Kosten von unentdeckten Fehlern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043" y="1103179"/>
            <a:ext cx="5578027" cy="360331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b="1" dirty="0" err="1">
                <a:solidFill>
                  <a:srgbClr val="0070C0"/>
                </a:solidFill>
              </a:rPr>
              <a:t>Warum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testen</a:t>
            </a:r>
            <a:r>
              <a:rPr b="1" dirty="0">
                <a:solidFill>
                  <a:srgbClr val="0070C0"/>
                </a:solidFill>
              </a:rPr>
              <a:t> wir?</a:t>
            </a:r>
          </a:p>
          <a:p>
            <a:pPr marL="0" indent="0">
              <a:buNone/>
            </a:pPr>
            <a:r>
              <a:rPr dirty="0"/>
              <a:t>Je </a:t>
            </a:r>
            <a:r>
              <a:rPr dirty="0" err="1"/>
              <a:t>später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Fehler </a:t>
            </a:r>
            <a:r>
              <a:rPr dirty="0" err="1"/>
              <a:t>im</a:t>
            </a:r>
            <a:r>
              <a:rPr dirty="0"/>
              <a:t> Software-Lifecycle </a:t>
            </a:r>
            <a:r>
              <a:rPr dirty="0" err="1"/>
              <a:t>gefunden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, </a:t>
            </a:r>
            <a:r>
              <a:rPr dirty="0" err="1"/>
              <a:t>desto</a:t>
            </a:r>
            <a:r>
              <a:rPr dirty="0"/>
              <a:t> </a:t>
            </a:r>
            <a:r>
              <a:rPr dirty="0" err="1"/>
              <a:t>teurer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seine </a:t>
            </a:r>
            <a:r>
              <a:rPr dirty="0" err="1"/>
              <a:t>Behebung</a:t>
            </a:r>
            <a:r>
              <a:rPr dirty="0"/>
              <a:t>.</a:t>
            </a:r>
          </a:p>
          <a:p>
            <a:pPr lvl="0"/>
            <a:r>
              <a:rPr b="1" dirty="0"/>
              <a:t>Die </a:t>
            </a:r>
            <a:r>
              <a:rPr b="1" dirty="0" err="1"/>
              <a:t>Erkenntnis</a:t>
            </a:r>
            <a:r>
              <a:rPr b="1" dirty="0"/>
              <a:t>:</a:t>
            </a:r>
            <a:r>
              <a:rPr dirty="0"/>
              <a:t> Barry Boehm (USC) </a:t>
            </a:r>
            <a:r>
              <a:rPr dirty="0" err="1"/>
              <a:t>bewies</a:t>
            </a:r>
            <a:r>
              <a:rPr dirty="0"/>
              <a:t> </a:t>
            </a:r>
            <a:r>
              <a:rPr dirty="0" err="1"/>
              <a:t>bereits</a:t>
            </a:r>
            <a:r>
              <a:rPr dirty="0"/>
              <a:t> in den 1980ern, </a:t>
            </a:r>
            <a:r>
              <a:rPr dirty="0" err="1"/>
              <a:t>dass</a:t>
            </a:r>
            <a:r>
              <a:rPr dirty="0"/>
              <a:t> Fehler-Kosten </a:t>
            </a:r>
            <a:r>
              <a:rPr dirty="0" err="1"/>
              <a:t>exponentiell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der Zeit </a:t>
            </a:r>
            <a:r>
              <a:rPr dirty="0" err="1"/>
              <a:t>steigen</a:t>
            </a:r>
            <a:r>
              <a:rPr dirty="0"/>
              <a:t>.</a:t>
            </a:r>
          </a:p>
          <a:p>
            <a:pPr lvl="0"/>
            <a:r>
              <a:rPr b="1" dirty="0"/>
              <a:t>Die Regel:</a:t>
            </a:r>
          </a:p>
          <a:p>
            <a:pPr lvl="1"/>
            <a:r>
              <a:rPr dirty="0"/>
              <a:t>Ein Fehler, der in der </a:t>
            </a:r>
            <a:r>
              <a:rPr b="1" dirty="0" err="1"/>
              <a:t>Entwicklung</a:t>
            </a:r>
            <a:r>
              <a:rPr dirty="0"/>
              <a:t> 1€ </a:t>
            </a:r>
            <a:r>
              <a:rPr dirty="0" err="1"/>
              <a:t>kostet</a:t>
            </a:r>
            <a:r>
              <a:rPr dirty="0"/>
              <a:t> (Minuten bis </a:t>
            </a:r>
            <a:r>
              <a:rPr dirty="0" err="1"/>
              <a:t>Stunden</a:t>
            </a:r>
            <a:r>
              <a:rPr dirty="0"/>
              <a:t>),</a:t>
            </a:r>
          </a:p>
          <a:p>
            <a:pPr lvl="1"/>
            <a:r>
              <a:rPr dirty="0" err="1"/>
              <a:t>kostet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</a:t>
            </a:r>
            <a:r>
              <a:rPr b="1" dirty="0"/>
              <a:t>Test</a:t>
            </a:r>
            <a:r>
              <a:rPr dirty="0"/>
              <a:t> 10€ (</a:t>
            </a:r>
            <a:r>
              <a:rPr dirty="0" err="1"/>
              <a:t>Stunden</a:t>
            </a:r>
            <a:r>
              <a:rPr dirty="0"/>
              <a:t> bis Tage),</a:t>
            </a:r>
          </a:p>
          <a:p>
            <a:pPr lvl="1"/>
            <a:r>
              <a:rPr dirty="0"/>
              <a:t>und in der </a:t>
            </a:r>
            <a:r>
              <a:rPr b="1" dirty="0"/>
              <a:t>Produktion</a:t>
            </a:r>
            <a:r>
              <a:rPr dirty="0"/>
              <a:t> 100€ (</a:t>
            </a:r>
            <a:r>
              <a:rPr dirty="0" err="1"/>
              <a:t>Krisenmeetings</a:t>
            </a:r>
            <a:r>
              <a:rPr dirty="0"/>
              <a:t>, </a:t>
            </a:r>
            <a:r>
              <a:rPr dirty="0" err="1"/>
              <a:t>Datenverlust</a:t>
            </a:r>
            <a:r>
              <a:rPr dirty="0"/>
              <a:t>, </a:t>
            </a:r>
            <a:r>
              <a:rPr dirty="0" err="1"/>
              <a:t>massiver</a:t>
            </a:r>
            <a:r>
              <a:rPr dirty="0"/>
              <a:t> </a:t>
            </a:r>
            <a:r>
              <a:rPr dirty="0" err="1"/>
              <a:t>Imageschaden</a:t>
            </a:r>
            <a:r>
              <a:rPr dirty="0"/>
              <a:t>)</a:t>
            </a:r>
          </a:p>
          <a:p>
            <a:pPr lvl="0"/>
            <a:r>
              <a:rPr b="1" dirty="0"/>
              <a:t>Die </a:t>
            </a:r>
            <a:r>
              <a:rPr b="1" dirty="0" err="1"/>
              <a:t>Konsequenz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Investitionen</a:t>
            </a:r>
            <a:r>
              <a:rPr dirty="0"/>
              <a:t> in </a:t>
            </a:r>
            <a:r>
              <a:rPr dirty="0" err="1"/>
              <a:t>Qualität</a:t>
            </a:r>
            <a:r>
              <a:rPr dirty="0"/>
              <a:t> (Tests, Reviews, </a:t>
            </a:r>
            <a:r>
              <a:rPr dirty="0" err="1"/>
              <a:t>Architektur</a:t>
            </a:r>
            <a:r>
              <a:rPr dirty="0"/>
              <a:t>) </a:t>
            </a:r>
            <a:r>
              <a:rPr dirty="0" err="1"/>
              <a:t>zahlen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vielfach</a:t>
            </a:r>
            <a:r>
              <a:rPr dirty="0"/>
              <a:t> </a:t>
            </a:r>
            <a:r>
              <a:rPr dirty="0" err="1"/>
              <a:t>aus.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ein Unit Test?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548" y="1103179"/>
            <a:ext cx="5585522" cy="360331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Ein </a:t>
            </a:r>
            <a:r>
              <a:rPr b="1" dirty="0">
                <a:solidFill>
                  <a:srgbClr val="0070C0"/>
                </a:solidFill>
              </a:rPr>
              <a:t>Unit Test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kleines</a:t>
            </a:r>
            <a:r>
              <a:rPr dirty="0"/>
              <a:t>, </a:t>
            </a:r>
            <a:r>
              <a:rPr dirty="0" err="1"/>
              <a:t>automatisiertes</a:t>
            </a:r>
            <a:r>
              <a:rPr dirty="0"/>
              <a:t> Code-Snippet, das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spezifische</a:t>
            </a:r>
            <a:r>
              <a:rPr dirty="0"/>
              <a:t> </a:t>
            </a:r>
            <a:r>
              <a:rPr dirty="0" err="1"/>
              <a:t>Funktionalität</a:t>
            </a:r>
            <a:r>
              <a:rPr dirty="0"/>
              <a:t> der </a:t>
            </a:r>
            <a:r>
              <a:rPr dirty="0" err="1"/>
              <a:t>Anwendung</a:t>
            </a:r>
            <a:r>
              <a:rPr dirty="0"/>
              <a:t> (</a:t>
            </a:r>
            <a:r>
              <a:rPr dirty="0" err="1"/>
              <a:t>meist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einzige</a:t>
            </a:r>
            <a:r>
              <a:rPr dirty="0"/>
              <a:t> Methode </a:t>
            </a:r>
            <a:r>
              <a:rPr dirty="0" err="1"/>
              <a:t>einer</a:t>
            </a:r>
            <a:r>
              <a:rPr dirty="0"/>
              <a:t> Klasse) </a:t>
            </a:r>
            <a:r>
              <a:rPr dirty="0" err="1"/>
              <a:t>prüft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Er </a:t>
            </a:r>
            <a:r>
              <a:rPr dirty="0" err="1"/>
              <a:t>stellt</a:t>
            </a:r>
            <a:r>
              <a:rPr dirty="0"/>
              <a:t> </a:t>
            </a:r>
            <a:r>
              <a:rPr dirty="0" err="1"/>
              <a:t>sicher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die Methode </a:t>
            </a:r>
            <a:r>
              <a:rPr dirty="0" err="1"/>
              <a:t>exakt</a:t>
            </a:r>
            <a:r>
              <a:rPr dirty="0"/>
              <a:t> so </a:t>
            </a:r>
            <a:r>
              <a:rPr dirty="0" err="1"/>
              <a:t>verhält</a:t>
            </a:r>
            <a:r>
              <a:rPr dirty="0"/>
              <a:t>, </a:t>
            </a:r>
            <a:r>
              <a:rPr dirty="0" err="1"/>
              <a:t>wie</a:t>
            </a:r>
            <a:r>
              <a:rPr dirty="0"/>
              <a:t> der </a:t>
            </a:r>
            <a:r>
              <a:rPr dirty="0" err="1"/>
              <a:t>Entwickler</a:t>
            </a:r>
            <a:r>
              <a:rPr dirty="0"/>
              <a:t> es </a:t>
            </a:r>
            <a:r>
              <a:rPr dirty="0" err="1"/>
              <a:t>bei</a:t>
            </a:r>
            <a:r>
              <a:rPr dirty="0"/>
              <a:t> der </a:t>
            </a:r>
            <a:r>
              <a:rPr dirty="0" err="1"/>
              <a:t>Erstellung</a:t>
            </a:r>
            <a:r>
              <a:rPr dirty="0"/>
              <a:t> </a:t>
            </a:r>
            <a:r>
              <a:rPr dirty="0" err="1"/>
              <a:t>vorgesehen</a:t>
            </a:r>
            <a:r>
              <a:rPr dirty="0"/>
              <a:t> hat.</a:t>
            </a:r>
          </a:p>
          <a:p>
            <a:pPr marL="0" indent="0">
              <a:buNone/>
            </a:pPr>
            <a:r>
              <a:rPr lang="de-DE" dirty="0"/>
              <a:t>Ein Unit Test k</a:t>
            </a:r>
            <a:r>
              <a:rPr dirty="0" err="1"/>
              <a:t>ommt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einem</a:t>
            </a:r>
            <a:r>
              <a:rPr dirty="0"/>
              <a:t> </a:t>
            </a:r>
            <a:r>
              <a:rPr b="1" dirty="0"/>
              <a:t>Test-Framework</a:t>
            </a:r>
            <a:r>
              <a:rPr dirty="0"/>
              <a:t> (</a:t>
            </a:r>
            <a:r>
              <a:rPr dirty="0" err="1"/>
              <a:t>z.B.</a:t>
            </a:r>
            <a:r>
              <a:rPr dirty="0"/>
              <a:t> </a:t>
            </a:r>
            <a:r>
              <a:rPr dirty="0" err="1"/>
              <a:t>xUnit</a:t>
            </a:r>
            <a:r>
              <a:rPr dirty="0"/>
              <a:t>) und </a:t>
            </a:r>
            <a:r>
              <a:rPr dirty="0" err="1"/>
              <a:t>einer</a:t>
            </a:r>
            <a:r>
              <a:rPr dirty="0"/>
              <a:t> </a:t>
            </a:r>
            <a:r>
              <a:rPr b="1" dirty="0"/>
              <a:t>Assertion-Bibliothek</a:t>
            </a:r>
            <a:r>
              <a:rPr dirty="0"/>
              <a:t> (</a:t>
            </a:r>
            <a:r>
              <a:rPr dirty="0" err="1"/>
              <a:t>z.B.</a:t>
            </a:r>
            <a:r>
              <a:rPr dirty="0"/>
              <a:t> Assert) </a:t>
            </a:r>
            <a:r>
              <a:rPr dirty="0" err="1"/>
              <a:t>daher</a:t>
            </a:r>
            <a:r>
              <a:rPr dirty="0"/>
              <a:t>, um die </a:t>
            </a:r>
            <a:r>
              <a:rPr dirty="0" err="1"/>
              <a:t>Ergebnisse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überprüfen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lang="de-DE" dirty="0"/>
              <a:t>Ein Unit Test k</a:t>
            </a:r>
            <a:r>
              <a:rPr dirty="0" err="1"/>
              <a:t>ann</a:t>
            </a:r>
            <a:r>
              <a:rPr dirty="0"/>
              <a:t> </a:t>
            </a:r>
            <a:r>
              <a:rPr dirty="0" err="1"/>
              <a:t>beliebig</a:t>
            </a:r>
            <a:r>
              <a:rPr dirty="0"/>
              <a:t> oft </a:t>
            </a:r>
            <a:r>
              <a:rPr dirty="0" err="1"/>
              <a:t>ausgeführt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, </a:t>
            </a:r>
            <a:r>
              <a:rPr dirty="0" err="1"/>
              <a:t>ohne</a:t>
            </a:r>
            <a:r>
              <a:rPr dirty="0"/>
              <a:t> </a:t>
            </a:r>
            <a:r>
              <a:rPr dirty="0" err="1"/>
              <a:t>dass</a:t>
            </a:r>
            <a:r>
              <a:rPr dirty="0"/>
              <a:t> </a:t>
            </a:r>
            <a:r>
              <a:rPr dirty="0" err="1"/>
              <a:t>menschliches</a:t>
            </a:r>
            <a:r>
              <a:rPr dirty="0"/>
              <a:t> </a:t>
            </a:r>
            <a:r>
              <a:rPr dirty="0" err="1"/>
              <a:t>Eingreifen</a:t>
            </a:r>
            <a:r>
              <a:rPr dirty="0"/>
              <a:t> </a:t>
            </a:r>
            <a:r>
              <a:rPr dirty="0" err="1"/>
              <a:t>nötig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Ziele des Unit Testings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557" y="1103179"/>
            <a:ext cx="5600513" cy="3603318"/>
          </a:xfrm>
        </p:spPr>
        <p:txBody>
          <a:bodyPr/>
          <a:lstStyle/>
          <a:p>
            <a:pPr marL="257175" indent="-257175">
              <a:buAutoNum type="arabicPeriod"/>
            </a:pPr>
            <a:r>
              <a:rPr b="1" dirty="0" err="1"/>
              <a:t>Korrektheit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Beweisen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der Code tut, was er </a:t>
            </a:r>
            <a:r>
              <a:rPr dirty="0" err="1"/>
              <a:t>soll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b="1" dirty="0" err="1"/>
              <a:t>Regressionsschutz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Sicherstellen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</a:t>
            </a:r>
            <a:r>
              <a:rPr dirty="0" err="1"/>
              <a:t>neue</a:t>
            </a:r>
            <a:r>
              <a:rPr dirty="0"/>
              <a:t> </a:t>
            </a:r>
            <a:r>
              <a:rPr dirty="0" err="1"/>
              <a:t>Änderungen</a:t>
            </a:r>
            <a:r>
              <a:rPr dirty="0"/>
              <a:t> </a:t>
            </a:r>
            <a:r>
              <a:rPr dirty="0" err="1"/>
              <a:t>alte</a:t>
            </a:r>
            <a:r>
              <a:rPr dirty="0"/>
              <a:t> </a:t>
            </a:r>
            <a:r>
              <a:rPr dirty="0" err="1"/>
              <a:t>Funktionen</a:t>
            </a:r>
            <a:r>
              <a:rPr dirty="0"/>
              <a:t> nicht </a:t>
            </a:r>
            <a:r>
              <a:rPr dirty="0" err="1"/>
              <a:t>brechen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b="1" dirty="0" err="1"/>
              <a:t>Dokumentation</a:t>
            </a:r>
            <a:r>
              <a:rPr b="1" dirty="0"/>
              <a:t>:</a:t>
            </a:r>
            <a:r>
              <a:rPr dirty="0"/>
              <a:t> Tests </a:t>
            </a:r>
            <a:r>
              <a:rPr dirty="0" err="1"/>
              <a:t>zeigen</a:t>
            </a:r>
            <a:r>
              <a:rPr dirty="0"/>
              <a:t> </a:t>
            </a:r>
            <a:r>
              <a:rPr dirty="0" err="1"/>
              <a:t>anderen</a:t>
            </a:r>
            <a:r>
              <a:rPr dirty="0"/>
              <a:t> </a:t>
            </a:r>
            <a:r>
              <a:rPr dirty="0" err="1"/>
              <a:t>Entwicklern</a:t>
            </a:r>
            <a:r>
              <a:rPr dirty="0"/>
              <a:t>,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Klasse </a:t>
            </a:r>
            <a:r>
              <a:rPr dirty="0" err="1"/>
              <a:t>benutzt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 </a:t>
            </a:r>
            <a:r>
              <a:rPr dirty="0" err="1"/>
              <a:t>soll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b="1" dirty="0"/>
              <a:t>Design-Check:</a:t>
            </a:r>
            <a:r>
              <a:rPr dirty="0"/>
              <a:t> Code, der </a:t>
            </a:r>
            <a:r>
              <a:rPr dirty="0" err="1"/>
              <a:t>schwer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testen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,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meist</a:t>
            </a:r>
            <a:r>
              <a:rPr dirty="0"/>
              <a:t> </a:t>
            </a:r>
            <a:r>
              <a:rPr dirty="0" err="1"/>
              <a:t>auch</a:t>
            </a:r>
            <a:r>
              <a:rPr dirty="0"/>
              <a:t> </a:t>
            </a:r>
            <a:r>
              <a:rPr dirty="0" err="1"/>
              <a:t>schlecht</a:t>
            </a:r>
            <a:r>
              <a:rPr dirty="0"/>
              <a:t> </a:t>
            </a:r>
            <a:r>
              <a:rPr dirty="0" err="1"/>
              <a:t>entworfen</a:t>
            </a:r>
            <a:r>
              <a:rPr dirty="0"/>
              <a:t> (</a:t>
            </a:r>
            <a:r>
              <a:rPr dirty="0" err="1"/>
              <a:t>enge</a:t>
            </a:r>
            <a:r>
              <a:rPr dirty="0"/>
              <a:t> </a:t>
            </a:r>
            <a:r>
              <a:rPr dirty="0" err="1"/>
              <a:t>Kopplung</a:t>
            </a:r>
            <a:r>
              <a:rPr dirty="0"/>
              <a:t>).</a:t>
            </a:r>
          </a:p>
          <a:p>
            <a:pPr marL="0" indent="0">
              <a:buNone/>
            </a:pPr>
            <a:br>
              <a:rPr lang="de-DE" dirty="0"/>
            </a:br>
            <a:r>
              <a:rPr dirty="0"/>
              <a:t>Das </a:t>
            </a:r>
            <a:r>
              <a:rPr dirty="0" err="1"/>
              <a:t>letztendlich</a:t>
            </a:r>
            <a:r>
              <a:rPr lang="de-DE" dirty="0"/>
              <a:t>e</a:t>
            </a:r>
            <a:r>
              <a:rPr dirty="0"/>
              <a:t> Ziel </a:t>
            </a:r>
            <a:r>
              <a:rPr dirty="0" err="1"/>
              <a:t>ist</a:t>
            </a:r>
            <a:r>
              <a:rPr dirty="0"/>
              <a:t> </a:t>
            </a:r>
            <a:r>
              <a:rPr u="sng" dirty="0"/>
              <a:t>nicht</a:t>
            </a:r>
            <a:r>
              <a:rPr dirty="0"/>
              <a:t>, </a:t>
            </a:r>
            <a:r>
              <a:rPr dirty="0" err="1"/>
              <a:t>unbedingt</a:t>
            </a:r>
            <a:r>
              <a:rPr dirty="0"/>
              <a:t> 100% Test</a:t>
            </a:r>
            <a:r>
              <a:rPr lang="de-DE" dirty="0"/>
              <a:t>-</a:t>
            </a:r>
            <a:r>
              <a:rPr dirty="0" err="1"/>
              <a:t>abdeckung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erreichen</a:t>
            </a:r>
            <a:r>
              <a:rPr dirty="0"/>
              <a:t>, </a:t>
            </a:r>
            <a:r>
              <a:rPr dirty="0" err="1"/>
              <a:t>sondern</a:t>
            </a:r>
            <a:r>
              <a:rPr dirty="0"/>
              <a:t> die </a:t>
            </a:r>
            <a:r>
              <a:rPr dirty="0" err="1"/>
              <a:t>kritischen</a:t>
            </a:r>
            <a:r>
              <a:rPr dirty="0"/>
              <a:t> </a:t>
            </a:r>
            <a:r>
              <a:rPr dirty="0" err="1"/>
              <a:t>Pfade</a:t>
            </a:r>
            <a:r>
              <a:rPr dirty="0"/>
              <a:t> und </a:t>
            </a:r>
            <a:r>
              <a:rPr dirty="0" err="1"/>
              <a:t>Logiken</a:t>
            </a:r>
            <a:r>
              <a:rPr dirty="0"/>
              <a:t> </a:t>
            </a:r>
            <a:r>
              <a:rPr dirty="0" err="1"/>
              <a:t>abzusichern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/>
          <a:lstStyle/>
          <a:p>
            <a:r>
              <a:rPr lang="de-DE"/>
              <a:t>Teil 2: Tests schreiben mit xUnit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F248C55-BAE7-4F07-9F75-107F5A236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xUnit in .NET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538" y="1103179"/>
            <a:ext cx="5570532" cy="3603318"/>
          </a:xfrm>
        </p:spPr>
        <p:txBody>
          <a:bodyPr/>
          <a:lstStyle/>
          <a:p>
            <a:pPr marL="0" indent="0">
              <a:buNone/>
            </a:pPr>
            <a:r>
              <a:rPr b="1" dirty="0" err="1">
                <a:solidFill>
                  <a:srgbClr val="0070C0"/>
                </a:solidFill>
                <a:latin typeface="Courier"/>
              </a:rPr>
              <a:t>xUnit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das De-facto-Standard-Framework für das Testen von C#-</a:t>
            </a:r>
            <a:r>
              <a:rPr dirty="0" err="1"/>
              <a:t>Anwendungen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 err="1"/>
              <a:t>Entwickelt</a:t>
            </a:r>
            <a:r>
              <a:rPr dirty="0"/>
              <a:t> von den </a:t>
            </a:r>
            <a:r>
              <a:rPr dirty="0" err="1"/>
              <a:t>ursprünglichen</a:t>
            </a:r>
            <a:r>
              <a:rPr dirty="0"/>
              <a:t> </a:t>
            </a:r>
            <a:r>
              <a:rPr dirty="0" err="1"/>
              <a:t>Machern</a:t>
            </a:r>
            <a:r>
              <a:rPr dirty="0"/>
              <a:t> von </a:t>
            </a:r>
            <a:r>
              <a:rPr dirty="0" err="1">
                <a:latin typeface="Courier"/>
              </a:rPr>
              <a:t>NUnit</a:t>
            </a:r>
            <a:r>
              <a:rPr dirty="0"/>
              <a:t>, </a:t>
            </a:r>
            <a:r>
              <a:rPr dirty="0" err="1"/>
              <a:t>bietet</a:t>
            </a:r>
            <a:r>
              <a:rPr dirty="0"/>
              <a:t> es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moderne</a:t>
            </a:r>
            <a:r>
              <a:rPr dirty="0"/>
              <a:t>, flexible und </a:t>
            </a:r>
            <a:r>
              <a:rPr dirty="0" err="1"/>
              <a:t>leichtgewichtige</a:t>
            </a:r>
            <a:r>
              <a:rPr dirty="0"/>
              <a:t> API. </a:t>
            </a:r>
            <a:endParaRPr lang="de-DE" dirty="0"/>
          </a:p>
          <a:p>
            <a:pPr marL="0" indent="0">
              <a:buNone/>
            </a:pPr>
            <a:r>
              <a:rPr dirty="0"/>
              <a:t>Es </a:t>
            </a:r>
            <a:r>
              <a:rPr dirty="0" err="1"/>
              <a:t>ist</a:t>
            </a:r>
            <a:r>
              <a:rPr dirty="0"/>
              <a:t> Open Source, </a:t>
            </a:r>
            <a:r>
              <a:rPr dirty="0" err="1"/>
              <a:t>aktiv</a:t>
            </a:r>
            <a:r>
              <a:rPr dirty="0"/>
              <a:t> </a:t>
            </a:r>
            <a:r>
              <a:rPr dirty="0" err="1"/>
              <a:t>gepflegt</a:t>
            </a:r>
            <a:r>
              <a:rPr dirty="0"/>
              <a:t> und </a:t>
            </a:r>
            <a:r>
              <a:rPr dirty="0" err="1"/>
              <a:t>tief</a:t>
            </a:r>
            <a:r>
              <a:rPr dirty="0"/>
              <a:t> in die .NET-</a:t>
            </a:r>
            <a:r>
              <a:rPr dirty="0" err="1"/>
              <a:t>Ökosystem</a:t>
            </a:r>
            <a:r>
              <a:rPr dirty="0"/>
              <a:t> </a:t>
            </a:r>
            <a:r>
              <a:rPr dirty="0" err="1"/>
              <a:t>integriert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Es </a:t>
            </a:r>
            <a:r>
              <a:rPr dirty="0" err="1"/>
              <a:t>bietet</a:t>
            </a:r>
            <a:r>
              <a:rPr dirty="0"/>
              <a:t> </a:t>
            </a:r>
            <a:r>
              <a:rPr dirty="0" err="1"/>
              <a:t>uns</a:t>
            </a:r>
            <a:r>
              <a:rPr dirty="0"/>
              <a:t> Attribute </a:t>
            </a:r>
            <a:r>
              <a:rPr dirty="0" err="1"/>
              <a:t>wie</a:t>
            </a:r>
            <a:r>
              <a:rPr dirty="0"/>
              <a:t> </a:t>
            </a:r>
            <a:r>
              <a:rPr dirty="0">
                <a:latin typeface="Courier"/>
              </a:rPr>
              <a:t>[Fact]</a:t>
            </a:r>
            <a:r>
              <a:rPr dirty="0"/>
              <a:t> und </a:t>
            </a:r>
            <a:r>
              <a:rPr dirty="0">
                <a:latin typeface="Courier"/>
              </a:rPr>
              <a:t>[Theory]</a:t>
            </a:r>
            <a:r>
              <a:rPr dirty="0"/>
              <a:t>, um dem Compiler </a:t>
            </a:r>
            <a:r>
              <a:rPr dirty="0" err="1"/>
              <a:t>mitzuteilen</a:t>
            </a:r>
            <a:r>
              <a:rPr dirty="0"/>
              <a:t>: “Dies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keine</a:t>
            </a:r>
            <a:r>
              <a:rPr dirty="0"/>
              <a:t> </a:t>
            </a:r>
            <a:r>
              <a:rPr dirty="0" err="1"/>
              <a:t>normale</a:t>
            </a:r>
            <a:r>
              <a:rPr dirty="0"/>
              <a:t> Methode, </a:t>
            </a:r>
            <a:r>
              <a:rPr dirty="0" err="1"/>
              <a:t>sondern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Testlauf</a:t>
            </a:r>
            <a:r>
              <a:rPr dirty="0"/>
              <a:t>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Struktur: Das AAA-Pattern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043" y="1103179"/>
            <a:ext cx="5578027" cy="3603318"/>
          </a:xfrm>
        </p:spPr>
        <p:txBody>
          <a:bodyPr/>
          <a:lstStyle/>
          <a:p>
            <a:pPr marL="0" indent="0">
              <a:buNone/>
            </a:pPr>
            <a:r>
              <a:rPr dirty="0" err="1"/>
              <a:t>Jeder</a:t>
            </a:r>
            <a:r>
              <a:rPr dirty="0"/>
              <a:t> </a:t>
            </a:r>
            <a:r>
              <a:rPr dirty="0" err="1"/>
              <a:t>gute</a:t>
            </a:r>
            <a:r>
              <a:rPr dirty="0"/>
              <a:t> Unit Test </a:t>
            </a:r>
            <a:r>
              <a:rPr dirty="0" err="1"/>
              <a:t>folgt</a:t>
            </a:r>
            <a:r>
              <a:rPr dirty="0"/>
              <a:t> dem AAA-Schema:</a:t>
            </a:r>
          </a:p>
          <a:p>
            <a:pPr marL="257175" indent="-257175">
              <a:buAutoNum type="arabicPeriod"/>
            </a:pPr>
            <a:r>
              <a:rPr b="1" dirty="0"/>
              <a:t>Arrange (</a:t>
            </a:r>
            <a:r>
              <a:rPr b="1" dirty="0" err="1"/>
              <a:t>Vorbereiten</a:t>
            </a:r>
            <a:r>
              <a:rPr b="1" dirty="0"/>
              <a:t>):</a:t>
            </a:r>
            <a:r>
              <a:rPr dirty="0"/>
              <a:t> </a:t>
            </a:r>
            <a:r>
              <a:rPr dirty="0" err="1"/>
              <a:t>Testobjekte</a:t>
            </a:r>
            <a:r>
              <a:rPr dirty="0"/>
              <a:t> </a:t>
            </a:r>
            <a:r>
              <a:rPr dirty="0" err="1"/>
              <a:t>instanziieren</a:t>
            </a:r>
            <a:r>
              <a:rPr dirty="0"/>
              <a:t>, Dummy-</a:t>
            </a:r>
            <a:r>
              <a:rPr dirty="0" err="1"/>
              <a:t>Daten</a:t>
            </a:r>
            <a:r>
              <a:rPr dirty="0"/>
              <a:t> </a:t>
            </a:r>
            <a:r>
              <a:rPr dirty="0" err="1"/>
              <a:t>anlegen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b="1" dirty="0"/>
              <a:t>Act (</a:t>
            </a:r>
            <a:r>
              <a:rPr b="1" dirty="0" err="1"/>
              <a:t>Ausführen</a:t>
            </a:r>
            <a:r>
              <a:rPr b="1" dirty="0"/>
              <a:t>):</a:t>
            </a:r>
            <a:r>
              <a:rPr dirty="0"/>
              <a:t> </a:t>
            </a:r>
            <a:r>
              <a:rPr dirty="0" err="1"/>
              <a:t>Genau</a:t>
            </a:r>
            <a:r>
              <a:rPr dirty="0"/>
              <a:t> </a:t>
            </a:r>
            <a:r>
              <a:rPr i="1" dirty="0" err="1"/>
              <a:t>eine</a:t>
            </a:r>
            <a:r>
              <a:rPr dirty="0"/>
              <a:t> Methode am </a:t>
            </a:r>
            <a:r>
              <a:rPr dirty="0" err="1"/>
              <a:t>Testobjekt</a:t>
            </a:r>
            <a:r>
              <a:rPr dirty="0"/>
              <a:t> </a:t>
            </a:r>
            <a:r>
              <a:rPr dirty="0" err="1"/>
              <a:t>aufrufen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b="1" dirty="0"/>
              <a:t>Assert (</a:t>
            </a:r>
            <a:r>
              <a:rPr b="1" dirty="0" err="1"/>
              <a:t>Prüfen</a:t>
            </a:r>
            <a:r>
              <a:rPr b="1" dirty="0"/>
              <a:t>):</a:t>
            </a:r>
            <a:r>
              <a:rPr dirty="0"/>
              <a:t> Das </a:t>
            </a:r>
            <a:r>
              <a:rPr dirty="0" err="1"/>
              <a:t>Ergebnis</a:t>
            </a:r>
            <a:r>
              <a:rPr dirty="0"/>
              <a:t> der Methode </a:t>
            </a:r>
            <a:r>
              <a:rPr dirty="0" err="1"/>
              <a:t>mit</a:t>
            </a:r>
            <a:r>
              <a:rPr dirty="0"/>
              <a:t> dem </a:t>
            </a:r>
            <a:r>
              <a:rPr dirty="0" err="1"/>
              <a:t>erwarteten</a:t>
            </a:r>
            <a:r>
              <a:rPr dirty="0"/>
              <a:t> </a:t>
            </a:r>
            <a:r>
              <a:rPr dirty="0" err="1"/>
              <a:t>Ergebnis</a:t>
            </a:r>
            <a:r>
              <a:rPr dirty="0"/>
              <a:t> </a:t>
            </a:r>
            <a:r>
              <a:rPr dirty="0" err="1"/>
              <a:t>vergleichen</a:t>
            </a:r>
            <a:r>
              <a:rPr dirty="0"/>
              <a:t>.</a:t>
            </a:r>
          </a:p>
          <a:p>
            <a:pPr marL="0" indent="0">
              <a:buNone/>
            </a:pPr>
            <a:br>
              <a:rPr lang="de-DE" b="1" dirty="0"/>
            </a:br>
            <a:r>
              <a:rPr b="1" dirty="0"/>
              <a:t>Ziel:</a:t>
            </a:r>
            <a:r>
              <a:rPr dirty="0"/>
              <a:t> </a:t>
            </a:r>
            <a:r>
              <a:rPr dirty="0" err="1"/>
              <a:t>Klarheit</a:t>
            </a:r>
            <a:r>
              <a:rPr dirty="0"/>
              <a:t> und </a:t>
            </a:r>
            <a:r>
              <a:rPr dirty="0" err="1"/>
              <a:t>Fokus</a:t>
            </a:r>
            <a:r>
              <a:rPr dirty="0"/>
              <a:t>. </a:t>
            </a:r>
            <a:r>
              <a:rPr dirty="0" err="1"/>
              <a:t>Jeder</a:t>
            </a:r>
            <a:r>
              <a:rPr dirty="0"/>
              <a:t> Test </a:t>
            </a:r>
            <a:r>
              <a:rPr dirty="0" err="1"/>
              <a:t>sollte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Sache </a:t>
            </a:r>
            <a:r>
              <a:rPr dirty="0" err="1"/>
              <a:t>testen</a:t>
            </a:r>
            <a:r>
              <a:rPr dirty="0"/>
              <a:t>, </a:t>
            </a:r>
            <a:r>
              <a:rPr dirty="0" err="1"/>
              <a:t>damit</a:t>
            </a:r>
            <a:r>
              <a:rPr dirty="0"/>
              <a:t> er </a:t>
            </a:r>
            <a:r>
              <a:rPr dirty="0" err="1"/>
              <a:t>leicht</a:t>
            </a:r>
            <a:r>
              <a:rPr dirty="0"/>
              <a:t> </a:t>
            </a:r>
            <a:r>
              <a:rPr dirty="0" err="1"/>
              <a:t>verständlich</a:t>
            </a:r>
            <a:r>
              <a:rPr dirty="0"/>
              <a:t> und </a:t>
            </a:r>
            <a:r>
              <a:rPr dirty="0" err="1"/>
              <a:t>wartbar</a:t>
            </a:r>
            <a:r>
              <a:rPr dirty="0"/>
              <a:t> </a:t>
            </a:r>
            <a:r>
              <a:rPr dirty="0" err="1"/>
              <a:t>bleibt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Unit Testing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043" y="1103179"/>
            <a:ext cx="5578027" cy="360331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Ein </a:t>
            </a:r>
            <a:r>
              <a:rPr dirty="0" err="1"/>
              <a:t>Testlauf</a:t>
            </a:r>
            <a:r>
              <a:rPr dirty="0"/>
              <a:t> </a:t>
            </a:r>
            <a:r>
              <a:rPr dirty="0" err="1"/>
              <a:t>besteht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:</a:t>
            </a:r>
          </a:p>
          <a:p>
            <a:pPr marL="257175" indent="-257175">
              <a:buAutoNum type="arabicPeriod"/>
            </a:pPr>
            <a:r>
              <a:rPr b="1" dirty="0"/>
              <a:t>Setup:</a:t>
            </a:r>
            <a:r>
              <a:rPr dirty="0"/>
              <a:t> (Optional) </a:t>
            </a:r>
            <a:r>
              <a:rPr dirty="0" err="1"/>
              <a:t>Vorbereiten</a:t>
            </a:r>
            <a:r>
              <a:rPr dirty="0"/>
              <a:t> der </a:t>
            </a:r>
            <a:r>
              <a:rPr dirty="0" err="1"/>
              <a:t>Umgebung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b="1" dirty="0"/>
              <a:t>Execution:</a:t>
            </a:r>
            <a:r>
              <a:rPr dirty="0"/>
              <a:t> </a:t>
            </a:r>
            <a:r>
              <a:rPr dirty="0" err="1"/>
              <a:t>Ausführen</a:t>
            </a:r>
            <a:r>
              <a:rPr dirty="0"/>
              <a:t> des Tests (AAA).</a:t>
            </a:r>
          </a:p>
          <a:p>
            <a:pPr marL="257175" indent="-257175">
              <a:buAutoNum type="arabicPeriod"/>
            </a:pPr>
            <a:r>
              <a:rPr b="1" dirty="0"/>
              <a:t>Teardown:</a:t>
            </a:r>
            <a:r>
              <a:rPr dirty="0"/>
              <a:t> (Optional) </a:t>
            </a:r>
            <a:r>
              <a:rPr dirty="0" err="1"/>
              <a:t>Aufräumen</a:t>
            </a:r>
            <a:r>
              <a:rPr dirty="0"/>
              <a:t> (</a:t>
            </a:r>
            <a:r>
              <a:rPr dirty="0" err="1"/>
              <a:t>z.B.</a:t>
            </a:r>
            <a:r>
              <a:rPr dirty="0"/>
              <a:t> </a:t>
            </a:r>
            <a:r>
              <a:rPr dirty="0" err="1"/>
              <a:t>Dateien</a:t>
            </a:r>
            <a:r>
              <a:rPr dirty="0"/>
              <a:t> </a:t>
            </a:r>
            <a:r>
              <a:rPr dirty="0" err="1"/>
              <a:t>löschen</a:t>
            </a:r>
            <a:r>
              <a:rPr dirty="0"/>
              <a:t>).</a:t>
            </a:r>
          </a:p>
          <a:p>
            <a:pPr marL="257175" indent="-257175">
              <a:buAutoNum type="arabicPeriod"/>
            </a:pPr>
            <a:r>
              <a:rPr b="1" dirty="0"/>
              <a:t>Reporting:</a:t>
            </a:r>
            <a:r>
              <a:rPr dirty="0"/>
              <a:t> Das Test-Framework </a:t>
            </a:r>
            <a:r>
              <a:rPr dirty="0" err="1"/>
              <a:t>zeigt</a:t>
            </a:r>
            <a:r>
              <a:rPr dirty="0"/>
              <a:t> an, </a:t>
            </a:r>
            <a:r>
              <a:rPr dirty="0" err="1"/>
              <a:t>ob</a:t>
            </a:r>
            <a:r>
              <a:rPr dirty="0"/>
              <a:t> der Test </a:t>
            </a:r>
            <a:r>
              <a:rPr dirty="0" err="1"/>
              <a:t>bestanden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fehlgeschlagen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In </a:t>
            </a:r>
            <a:r>
              <a:rPr b="1" dirty="0" err="1">
                <a:solidFill>
                  <a:srgbClr val="0070C0"/>
                </a:solidFill>
                <a:latin typeface="Courier"/>
              </a:rPr>
              <a:t>xUnit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für </a:t>
            </a:r>
            <a:r>
              <a:rPr dirty="0" err="1"/>
              <a:t>jeden</a:t>
            </a:r>
            <a:r>
              <a:rPr dirty="0"/>
              <a:t> Test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neue</a:t>
            </a:r>
            <a:r>
              <a:rPr dirty="0"/>
              <a:t> </a:t>
            </a:r>
            <a:r>
              <a:rPr dirty="0" err="1"/>
              <a:t>Instanz</a:t>
            </a:r>
            <a:r>
              <a:rPr dirty="0"/>
              <a:t> der </a:t>
            </a:r>
            <a:r>
              <a:rPr dirty="0" err="1"/>
              <a:t>Testklasse</a:t>
            </a:r>
            <a:r>
              <a:rPr dirty="0"/>
              <a:t> </a:t>
            </a:r>
            <a:r>
              <a:rPr dirty="0" err="1"/>
              <a:t>erstellt</a:t>
            </a:r>
            <a:r>
              <a:rPr dirty="0"/>
              <a:t>, was für </a:t>
            </a:r>
            <a:r>
              <a:rPr dirty="0" err="1"/>
              <a:t>maximale</a:t>
            </a:r>
            <a:r>
              <a:rPr dirty="0"/>
              <a:t> </a:t>
            </a:r>
            <a:r>
              <a:rPr dirty="0" err="1"/>
              <a:t>Wiederholbarkeit</a:t>
            </a:r>
            <a:r>
              <a:rPr dirty="0"/>
              <a:t> </a:t>
            </a:r>
            <a:r>
              <a:rPr dirty="0" err="1"/>
              <a:t>sorgt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xUnit Attribute: [Fact]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19" y="1103179"/>
            <a:ext cx="6165830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dirty="0"/>
              <a:t>Das </a:t>
            </a:r>
            <a:r>
              <a:rPr sz="1600" b="1" dirty="0">
                <a:solidFill>
                  <a:srgbClr val="0070C0"/>
                </a:solidFill>
                <a:latin typeface="Courier"/>
              </a:rPr>
              <a:t>[Fact]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r>
              <a:rPr sz="1600" dirty="0" err="1"/>
              <a:t>Attribut</a:t>
            </a:r>
            <a:r>
              <a:rPr sz="1600" dirty="0"/>
              <a:t> </a:t>
            </a:r>
            <a:r>
              <a:rPr sz="1600" dirty="0" err="1"/>
              <a:t>kennzeichnet</a:t>
            </a:r>
            <a:r>
              <a:rPr sz="1600" dirty="0"/>
              <a:t> </a:t>
            </a:r>
            <a:r>
              <a:rPr sz="1600" dirty="0" err="1"/>
              <a:t>einen</a:t>
            </a:r>
            <a:r>
              <a:rPr sz="1600" dirty="0"/>
              <a:t> </a:t>
            </a:r>
            <a:r>
              <a:rPr sz="1600" dirty="0" err="1"/>
              <a:t>invarianten</a:t>
            </a:r>
            <a:r>
              <a:rPr sz="1600" dirty="0"/>
              <a:t> (</a:t>
            </a:r>
            <a:r>
              <a:rPr sz="1600" dirty="0" err="1"/>
              <a:t>unveränderlichen</a:t>
            </a:r>
            <a:r>
              <a:rPr sz="1600" dirty="0"/>
              <a:t>) </a:t>
            </a:r>
            <a:r>
              <a:rPr sz="1600" dirty="0" err="1"/>
              <a:t>Testfall</a:t>
            </a:r>
            <a:r>
              <a:rPr lang="de-DE" sz="1600" dirty="0"/>
              <a:t>. </a:t>
            </a:r>
          </a:p>
          <a:p>
            <a:pPr marL="0" indent="0">
              <a:buNone/>
            </a:pPr>
            <a:r>
              <a:rPr lang="de-DE" sz="1600" dirty="0"/>
              <a:t>A</a:t>
            </a:r>
            <a:r>
              <a:rPr sz="1600" dirty="0" err="1"/>
              <a:t>lso</a:t>
            </a:r>
            <a:r>
              <a:rPr sz="1600" dirty="0"/>
              <a:t> </a:t>
            </a:r>
            <a:r>
              <a:rPr sz="1600" dirty="0" err="1"/>
              <a:t>eine</a:t>
            </a:r>
            <a:r>
              <a:rPr sz="1600" dirty="0"/>
              <a:t> Prüfung, die immer das </a:t>
            </a:r>
            <a:r>
              <a:rPr sz="1600" dirty="0" err="1"/>
              <a:t>gleiche</a:t>
            </a:r>
            <a:r>
              <a:rPr sz="1600" dirty="0"/>
              <a:t> </a:t>
            </a:r>
            <a:r>
              <a:rPr sz="1600" dirty="0" err="1"/>
              <a:t>Ergebnis</a:t>
            </a:r>
            <a:r>
              <a:rPr sz="1600" dirty="0"/>
              <a:t> </a:t>
            </a:r>
            <a:r>
              <a:rPr sz="1600" dirty="0" err="1"/>
              <a:t>liefern</a:t>
            </a:r>
            <a:r>
              <a:rPr sz="1600" dirty="0"/>
              <a:t> </a:t>
            </a:r>
            <a:r>
              <a:rPr sz="1600" dirty="0" err="1"/>
              <a:t>sollte</a:t>
            </a:r>
            <a:r>
              <a:rPr sz="1600" dirty="0"/>
              <a:t>, egal </a:t>
            </a:r>
            <a:r>
              <a:rPr sz="1600" dirty="0" err="1"/>
              <a:t>welche</a:t>
            </a:r>
            <a:r>
              <a:rPr sz="1600" dirty="0"/>
              <a:t> </a:t>
            </a:r>
            <a:r>
              <a:rPr sz="1600" dirty="0" err="1"/>
              <a:t>Daten</a:t>
            </a:r>
            <a:r>
              <a:rPr sz="1600" dirty="0"/>
              <a:t> </a:t>
            </a:r>
            <a:r>
              <a:rPr sz="1600" dirty="0" err="1"/>
              <a:t>vorliegen</a:t>
            </a:r>
            <a:r>
              <a:rPr sz="1600" dirty="0"/>
              <a:t> (</a:t>
            </a:r>
            <a:r>
              <a:rPr sz="1600" dirty="0" err="1"/>
              <a:t>innerhalb</a:t>
            </a:r>
            <a:r>
              <a:rPr sz="1600" dirty="0"/>
              <a:t> des </a:t>
            </a:r>
            <a:r>
              <a:rPr sz="1600" dirty="0" err="1"/>
              <a:t>Szenarios</a:t>
            </a:r>
            <a:r>
              <a:rPr sz="1600" dirty="0"/>
              <a:t>).</a:t>
            </a:r>
            <a:br>
              <a:rPr sz="1300" dirty="0">
                <a:latin typeface="Consolas" panose="020B0609020204030204" pitchFamily="49" charset="0"/>
              </a:rPr>
            </a:br>
            <a:br>
              <a:rPr sz="1300" dirty="0">
                <a:latin typeface="Consolas" panose="020B0609020204030204" pitchFamily="49" charset="0"/>
              </a:rPr>
            </a:br>
            <a:br>
              <a:rPr sz="1200" dirty="0">
                <a:latin typeface="Consolas" panose="020B0609020204030204" pitchFamily="49" charset="0"/>
              </a:rPr>
            </a:br>
            <a:br>
              <a:rPr sz="1200" dirty="0">
                <a:latin typeface="Consolas" panose="020B0609020204030204" pitchFamily="49" charset="0"/>
              </a:rPr>
            </a:br>
            <a:endParaRPr sz="1300" dirty="0">
              <a:solidFill>
                <a:srgbClr val="666666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C966D75-9329-1AB3-45BA-5E1E067C6935}"/>
              </a:ext>
            </a:extLst>
          </p:cNvPr>
          <p:cNvSpPr txBox="1"/>
          <p:nvPr/>
        </p:nvSpPr>
        <p:spPr>
          <a:xfrm>
            <a:off x="185502" y="2281304"/>
            <a:ext cx="6245277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[</a:t>
            </a:r>
            <a:r>
              <a:rPr lang="de-DE" sz="1200" dirty="0">
                <a:latin typeface="Consolas" panose="020B0609020204030204" pitchFamily="49" charset="0"/>
              </a:rPr>
              <a:t>Fact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]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b="1" dirty="0" err="1">
                <a:solidFill>
                  <a:srgbClr val="007020"/>
                </a:solidFill>
                <a:latin typeface="Consolas" panose="020B0609020204030204" pitchFamily="49" charset="0"/>
              </a:rPr>
              <a:t>public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void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06287E"/>
                </a:solidFill>
                <a:latin typeface="Consolas" panose="020B0609020204030204" pitchFamily="49" charset="0"/>
              </a:rPr>
              <a:t>Validieren_SollteTrueZurueckgeben_WennId11StelligIst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()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{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// </a:t>
            </a:r>
            <a:r>
              <a:rPr lang="de-DE" sz="1200" i="1" dirty="0" err="1">
                <a:solidFill>
                  <a:srgbClr val="60A0B0"/>
                </a:solidFill>
                <a:latin typeface="Consolas" panose="020B0609020204030204" pitchFamily="49" charset="0"/>
              </a:rPr>
              <a:t>Arrange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var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validator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b="1" dirty="0" err="1">
                <a:solidFill>
                  <a:srgbClr val="007020"/>
                </a:solidFill>
                <a:latin typeface="Consolas" panose="020B0609020204030204" pitchFamily="49" charset="0"/>
              </a:rPr>
              <a:t>new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SteuerIdValidator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();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string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korrekteId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4070A0"/>
                </a:solidFill>
                <a:latin typeface="Consolas" panose="020B0609020204030204" pitchFamily="49" charset="0"/>
              </a:rPr>
              <a:t>"12345678901"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;</a:t>
            </a:r>
            <a:br>
              <a:rPr lang="de-DE" sz="1200" dirty="0">
                <a:latin typeface="Consolas" panose="020B0609020204030204" pitchFamily="49" charset="0"/>
              </a:rPr>
            </a:b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// Act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bool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result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validator</a:t>
            </a:r>
            <a:r>
              <a:rPr lang="de-DE" sz="1200" dirty="0" err="1">
                <a:solidFill>
                  <a:srgbClr val="666666"/>
                </a:solidFill>
                <a:latin typeface="Consolas" panose="020B0609020204030204" pitchFamily="49" charset="0"/>
              </a:rPr>
              <a:t>.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Validieren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 err="1">
                <a:latin typeface="Consolas" panose="020B0609020204030204" pitchFamily="49" charset="0"/>
              </a:rPr>
              <a:t>korrekteId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);</a:t>
            </a:r>
            <a:br>
              <a:rPr lang="de-DE" sz="1200" dirty="0">
                <a:latin typeface="Consolas" panose="020B0609020204030204" pitchFamily="49" charset="0"/>
              </a:rPr>
            </a:b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// </a:t>
            </a:r>
            <a:r>
              <a:rPr lang="de-DE" sz="1200" i="1" dirty="0" err="1">
                <a:solidFill>
                  <a:srgbClr val="60A0B0"/>
                </a:solidFill>
                <a:latin typeface="Consolas" panose="020B0609020204030204" pitchFamily="49" charset="0"/>
              </a:rPr>
              <a:t>Assert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dirty="0" err="1">
                <a:latin typeface="Consolas" panose="020B0609020204030204" pitchFamily="49" charset="0"/>
              </a:rPr>
              <a:t>Assert</a:t>
            </a:r>
            <a:r>
              <a:rPr lang="de-DE" sz="1200" dirty="0" err="1">
                <a:solidFill>
                  <a:srgbClr val="666666"/>
                </a:solidFill>
                <a:latin typeface="Consolas" panose="020B0609020204030204" pitchFamily="49" charset="0"/>
              </a:rPr>
              <a:t>.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True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 err="1">
                <a:latin typeface="Consolas" panose="020B0609020204030204" pitchFamily="49" charset="0"/>
              </a:rPr>
              <a:t>result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);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}</a:t>
            </a:r>
            <a:endParaRPr lang="de-DE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Einschub</a:t>
            </a:r>
            <a:r>
              <a:rPr dirty="0"/>
              <a:t>: </a:t>
            </a:r>
            <a:br>
              <a:rPr lang="de-DE" dirty="0"/>
            </a:br>
            <a:r>
              <a:rPr dirty="0"/>
              <a:t>Die </a:t>
            </a:r>
            <a:r>
              <a:rPr dirty="0" err="1"/>
              <a:t>Wichtigkeit</a:t>
            </a:r>
            <a:r>
              <a:rPr dirty="0"/>
              <a:t> der </a:t>
            </a:r>
            <a:r>
              <a:rPr dirty="0" err="1"/>
              <a:t>Namensgebung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19" y="1103179"/>
            <a:ext cx="5657851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dirty="0" err="1"/>
              <a:t>Testnamen</a:t>
            </a:r>
            <a:r>
              <a:rPr sz="1600" dirty="0"/>
              <a:t> </a:t>
            </a:r>
            <a:r>
              <a:rPr sz="1600" dirty="0" err="1"/>
              <a:t>müssen</a:t>
            </a:r>
            <a:r>
              <a:rPr sz="1600" dirty="0"/>
              <a:t> nicht </a:t>
            </a:r>
            <a:r>
              <a:rPr sz="1600" dirty="0" err="1"/>
              <a:t>kurz</a:t>
            </a:r>
            <a:r>
              <a:rPr sz="1600" dirty="0"/>
              <a:t> sein. </a:t>
            </a:r>
            <a:endParaRPr lang="de-DE" sz="1600" dirty="0"/>
          </a:p>
          <a:p>
            <a:pPr marL="0" indent="0">
              <a:buNone/>
            </a:pPr>
            <a:r>
              <a:rPr sz="1600" dirty="0"/>
              <a:t>Sie </a:t>
            </a:r>
            <a:r>
              <a:rPr sz="1600" dirty="0" err="1"/>
              <a:t>sollten</a:t>
            </a:r>
            <a:r>
              <a:rPr sz="1600" dirty="0"/>
              <a:t> </a:t>
            </a:r>
            <a:r>
              <a:rPr sz="1600" dirty="0" err="1"/>
              <a:t>wie</a:t>
            </a:r>
            <a:r>
              <a:rPr sz="1600" dirty="0"/>
              <a:t> </a:t>
            </a:r>
            <a:r>
              <a:rPr sz="1600" dirty="0" err="1"/>
              <a:t>eine</a:t>
            </a:r>
            <a:r>
              <a:rPr sz="1600" dirty="0"/>
              <a:t> </a:t>
            </a:r>
            <a:r>
              <a:rPr sz="1600" dirty="0" err="1"/>
              <a:t>Dokumentation</a:t>
            </a:r>
            <a:r>
              <a:rPr sz="1600" dirty="0"/>
              <a:t> </a:t>
            </a:r>
            <a:r>
              <a:rPr sz="1600" dirty="0" err="1"/>
              <a:t>gelesen</a:t>
            </a:r>
            <a:r>
              <a:rPr sz="1600" dirty="0"/>
              <a:t> </a:t>
            </a:r>
            <a:r>
              <a:rPr sz="1600" dirty="0" err="1"/>
              <a:t>werden</a:t>
            </a:r>
            <a:r>
              <a:rPr sz="1600" dirty="0"/>
              <a:t> </a:t>
            </a:r>
            <a:r>
              <a:rPr sz="1600" dirty="0" err="1"/>
              <a:t>können</a:t>
            </a:r>
            <a:r>
              <a:rPr sz="1600" dirty="0"/>
              <a:t>.</a:t>
            </a:r>
          </a:p>
          <a:p>
            <a:pPr marL="0" indent="0">
              <a:buNone/>
            </a:pPr>
            <a:r>
              <a:rPr sz="1600" dirty="0" err="1"/>
              <a:t>Testmethoden</a:t>
            </a:r>
            <a:r>
              <a:rPr sz="1600" dirty="0"/>
              <a:t> </a:t>
            </a:r>
            <a:r>
              <a:rPr sz="1600" dirty="0" err="1"/>
              <a:t>sollten</a:t>
            </a:r>
            <a:r>
              <a:rPr sz="1600" dirty="0"/>
              <a:t> so </a:t>
            </a:r>
            <a:r>
              <a:rPr sz="1600" dirty="0" err="1"/>
              <a:t>benannt</a:t>
            </a:r>
            <a:r>
              <a:rPr sz="1600" dirty="0"/>
              <a:t> </a:t>
            </a:r>
            <a:r>
              <a:rPr sz="1600" dirty="0" err="1"/>
              <a:t>werden</a:t>
            </a:r>
            <a:r>
              <a:rPr sz="1600" dirty="0"/>
              <a:t>, </a:t>
            </a:r>
            <a:r>
              <a:rPr sz="1600" dirty="0" err="1"/>
              <a:t>dass</a:t>
            </a:r>
            <a:r>
              <a:rPr sz="1600" dirty="0"/>
              <a:t> das </a:t>
            </a:r>
            <a:r>
              <a:rPr sz="1600" dirty="0" err="1"/>
              <a:t>getestete</a:t>
            </a:r>
            <a:r>
              <a:rPr sz="1600" dirty="0"/>
              <a:t> </a:t>
            </a:r>
            <a:r>
              <a:rPr sz="1600" dirty="0" err="1"/>
              <a:t>Verhalten</a:t>
            </a:r>
            <a:r>
              <a:rPr sz="1600" dirty="0"/>
              <a:t>, die </a:t>
            </a:r>
            <a:r>
              <a:rPr sz="1600" dirty="0" err="1"/>
              <a:t>Bedingung</a:t>
            </a:r>
            <a:r>
              <a:rPr sz="1600" dirty="0"/>
              <a:t> und das </a:t>
            </a:r>
            <a:r>
              <a:rPr sz="1600" dirty="0" err="1"/>
              <a:t>erwartete</a:t>
            </a:r>
            <a:r>
              <a:rPr sz="1600" dirty="0"/>
              <a:t> </a:t>
            </a:r>
            <a:r>
              <a:rPr sz="1600" dirty="0" err="1"/>
              <a:t>Ergebnis</a:t>
            </a:r>
            <a:r>
              <a:rPr sz="1600" dirty="0"/>
              <a:t> </a:t>
            </a:r>
            <a:r>
              <a:rPr sz="1600" dirty="0" err="1"/>
              <a:t>unmittelbar</a:t>
            </a:r>
            <a:r>
              <a:rPr sz="1600" dirty="0"/>
              <a:t> </a:t>
            </a:r>
            <a:r>
              <a:rPr sz="1600" dirty="0" err="1"/>
              <a:t>erkennbar</a:t>
            </a:r>
            <a:r>
              <a:rPr sz="1600" dirty="0"/>
              <a:t> </a:t>
            </a:r>
            <a:r>
              <a:rPr sz="1600" dirty="0" err="1"/>
              <a:t>sind</a:t>
            </a:r>
            <a:r>
              <a:rPr sz="1600" dirty="0"/>
              <a:t>.</a:t>
            </a:r>
            <a:r>
              <a:rPr lang="de-DE" sz="1600" dirty="0"/>
              <a:t> </a:t>
            </a:r>
            <a:r>
              <a:rPr sz="1600" dirty="0" err="1"/>
              <a:t>Dadurch</a:t>
            </a:r>
            <a:r>
              <a:rPr sz="1600" dirty="0"/>
              <a:t> </a:t>
            </a:r>
            <a:r>
              <a:rPr sz="1600" dirty="0" err="1"/>
              <a:t>ist</a:t>
            </a:r>
            <a:r>
              <a:rPr sz="1600" dirty="0"/>
              <a:t> </a:t>
            </a:r>
            <a:r>
              <a:rPr sz="1600" dirty="0" err="1"/>
              <a:t>auch</a:t>
            </a:r>
            <a:r>
              <a:rPr sz="1600" dirty="0"/>
              <a:t> </a:t>
            </a:r>
            <a:r>
              <a:rPr sz="1600" dirty="0" err="1"/>
              <a:t>nach</a:t>
            </a:r>
            <a:r>
              <a:rPr sz="1600" dirty="0"/>
              <a:t> </a:t>
            </a:r>
            <a:r>
              <a:rPr sz="1600" dirty="0" err="1"/>
              <a:t>längerer</a:t>
            </a:r>
            <a:r>
              <a:rPr sz="1600" dirty="0"/>
              <a:t> Zeit schnell </a:t>
            </a:r>
            <a:r>
              <a:rPr sz="1600" dirty="0" err="1"/>
              <a:t>verständlich</a:t>
            </a:r>
            <a:r>
              <a:rPr sz="1600" dirty="0"/>
              <a:t>, was der Test </a:t>
            </a:r>
            <a:r>
              <a:rPr sz="1600" dirty="0" err="1"/>
              <a:t>prüft</a:t>
            </a:r>
            <a:r>
              <a:rPr sz="1600" dirty="0"/>
              <a:t>.</a:t>
            </a:r>
            <a:br>
              <a:rPr lang="de-DE" sz="1600" dirty="0"/>
            </a:b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sz="1600" dirty="0"/>
              <a:t>Wenn der Test in der </a:t>
            </a:r>
            <a:r>
              <a:rPr sz="1600" dirty="0" err="1"/>
              <a:t>Entwicklungs</a:t>
            </a:r>
            <a:r>
              <a:rPr sz="1600" dirty="0"/>
              <a:t>-Pipeline </a:t>
            </a:r>
            <a:r>
              <a:rPr sz="1600" dirty="0" err="1"/>
              <a:t>fehlschlägt</a:t>
            </a:r>
            <a:r>
              <a:rPr sz="1600" dirty="0"/>
              <a:t>, </a:t>
            </a:r>
            <a:r>
              <a:rPr sz="1600" dirty="0" err="1"/>
              <a:t>weiß</a:t>
            </a:r>
            <a:r>
              <a:rPr sz="1600" dirty="0"/>
              <a:t> der </a:t>
            </a:r>
            <a:r>
              <a:rPr sz="1600" dirty="0" err="1"/>
              <a:t>Entwickler</a:t>
            </a:r>
            <a:r>
              <a:rPr sz="1600" dirty="0"/>
              <a:t> </a:t>
            </a:r>
            <a:r>
              <a:rPr sz="1600" dirty="0" err="1"/>
              <a:t>anhand</a:t>
            </a:r>
            <a:r>
              <a:rPr sz="1600" dirty="0"/>
              <a:t> des </a:t>
            </a:r>
            <a:r>
              <a:rPr sz="1600" dirty="0" err="1"/>
              <a:t>Namens</a:t>
            </a:r>
            <a:r>
              <a:rPr sz="1600" dirty="0"/>
              <a:t> schnell, w</a:t>
            </a:r>
            <a:r>
              <a:rPr lang="de-DE" sz="1600" dirty="0"/>
              <a:t>o etwas</a:t>
            </a:r>
            <a:r>
              <a:rPr sz="1600" dirty="0"/>
              <a:t> </a:t>
            </a:r>
            <a:r>
              <a:rPr lang="de-DE" sz="1600" dirty="0"/>
              <a:t>"</a:t>
            </a:r>
            <a:r>
              <a:rPr sz="1600" dirty="0"/>
              <a:t>kaputt</a:t>
            </a:r>
            <a:r>
              <a:rPr lang="de-DE" sz="1600" dirty="0"/>
              <a:t>"</a:t>
            </a:r>
            <a:r>
              <a:rPr sz="1600" dirty="0"/>
              <a:t> </a:t>
            </a:r>
            <a:r>
              <a:rPr sz="1600" dirty="0" err="1"/>
              <a:t>ist</a:t>
            </a:r>
            <a:r>
              <a:rPr sz="1600" dirty="0"/>
              <a:t>.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FF5CBAC-F6FA-4CD8-A746-430A7F2FFA13}"/>
              </a:ext>
            </a:extLst>
          </p:cNvPr>
          <p:cNvSpPr txBox="1"/>
          <p:nvPr/>
        </p:nvSpPr>
        <p:spPr>
          <a:xfrm>
            <a:off x="530465" y="2946285"/>
            <a:ext cx="61253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200" dirty="0">
                <a:latin typeface="Consolas" panose="020B0609020204030204" pitchFamily="49" charset="0"/>
              </a:rPr>
              <a:t>Muster:</a:t>
            </a:r>
            <a:r>
              <a:rPr lang="de-DE" sz="1200" dirty="0">
                <a:solidFill>
                  <a:srgbClr val="0070C0"/>
                </a:solidFill>
                <a:latin typeface="Consolas" panose="020B0609020204030204" pitchFamily="49" charset="0"/>
              </a:rPr>
              <a:t>     [Methode]_[</a:t>
            </a:r>
            <a:r>
              <a:rPr lang="de-DE" sz="1200" dirty="0" err="1">
                <a:solidFill>
                  <a:srgbClr val="0070C0"/>
                </a:solidFill>
                <a:latin typeface="Consolas" panose="020B0609020204030204" pitchFamily="49" charset="0"/>
              </a:rPr>
              <a:t>ErwartetesErgebnis</a:t>
            </a:r>
            <a:r>
              <a:rPr lang="de-DE" sz="1200" dirty="0">
                <a:solidFill>
                  <a:srgbClr val="0070C0"/>
                </a:solidFill>
                <a:latin typeface="Consolas" panose="020B0609020204030204" pitchFamily="49" charset="0"/>
              </a:rPr>
              <a:t>]_Wenn[Szenario]</a:t>
            </a:r>
          </a:p>
          <a:p>
            <a:pPr marL="0" indent="0">
              <a:buNone/>
            </a:pP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Beispiel 1: </a:t>
            </a:r>
            <a:r>
              <a:rPr lang="de-DE" sz="1200" dirty="0">
                <a:solidFill>
                  <a:srgbClr val="0070C0"/>
                </a:solidFill>
                <a:latin typeface="Consolas" panose="020B0609020204030204" pitchFamily="49" charset="0"/>
              </a:rPr>
              <a:t>Validieren_GibtTrueZurueck_WennId11StelligIst() </a:t>
            </a:r>
            <a:br>
              <a:rPr lang="de-DE" sz="1200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Beispiel 2: </a:t>
            </a:r>
            <a:r>
              <a:rPr lang="de-DE" sz="1200" dirty="0" err="1">
                <a:solidFill>
                  <a:srgbClr val="0070C0"/>
                </a:solidFill>
                <a:latin typeface="Consolas" panose="020B0609020204030204" pitchFamily="49" charset="0"/>
              </a:rPr>
              <a:t>BerechneGebuehr_GibtRabattZurueck_WennFahrzeugElektroIst</a:t>
            </a:r>
            <a:r>
              <a:rPr lang="de-DE" sz="1200" dirty="0">
                <a:solidFill>
                  <a:srgbClr val="0070C0"/>
                </a:solidFill>
                <a:latin typeface="Consolas" panose="020B0609020204030204" pitchFamily="49" charset="0"/>
              </a:rPr>
              <a:t>() </a:t>
            </a:r>
            <a:br>
              <a:rPr lang="de-DE" sz="1200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Beispiel 3: </a:t>
            </a:r>
            <a:r>
              <a:rPr lang="de-DE" sz="1200" dirty="0">
                <a:solidFill>
                  <a:srgbClr val="0070C0"/>
                </a:solidFill>
                <a:latin typeface="Consolas" panose="020B0609020204030204" pitchFamily="49" charset="0"/>
              </a:rPr>
              <a:t>Registriere_WirftException_WennBuergerUnter18Ist()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xUnit</a:t>
            </a:r>
            <a:r>
              <a:rPr dirty="0"/>
              <a:t> Attribute: [Theory]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19" y="1103179"/>
            <a:ext cx="5657851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dirty="0"/>
              <a:t>Mit </a:t>
            </a:r>
            <a:r>
              <a:rPr sz="1600" b="1" dirty="0">
                <a:solidFill>
                  <a:srgbClr val="0070C0"/>
                </a:solidFill>
                <a:latin typeface="Courier"/>
              </a:rPr>
              <a:t>[Theory]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r>
              <a:rPr sz="1600" dirty="0" err="1"/>
              <a:t>kennzeichnen</a:t>
            </a:r>
            <a:r>
              <a:rPr sz="1600" dirty="0"/>
              <a:t> wir </a:t>
            </a:r>
            <a:r>
              <a:rPr sz="1600" dirty="0" err="1"/>
              <a:t>parametrisierte</a:t>
            </a:r>
            <a:r>
              <a:rPr sz="1600" dirty="0"/>
              <a:t> Tests. </a:t>
            </a:r>
            <a:br>
              <a:rPr lang="de-DE" sz="1600" dirty="0"/>
            </a:br>
            <a:r>
              <a:rPr sz="1600" dirty="0"/>
              <a:t>Wir </a:t>
            </a:r>
            <a:r>
              <a:rPr sz="1600" dirty="0" err="1"/>
              <a:t>sagen</a:t>
            </a:r>
            <a:r>
              <a:rPr sz="1600" dirty="0"/>
              <a:t>: “</a:t>
            </a:r>
            <a:r>
              <a:rPr sz="1600" dirty="0" err="1"/>
              <a:t>Diese</a:t>
            </a:r>
            <a:r>
              <a:rPr sz="1600" dirty="0"/>
              <a:t> Logik gilt für </a:t>
            </a:r>
            <a:r>
              <a:rPr sz="1600" dirty="0" err="1"/>
              <a:t>eine</a:t>
            </a:r>
            <a:r>
              <a:rPr sz="1600" dirty="0"/>
              <a:t> </a:t>
            </a:r>
            <a:r>
              <a:rPr sz="1600" dirty="0" err="1"/>
              <a:t>ganze</a:t>
            </a:r>
            <a:r>
              <a:rPr sz="1600" dirty="0"/>
              <a:t> Reihe von </a:t>
            </a:r>
            <a:r>
              <a:rPr sz="1600" dirty="0" err="1"/>
              <a:t>Daten</a:t>
            </a:r>
            <a:r>
              <a:rPr sz="1600" dirty="0"/>
              <a:t>.”</a:t>
            </a:r>
            <a:endParaRPr lang="de-DE" sz="1600" dirty="0"/>
          </a:p>
          <a:p>
            <a:pPr marL="0" indent="0">
              <a:buNone/>
            </a:pPr>
            <a:br>
              <a:rPr lang="de-DE" sz="1600" dirty="0"/>
            </a:b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dirty="0"/>
              <a:t>Aber </a:t>
            </a:r>
            <a:r>
              <a:rPr sz="1600" dirty="0" err="1"/>
              <a:t>wie</a:t>
            </a:r>
            <a:r>
              <a:rPr sz="1600" dirty="0"/>
              <a:t> </a:t>
            </a:r>
            <a:r>
              <a:rPr sz="1600" dirty="0" err="1"/>
              <a:t>übergeben</a:t>
            </a:r>
            <a:r>
              <a:rPr sz="1600" dirty="0"/>
              <a:t> wir die </a:t>
            </a:r>
            <a:r>
              <a:rPr sz="1600" dirty="0" err="1"/>
              <a:t>Testdaten</a:t>
            </a:r>
            <a:r>
              <a:rPr sz="1600" dirty="0"/>
              <a:t>?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50C18C9-2755-66EA-B1AC-E3A22E3CC054}"/>
              </a:ext>
            </a:extLst>
          </p:cNvPr>
          <p:cNvSpPr txBox="1"/>
          <p:nvPr/>
        </p:nvSpPr>
        <p:spPr>
          <a:xfrm>
            <a:off x="460945" y="1790545"/>
            <a:ext cx="6322103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[</a:t>
            </a:r>
            <a:r>
              <a:rPr lang="de-DE" sz="1200" dirty="0">
                <a:latin typeface="Consolas" panose="020B0609020204030204" pitchFamily="49" charset="0"/>
              </a:rPr>
              <a:t>Theory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]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b="1" dirty="0" err="1">
                <a:solidFill>
                  <a:srgbClr val="007020"/>
                </a:solidFill>
                <a:latin typeface="Consolas" panose="020B0609020204030204" pitchFamily="49" charset="0"/>
              </a:rPr>
              <a:t>public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void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Validieren_SollteFalseZurueckgeben_WennIdUngueltigIst</a:t>
            </a:r>
            <a:br>
              <a:rPr lang="de-DE" sz="1200" dirty="0">
                <a:solidFill>
                  <a:srgbClr val="06287E"/>
                </a:solidFill>
                <a:latin typeface="Consolas" panose="020B0609020204030204" pitchFamily="49" charset="0"/>
              </a:rPr>
            </a:br>
            <a:r>
              <a:rPr lang="de-DE" sz="1200" dirty="0">
                <a:solidFill>
                  <a:srgbClr val="06287E"/>
                </a:solidFill>
                <a:latin typeface="Consolas" panose="020B0609020204030204" pitchFamily="49" charset="0"/>
              </a:rPr>
              <a:t>                                               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string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ungueltigeId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     // </a:t>
            </a:r>
            <a:r>
              <a:rPr lang="de-DE" sz="1200" i="1" dirty="0" err="1">
                <a:solidFill>
                  <a:srgbClr val="60A0B0"/>
                </a:solidFill>
                <a:latin typeface="Consolas" panose="020B0609020204030204" pitchFamily="49" charset="0"/>
              </a:rPr>
              <a:t>Arrange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var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validator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b="1" dirty="0" err="1">
                <a:solidFill>
                  <a:srgbClr val="007020"/>
                </a:solidFill>
                <a:latin typeface="Consolas" panose="020B0609020204030204" pitchFamily="49" charset="0"/>
              </a:rPr>
              <a:t>new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SteuerIdValidator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();</a:t>
            </a:r>
          </a:p>
          <a:p>
            <a:endParaRPr lang="de-DE" sz="1200" dirty="0">
              <a:solidFill>
                <a:srgbClr val="666666"/>
              </a:solidFill>
              <a:latin typeface="Consolas" panose="020B0609020204030204" pitchFamily="49" charset="0"/>
            </a:endParaRPr>
          </a:p>
          <a:p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     // Act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bool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result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validator</a:t>
            </a:r>
            <a:r>
              <a:rPr lang="de-DE" sz="1200" dirty="0" err="1">
                <a:solidFill>
                  <a:srgbClr val="666666"/>
                </a:solidFill>
                <a:latin typeface="Consolas" panose="020B0609020204030204" pitchFamily="49" charset="0"/>
              </a:rPr>
              <a:t>.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Validieren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 err="1">
                <a:latin typeface="Consolas" panose="020B0609020204030204" pitchFamily="49" charset="0"/>
              </a:rPr>
              <a:t>ungueltigeId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);</a:t>
            </a:r>
          </a:p>
          <a:p>
            <a:endParaRPr lang="de-DE" sz="1200" dirty="0">
              <a:solidFill>
                <a:srgbClr val="666666"/>
              </a:solidFill>
              <a:latin typeface="Consolas" panose="020B0609020204030204" pitchFamily="49" charset="0"/>
            </a:endParaRPr>
          </a:p>
          <a:p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     // </a:t>
            </a:r>
            <a:r>
              <a:rPr lang="de-DE" sz="1200" i="1" dirty="0" err="1">
                <a:solidFill>
                  <a:srgbClr val="60A0B0"/>
                </a:solidFill>
                <a:latin typeface="Consolas" panose="020B0609020204030204" pitchFamily="49" charset="0"/>
              </a:rPr>
              <a:t>Assert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</a:t>
            </a:r>
            <a:r>
              <a:rPr lang="de-DE" sz="1200" dirty="0" err="1">
                <a:latin typeface="Consolas" panose="020B0609020204030204" pitchFamily="49" charset="0"/>
              </a:rPr>
              <a:t>Assert</a:t>
            </a:r>
            <a:r>
              <a:rPr lang="de-DE" sz="1200" dirty="0" err="1">
                <a:solidFill>
                  <a:srgbClr val="666666"/>
                </a:solidFill>
                <a:latin typeface="Consolas" panose="020B0609020204030204" pitchFamily="49" charset="0"/>
              </a:rPr>
              <a:t>.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False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 err="1">
                <a:latin typeface="Consolas" panose="020B0609020204030204" pitchFamily="49" charset="0"/>
              </a:rPr>
              <a:t>result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);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}</a:t>
            </a:r>
            <a:endParaRPr lang="de-DE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xUnit</a:t>
            </a:r>
            <a:r>
              <a:rPr lang="de-DE" dirty="0"/>
              <a:t> Attribute: [</a:t>
            </a:r>
            <a:r>
              <a:rPr dirty="0" err="1"/>
              <a:t>InlineData</a:t>
            </a:r>
            <a:r>
              <a:rPr lang="de-DE" dirty="0"/>
              <a:t>] (1/2)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19" y="1103179"/>
            <a:ext cx="5858532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b="1" dirty="0">
                <a:solidFill>
                  <a:srgbClr val="0070C0"/>
                </a:solidFill>
                <a:latin typeface="Courier"/>
              </a:rPr>
              <a:t>[</a:t>
            </a:r>
            <a:r>
              <a:rPr sz="1600" b="1" dirty="0" err="1">
                <a:solidFill>
                  <a:srgbClr val="0070C0"/>
                </a:solidFill>
                <a:latin typeface="Courier"/>
              </a:rPr>
              <a:t>InlineData</a:t>
            </a:r>
            <a:r>
              <a:rPr sz="1600" b="1" dirty="0">
                <a:solidFill>
                  <a:srgbClr val="0070C0"/>
                </a:solidFill>
                <a:latin typeface="Courier"/>
              </a:rPr>
              <a:t>]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r>
              <a:rPr sz="1600" dirty="0" err="1"/>
              <a:t>ist</a:t>
            </a:r>
            <a:r>
              <a:rPr sz="1600" dirty="0"/>
              <a:t> der </a:t>
            </a:r>
            <a:r>
              <a:rPr sz="1600" dirty="0" err="1"/>
              <a:t>einfachste</a:t>
            </a:r>
            <a:r>
              <a:rPr sz="1600" dirty="0"/>
              <a:t> Weg, </a:t>
            </a:r>
            <a:r>
              <a:rPr sz="1600" dirty="0" err="1"/>
              <a:t>Testdaten</a:t>
            </a:r>
            <a:r>
              <a:rPr sz="1600" dirty="0"/>
              <a:t> </a:t>
            </a:r>
            <a:r>
              <a:rPr sz="1600" dirty="0" err="1"/>
              <a:t>direkt</a:t>
            </a:r>
            <a:r>
              <a:rPr sz="1600" dirty="0"/>
              <a:t> </a:t>
            </a:r>
            <a:r>
              <a:rPr sz="1600" dirty="0" err="1"/>
              <a:t>im</a:t>
            </a:r>
            <a:r>
              <a:rPr sz="1600" dirty="0"/>
              <a:t> Code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definieren</a:t>
            </a:r>
            <a:r>
              <a:rPr sz="1600" dirty="0"/>
              <a:t>. Sie </a:t>
            </a:r>
            <a:r>
              <a:rPr sz="1600" dirty="0" err="1"/>
              <a:t>können</a:t>
            </a:r>
            <a:r>
              <a:rPr sz="1600" dirty="0"/>
              <a:t> so </a:t>
            </a:r>
            <a:r>
              <a:rPr sz="1600" dirty="0" err="1"/>
              <a:t>viele</a:t>
            </a:r>
            <a:r>
              <a:rPr sz="1600" dirty="0"/>
              <a:t> </a:t>
            </a:r>
            <a:r>
              <a:rPr sz="1600" dirty="0">
                <a:latin typeface="Courier"/>
              </a:rPr>
              <a:t>[</a:t>
            </a:r>
            <a:r>
              <a:rPr sz="1600" dirty="0" err="1">
                <a:latin typeface="Courier"/>
              </a:rPr>
              <a:t>InlineData</a:t>
            </a:r>
            <a:r>
              <a:rPr sz="1600" dirty="0">
                <a:latin typeface="Courier"/>
              </a:rPr>
              <a:t>]</a:t>
            </a:r>
            <a:r>
              <a:rPr sz="1600" dirty="0"/>
              <a:t>-Attribute </a:t>
            </a:r>
            <a:r>
              <a:rPr sz="1600" dirty="0" err="1"/>
              <a:t>hinzufügen</a:t>
            </a:r>
            <a:r>
              <a:rPr sz="1600" dirty="0"/>
              <a:t>, </a:t>
            </a:r>
            <a:r>
              <a:rPr sz="1600" dirty="0" err="1"/>
              <a:t>wie</a:t>
            </a:r>
            <a:r>
              <a:rPr sz="1600" dirty="0"/>
              <a:t> Sie </a:t>
            </a:r>
            <a:r>
              <a:rPr sz="1600" dirty="0" err="1"/>
              <a:t>möchten</a:t>
            </a:r>
            <a:r>
              <a:rPr sz="1600" dirty="0"/>
              <a:t>, um </a:t>
            </a:r>
            <a:r>
              <a:rPr sz="1600" dirty="0" err="1"/>
              <a:t>verschiedene</a:t>
            </a:r>
            <a:r>
              <a:rPr sz="1600" dirty="0"/>
              <a:t> </a:t>
            </a:r>
            <a:r>
              <a:rPr sz="1600" dirty="0" err="1"/>
              <a:t>Szenarien</a:t>
            </a:r>
            <a:r>
              <a:rPr sz="1600" dirty="0"/>
              <a:t> </a:t>
            </a:r>
            <a:r>
              <a:rPr sz="1600" dirty="0" err="1"/>
              <a:t>abzudecken</a:t>
            </a:r>
            <a:r>
              <a:rPr sz="1600" dirty="0"/>
              <a:t>.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BE2B54F-A258-8DEF-2755-D80E67AF91D2}"/>
              </a:ext>
            </a:extLst>
          </p:cNvPr>
          <p:cNvSpPr txBox="1"/>
          <p:nvPr/>
        </p:nvSpPr>
        <p:spPr>
          <a:xfrm>
            <a:off x="204991" y="2028841"/>
            <a:ext cx="66530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// Test-Methode mit einem Parameter</a:t>
            </a:r>
          </a:p>
          <a:p>
            <a:endParaRPr lang="de-DE" sz="1200" i="1" dirty="0">
              <a:solidFill>
                <a:srgbClr val="60A0B0"/>
              </a:solidFill>
              <a:latin typeface="Consolas" panose="020B0609020204030204" pitchFamily="49" charset="0"/>
            </a:endParaRPr>
          </a:p>
          <a:p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[</a:t>
            </a:r>
            <a:r>
              <a:rPr lang="de-DE" sz="1200" dirty="0">
                <a:latin typeface="Consolas" panose="020B0609020204030204" pitchFamily="49" charset="0"/>
              </a:rPr>
              <a:t>Theory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]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[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InlineData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>
                <a:solidFill>
                  <a:srgbClr val="4070A0"/>
                </a:solidFill>
                <a:latin typeface="Consolas" panose="020B0609020204030204" pitchFamily="49" charset="0"/>
              </a:rPr>
              <a:t>"123"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)]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// Zu kurz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[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InlineData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>
                <a:solidFill>
                  <a:srgbClr val="4070A0"/>
                </a:solidFill>
                <a:latin typeface="Consolas" panose="020B0609020204030204" pitchFamily="49" charset="0"/>
              </a:rPr>
              <a:t>"123456789012"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)]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// Zu lang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[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InlineData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>
                <a:solidFill>
                  <a:srgbClr val="4070A0"/>
                </a:solidFill>
                <a:latin typeface="Consolas" panose="020B0609020204030204" pitchFamily="49" charset="0"/>
              </a:rPr>
              <a:t>"ABC45678901"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)]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// Buchstaben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b="1" dirty="0" err="1">
                <a:solidFill>
                  <a:srgbClr val="007020"/>
                </a:solidFill>
                <a:latin typeface="Consolas" panose="020B0609020204030204" pitchFamily="49" charset="0"/>
              </a:rPr>
              <a:t>public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void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Validieren_SollteFalseZurueckgeben_WennIdUngueltigIst</a:t>
            </a:r>
            <a:br>
              <a:rPr lang="de-DE" sz="1200" dirty="0">
                <a:solidFill>
                  <a:srgbClr val="06287E"/>
                </a:solidFill>
                <a:latin typeface="Consolas" panose="020B0609020204030204" pitchFamily="49" charset="0"/>
              </a:rPr>
            </a:br>
            <a:r>
              <a:rPr lang="de-DE" sz="1200" dirty="0">
                <a:solidFill>
                  <a:srgbClr val="06287E"/>
                </a:solidFill>
                <a:latin typeface="Consolas" panose="020B0609020204030204" pitchFamily="49" charset="0"/>
              </a:rPr>
              <a:t>                                                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string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ungueltigeId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{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var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validator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b="1" dirty="0" err="1">
                <a:solidFill>
                  <a:srgbClr val="007020"/>
                </a:solidFill>
                <a:latin typeface="Consolas" panose="020B0609020204030204" pitchFamily="49" charset="0"/>
              </a:rPr>
              <a:t>new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SteuerIdValidator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();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bool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result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validator</a:t>
            </a:r>
            <a:r>
              <a:rPr lang="de-DE" sz="1200" dirty="0" err="1">
                <a:solidFill>
                  <a:srgbClr val="666666"/>
                </a:solidFill>
                <a:latin typeface="Consolas" panose="020B0609020204030204" pitchFamily="49" charset="0"/>
              </a:rPr>
              <a:t>.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Validieren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 err="1">
                <a:latin typeface="Consolas" panose="020B0609020204030204" pitchFamily="49" charset="0"/>
              </a:rPr>
              <a:t>ungueltigeId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);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dirty="0" err="1">
                <a:latin typeface="Consolas" panose="020B0609020204030204" pitchFamily="49" charset="0"/>
              </a:rPr>
              <a:t>Assert</a:t>
            </a:r>
            <a:r>
              <a:rPr lang="de-DE" sz="1200" dirty="0" err="1">
                <a:solidFill>
                  <a:srgbClr val="666666"/>
                </a:solidFill>
                <a:latin typeface="Consolas" panose="020B0609020204030204" pitchFamily="49" charset="0"/>
              </a:rPr>
              <a:t>.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False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 err="1">
                <a:latin typeface="Consolas" panose="020B0609020204030204" pitchFamily="49" charset="0"/>
              </a:rPr>
              <a:t>result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);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}</a:t>
            </a:r>
            <a:br>
              <a:rPr lang="de-DE" sz="1200" dirty="0">
                <a:latin typeface="Consolas" panose="020B0609020204030204" pitchFamily="49" charset="0"/>
              </a:rPr>
            </a:br>
            <a:endParaRPr lang="de-DE" sz="12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67130-9BDC-696A-2058-3EB575198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90348-AEE3-AA97-C056-2145A8F0F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xUnit</a:t>
            </a:r>
            <a:r>
              <a:rPr lang="de-DE" dirty="0"/>
              <a:t> Attribute: [</a:t>
            </a:r>
            <a:r>
              <a:rPr dirty="0" err="1"/>
              <a:t>InlineData</a:t>
            </a:r>
            <a:r>
              <a:rPr lang="de-DE" dirty="0"/>
              <a:t>] (2/2)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A7B53-9736-A958-3262-348AF9C22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19" y="1103179"/>
            <a:ext cx="5858532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b="1" dirty="0">
                <a:solidFill>
                  <a:srgbClr val="0070C0"/>
                </a:solidFill>
                <a:latin typeface="Courier"/>
              </a:rPr>
              <a:t>[</a:t>
            </a:r>
            <a:r>
              <a:rPr sz="1600" b="1" dirty="0" err="1">
                <a:solidFill>
                  <a:srgbClr val="0070C0"/>
                </a:solidFill>
                <a:latin typeface="Courier"/>
              </a:rPr>
              <a:t>InlineData</a:t>
            </a:r>
            <a:r>
              <a:rPr sz="1600" b="1" dirty="0">
                <a:solidFill>
                  <a:srgbClr val="0070C0"/>
                </a:solidFill>
                <a:latin typeface="Courier"/>
              </a:rPr>
              <a:t>]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r>
              <a:rPr sz="1600" dirty="0" err="1"/>
              <a:t>ist</a:t>
            </a:r>
            <a:r>
              <a:rPr sz="1600" dirty="0"/>
              <a:t> der </a:t>
            </a:r>
            <a:r>
              <a:rPr sz="1600" dirty="0" err="1"/>
              <a:t>einfachste</a:t>
            </a:r>
            <a:r>
              <a:rPr sz="1600" dirty="0"/>
              <a:t> Weg, </a:t>
            </a:r>
            <a:r>
              <a:rPr sz="1600" dirty="0" err="1"/>
              <a:t>Testdaten</a:t>
            </a:r>
            <a:r>
              <a:rPr sz="1600" dirty="0"/>
              <a:t> </a:t>
            </a:r>
            <a:r>
              <a:rPr sz="1600" dirty="0" err="1"/>
              <a:t>direkt</a:t>
            </a:r>
            <a:r>
              <a:rPr sz="1600" dirty="0"/>
              <a:t> </a:t>
            </a:r>
            <a:r>
              <a:rPr sz="1600" dirty="0" err="1"/>
              <a:t>im</a:t>
            </a:r>
            <a:r>
              <a:rPr sz="1600" dirty="0"/>
              <a:t> Code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definieren</a:t>
            </a:r>
            <a:r>
              <a:rPr sz="1600" dirty="0"/>
              <a:t>. Sie </a:t>
            </a:r>
            <a:r>
              <a:rPr sz="1600" dirty="0" err="1"/>
              <a:t>können</a:t>
            </a:r>
            <a:r>
              <a:rPr sz="1600" dirty="0"/>
              <a:t> so </a:t>
            </a:r>
            <a:r>
              <a:rPr sz="1600" dirty="0" err="1"/>
              <a:t>viele</a:t>
            </a:r>
            <a:r>
              <a:rPr sz="1600" dirty="0"/>
              <a:t> </a:t>
            </a:r>
            <a:r>
              <a:rPr sz="1600" dirty="0">
                <a:latin typeface="Courier"/>
              </a:rPr>
              <a:t>[</a:t>
            </a:r>
            <a:r>
              <a:rPr sz="1600" dirty="0" err="1">
                <a:latin typeface="Courier"/>
              </a:rPr>
              <a:t>InlineData</a:t>
            </a:r>
            <a:r>
              <a:rPr sz="1600" dirty="0">
                <a:latin typeface="Courier"/>
              </a:rPr>
              <a:t>]</a:t>
            </a:r>
            <a:r>
              <a:rPr sz="1600" dirty="0"/>
              <a:t>-Attribute </a:t>
            </a:r>
            <a:r>
              <a:rPr sz="1600" dirty="0" err="1"/>
              <a:t>hinzufügen</a:t>
            </a:r>
            <a:r>
              <a:rPr sz="1600" dirty="0"/>
              <a:t>, </a:t>
            </a:r>
            <a:r>
              <a:rPr sz="1600" dirty="0" err="1"/>
              <a:t>wie</a:t>
            </a:r>
            <a:r>
              <a:rPr sz="1600" dirty="0"/>
              <a:t> Sie </a:t>
            </a:r>
            <a:r>
              <a:rPr sz="1600" dirty="0" err="1"/>
              <a:t>möchten</a:t>
            </a:r>
            <a:r>
              <a:rPr sz="1600" dirty="0"/>
              <a:t>, um </a:t>
            </a:r>
            <a:r>
              <a:rPr sz="1600" dirty="0" err="1"/>
              <a:t>verschiedene</a:t>
            </a:r>
            <a:r>
              <a:rPr sz="1600" dirty="0"/>
              <a:t> </a:t>
            </a:r>
            <a:r>
              <a:rPr sz="1600" dirty="0" err="1"/>
              <a:t>Szenarien</a:t>
            </a:r>
            <a:r>
              <a:rPr sz="1600" dirty="0"/>
              <a:t> </a:t>
            </a:r>
            <a:r>
              <a:rPr sz="1600" dirty="0" err="1"/>
              <a:t>abzudecken</a:t>
            </a:r>
            <a:r>
              <a:rPr sz="1600" dirty="0"/>
              <a:t>.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71E2580-9449-227B-EC67-8FB9BFB4B605}"/>
              </a:ext>
            </a:extLst>
          </p:cNvPr>
          <p:cNvSpPr txBox="1"/>
          <p:nvPr/>
        </p:nvSpPr>
        <p:spPr>
          <a:xfrm>
            <a:off x="204991" y="2028841"/>
            <a:ext cx="665300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// Test-Methode mit drei Parametern inklusive erwartetem Ergebnis</a:t>
            </a:r>
          </a:p>
          <a:p>
            <a:endParaRPr lang="de-DE" sz="1200" i="1" dirty="0">
              <a:solidFill>
                <a:srgbClr val="60A0B0"/>
              </a:solidFill>
              <a:latin typeface="Consolas" panose="020B0609020204030204" pitchFamily="49" charset="0"/>
            </a:endParaRPr>
          </a:p>
          <a:p>
            <a:r>
              <a:rPr lang="de-DE"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[</a:t>
            </a:r>
            <a:r>
              <a:rPr lang="de-DE" sz="1200" dirty="0">
                <a:latin typeface="Consolas" panose="020B0609020204030204" pitchFamily="49" charset="0"/>
              </a:rPr>
              <a:t>Theory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]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[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InlineData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>
                <a:solidFill>
                  <a:srgbClr val="40A070"/>
                </a:solidFill>
                <a:latin typeface="Consolas" panose="020B0609020204030204" pitchFamily="49" charset="0"/>
              </a:rPr>
              <a:t>1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,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40A070"/>
                </a:solidFill>
                <a:latin typeface="Consolas" panose="020B0609020204030204" pitchFamily="49" charset="0"/>
              </a:rPr>
              <a:t>1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,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40A070"/>
                </a:solidFill>
                <a:latin typeface="Consolas" panose="020B0609020204030204" pitchFamily="49" charset="0"/>
              </a:rPr>
              <a:t>2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)]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[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InlineData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>
                <a:solidFill>
                  <a:srgbClr val="40A070"/>
                </a:solidFill>
                <a:latin typeface="Consolas" panose="020B0609020204030204" pitchFamily="49" charset="0"/>
              </a:rPr>
              <a:t>2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,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40A070"/>
                </a:solidFill>
                <a:latin typeface="Consolas" panose="020B0609020204030204" pitchFamily="49" charset="0"/>
              </a:rPr>
              <a:t>2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,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40A070"/>
                </a:solidFill>
                <a:latin typeface="Consolas" panose="020B0609020204030204" pitchFamily="49" charset="0"/>
              </a:rPr>
              <a:t>4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)]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b="1" dirty="0" err="1">
                <a:solidFill>
                  <a:srgbClr val="007020"/>
                </a:solidFill>
                <a:latin typeface="Consolas" panose="020B0609020204030204" pitchFamily="49" charset="0"/>
              </a:rPr>
              <a:t>public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void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Addieren_GibtSummeZurueck_WennEingabenGueltigSind</a:t>
            </a:r>
            <a:br>
              <a:rPr lang="de-DE" sz="1200" dirty="0">
                <a:solidFill>
                  <a:srgbClr val="06287E"/>
                </a:solidFill>
                <a:latin typeface="Consolas" panose="020B0609020204030204" pitchFamily="49" charset="0"/>
              </a:rPr>
            </a:br>
            <a:r>
              <a:rPr lang="de-DE" sz="1200" dirty="0">
                <a:solidFill>
                  <a:srgbClr val="06287E"/>
                </a:solidFill>
                <a:latin typeface="Consolas" panose="020B0609020204030204" pitchFamily="49" charset="0"/>
              </a:rPr>
              <a:t>                                            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int</a:t>
            </a:r>
            <a:r>
              <a:rPr lang="de-DE" sz="1200" dirty="0">
                <a:latin typeface="Consolas" panose="020B0609020204030204" pitchFamily="49" charset="0"/>
              </a:rPr>
              <a:t> a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,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int</a:t>
            </a:r>
            <a:r>
              <a:rPr lang="de-DE" sz="1200" dirty="0">
                <a:latin typeface="Consolas" panose="020B0609020204030204" pitchFamily="49" charset="0"/>
              </a:rPr>
              <a:t> b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,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int</a:t>
            </a:r>
            <a:r>
              <a:rPr lang="de-DE" sz="1200" dirty="0">
                <a:latin typeface="Consolas" panose="020B0609020204030204" pitchFamily="49" charset="0"/>
              </a:rPr>
              <a:t> erwartet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{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var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addierer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b="1" dirty="0" err="1">
                <a:solidFill>
                  <a:srgbClr val="007020"/>
                </a:solidFill>
                <a:latin typeface="Consolas" panose="020B0609020204030204" pitchFamily="49" charset="0"/>
              </a:rPr>
              <a:t>new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Addierer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();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dirty="0" err="1">
                <a:solidFill>
                  <a:srgbClr val="902000"/>
                </a:solidFill>
                <a:latin typeface="Consolas" panose="020B0609020204030204" pitchFamily="49" charset="0"/>
              </a:rPr>
              <a:t>int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ergebnis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addierer</a:t>
            </a:r>
            <a:r>
              <a:rPr lang="de-DE" sz="1200" dirty="0" err="1">
                <a:solidFill>
                  <a:srgbClr val="666666"/>
                </a:solidFill>
                <a:latin typeface="Consolas" panose="020B0609020204030204" pitchFamily="49" charset="0"/>
              </a:rPr>
              <a:t>.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Addieren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>
                <a:latin typeface="Consolas" panose="020B0609020204030204" pitchFamily="49" charset="0"/>
              </a:rPr>
              <a:t>a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,</a:t>
            </a:r>
            <a:r>
              <a:rPr lang="de-DE" sz="1200" dirty="0">
                <a:latin typeface="Consolas" panose="020B0609020204030204" pitchFamily="49" charset="0"/>
              </a:rPr>
              <a:t> b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);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    </a:t>
            </a:r>
            <a:r>
              <a:rPr lang="de-DE" sz="1200" dirty="0" err="1">
                <a:latin typeface="Consolas" panose="020B0609020204030204" pitchFamily="49" charset="0"/>
              </a:rPr>
              <a:t>Assert</a:t>
            </a:r>
            <a:r>
              <a:rPr lang="de-DE" sz="1200" dirty="0" err="1">
                <a:solidFill>
                  <a:srgbClr val="666666"/>
                </a:solidFill>
                <a:latin typeface="Consolas" panose="020B0609020204030204" pitchFamily="49" charset="0"/>
              </a:rPr>
              <a:t>.</a:t>
            </a:r>
            <a:r>
              <a:rPr lang="de-DE"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Equal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>
                <a:latin typeface="Consolas" panose="020B0609020204030204" pitchFamily="49" charset="0"/>
              </a:rPr>
              <a:t>erwartet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,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ergebnis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);</a:t>
            </a:r>
            <a:br>
              <a:rPr lang="de-DE" sz="1200" dirty="0">
                <a:latin typeface="Consolas" panose="020B0609020204030204" pitchFamily="49" charset="0"/>
              </a:rPr>
            </a:br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>
                <a:solidFill>
                  <a:srgbClr val="666666"/>
                </a:solidFill>
                <a:latin typeface="Consolas" panose="020B0609020204030204" pitchFamily="49" charset="0"/>
              </a:rPr>
              <a:t>}</a:t>
            </a:r>
            <a:endParaRPr lang="de-DE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317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Assertions: Mehr als nur True/False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548" y="1103179"/>
            <a:ext cx="5585522" cy="360331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Die </a:t>
            </a:r>
            <a:r>
              <a:rPr b="1" dirty="0">
                <a:solidFill>
                  <a:srgbClr val="0070C0"/>
                </a:solidFill>
                <a:latin typeface="Courier"/>
              </a:rPr>
              <a:t>Assert</a:t>
            </a:r>
            <a:r>
              <a:rPr dirty="0"/>
              <a:t>-Klasse </a:t>
            </a:r>
            <a:r>
              <a:rPr dirty="0" err="1"/>
              <a:t>bietet</a:t>
            </a:r>
            <a:r>
              <a:rPr dirty="0"/>
              <a:t> </a:t>
            </a:r>
            <a:r>
              <a:rPr dirty="0" err="1"/>
              <a:t>viele</a:t>
            </a:r>
            <a:r>
              <a:rPr dirty="0"/>
              <a:t> </a:t>
            </a:r>
            <a:r>
              <a:rPr dirty="0" err="1"/>
              <a:t>hilfreiche</a:t>
            </a:r>
            <a:r>
              <a:rPr dirty="0"/>
              <a:t> </a:t>
            </a:r>
            <a:r>
              <a:rPr dirty="0" err="1"/>
              <a:t>Methoden</a:t>
            </a:r>
            <a:r>
              <a:rPr dirty="0"/>
              <a:t>: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dirty="0" err="1"/>
              <a:t>Diese</a:t>
            </a:r>
            <a:r>
              <a:rPr dirty="0"/>
              <a:t> </a:t>
            </a:r>
            <a:r>
              <a:rPr dirty="0" err="1"/>
              <a:t>Methoden</a:t>
            </a:r>
            <a:r>
              <a:rPr dirty="0"/>
              <a:t> </a:t>
            </a:r>
            <a:r>
              <a:rPr dirty="0" err="1"/>
              <a:t>ermöglichen</a:t>
            </a:r>
            <a:r>
              <a:rPr dirty="0"/>
              <a:t> es, </a:t>
            </a:r>
            <a:r>
              <a:rPr dirty="0" err="1"/>
              <a:t>sehr</a:t>
            </a:r>
            <a:r>
              <a:rPr dirty="0"/>
              <a:t> </a:t>
            </a:r>
            <a:r>
              <a:rPr dirty="0" err="1"/>
              <a:t>präzise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prüfen</a:t>
            </a:r>
            <a:r>
              <a:rPr dirty="0"/>
              <a:t>, </a:t>
            </a:r>
            <a:r>
              <a:rPr dirty="0" err="1"/>
              <a:t>ob</a:t>
            </a:r>
            <a:r>
              <a:rPr dirty="0"/>
              <a:t> das </a:t>
            </a:r>
            <a:r>
              <a:rPr dirty="0" err="1"/>
              <a:t>Ergebnis</a:t>
            </a:r>
            <a:r>
              <a:rPr dirty="0"/>
              <a:t> den </a:t>
            </a:r>
            <a:r>
              <a:rPr dirty="0" err="1"/>
              <a:t>Erwartungen</a:t>
            </a:r>
            <a:r>
              <a:rPr dirty="0"/>
              <a:t> </a:t>
            </a:r>
            <a:r>
              <a:rPr dirty="0" err="1"/>
              <a:t>entspricht</a:t>
            </a:r>
            <a:r>
              <a:rPr dirty="0"/>
              <a:t>.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B6939C0-C02C-484F-6DE8-FA60C8A1505F}"/>
              </a:ext>
            </a:extLst>
          </p:cNvPr>
          <p:cNvSpPr txBox="1"/>
          <p:nvPr/>
        </p:nvSpPr>
        <p:spPr>
          <a:xfrm>
            <a:off x="617221" y="1408509"/>
            <a:ext cx="5019082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de-DE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de-DE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Equal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expected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actual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200000"/>
              </a:lnSpc>
              <a:buNone/>
            </a:pPr>
            <a:r>
              <a:rPr lang="de-DE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de-DE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200000"/>
              </a:lnSpc>
              <a:buNone/>
            </a:pPr>
            <a:r>
              <a:rPr lang="de-DE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de-DE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Contains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Teiltext</a:t>
            </a:r>
            <a:r>
              <a:rPr lang="de-DE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resultString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200000"/>
              </a:lnSpc>
              <a:buNone/>
            </a:pPr>
            <a:r>
              <a:rPr lang="de-DE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de-DE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Throws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ArgumentException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&gt;(() </a:t>
            </a:r>
            <a:r>
              <a:rPr lang="de-DE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200000"/>
              </a:lnSpc>
              <a:buNone/>
            </a:pPr>
            <a:r>
              <a:rPr lang="de-DE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de-DE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collection</a:t>
            </a:r>
            <a:r>
              <a:rPr lang="de-DE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/>
          <a:lstStyle/>
          <a:p>
            <a:r>
              <a:rPr lang="de-DE" dirty="0"/>
              <a:t>Teil 3: </a:t>
            </a:r>
            <a:br>
              <a:rPr lang="de-DE" dirty="0"/>
            </a:br>
            <a:r>
              <a:rPr lang="de-DE" dirty="0" err="1"/>
              <a:t>Mocking</a:t>
            </a:r>
            <a:r>
              <a:rPr lang="de-DE" dirty="0"/>
              <a:t> von Abhängigkeiten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C70E973-5DB3-AFDC-93CD-E1844987A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Die </a:t>
            </a:r>
            <a:r>
              <a:rPr dirty="0" err="1"/>
              <a:t>wichtigste</a:t>
            </a:r>
            <a:r>
              <a:rPr dirty="0"/>
              <a:t> </a:t>
            </a:r>
            <a:r>
              <a:rPr lang="de-DE" dirty="0"/>
              <a:t>Test-</a:t>
            </a:r>
            <a:r>
              <a:rPr dirty="0"/>
              <a:t>Regel: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052" y="1103179"/>
            <a:ext cx="5593018" cy="3603318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</a:rPr>
              <a:t>Ein Unit Test muss </a:t>
            </a:r>
            <a:r>
              <a:rPr b="1" i="1" dirty="0" err="1">
                <a:solidFill>
                  <a:srgbClr val="0070C0"/>
                </a:solidFill>
              </a:rPr>
              <a:t>isoliert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ablaufen</a:t>
            </a:r>
            <a:r>
              <a:rPr b="1" dirty="0">
                <a:solidFill>
                  <a:srgbClr val="0070C0"/>
                </a:solidFill>
              </a:rPr>
              <a:t>.</a:t>
            </a:r>
          </a:p>
          <a:p>
            <a:pPr marL="0" indent="0">
              <a:buNone/>
            </a:pPr>
            <a:r>
              <a:rPr dirty="0"/>
              <a:t>Er </a:t>
            </a:r>
            <a:r>
              <a:rPr dirty="0" err="1"/>
              <a:t>darf</a:t>
            </a:r>
            <a:r>
              <a:rPr dirty="0"/>
              <a:t> nicht auf das </a:t>
            </a:r>
            <a:r>
              <a:rPr dirty="0" err="1"/>
              <a:t>Dateisystem</a:t>
            </a:r>
            <a:r>
              <a:rPr dirty="0"/>
              <a:t>, nicht auf das </a:t>
            </a:r>
            <a:r>
              <a:rPr dirty="0" err="1"/>
              <a:t>Netzwerk</a:t>
            </a:r>
            <a:r>
              <a:rPr dirty="0"/>
              <a:t> und </a:t>
            </a:r>
            <a:r>
              <a:rPr dirty="0" err="1"/>
              <a:t>vor</a:t>
            </a:r>
            <a:r>
              <a:rPr dirty="0"/>
              <a:t> </a:t>
            </a:r>
            <a:r>
              <a:rPr dirty="0" err="1"/>
              <a:t>allem</a:t>
            </a:r>
            <a:r>
              <a:rPr dirty="0"/>
              <a:t> nicht auf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echte</a:t>
            </a:r>
            <a:r>
              <a:rPr dirty="0"/>
              <a:t> </a:t>
            </a:r>
            <a:r>
              <a:rPr dirty="0" err="1"/>
              <a:t>Datenbank</a:t>
            </a:r>
            <a:r>
              <a:rPr dirty="0"/>
              <a:t> </a:t>
            </a:r>
            <a:r>
              <a:rPr dirty="0" err="1"/>
              <a:t>zugreifen</a:t>
            </a:r>
            <a:r>
              <a:rPr dirty="0"/>
              <a:t>!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b="1" dirty="0" err="1"/>
              <a:t>Warum</a:t>
            </a:r>
            <a:r>
              <a:rPr b="1" dirty="0"/>
              <a:t>?</a:t>
            </a:r>
          </a:p>
          <a:p>
            <a:pPr marL="0" indent="0">
              <a:buNone/>
            </a:pPr>
            <a:r>
              <a:rPr dirty="0"/>
              <a:t>Weil der Test </a:t>
            </a:r>
            <a:r>
              <a:rPr dirty="0" err="1"/>
              <a:t>sonst</a:t>
            </a:r>
            <a:r>
              <a:rPr dirty="0"/>
              <a:t> </a:t>
            </a:r>
            <a:r>
              <a:rPr dirty="0" err="1"/>
              <a:t>unzuverlässig</a:t>
            </a:r>
            <a:r>
              <a:rPr dirty="0"/>
              <a:t> (</a:t>
            </a:r>
            <a:r>
              <a:rPr lang="de-DE" dirty="0"/>
              <a:t>"</a:t>
            </a:r>
            <a:r>
              <a:rPr dirty="0"/>
              <a:t>flaky</a:t>
            </a:r>
            <a:r>
              <a:rPr lang="de-DE" dirty="0"/>
              <a:t>"</a:t>
            </a:r>
            <a:r>
              <a:rPr dirty="0"/>
              <a:t>) </a:t>
            </a:r>
            <a:r>
              <a:rPr dirty="0" err="1"/>
              <a:t>wird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Es </a:t>
            </a:r>
            <a:r>
              <a:rPr dirty="0" err="1"/>
              <a:t>ginge</a:t>
            </a:r>
            <a:r>
              <a:rPr dirty="0"/>
              <a:t> nicht </a:t>
            </a:r>
            <a:r>
              <a:rPr dirty="0" err="1"/>
              <a:t>mehr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darum</a:t>
            </a:r>
            <a:r>
              <a:rPr dirty="0"/>
              <a:t>, </a:t>
            </a:r>
            <a:r>
              <a:rPr dirty="0" err="1"/>
              <a:t>ob</a:t>
            </a:r>
            <a:r>
              <a:rPr dirty="0"/>
              <a:t> </a:t>
            </a:r>
            <a:r>
              <a:rPr dirty="0" err="1"/>
              <a:t>Ihr</a:t>
            </a:r>
            <a:r>
              <a:rPr dirty="0"/>
              <a:t> Code </a:t>
            </a:r>
            <a:r>
              <a:rPr dirty="0" err="1"/>
              <a:t>korrekt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, </a:t>
            </a:r>
            <a:r>
              <a:rPr dirty="0" err="1"/>
              <a:t>sondern</a:t>
            </a:r>
            <a:r>
              <a:rPr dirty="0"/>
              <a:t> </a:t>
            </a:r>
            <a:r>
              <a:rPr dirty="0" err="1"/>
              <a:t>auch</a:t>
            </a:r>
            <a:r>
              <a:rPr dirty="0"/>
              <a:t> </a:t>
            </a:r>
            <a:r>
              <a:rPr dirty="0" err="1"/>
              <a:t>ob</a:t>
            </a:r>
            <a:r>
              <a:rPr dirty="0"/>
              <a:t> die </a:t>
            </a:r>
            <a:r>
              <a:rPr dirty="0" err="1"/>
              <a:t>Infrastruktur</a:t>
            </a:r>
            <a:r>
              <a:rPr dirty="0"/>
              <a:t> </a:t>
            </a:r>
            <a:r>
              <a:rPr dirty="0" err="1"/>
              <a:t>gerade</a:t>
            </a:r>
            <a:r>
              <a:rPr dirty="0"/>
              <a:t> </a:t>
            </a:r>
            <a:r>
              <a:rPr dirty="0" err="1"/>
              <a:t>mitspielt</a:t>
            </a:r>
            <a:r>
              <a:rPr dirty="0"/>
              <a:t> (</a:t>
            </a:r>
            <a:r>
              <a:rPr dirty="0" err="1"/>
              <a:t>eingeschränkte</a:t>
            </a:r>
            <a:r>
              <a:rPr dirty="0"/>
              <a:t> </a:t>
            </a:r>
            <a:r>
              <a:rPr dirty="0" err="1"/>
              <a:t>Wiederholbarkeit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 Problem: </a:t>
            </a:r>
            <a:br>
              <a:rPr lang="de-DE" dirty="0"/>
            </a:br>
            <a:r>
              <a:rPr dirty="0" err="1"/>
              <a:t>Infrastruktur-Abhängigkeiten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052" y="1103179"/>
            <a:ext cx="5831174" cy="3603318"/>
          </a:xfrm>
        </p:spPr>
        <p:txBody>
          <a:bodyPr/>
          <a:lstStyle/>
          <a:p>
            <a:pPr marL="0" indent="0">
              <a:buNone/>
            </a:pPr>
            <a:r>
              <a:rPr dirty="0" err="1"/>
              <a:t>Stellen</a:t>
            </a:r>
            <a:r>
              <a:rPr dirty="0"/>
              <a:t> Sie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vor</a:t>
            </a:r>
            <a:r>
              <a:rPr dirty="0"/>
              <a:t>, Sie </a:t>
            </a:r>
            <a:r>
              <a:rPr dirty="0" err="1"/>
              <a:t>wollen</a:t>
            </a:r>
            <a:r>
              <a:rPr dirty="0"/>
              <a:t> den </a:t>
            </a:r>
            <a:r>
              <a:rPr sz="1600" dirty="0" err="1">
                <a:latin typeface="Courier"/>
              </a:rPr>
              <a:t>RegistrierungsService</a:t>
            </a:r>
            <a:r>
              <a:rPr dirty="0"/>
              <a:t> </a:t>
            </a:r>
            <a:r>
              <a:rPr dirty="0" err="1"/>
              <a:t>testen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/>
              <a:t>Dieser Service </a:t>
            </a:r>
            <a:r>
              <a:rPr dirty="0" err="1"/>
              <a:t>speichert</a:t>
            </a:r>
            <a:r>
              <a:rPr dirty="0"/>
              <a:t> </a:t>
            </a:r>
            <a:r>
              <a:rPr dirty="0" err="1"/>
              <a:t>Daten</a:t>
            </a:r>
            <a:r>
              <a:rPr dirty="0"/>
              <a:t> in </a:t>
            </a:r>
            <a:r>
              <a:rPr dirty="0" err="1"/>
              <a:t>einer</a:t>
            </a:r>
            <a:r>
              <a:rPr dirty="0"/>
              <a:t> </a:t>
            </a:r>
            <a:r>
              <a:rPr dirty="0" err="1"/>
              <a:t>echten</a:t>
            </a:r>
            <a:r>
              <a:rPr dirty="0"/>
              <a:t> </a:t>
            </a:r>
            <a:r>
              <a:rPr dirty="0" err="1"/>
              <a:t>Datenbank</a:t>
            </a:r>
            <a:r>
              <a:rPr dirty="0"/>
              <a:t> und </a:t>
            </a:r>
            <a:r>
              <a:rPr dirty="0" err="1"/>
              <a:t>sendet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echte</a:t>
            </a:r>
            <a:r>
              <a:rPr dirty="0"/>
              <a:t> E-Mails.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b="1" dirty="0"/>
              <a:t>Problem:</a:t>
            </a:r>
            <a:r>
              <a:rPr dirty="0"/>
              <a:t> </a:t>
            </a:r>
            <a:endParaRPr lang="de-DE" dirty="0"/>
          </a:p>
          <a:p>
            <a:pPr marL="0" indent="0">
              <a:buNone/>
            </a:pPr>
            <a:r>
              <a:rPr dirty="0"/>
              <a:t>Wenn die </a:t>
            </a:r>
            <a:r>
              <a:rPr dirty="0" err="1"/>
              <a:t>Datenbank</a:t>
            </a:r>
            <a:r>
              <a:rPr dirty="0"/>
              <a:t> </a:t>
            </a:r>
            <a:r>
              <a:rPr dirty="0" err="1"/>
              <a:t>beim</a:t>
            </a:r>
            <a:r>
              <a:rPr dirty="0"/>
              <a:t> Test </a:t>
            </a:r>
            <a:r>
              <a:rPr i="1" dirty="0"/>
              <a:t>down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, </a:t>
            </a:r>
            <a:r>
              <a:rPr dirty="0" err="1"/>
              <a:t>schlägt</a:t>
            </a:r>
            <a:r>
              <a:rPr dirty="0"/>
              <a:t> </a:t>
            </a:r>
            <a:r>
              <a:rPr dirty="0" err="1"/>
              <a:t>Ihr</a:t>
            </a:r>
            <a:r>
              <a:rPr dirty="0"/>
              <a:t> Test </a:t>
            </a:r>
            <a:r>
              <a:rPr dirty="0" err="1"/>
              <a:t>fehl</a:t>
            </a:r>
            <a:r>
              <a:rPr dirty="0"/>
              <a:t>, </a:t>
            </a:r>
            <a:r>
              <a:rPr dirty="0" err="1"/>
              <a:t>obwohl</a:t>
            </a:r>
            <a:r>
              <a:rPr dirty="0"/>
              <a:t> </a:t>
            </a:r>
            <a:r>
              <a:rPr dirty="0" err="1"/>
              <a:t>Ihr</a:t>
            </a:r>
            <a:r>
              <a:rPr dirty="0"/>
              <a:t> Code </a:t>
            </a:r>
            <a:r>
              <a:rPr dirty="0" err="1"/>
              <a:t>korrekt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/>
              <a:t>Der Test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z.B.</a:t>
            </a:r>
            <a:r>
              <a:rPr dirty="0"/>
              <a:t> </a:t>
            </a:r>
            <a:r>
              <a:rPr dirty="0" err="1"/>
              <a:t>langsam</a:t>
            </a:r>
            <a:r>
              <a:rPr dirty="0"/>
              <a:t> und </a:t>
            </a:r>
            <a:r>
              <a:rPr dirty="0" err="1"/>
              <a:t>hinterlässt</a:t>
            </a:r>
            <a:r>
              <a:rPr dirty="0"/>
              <a:t> “Müll” in der DB.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Lösung: Warum Interfaces?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548" y="1103179"/>
            <a:ext cx="5657850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dirty="0"/>
              <a:t>Weil wir </a:t>
            </a:r>
            <a:r>
              <a:rPr sz="1600" dirty="0" err="1"/>
              <a:t>gegen</a:t>
            </a:r>
            <a:r>
              <a:rPr sz="1600" dirty="0"/>
              <a:t> Interfaces </a:t>
            </a:r>
            <a:r>
              <a:rPr sz="1600" dirty="0" err="1"/>
              <a:t>programmieren</a:t>
            </a:r>
            <a:r>
              <a:rPr sz="1600" dirty="0"/>
              <a:t>, </a:t>
            </a:r>
            <a:r>
              <a:rPr sz="1600" dirty="0" err="1"/>
              <a:t>können</a:t>
            </a:r>
            <a:r>
              <a:rPr sz="1600" dirty="0"/>
              <a:t> wir die “</a:t>
            </a:r>
            <a:r>
              <a:rPr sz="1600" dirty="0" err="1"/>
              <a:t>echte</a:t>
            </a:r>
            <a:r>
              <a:rPr sz="1600" dirty="0"/>
              <a:t>” </a:t>
            </a:r>
            <a:r>
              <a:rPr sz="1600" dirty="0" err="1"/>
              <a:t>Datenbank</a:t>
            </a:r>
            <a:r>
              <a:rPr sz="1600" dirty="0"/>
              <a:t> </a:t>
            </a:r>
            <a:r>
              <a:rPr sz="1600" dirty="0" err="1"/>
              <a:t>im</a:t>
            </a:r>
            <a:r>
              <a:rPr sz="1600" dirty="0"/>
              <a:t> Test </a:t>
            </a:r>
            <a:r>
              <a:rPr sz="1600" dirty="0" err="1"/>
              <a:t>durch</a:t>
            </a:r>
            <a:r>
              <a:rPr sz="1600" dirty="0"/>
              <a:t> </a:t>
            </a:r>
            <a:r>
              <a:rPr sz="1600" dirty="0" err="1"/>
              <a:t>eine</a:t>
            </a:r>
            <a:r>
              <a:rPr sz="1600" dirty="0"/>
              <a:t> </a:t>
            </a:r>
            <a:r>
              <a:rPr sz="1600" dirty="0" err="1"/>
              <a:t>Attrappe</a:t>
            </a:r>
            <a:r>
              <a:rPr sz="1600" dirty="0"/>
              <a:t> (Mock) </a:t>
            </a:r>
            <a:r>
              <a:rPr sz="1600" dirty="0" err="1"/>
              <a:t>ersetzen</a:t>
            </a:r>
            <a:r>
              <a:rPr sz="1600" dirty="0"/>
              <a:t>.</a:t>
            </a:r>
          </a:p>
          <a:p>
            <a:pPr marL="0" indent="0">
              <a:buNone/>
            </a:pPr>
            <a:r>
              <a:rPr sz="1600" b="1" dirty="0">
                <a:solidFill>
                  <a:srgbClr val="0070C0"/>
                </a:solidFill>
              </a:rPr>
              <a:t>Ein Mock </a:t>
            </a:r>
            <a:r>
              <a:rPr sz="1600" b="1" dirty="0" err="1">
                <a:solidFill>
                  <a:srgbClr val="0070C0"/>
                </a:solidFill>
              </a:rPr>
              <a:t>implementiert</a:t>
            </a:r>
            <a:r>
              <a:rPr sz="1600" b="1" dirty="0">
                <a:solidFill>
                  <a:srgbClr val="0070C0"/>
                </a:solidFill>
              </a:rPr>
              <a:t> das Interface, tut </a:t>
            </a:r>
            <a:r>
              <a:rPr sz="1600" b="1" dirty="0" err="1">
                <a:solidFill>
                  <a:srgbClr val="0070C0"/>
                </a:solidFill>
              </a:rPr>
              <a:t>aber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r>
              <a:rPr sz="1600" b="1" dirty="0" err="1">
                <a:solidFill>
                  <a:srgbClr val="0070C0"/>
                </a:solidFill>
              </a:rPr>
              <a:t>nichts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r>
              <a:rPr sz="1600" b="1" dirty="0" err="1">
                <a:solidFill>
                  <a:srgbClr val="0070C0"/>
                </a:solidFill>
              </a:rPr>
              <a:t>Kritisches</a:t>
            </a:r>
            <a:r>
              <a:rPr sz="1600" b="1" dirty="0">
                <a:solidFill>
                  <a:srgbClr val="0070C0"/>
                </a:solidFill>
              </a:rPr>
              <a:t>.</a:t>
            </a:r>
          </a:p>
          <a:p>
            <a:pPr marL="0" indent="0">
              <a:buNone/>
            </a:pPr>
            <a:r>
              <a:rPr sz="1600" dirty="0"/>
              <a:t>Es </a:t>
            </a:r>
            <a:r>
              <a:rPr sz="1600" dirty="0" err="1"/>
              <a:t>simuliert</a:t>
            </a:r>
            <a:r>
              <a:rPr sz="1600" dirty="0"/>
              <a:t> </a:t>
            </a:r>
            <a:r>
              <a:rPr sz="1600" dirty="0" err="1"/>
              <a:t>nur</a:t>
            </a:r>
            <a:r>
              <a:rPr sz="1600" dirty="0"/>
              <a:t> das </a:t>
            </a:r>
            <a:r>
              <a:rPr sz="1600" dirty="0" err="1"/>
              <a:t>Verhalten</a:t>
            </a:r>
            <a:r>
              <a:rPr sz="1600" dirty="0"/>
              <a:t>, das für den Test </a:t>
            </a:r>
            <a:r>
              <a:rPr sz="1600" dirty="0" err="1"/>
              <a:t>nötig</a:t>
            </a:r>
            <a:r>
              <a:rPr sz="1600" dirty="0"/>
              <a:t> </a:t>
            </a:r>
            <a:r>
              <a:rPr sz="1600" dirty="0" err="1"/>
              <a:t>ist</a:t>
            </a:r>
            <a:r>
              <a:rPr sz="1600" dirty="0"/>
              <a:t> (</a:t>
            </a:r>
            <a:r>
              <a:rPr sz="1600" dirty="0" err="1"/>
              <a:t>z.B.</a:t>
            </a:r>
            <a:r>
              <a:rPr sz="1600" dirty="0"/>
              <a:t> </a:t>
            </a:r>
            <a:r>
              <a:rPr sz="1600" dirty="0" err="1"/>
              <a:t>Zähler</a:t>
            </a:r>
            <a:r>
              <a:rPr sz="1600" dirty="0"/>
              <a:t> </a:t>
            </a:r>
            <a:r>
              <a:rPr sz="1600" dirty="0" err="1"/>
              <a:t>hochzählen</a:t>
            </a:r>
            <a:r>
              <a:rPr sz="1600" dirty="0"/>
              <a:t>, um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prüfen</a:t>
            </a:r>
            <a:r>
              <a:rPr sz="1600" dirty="0"/>
              <a:t>, </a:t>
            </a:r>
            <a:r>
              <a:rPr sz="1600" dirty="0" err="1"/>
              <a:t>ob</a:t>
            </a:r>
            <a:r>
              <a:rPr sz="1600" dirty="0"/>
              <a:t> die Methode </a:t>
            </a:r>
            <a:r>
              <a:rPr sz="1600" dirty="0" err="1"/>
              <a:t>aufgerufen</a:t>
            </a:r>
            <a:r>
              <a:rPr sz="1600" dirty="0"/>
              <a:t> </a:t>
            </a:r>
            <a:r>
              <a:rPr sz="1600" dirty="0" err="1"/>
              <a:t>wurde</a:t>
            </a:r>
            <a:r>
              <a:rPr sz="1600" dirty="0"/>
              <a:t>).</a:t>
            </a:r>
          </a:p>
          <a:p>
            <a:pPr marL="0" indent="0">
              <a:buNone/>
            </a:pPr>
            <a:r>
              <a:rPr sz="1600" dirty="0"/>
              <a:t>Zur </a:t>
            </a:r>
            <a:r>
              <a:rPr sz="1600" dirty="0" err="1"/>
              <a:t>Erstellung</a:t>
            </a:r>
            <a:r>
              <a:rPr sz="1600" dirty="0"/>
              <a:t> </a:t>
            </a:r>
            <a:r>
              <a:rPr sz="1600" dirty="0" err="1"/>
              <a:t>eines</a:t>
            </a:r>
            <a:r>
              <a:rPr sz="1600" dirty="0"/>
              <a:t> Mocks </a:t>
            </a:r>
            <a:r>
              <a:rPr sz="1600" dirty="0" err="1"/>
              <a:t>gibt</a:t>
            </a:r>
            <a:r>
              <a:rPr sz="1600" dirty="0"/>
              <a:t> es </a:t>
            </a:r>
            <a:r>
              <a:rPr sz="1600" dirty="0" err="1"/>
              <a:t>zwei</a:t>
            </a:r>
            <a:r>
              <a:rPr sz="1600" dirty="0"/>
              <a:t> </a:t>
            </a:r>
            <a:r>
              <a:rPr sz="1600" dirty="0" err="1"/>
              <a:t>Möglichkeiten</a:t>
            </a:r>
            <a:r>
              <a:rPr sz="1600" dirty="0"/>
              <a:t>:</a:t>
            </a:r>
          </a:p>
          <a:p>
            <a:pPr marL="257175" indent="-257175">
              <a:buAutoNum type="arabicPeriod"/>
            </a:pPr>
            <a:r>
              <a:rPr sz="1600" b="1" dirty="0"/>
              <a:t>Manuell:</a:t>
            </a:r>
            <a:r>
              <a:rPr sz="1600" dirty="0"/>
              <a:t> Sie </a:t>
            </a:r>
            <a:r>
              <a:rPr sz="1600" dirty="0" err="1"/>
              <a:t>schreiben</a:t>
            </a:r>
            <a:r>
              <a:rPr sz="1600" dirty="0"/>
              <a:t> </a:t>
            </a:r>
            <a:r>
              <a:rPr sz="1600" dirty="0" err="1"/>
              <a:t>eine</a:t>
            </a:r>
            <a:r>
              <a:rPr sz="1600" dirty="0"/>
              <a:t> Klasse, die das Interface </a:t>
            </a:r>
            <a:r>
              <a:rPr sz="1600" dirty="0" err="1"/>
              <a:t>implementiert</a:t>
            </a:r>
            <a:r>
              <a:rPr sz="1600" dirty="0"/>
              <a:t> und die </a:t>
            </a:r>
            <a:r>
              <a:rPr sz="1600" dirty="0" err="1"/>
              <a:t>Methoden</a:t>
            </a:r>
            <a:r>
              <a:rPr sz="1600" dirty="0"/>
              <a:t> so </a:t>
            </a:r>
            <a:r>
              <a:rPr sz="1600" dirty="0" err="1"/>
              <a:t>anpasst</a:t>
            </a:r>
            <a:r>
              <a:rPr sz="1600" dirty="0"/>
              <a:t>, </a:t>
            </a:r>
            <a:r>
              <a:rPr sz="1600" dirty="0" err="1"/>
              <a:t>dass</a:t>
            </a:r>
            <a:r>
              <a:rPr sz="1600" dirty="0"/>
              <a:t> </a:t>
            </a:r>
            <a:r>
              <a:rPr sz="1600" dirty="0" err="1"/>
              <a:t>sie</a:t>
            </a:r>
            <a:r>
              <a:rPr sz="1600" dirty="0"/>
              <a:t> </a:t>
            </a:r>
            <a:r>
              <a:rPr sz="1600" dirty="0" err="1"/>
              <a:t>nur</a:t>
            </a:r>
            <a:r>
              <a:rPr sz="1600" dirty="0"/>
              <a:t> das tun, was für den Test </a:t>
            </a:r>
            <a:r>
              <a:rPr sz="1600" dirty="0" err="1"/>
              <a:t>nötig</a:t>
            </a:r>
            <a:r>
              <a:rPr sz="1600" dirty="0"/>
              <a:t> </a:t>
            </a:r>
            <a:r>
              <a:rPr sz="1600" dirty="0" err="1"/>
              <a:t>ist</a:t>
            </a:r>
            <a:r>
              <a:rPr sz="1600" dirty="0"/>
              <a:t> (</a:t>
            </a:r>
            <a:r>
              <a:rPr sz="1600" dirty="0" err="1"/>
              <a:t>z.B.</a:t>
            </a:r>
            <a:r>
              <a:rPr sz="1600" dirty="0"/>
              <a:t> </a:t>
            </a:r>
            <a:r>
              <a:rPr sz="1600" dirty="0" err="1"/>
              <a:t>Zähler</a:t>
            </a:r>
            <a:r>
              <a:rPr sz="1600" dirty="0"/>
              <a:t> </a:t>
            </a:r>
            <a:r>
              <a:rPr sz="1600" dirty="0" err="1"/>
              <a:t>hochzählen</a:t>
            </a:r>
            <a:r>
              <a:rPr sz="1600" dirty="0"/>
              <a:t>).</a:t>
            </a:r>
          </a:p>
          <a:p>
            <a:pPr marL="257175" indent="-257175">
              <a:buAutoNum type="arabicPeriod"/>
            </a:pPr>
            <a:r>
              <a:rPr sz="1600" b="1" dirty="0"/>
              <a:t>Mocking-Frameworks:</a:t>
            </a:r>
            <a:r>
              <a:rPr sz="1600" dirty="0"/>
              <a:t> Es </a:t>
            </a:r>
            <a:r>
              <a:rPr sz="1600" dirty="0" err="1"/>
              <a:t>gibt</a:t>
            </a:r>
            <a:r>
              <a:rPr sz="1600" dirty="0"/>
              <a:t> </a:t>
            </a:r>
            <a:r>
              <a:rPr sz="1600" dirty="0" err="1"/>
              <a:t>Bibliotheken</a:t>
            </a:r>
            <a:r>
              <a:rPr sz="1600" dirty="0"/>
              <a:t> </a:t>
            </a:r>
            <a:r>
              <a:rPr sz="1600" dirty="0" err="1"/>
              <a:t>wie</a:t>
            </a:r>
            <a:r>
              <a:rPr sz="1600" dirty="0"/>
              <a:t> </a:t>
            </a:r>
            <a:r>
              <a:rPr sz="1600" dirty="0" err="1">
                <a:latin typeface="Courier"/>
              </a:rPr>
              <a:t>Moq</a:t>
            </a:r>
            <a:r>
              <a:rPr sz="1600" dirty="0"/>
              <a:t>, die es </a:t>
            </a:r>
            <a:r>
              <a:rPr sz="1600" dirty="0" err="1"/>
              <a:t>ermöglichen</a:t>
            </a:r>
            <a:r>
              <a:rPr sz="1600" dirty="0"/>
              <a:t>, Mocks </a:t>
            </a:r>
            <a:r>
              <a:rPr sz="1600" dirty="0" err="1"/>
              <a:t>dynamisch</a:t>
            </a:r>
            <a:r>
              <a:rPr sz="1600" dirty="0"/>
              <a:t>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erstellen</a:t>
            </a:r>
            <a:r>
              <a:rPr sz="1600" dirty="0"/>
              <a:t> und </a:t>
            </a:r>
            <a:r>
              <a:rPr sz="1600" dirty="0" err="1"/>
              <a:t>Verhalten</a:t>
            </a:r>
            <a:r>
              <a:rPr sz="1600" dirty="0"/>
              <a:t>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definieren</a:t>
            </a:r>
            <a:r>
              <a:rPr sz="1600" dirty="0"/>
              <a:t>, </a:t>
            </a:r>
            <a:r>
              <a:rPr sz="1600" dirty="0" err="1"/>
              <a:t>ohne</a:t>
            </a:r>
            <a:r>
              <a:rPr sz="1600" dirty="0"/>
              <a:t> </a:t>
            </a:r>
            <a:r>
              <a:rPr sz="1600" dirty="0" err="1"/>
              <a:t>eine</a:t>
            </a:r>
            <a:r>
              <a:rPr sz="1600" dirty="0"/>
              <a:t> </a:t>
            </a:r>
            <a:r>
              <a:rPr sz="1600" dirty="0" err="1"/>
              <a:t>konkrete</a:t>
            </a:r>
            <a:r>
              <a:rPr sz="1600" dirty="0"/>
              <a:t> Klasse </a:t>
            </a:r>
            <a:r>
              <a:rPr sz="1600" dirty="0" err="1"/>
              <a:t>schreiben</a:t>
            </a:r>
            <a:r>
              <a:rPr sz="1600" dirty="0"/>
              <a:t>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müssen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zu testende Service (Code)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557" y="1103179"/>
            <a:ext cx="6033541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dirty="0"/>
              <a:t>Dieser Service </a:t>
            </a:r>
            <a:r>
              <a:rPr sz="1600" dirty="0" err="1"/>
              <a:t>soll</a:t>
            </a:r>
            <a:r>
              <a:rPr sz="1600" dirty="0"/>
              <a:t> </a:t>
            </a:r>
            <a:r>
              <a:rPr sz="1600" dirty="0" err="1"/>
              <a:t>getestet</a:t>
            </a:r>
            <a:r>
              <a:rPr sz="1600" dirty="0"/>
              <a:t> </a:t>
            </a:r>
            <a:r>
              <a:rPr sz="1600" dirty="0" err="1"/>
              <a:t>werden</a:t>
            </a:r>
            <a:r>
              <a:rPr sz="1600" dirty="0"/>
              <a:t>. Er </a:t>
            </a:r>
            <a:r>
              <a:rPr sz="1600" dirty="0" err="1"/>
              <a:t>hängt</a:t>
            </a:r>
            <a:r>
              <a:rPr sz="1600" dirty="0"/>
              <a:t> </a:t>
            </a:r>
            <a:r>
              <a:rPr sz="1600" dirty="0" err="1"/>
              <a:t>vo</a:t>
            </a:r>
            <a:r>
              <a:rPr lang="de-DE" sz="1600" dirty="0"/>
              <a:t>m Interface</a:t>
            </a:r>
            <a:r>
              <a:rPr sz="1600" dirty="0"/>
              <a:t> </a:t>
            </a:r>
            <a:r>
              <a:rPr sz="1600" dirty="0" err="1">
                <a:latin typeface="Courier"/>
              </a:rPr>
              <a:t>IDatenbank</a:t>
            </a:r>
            <a:r>
              <a:rPr sz="1600" dirty="0"/>
              <a:t> ab:</a:t>
            </a:r>
            <a:br>
              <a:rPr lang="de-DE" sz="1600" dirty="0"/>
            </a:br>
            <a:br>
              <a:rPr lang="de-DE" sz="1400" dirty="0"/>
            </a:b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dirty="0"/>
              <a:t>Hier </a:t>
            </a:r>
            <a:r>
              <a:rPr sz="1600" dirty="0" err="1"/>
              <a:t>wollen</a:t>
            </a:r>
            <a:r>
              <a:rPr sz="1600" dirty="0"/>
              <a:t> wir die Logik </a:t>
            </a:r>
            <a:r>
              <a:rPr sz="1600" dirty="0" err="1"/>
              <a:t>testen</a:t>
            </a:r>
            <a:r>
              <a:rPr sz="1600" dirty="0"/>
              <a:t>, </a:t>
            </a:r>
            <a:r>
              <a:rPr sz="1600" dirty="0" err="1"/>
              <a:t>dass</a:t>
            </a:r>
            <a:r>
              <a:rPr sz="1600" dirty="0"/>
              <a:t> Bürger </a:t>
            </a:r>
            <a:r>
              <a:rPr sz="1600" dirty="0" err="1"/>
              <a:t>unter</a:t>
            </a:r>
            <a:r>
              <a:rPr sz="1600" dirty="0"/>
              <a:t> 18 Jahren nicht </a:t>
            </a:r>
            <a:r>
              <a:rPr sz="1600" dirty="0" err="1"/>
              <a:t>registriert</a:t>
            </a:r>
            <a:r>
              <a:rPr sz="1600" dirty="0"/>
              <a:t> </a:t>
            </a:r>
            <a:r>
              <a:rPr sz="1600" dirty="0" err="1"/>
              <a:t>werden</a:t>
            </a:r>
            <a:r>
              <a:rPr sz="1600" dirty="0"/>
              <a:t> </a:t>
            </a:r>
            <a:r>
              <a:rPr sz="1600" dirty="0" err="1"/>
              <a:t>dürfen</a:t>
            </a:r>
            <a:r>
              <a:rPr sz="1600" dirty="0"/>
              <a:t>. </a:t>
            </a:r>
            <a:endParaRPr lang="de-DE" sz="1600" dirty="0"/>
          </a:p>
          <a:p>
            <a:pPr marL="0" indent="0">
              <a:buNone/>
            </a:pPr>
            <a:r>
              <a:rPr sz="1600" b="1" dirty="0">
                <a:solidFill>
                  <a:srgbClr val="0070C0"/>
                </a:solidFill>
              </a:rPr>
              <a:t>Wir </a:t>
            </a:r>
            <a:r>
              <a:rPr sz="1600" b="1" dirty="0" err="1">
                <a:solidFill>
                  <a:srgbClr val="0070C0"/>
                </a:solidFill>
              </a:rPr>
              <a:t>wollen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r>
              <a:rPr sz="1600" b="1" dirty="0" err="1">
                <a:solidFill>
                  <a:srgbClr val="0070C0"/>
                </a:solidFill>
              </a:rPr>
              <a:t>aber</a:t>
            </a:r>
            <a:r>
              <a:rPr sz="1600" b="1" dirty="0">
                <a:solidFill>
                  <a:srgbClr val="0070C0"/>
                </a:solidFill>
              </a:rPr>
              <a:t> nicht, </a:t>
            </a:r>
            <a:r>
              <a:rPr sz="1600" b="1" dirty="0" err="1">
                <a:solidFill>
                  <a:srgbClr val="0070C0"/>
                </a:solidFill>
              </a:rPr>
              <a:t>dass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r>
              <a:rPr sz="1600" b="1" dirty="0" err="1">
                <a:solidFill>
                  <a:srgbClr val="0070C0"/>
                </a:solidFill>
              </a:rPr>
              <a:t>unser</a:t>
            </a:r>
            <a:r>
              <a:rPr sz="1600" b="1" dirty="0">
                <a:solidFill>
                  <a:srgbClr val="0070C0"/>
                </a:solidFill>
              </a:rPr>
              <a:t> Test von der </a:t>
            </a:r>
            <a:r>
              <a:rPr sz="1600" b="1" dirty="0" err="1">
                <a:solidFill>
                  <a:srgbClr val="0070C0"/>
                </a:solidFill>
              </a:rPr>
              <a:t>Datenbank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r>
              <a:rPr sz="1600" b="1" dirty="0" err="1">
                <a:solidFill>
                  <a:srgbClr val="0070C0"/>
                </a:solidFill>
              </a:rPr>
              <a:t>abhängig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r>
              <a:rPr sz="1600" b="1" dirty="0" err="1">
                <a:solidFill>
                  <a:srgbClr val="0070C0"/>
                </a:solidFill>
              </a:rPr>
              <a:t>ist</a:t>
            </a:r>
            <a:r>
              <a:rPr sz="1600" b="1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B5576F7-C6A6-8922-45E7-BAF21221BBD2}"/>
              </a:ext>
            </a:extLst>
          </p:cNvPr>
          <p:cNvSpPr txBox="1"/>
          <p:nvPr/>
        </p:nvSpPr>
        <p:spPr>
          <a:xfrm>
            <a:off x="617220" y="1687027"/>
            <a:ext cx="572811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RegistrierungsService</a:t>
            </a: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readonly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IDatenbank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RegistrierungsService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IDatenbank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e-DE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Registriere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Buerger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e-DE" sz="1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ArgumentException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"Zu jung"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Speichern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Mock-Einsatz im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600" dirty="0" err="1"/>
              <a:t>Im</a:t>
            </a:r>
            <a:r>
              <a:rPr sz="1600" dirty="0"/>
              <a:t> Test-Projekt </a:t>
            </a:r>
            <a:r>
              <a:rPr sz="1600" dirty="0" err="1"/>
              <a:t>bauen</a:t>
            </a:r>
            <a:r>
              <a:rPr sz="1600" dirty="0"/>
              <a:t> wir </a:t>
            </a:r>
            <a:r>
              <a:rPr sz="1600" dirty="0" err="1"/>
              <a:t>uns</a:t>
            </a:r>
            <a:r>
              <a:rPr sz="1600" dirty="0"/>
              <a:t> also </a:t>
            </a:r>
            <a:r>
              <a:rPr sz="1600" dirty="0" err="1"/>
              <a:t>manuell</a:t>
            </a:r>
            <a:r>
              <a:rPr sz="1600" dirty="0"/>
              <a:t> </a:t>
            </a:r>
            <a:r>
              <a:rPr sz="1600" dirty="0" err="1"/>
              <a:t>eine</a:t>
            </a:r>
            <a:r>
              <a:rPr sz="1600" dirty="0"/>
              <a:t> </a:t>
            </a:r>
            <a:r>
              <a:rPr sz="1600" dirty="0" err="1"/>
              <a:t>Attrappe</a:t>
            </a:r>
            <a:r>
              <a:rPr sz="1600" dirty="0"/>
              <a:t>, die so tut, </a:t>
            </a:r>
            <a:r>
              <a:rPr sz="1600" dirty="0" err="1"/>
              <a:t>als</a:t>
            </a:r>
            <a:r>
              <a:rPr sz="1600" dirty="0"/>
              <a:t> </a:t>
            </a:r>
            <a:r>
              <a:rPr sz="1600" dirty="0" err="1"/>
              <a:t>wäre</a:t>
            </a:r>
            <a:r>
              <a:rPr sz="1600" dirty="0"/>
              <a:t> </a:t>
            </a:r>
            <a:r>
              <a:rPr sz="1600" dirty="0" err="1"/>
              <a:t>sie</a:t>
            </a:r>
            <a:r>
              <a:rPr sz="1600" dirty="0"/>
              <a:t> die </a:t>
            </a:r>
            <a:r>
              <a:rPr sz="1600" dirty="0" err="1"/>
              <a:t>Datenbank</a:t>
            </a:r>
            <a:r>
              <a:rPr sz="1600" dirty="0"/>
              <a:t>.</a:t>
            </a: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dirty="0"/>
              <a:t>So </a:t>
            </a:r>
            <a:r>
              <a:rPr sz="1600" dirty="0" err="1"/>
              <a:t>testen</a:t>
            </a:r>
            <a:r>
              <a:rPr sz="1600" dirty="0"/>
              <a:t> wir </a:t>
            </a:r>
            <a:r>
              <a:rPr sz="1600" b="1" dirty="0" err="1">
                <a:solidFill>
                  <a:srgbClr val="0070C0"/>
                </a:solidFill>
              </a:rPr>
              <a:t>nur</a:t>
            </a:r>
            <a:r>
              <a:rPr sz="1600" dirty="0"/>
              <a:t> die Logik des Services, </a:t>
            </a:r>
            <a:r>
              <a:rPr sz="1600" dirty="0" err="1"/>
              <a:t>ohne</a:t>
            </a:r>
            <a:r>
              <a:rPr sz="1600" dirty="0"/>
              <a:t> </a:t>
            </a:r>
            <a:r>
              <a:rPr lang="de-DE" sz="1600" dirty="0"/>
              <a:t>eine „echte“ </a:t>
            </a:r>
            <a:r>
              <a:rPr sz="1600" dirty="0" err="1"/>
              <a:t>Datenbank</a:t>
            </a:r>
            <a:r>
              <a:rPr sz="1600" dirty="0"/>
              <a:t> </a:t>
            </a:r>
            <a:r>
              <a:rPr sz="1600" dirty="0" err="1"/>
              <a:t>zu</a:t>
            </a:r>
            <a:r>
              <a:rPr sz="1600" dirty="0"/>
              <a:t> be</a:t>
            </a:r>
            <a:r>
              <a:rPr lang="de-DE" sz="1600" dirty="0"/>
              <a:t>nötigen</a:t>
            </a:r>
            <a:r>
              <a:rPr sz="1600" dirty="0"/>
              <a:t>.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3F127D8-282E-CBE4-BCD8-14C7D1C4E5D2}"/>
              </a:ext>
            </a:extLst>
          </p:cNvPr>
          <p:cNvSpPr txBox="1"/>
          <p:nvPr/>
        </p:nvSpPr>
        <p:spPr>
          <a:xfrm>
            <a:off x="522781" y="1735674"/>
            <a:ext cx="61553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DatenbankMock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IDatenbank</a:t>
            </a:r>
            <a:r>
              <a:rPr lang="de-DE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SpeichernAufrufe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de-DE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} </a:t>
            </a:r>
            <a:r>
              <a:rPr lang="de-DE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Speichern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Buerger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SpeichernAufrufe</a:t>
            </a:r>
            <a:r>
              <a:rPr lang="de-DE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Wir zählen nur mit, um zu sehen, </a:t>
            </a:r>
          </a:p>
          <a:p>
            <a:pPr>
              <a:buNone/>
            </a:pPr>
            <a:r>
              <a:rPr lang="de-DE" sz="1200" dirty="0">
                <a:solidFill>
                  <a:srgbClr val="008000"/>
                </a:solidFill>
                <a:latin typeface="Consolas" panose="020B0609020204030204" pitchFamily="49" charset="0"/>
              </a:rPr>
              <a:t>                            // </a:t>
            </a: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ob Speichern aufgerufen wurde.</a:t>
            </a: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Im </a:t>
            </a:r>
            <a:r>
              <a:rPr lang="de-DE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Arrange</a:t>
            </a: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-Teil des Tests nutzen wir den Mock:</a:t>
            </a: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dbMock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DatenbankMock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service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RegistrierungsService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dbMock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Nutzung von Mocking-Frameworks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600" dirty="0"/>
              <a:t>Mit </a:t>
            </a:r>
            <a:r>
              <a:rPr sz="1600" dirty="0" err="1"/>
              <a:t>einem</a:t>
            </a:r>
            <a:r>
              <a:rPr sz="1600" dirty="0"/>
              <a:t> Framework </a:t>
            </a:r>
            <a:r>
              <a:rPr sz="1600" dirty="0" err="1"/>
              <a:t>wie</a:t>
            </a:r>
            <a:r>
              <a:rPr sz="1600" dirty="0"/>
              <a:t> </a:t>
            </a:r>
            <a:r>
              <a:rPr sz="1600" b="1" dirty="0" err="1">
                <a:solidFill>
                  <a:srgbClr val="0070C0"/>
                </a:solidFill>
                <a:latin typeface="Courier"/>
              </a:rPr>
              <a:t>Moq</a:t>
            </a:r>
            <a:r>
              <a:rPr sz="1600" dirty="0"/>
              <a:t> </a:t>
            </a:r>
            <a:r>
              <a:rPr sz="1600" dirty="0" err="1"/>
              <a:t>können</a:t>
            </a:r>
            <a:r>
              <a:rPr sz="1600" dirty="0"/>
              <a:t> wir den Mock </a:t>
            </a:r>
            <a:r>
              <a:rPr sz="1600" dirty="0" err="1"/>
              <a:t>viel</a:t>
            </a:r>
            <a:r>
              <a:rPr sz="1600" dirty="0"/>
              <a:t> </a:t>
            </a:r>
            <a:r>
              <a:rPr sz="1600" dirty="0" err="1"/>
              <a:t>schneller</a:t>
            </a:r>
            <a:r>
              <a:rPr sz="1600" dirty="0"/>
              <a:t> </a:t>
            </a:r>
            <a:r>
              <a:rPr sz="1600" dirty="0" err="1"/>
              <a:t>erstellen</a:t>
            </a:r>
            <a:r>
              <a:rPr sz="1600" dirty="0"/>
              <a:t>:</a:t>
            </a:r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sz="1600" dirty="0" err="1"/>
              <a:t>Insbesondere</a:t>
            </a:r>
            <a:r>
              <a:rPr sz="1600" dirty="0"/>
              <a:t> </a:t>
            </a:r>
            <a:r>
              <a:rPr sz="1600" dirty="0" err="1"/>
              <a:t>bei</a:t>
            </a:r>
            <a:r>
              <a:rPr sz="1600" dirty="0"/>
              <a:t> </a:t>
            </a:r>
            <a:r>
              <a:rPr sz="1600" dirty="0" err="1"/>
              <a:t>komplexen</a:t>
            </a:r>
            <a:r>
              <a:rPr sz="1600" dirty="0"/>
              <a:t> Interfaces </a:t>
            </a:r>
            <a:r>
              <a:rPr sz="1600" dirty="0" err="1"/>
              <a:t>oder</a:t>
            </a:r>
            <a:r>
              <a:rPr sz="1600" dirty="0"/>
              <a:t> </a:t>
            </a:r>
            <a:r>
              <a:rPr sz="1600" dirty="0" err="1"/>
              <a:t>vielen</a:t>
            </a:r>
            <a:r>
              <a:rPr sz="1600" dirty="0"/>
              <a:t> </a:t>
            </a:r>
            <a:r>
              <a:rPr sz="1600" dirty="0" err="1"/>
              <a:t>Methoden</a:t>
            </a:r>
            <a:r>
              <a:rPr sz="1600" dirty="0"/>
              <a:t> spart das Mocking-Framework </a:t>
            </a:r>
            <a:r>
              <a:rPr sz="1600" dirty="0" err="1"/>
              <a:t>viel</a:t>
            </a:r>
            <a:r>
              <a:rPr sz="1600" dirty="0"/>
              <a:t> Zeit und Code.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B41DC61-843A-B8C9-D92B-D9C1E87C11CB}"/>
              </a:ext>
            </a:extLst>
          </p:cNvPr>
          <p:cNvSpPr txBox="1"/>
          <p:nvPr/>
        </p:nvSpPr>
        <p:spPr>
          <a:xfrm>
            <a:off x="582930" y="1890386"/>
            <a:ext cx="604291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de-DE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Arrange</a:t>
            </a:r>
            <a:r>
              <a:rPr lang="de-DE" sz="1200" dirty="0">
                <a:solidFill>
                  <a:srgbClr val="008000"/>
                </a:solidFill>
                <a:latin typeface="Consolas" panose="020B0609020204030204" pitchFamily="49" charset="0"/>
              </a:rPr>
              <a:t> - Wir nutzen nun </a:t>
            </a:r>
            <a:r>
              <a:rPr lang="de-DE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Moq</a:t>
            </a:r>
            <a:r>
              <a:rPr lang="de-DE" sz="1200" dirty="0">
                <a:solidFill>
                  <a:srgbClr val="008000"/>
                </a:solidFill>
                <a:latin typeface="Consolas" panose="020B0609020204030204" pitchFamily="49" charset="0"/>
              </a:rPr>
              <a:t>:</a:t>
            </a: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dbMock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IDatenbank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&gt;();</a:t>
            </a:r>
          </a:p>
          <a:p>
            <a:pPr>
              <a:buNone/>
            </a:pP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service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RegistrierungsService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dbMock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de-DE" sz="12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200" dirty="0">
                <a:solidFill>
                  <a:srgbClr val="008000"/>
                </a:solidFill>
                <a:latin typeface="Consolas" panose="020B0609020204030204" pitchFamily="49" charset="0"/>
              </a:rPr>
              <a:t>// Act – Test mit Bürger &gt; 18 Jahre</a:t>
            </a:r>
            <a:endParaRPr lang="de-DE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service</a:t>
            </a:r>
            <a:r>
              <a:rPr lang="de-D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de-DE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Registriere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200" dirty="0" err="1">
                <a:solidFill>
                  <a:srgbClr val="267F99"/>
                </a:solidFill>
                <a:latin typeface="Consolas" panose="020B0609020204030204" pitchFamily="49" charset="0"/>
              </a:rPr>
              <a:t>Buerger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200" dirty="0">
                <a:solidFill>
                  <a:srgbClr val="001080"/>
                </a:solidFill>
                <a:latin typeface="Consolas" panose="020B0609020204030204" pitchFamily="49" charset="0"/>
              </a:rPr>
              <a:t>25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));</a:t>
            </a:r>
            <a:endParaRPr lang="de-DE" sz="12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de-DE" sz="12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de-DE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de-DE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Assert</a:t>
            </a:r>
            <a:r>
              <a:rPr lang="de-DE" sz="1200" dirty="0">
                <a:solidFill>
                  <a:srgbClr val="3B3B3B"/>
                </a:solidFill>
                <a:latin typeface="Consolas" panose="020B0609020204030204" pitchFamily="49" charset="0"/>
              </a:rPr>
              <a:t> - </a:t>
            </a: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Prüfen, dass Speichern genau 1x aufgerufen wurde.</a:t>
            </a:r>
          </a:p>
          <a:p>
            <a:r>
              <a:rPr lang="de-DE" sz="12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Wenn die Verifikation nicht passt, wirft </a:t>
            </a:r>
            <a:r>
              <a:rPr lang="de-DE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Moq</a:t>
            </a: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eine </a:t>
            </a:r>
            <a:r>
              <a:rPr lang="de-DE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MockException</a:t>
            </a: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de-DE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de-DE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und der Test schlägt fehl.</a:t>
            </a:r>
            <a:endParaRPr lang="de-DE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dbMock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Verify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Speichern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IsAny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Buerger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&gt;()),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Times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Once</a:t>
            </a:r>
            <a:r>
              <a:rPr lang="de-DE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>
            <a:normAutofit/>
          </a:bodyPr>
          <a:lstStyle/>
          <a:p>
            <a:r>
              <a:rPr lang="en-US" dirty="0"/>
              <a:t>Teil 4: </a:t>
            </a:r>
            <a:br>
              <a:rPr lang="en-US" dirty="0"/>
            </a:br>
            <a:r>
              <a:rPr lang="en-US" dirty="0"/>
              <a:t>Test-Driven Development (TDD)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4E7FD4-4F42-5321-91F0-DBF7C032F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Was </a:t>
            </a:r>
            <a:r>
              <a:rPr dirty="0" err="1"/>
              <a:t>ist</a:t>
            </a:r>
            <a:r>
              <a:rPr dirty="0"/>
              <a:t> Test-Driven Development?</a:t>
            </a:r>
            <a:r>
              <a:rPr lang="de-DE" dirty="0"/>
              <a:t> (1/2)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043" y="1103179"/>
            <a:ext cx="5578027" cy="36033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</a:rPr>
              <a:t>TDD</a:t>
            </a:r>
            <a:r>
              <a:rPr dirty="0"/>
              <a:t> </a:t>
            </a:r>
            <a:r>
              <a:rPr dirty="0" err="1"/>
              <a:t>dreht</a:t>
            </a:r>
            <a:r>
              <a:rPr dirty="0"/>
              <a:t> den </a:t>
            </a:r>
            <a:r>
              <a:rPr dirty="0" err="1"/>
              <a:t>klassischen</a:t>
            </a:r>
            <a:r>
              <a:rPr dirty="0"/>
              <a:t> Workflow um. </a:t>
            </a:r>
            <a:endParaRPr lang="de-DE" dirty="0"/>
          </a:p>
          <a:p>
            <a:pPr marL="0" indent="0">
              <a:buNone/>
            </a:pPr>
            <a:r>
              <a:rPr dirty="0"/>
              <a:t>Wir </a:t>
            </a:r>
            <a:r>
              <a:rPr dirty="0" err="1"/>
              <a:t>schreiben</a:t>
            </a:r>
            <a:r>
              <a:rPr dirty="0"/>
              <a:t> den Test </a:t>
            </a:r>
            <a:r>
              <a:rPr i="1" dirty="0"/>
              <a:t>nicht</a:t>
            </a:r>
            <a:r>
              <a:rPr dirty="0"/>
              <a:t> am Ende, </a:t>
            </a:r>
            <a:r>
              <a:rPr dirty="0" err="1"/>
              <a:t>wenn</a:t>
            </a:r>
            <a:r>
              <a:rPr dirty="0"/>
              <a:t> das Feature </a:t>
            </a:r>
            <a:r>
              <a:rPr dirty="0" err="1"/>
              <a:t>fertig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Wir </a:t>
            </a:r>
            <a:r>
              <a:rPr dirty="0" err="1"/>
              <a:t>schreiben</a:t>
            </a:r>
            <a:r>
              <a:rPr dirty="0"/>
              <a:t> den Test </a:t>
            </a:r>
            <a:r>
              <a:rPr b="1" dirty="0" err="1"/>
              <a:t>zuerst</a:t>
            </a:r>
            <a:r>
              <a:rPr dirty="0"/>
              <a:t>, bevor </a:t>
            </a:r>
            <a:r>
              <a:rPr dirty="0" err="1"/>
              <a:t>überhaupt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einzige</a:t>
            </a:r>
            <a:r>
              <a:rPr dirty="0"/>
              <a:t> Zeile </a:t>
            </a:r>
            <a:r>
              <a:rPr dirty="0" err="1"/>
              <a:t>Fachcode</a:t>
            </a:r>
            <a:r>
              <a:rPr dirty="0"/>
              <a:t> </a:t>
            </a:r>
            <a:r>
              <a:rPr dirty="0" err="1"/>
              <a:t>existiert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C7020-D7BC-2254-E740-DD9D0EEE1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BD871-C8E0-3A8B-B136-CD5D5E265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Was </a:t>
            </a:r>
            <a:r>
              <a:rPr dirty="0" err="1"/>
              <a:t>ist</a:t>
            </a:r>
            <a:r>
              <a:rPr dirty="0"/>
              <a:t> Test-Driven Development?</a:t>
            </a:r>
            <a:r>
              <a:rPr lang="de-DE" dirty="0"/>
              <a:t> (2/2)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590FF-B77E-1AC5-49CD-6EC06F0F5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043" y="1103179"/>
            <a:ext cx="5578027" cy="36033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</a:rPr>
              <a:t>TDD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Disziplin</a:t>
            </a:r>
            <a:r>
              <a:rPr dirty="0"/>
              <a:t>, die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besserem</a:t>
            </a:r>
            <a:r>
              <a:rPr dirty="0"/>
              <a:t> Design, </a:t>
            </a:r>
            <a:r>
              <a:rPr dirty="0" err="1"/>
              <a:t>höherer</a:t>
            </a:r>
            <a:r>
              <a:rPr dirty="0"/>
              <a:t> </a:t>
            </a:r>
            <a:r>
              <a:rPr dirty="0" err="1"/>
              <a:t>Qualität</a:t>
            </a:r>
            <a:r>
              <a:rPr dirty="0"/>
              <a:t> und </a:t>
            </a:r>
            <a:r>
              <a:rPr dirty="0" err="1"/>
              <a:t>mehr</a:t>
            </a:r>
            <a:r>
              <a:rPr dirty="0"/>
              <a:t> </a:t>
            </a:r>
            <a:r>
              <a:rPr dirty="0" err="1"/>
              <a:t>Vertrauen</a:t>
            </a:r>
            <a:r>
              <a:rPr dirty="0"/>
              <a:t> in den Code </a:t>
            </a:r>
            <a:r>
              <a:rPr dirty="0" err="1"/>
              <a:t>führt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/>
              <a:t>Es </a:t>
            </a:r>
            <a:r>
              <a:rPr dirty="0" err="1"/>
              <a:t>zwingt</a:t>
            </a:r>
            <a:r>
              <a:rPr dirty="0"/>
              <a:t> </a:t>
            </a:r>
            <a:r>
              <a:rPr dirty="0" err="1"/>
              <a:t>uns</a:t>
            </a:r>
            <a:r>
              <a:rPr dirty="0"/>
              <a:t>, über die </a:t>
            </a:r>
            <a:r>
              <a:rPr dirty="0" err="1"/>
              <a:t>Anforderungen</a:t>
            </a:r>
            <a:r>
              <a:rPr dirty="0"/>
              <a:t> und das Design </a:t>
            </a:r>
            <a:r>
              <a:rPr dirty="0" err="1"/>
              <a:t>nachzudenken</a:t>
            </a:r>
            <a:r>
              <a:rPr dirty="0"/>
              <a:t>, bevor wir </a:t>
            </a:r>
            <a:r>
              <a:rPr dirty="0" err="1"/>
              <a:t>mit</a:t>
            </a:r>
            <a:r>
              <a:rPr dirty="0"/>
              <a:t> dem Coden </a:t>
            </a:r>
            <a:r>
              <a:rPr dirty="0" err="1"/>
              <a:t>beginnen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Nicht </a:t>
            </a:r>
            <a:r>
              <a:rPr dirty="0" err="1"/>
              <a:t>jeder</a:t>
            </a:r>
            <a:r>
              <a:rPr dirty="0"/>
              <a:t> Test muss </a:t>
            </a:r>
            <a:r>
              <a:rPr dirty="0" err="1"/>
              <a:t>mit</a:t>
            </a:r>
            <a:r>
              <a:rPr dirty="0"/>
              <a:t> TDD </a:t>
            </a:r>
            <a:r>
              <a:rPr dirty="0" err="1"/>
              <a:t>geschrieben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, </a:t>
            </a:r>
            <a:r>
              <a:rPr dirty="0" err="1"/>
              <a:t>aber</a:t>
            </a:r>
            <a:r>
              <a:rPr dirty="0"/>
              <a:t> die </a:t>
            </a:r>
            <a:r>
              <a:rPr dirty="0" err="1"/>
              <a:t>wichtigsten</a:t>
            </a:r>
            <a:r>
              <a:rPr dirty="0"/>
              <a:t> und </a:t>
            </a:r>
            <a:r>
              <a:rPr dirty="0" err="1"/>
              <a:t>kritischsten</a:t>
            </a:r>
            <a:r>
              <a:rPr dirty="0"/>
              <a:t> </a:t>
            </a:r>
            <a:r>
              <a:rPr dirty="0" err="1"/>
              <a:t>Logiken</a:t>
            </a:r>
            <a:r>
              <a:rPr dirty="0"/>
              <a:t> </a:t>
            </a:r>
            <a:r>
              <a:rPr dirty="0" err="1"/>
              <a:t>sollten</a:t>
            </a:r>
            <a:r>
              <a:rPr dirty="0"/>
              <a:t> es sein.</a:t>
            </a:r>
          </a:p>
          <a:p>
            <a:pPr marL="0" indent="0">
              <a:buNone/>
            </a:pPr>
            <a:r>
              <a:rPr dirty="0" err="1"/>
              <a:t>Nachteilig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es </a:t>
            </a:r>
            <a:r>
              <a:rPr dirty="0" err="1"/>
              <a:t>anfangs</a:t>
            </a:r>
            <a:r>
              <a:rPr dirty="0"/>
              <a:t> </a:t>
            </a:r>
            <a:r>
              <a:rPr dirty="0" err="1"/>
              <a:t>ungewohnt</a:t>
            </a:r>
            <a:r>
              <a:rPr dirty="0"/>
              <a:t> und </a:t>
            </a:r>
            <a:r>
              <a:rPr dirty="0" err="1"/>
              <a:t>zeitintensiv</a:t>
            </a:r>
            <a:r>
              <a:rPr dirty="0"/>
              <a:t> sein </a:t>
            </a:r>
            <a:r>
              <a:rPr dirty="0" err="1"/>
              <a:t>kann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/>
              <a:t>Es </a:t>
            </a:r>
            <a:r>
              <a:rPr dirty="0" err="1"/>
              <a:t>erfordert</a:t>
            </a:r>
            <a:r>
              <a:rPr dirty="0"/>
              <a:t> </a:t>
            </a:r>
            <a:r>
              <a:rPr dirty="0" err="1"/>
              <a:t>Übung</a:t>
            </a:r>
            <a:r>
              <a:rPr dirty="0"/>
              <a:t>, um den Workflow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meistern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32095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Der Rot-Grün-Refactor </a:t>
            </a:r>
            <a:r>
              <a:rPr dirty="0" err="1"/>
              <a:t>Zyklus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19" y="1103179"/>
            <a:ext cx="5326381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dirty="0"/>
              <a:t>TDD </a:t>
            </a:r>
            <a:r>
              <a:rPr sz="1600" dirty="0" err="1"/>
              <a:t>ist</a:t>
            </a:r>
            <a:r>
              <a:rPr sz="1600" dirty="0"/>
              <a:t> </a:t>
            </a:r>
            <a:r>
              <a:rPr sz="1600" dirty="0" err="1"/>
              <a:t>ein</a:t>
            </a:r>
            <a:r>
              <a:rPr sz="1600" dirty="0"/>
              <a:t> </a:t>
            </a:r>
            <a:r>
              <a:rPr sz="1600" dirty="0" err="1"/>
              <a:t>iterativer</a:t>
            </a:r>
            <a:r>
              <a:rPr sz="1600" dirty="0"/>
              <a:t> </a:t>
            </a:r>
            <a:r>
              <a:rPr sz="1600" dirty="0" err="1"/>
              <a:t>Zyklus</a:t>
            </a:r>
            <a:r>
              <a:rPr sz="1600" dirty="0"/>
              <a:t>, der in </a:t>
            </a:r>
            <a:r>
              <a:rPr sz="1600" dirty="0" err="1"/>
              <a:t>drei</a:t>
            </a:r>
            <a:r>
              <a:rPr sz="1600" dirty="0"/>
              <a:t> </a:t>
            </a:r>
            <a:r>
              <a:rPr sz="1600" dirty="0" err="1"/>
              <a:t>Phasen</a:t>
            </a:r>
            <a:r>
              <a:rPr sz="1600" dirty="0"/>
              <a:t> </a:t>
            </a:r>
            <a:r>
              <a:rPr sz="1600" dirty="0" err="1"/>
              <a:t>abläuft</a:t>
            </a:r>
            <a:r>
              <a:rPr sz="1600" dirty="0"/>
              <a:t>:</a:t>
            </a:r>
          </a:p>
          <a:p>
            <a:pPr marL="257175" indent="-257175">
              <a:buAutoNum type="arabicPeriod"/>
            </a:pPr>
            <a:r>
              <a:rPr sz="1600" b="1" dirty="0"/>
              <a:t>Red (Rot):</a:t>
            </a:r>
            <a:r>
              <a:rPr sz="1600" dirty="0"/>
              <a:t> </a:t>
            </a:r>
            <a:br>
              <a:rPr lang="de-DE" sz="1600" dirty="0"/>
            </a:br>
            <a:r>
              <a:rPr sz="1600" dirty="0"/>
              <a:t>Einen </a:t>
            </a:r>
            <a:r>
              <a:rPr sz="1600" dirty="0" err="1"/>
              <a:t>fehlschlagenden</a:t>
            </a:r>
            <a:r>
              <a:rPr sz="1600" dirty="0"/>
              <a:t> </a:t>
            </a:r>
            <a:br>
              <a:rPr lang="de-DE" sz="1600" dirty="0"/>
            </a:br>
            <a:r>
              <a:rPr sz="1600" dirty="0"/>
              <a:t>Test </a:t>
            </a:r>
            <a:r>
              <a:rPr sz="1600" dirty="0" err="1"/>
              <a:t>schreiben</a:t>
            </a:r>
            <a:r>
              <a:rPr sz="1600" dirty="0"/>
              <a:t>.</a:t>
            </a:r>
          </a:p>
          <a:p>
            <a:pPr marL="257175" indent="-257175">
              <a:buAutoNum type="arabicPeriod"/>
            </a:pPr>
            <a:r>
              <a:rPr sz="1600" b="1" dirty="0"/>
              <a:t>Green (Grün):</a:t>
            </a:r>
            <a:r>
              <a:rPr sz="1600" dirty="0"/>
              <a:t> </a:t>
            </a:r>
            <a:br>
              <a:rPr lang="de-DE" sz="1600" dirty="0"/>
            </a:br>
            <a:r>
              <a:rPr sz="1600" dirty="0"/>
              <a:t>Den minimal </a:t>
            </a:r>
            <a:r>
              <a:rPr sz="1600" dirty="0" err="1"/>
              <a:t>nötigen</a:t>
            </a:r>
            <a:r>
              <a:rPr sz="1600" dirty="0"/>
              <a:t> Code </a:t>
            </a:r>
            <a:br>
              <a:rPr lang="de-DE" sz="1600" dirty="0"/>
            </a:br>
            <a:r>
              <a:rPr sz="1600" dirty="0" err="1"/>
              <a:t>schreiben</a:t>
            </a:r>
            <a:r>
              <a:rPr sz="1600" dirty="0"/>
              <a:t>, um den Test </a:t>
            </a:r>
            <a:r>
              <a:rPr sz="1600" dirty="0" err="1"/>
              <a:t>grün</a:t>
            </a:r>
            <a:r>
              <a:rPr sz="1600" dirty="0"/>
              <a:t> </a:t>
            </a:r>
            <a:br>
              <a:rPr lang="de-DE" sz="1600" dirty="0"/>
            </a:b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machen</a:t>
            </a:r>
            <a:r>
              <a:rPr sz="1600" dirty="0"/>
              <a:t>.</a:t>
            </a:r>
          </a:p>
          <a:p>
            <a:pPr marL="257175" indent="-257175">
              <a:buAutoNum type="arabicPeriod"/>
            </a:pPr>
            <a:r>
              <a:rPr sz="1600" b="1" dirty="0"/>
              <a:t>Refactor (</a:t>
            </a:r>
            <a:r>
              <a:rPr sz="1600" b="1" dirty="0" err="1"/>
              <a:t>Aufräumen</a:t>
            </a:r>
            <a:r>
              <a:rPr sz="1600" b="1" dirty="0"/>
              <a:t>):</a:t>
            </a:r>
            <a:r>
              <a:rPr sz="1600" dirty="0"/>
              <a:t> </a:t>
            </a:r>
            <a:br>
              <a:rPr lang="de-DE" sz="1600" dirty="0"/>
            </a:br>
            <a:r>
              <a:rPr sz="1600" dirty="0"/>
              <a:t>Den </a:t>
            </a:r>
            <a:r>
              <a:rPr sz="1600" dirty="0" err="1"/>
              <a:t>entstandenen</a:t>
            </a:r>
            <a:r>
              <a:rPr sz="1600" dirty="0"/>
              <a:t> Code elegant </a:t>
            </a:r>
            <a:br>
              <a:rPr lang="de-DE" sz="1600" dirty="0"/>
            </a:br>
            <a:r>
              <a:rPr sz="1600" dirty="0"/>
              <a:t>und </a:t>
            </a:r>
            <a:r>
              <a:rPr sz="1600" dirty="0" err="1"/>
              <a:t>sauber</a:t>
            </a:r>
            <a:r>
              <a:rPr sz="1600" dirty="0"/>
              <a:t> </a:t>
            </a:r>
            <a:r>
              <a:rPr sz="1600" dirty="0" err="1"/>
              <a:t>strukturieren</a:t>
            </a:r>
            <a:r>
              <a:rPr sz="1600" dirty="0"/>
              <a:t>.</a:t>
            </a:r>
          </a:p>
          <a:p>
            <a:pPr marL="0" indent="0">
              <a:buNone/>
            </a:pPr>
            <a:r>
              <a:rPr sz="1600" dirty="0"/>
              <a:t>Dieser </a:t>
            </a:r>
            <a:r>
              <a:rPr sz="1600" dirty="0" err="1"/>
              <a:t>Zyklus</a:t>
            </a:r>
            <a:r>
              <a:rPr sz="1600" dirty="0"/>
              <a:t> </a:t>
            </a:r>
            <a:r>
              <a:rPr sz="1600" dirty="0" err="1"/>
              <a:t>wird</a:t>
            </a:r>
            <a:r>
              <a:rPr sz="1600" dirty="0"/>
              <a:t> so </a:t>
            </a:r>
            <a:r>
              <a:rPr sz="1600" dirty="0" err="1"/>
              <a:t>lange</a:t>
            </a:r>
            <a:r>
              <a:rPr sz="1600" dirty="0"/>
              <a:t> </a:t>
            </a:r>
            <a:r>
              <a:rPr sz="1600" dirty="0" err="1"/>
              <a:t>wiederholt</a:t>
            </a:r>
            <a:r>
              <a:rPr sz="1600" dirty="0"/>
              <a:t>, bis die </a:t>
            </a:r>
            <a:r>
              <a:rPr sz="1600" dirty="0" err="1"/>
              <a:t>Funktionalität</a:t>
            </a:r>
            <a:r>
              <a:rPr sz="1600" dirty="0"/>
              <a:t> </a:t>
            </a:r>
            <a:r>
              <a:rPr sz="1600" dirty="0" err="1"/>
              <a:t>vollständig</a:t>
            </a:r>
            <a:r>
              <a:rPr sz="1600" dirty="0"/>
              <a:t> </a:t>
            </a:r>
            <a:r>
              <a:rPr sz="1600" dirty="0" err="1"/>
              <a:t>implementiert</a:t>
            </a:r>
            <a:r>
              <a:rPr sz="1600" dirty="0"/>
              <a:t> </a:t>
            </a:r>
            <a:r>
              <a:rPr sz="1600" dirty="0" err="1"/>
              <a:t>ist</a:t>
            </a:r>
            <a:r>
              <a:rPr sz="1600" dirty="0"/>
              <a:t>.</a:t>
            </a:r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A11E0ED4-F427-C34D-2A6B-42D56E4082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7601732"/>
              </p:ext>
            </p:extLst>
          </p:nvPr>
        </p:nvGraphicFramePr>
        <p:xfrm>
          <a:off x="3429000" y="1624872"/>
          <a:ext cx="3429000" cy="2302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548" y="1103179"/>
            <a:ext cx="6018550" cy="3603318"/>
          </a:xfrm>
        </p:spPr>
        <p:txBody>
          <a:bodyPr>
            <a:noAutofit/>
          </a:bodyPr>
          <a:lstStyle/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/>
              <a:t>Sie </a:t>
            </a:r>
            <a:r>
              <a:rPr sz="1600" dirty="0" err="1"/>
              <a:t>überlegen</a:t>
            </a:r>
            <a:r>
              <a:rPr sz="1600" dirty="0"/>
              <a:t> </a:t>
            </a:r>
            <a:r>
              <a:rPr sz="1600" dirty="0" err="1"/>
              <a:t>sich</a:t>
            </a:r>
            <a:r>
              <a:rPr sz="1600" dirty="0"/>
              <a:t> </a:t>
            </a:r>
            <a:r>
              <a:rPr sz="1600" dirty="0" err="1"/>
              <a:t>anhand</a:t>
            </a:r>
            <a:r>
              <a:rPr sz="1600" dirty="0"/>
              <a:t> der </a:t>
            </a:r>
            <a:r>
              <a:rPr sz="1600" dirty="0" err="1"/>
              <a:t>Spezifikation</a:t>
            </a:r>
            <a:r>
              <a:rPr sz="1600" dirty="0"/>
              <a:t>, was die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implementierende</a:t>
            </a:r>
            <a:r>
              <a:rPr sz="1600" dirty="0"/>
              <a:t> Methode tun </a:t>
            </a:r>
            <a:r>
              <a:rPr sz="1600" dirty="0" err="1"/>
              <a:t>soll</a:t>
            </a:r>
            <a:r>
              <a:rPr sz="1600" dirty="0"/>
              <a:t>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/>
              <a:t>Sie </a:t>
            </a:r>
            <a:r>
              <a:rPr sz="1600" dirty="0" err="1"/>
              <a:t>schreiben</a:t>
            </a:r>
            <a:r>
              <a:rPr sz="1600" dirty="0"/>
              <a:t> de</a:t>
            </a:r>
            <a:r>
              <a:rPr lang="de-DE" sz="1600" dirty="0"/>
              <a:t>n</a:t>
            </a:r>
            <a:r>
              <a:rPr sz="1600" dirty="0"/>
              <a:t> Test, der </a:t>
            </a:r>
            <a:r>
              <a:rPr sz="1600" dirty="0" err="1"/>
              <a:t>diese</a:t>
            </a:r>
            <a:r>
              <a:rPr sz="1600" dirty="0"/>
              <a:t> </a:t>
            </a:r>
            <a:r>
              <a:rPr sz="1600" dirty="0" err="1"/>
              <a:t>Funktionalität</a:t>
            </a:r>
            <a:r>
              <a:rPr sz="1600" dirty="0"/>
              <a:t> </a:t>
            </a:r>
            <a:r>
              <a:rPr sz="1600" dirty="0" err="1"/>
              <a:t>prüft</a:t>
            </a:r>
            <a:r>
              <a:rPr sz="1600" dirty="0"/>
              <a:t>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/>
              <a:t>Da die Klasse </a:t>
            </a:r>
            <a:r>
              <a:rPr sz="1600" dirty="0" err="1"/>
              <a:t>oder</a:t>
            </a:r>
            <a:r>
              <a:rPr sz="1600" dirty="0"/>
              <a:t> Methode </a:t>
            </a:r>
            <a:r>
              <a:rPr sz="1600" dirty="0" err="1"/>
              <a:t>noch</a:t>
            </a:r>
            <a:r>
              <a:rPr sz="1600" dirty="0"/>
              <a:t> gar nicht </a:t>
            </a:r>
            <a:r>
              <a:rPr sz="1600" dirty="0" err="1"/>
              <a:t>existiert</a:t>
            </a:r>
            <a:r>
              <a:rPr sz="1600" dirty="0"/>
              <a:t>, </a:t>
            </a:r>
            <a:r>
              <a:rPr sz="1600" dirty="0" err="1"/>
              <a:t>kompiliert</a:t>
            </a:r>
            <a:r>
              <a:rPr sz="1600" dirty="0"/>
              <a:t> es am Anfang </a:t>
            </a:r>
            <a:r>
              <a:rPr sz="1600" dirty="0" err="1"/>
              <a:t>vielleicht</a:t>
            </a:r>
            <a:r>
              <a:rPr sz="1600" dirty="0"/>
              <a:t> nicht mal. </a:t>
            </a:r>
            <a:br>
              <a:rPr lang="de-DE" sz="1600" dirty="0"/>
            </a:br>
            <a:r>
              <a:rPr sz="1600" dirty="0"/>
              <a:t>Das </a:t>
            </a:r>
            <a:r>
              <a:rPr sz="1600" dirty="0" err="1"/>
              <a:t>ist</a:t>
            </a:r>
            <a:r>
              <a:rPr sz="1600" dirty="0"/>
              <a:t> in Ordnung.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 err="1"/>
              <a:t>Schreiben</a:t>
            </a:r>
            <a:r>
              <a:rPr sz="1600" dirty="0"/>
              <a:t> Sie </a:t>
            </a:r>
            <a:r>
              <a:rPr sz="1600" dirty="0" err="1"/>
              <a:t>eine</a:t>
            </a:r>
            <a:r>
              <a:rPr sz="1600" dirty="0"/>
              <a:t> </a:t>
            </a:r>
            <a:r>
              <a:rPr sz="1600" dirty="0" err="1"/>
              <a:t>leere</a:t>
            </a:r>
            <a:r>
              <a:rPr sz="1600" dirty="0"/>
              <a:t> </a:t>
            </a:r>
            <a:r>
              <a:rPr sz="1600" dirty="0" err="1"/>
              <a:t>Hülle</a:t>
            </a:r>
            <a:r>
              <a:rPr sz="1600" dirty="0"/>
              <a:t> für die </a:t>
            </a:r>
            <a:r>
              <a:rPr sz="1600" dirty="0" err="1"/>
              <a:t>Methoden</a:t>
            </a:r>
            <a:r>
              <a:rPr sz="1600" dirty="0"/>
              <a:t>. Sie </a:t>
            </a:r>
            <a:r>
              <a:rPr sz="1600" dirty="0" err="1"/>
              <a:t>müssen</a:t>
            </a:r>
            <a:r>
              <a:rPr sz="1600" dirty="0"/>
              <a:t> den Test </a:t>
            </a:r>
            <a:r>
              <a:rPr sz="1600" dirty="0" err="1"/>
              <a:t>nur</a:t>
            </a:r>
            <a:r>
              <a:rPr sz="1600" dirty="0"/>
              <a:t> </a:t>
            </a:r>
            <a:r>
              <a:rPr sz="1600" dirty="0" err="1"/>
              <a:t>zum</a:t>
            </a:r>
            <a:r>
              <a:rPr sz="1600" dirty="0"/>
              <a:t> </a:t>
            </a:r>
            <a:r>
              <a:rPr sz="1600" dirty="0" err="1"/>
              <a:t>Laufen</a:t>
            </a:r>
            <a:r>
              <a:rPr sz="1600" dirty="0"/>
              <a:t> </a:t>
            </a:r>
            <a:r>
              <a:rPr sz="1600" dirty="0" err="1"/>
              <a:t>bringen</a:t>
            </a:r>
            <a:r>
              <a:rPr sz="1600" dirty="0"/>
              <a:t>, </a:t>
            </a:r>
            <a:r>
              <a:rPr sz="1600" dirty="0" err="1"/>
              <a:t>damit</a:t>
            </a:r>
            <a:r>
              <a:rPr sz="1600" dirty="0"/>
              <a:t> er </a:t>
            </a:r>
            <a:r>
              <a:rPr sz="1600" dirty="0" err="1"/>
              <a:t>fehlschlägt</a:t>
            </a:r>
            <a:r>
              <a:rPr sz="1600" dirty="0"/>
              <a:t>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/>
              <a:t>Sie </a:t>
            </a:r>
            <a:r>
              <a:rPr sz="1600" dirty="0" err="1"/>
              <a:t>führen</a:t>
            </a:r>
            <a:r>
              <a:rPr sz="1600" dirty="0"/>
              <a:t> den Test </a:t>
            </a:r>
            <a:r>
              <a:rPr sz="1600" dirty="0" err="1"/>
              <a:t>aus</a:t>
            </a:r>
            <a:r>
              <a:rPr sz="1600" dirty="0"/>
              <a:t>: Er </a:t>
            </a:r>
            <a:r>
              <a:rPr sz="1600" dirty="0" err="1"/>
              <a:t>ist</a:t>
            </a:r>
            <a:r>
              <a:rPr sz="1600" dirty="0"/>
              <a:t> ROT.</a:t>
            </a:r>
          </a:p>
          <a:p>
            <a:pPr marL="0" indent="0">
              <a:buNone/>
            </a:pPr>
            <a:r>
              <a:rPr sz="1600" b="1" i="1" dirty="0" err="1">
                <a:solidFill>
                  <a:srgbClr val="0070C0"/>
                </a:solidFill>
              </a:rPr>
              <a:t>Warum</a:t>
            </a:r>
            <a:r>
              <a:rPr sz="1600" b="1" i="1" dirty="0">
                <a:solidFill>
                  <a:srgbClr val="0070C0"/>
                </a:solidFill>
              </a:rPr>
              <a:t> </a:t>
            </a:r>
            <a:r>
              <a:rPr sz="1600" b="1" i="1" dirty="0" err="1">
                <a:solidFill>
                  <a:srgbClr val="0070C0"/>
                </a:solidFill>
              </a:rPr>
              <a:t>ist</a:t>
            </a:r>
            <a:r>
              <a:rPr sz="1600" b="1" i="1" dirty="0">
                <a:solidFill>
                  <a:srgbClr val="0070C0"/>
                </a:solidFill>
              </a:rPr>
              <a:t> das </a:t>
            </a:r>
            <a:r>
              <a:rPr sz="1600" b="1" i="1" dirty="0" err="1">
                <a:solidFill>
                  <a:srgbClr val="0070C0"/>
                </a:solidFill>
              </a:rPr>
              <a:t>wichtig</a:t>
            </a:r>
            <a:r>
              <a:rPr sz="1600" b="1" i="1" dirty="0">
                <a:solidFill>
                  <a:srgbClr val="0070C0"/>
                </a:solidFill>
              </a:rPr>
              <a:t>?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br>
              <a:rPr lang="de-DE" sz="1600" b="1" dirty="0">
                <a:solidFill>
                  <a:srgbClr val="0070C0"/>
                </a:solidFill>
              </a:rPr>
            </a:br>
            <a:r>
              <a:rPr sz="1600" dirty="0"/>
              <a:t>So </a:t>
            </a:r>
            <a:r>
              <a:rPr sz="1600" dirty="0" err="1"/>
              <a:t>stellen</a:t>
            </a:r>
            <a:r>
              <a:rPr sz="1600" dirty="0"/>
              <a:t> Sie </a:t>
            </a:r>
            <a:r>
              <a:rPr sz="1600" dirty="0" err="1"/>
              <a:t>sicher</a:t>
            </a:r>
            <a:r>
              <a:rPr sz="1600" dirty="0"/>
              <a:t>, </a:t>
            </a:r>
            <a:r>
              <a:rPr sz="1600" dirty="0" err="1"/>
              <a:t>dass</a:t>
            </a:r>
            <a:r>
              <a:rPr sz="1600" dirty="0"/>
              <a:t> </a:t>
            </a:r>
            <a:r>
              <a:rPr sz="1600" dirty="0" err="1"/>
              <a:t>Ihr</a:t>
            </a:r>
            <a:r>
              <a:rPr sz="1600" dirty="0"/>
              <a:t> Test </a:t>
            </a:r>
            <a:r>
              <a:rPr sz="1600" dirty="0" err="1"/>
              <a:t>überhaupt</a:t>
            </a:r>
            <a:r>
              <a:rPr sz="1600" dirty="0"/>
              <a:t> in der Lage </a:t>
            </a:r>
            <a:r>
              <a:rPr sz="1600" dirty="0" err="1"/>
              <a:t>ist</a:t>
            </a:r>
            <a:r>
              <a:rPr sz="1600" dirty="0"/>
              <a:t>, feh</a:t>
            </a:r>
            <a:r>
              <a:rPr lang="de-DE" sz="1600" dirty="0"/>
              <a:t>l</a:t>
            </a:r>
            <a:r>
              <a:rPr sz="1600" dirty="0" err="1"/>
              <a:t>zu</a:t>
            </a:r>
            <a:r>
              <a:rPr lang="de-DE" sz="1600" dirty="0"/>
              <a:t>-</a:t>
            </a:r>
            <a:r>
              <a:rPr sz="1600" dirty="0" err="1"/>
              <a:t>schlagen</a:t>
            </a:r>
            <a:r>
              <a:rPr sz="1600" dirty="0"/>
              <a:t> (und nicht </a:t>
            </a:r>
            <a:r>
              <a:rPr sz="1600" dirty="0" err="1"/>
              <a:t>durch</a:t>
            </a:r>
            <a:r>
              <a:rPr sz="1600" dirty="0"/>
              <a:t> </a:t>
            </a:r>
            <a:r>
              <a:rPr sz="1600" dirty="0" err="1"/>
              <a:t>einen</a:t>
            </a:r>
            <a:r>
              <a:rPr sz="1600" dirty="0"/>
              <a:t> </a:t>
            </a:r>
            <a:r>
              <a:rPr sz="1600" dirty="0" err="1"/>
              <a:t>Designfehler</a:t>
            </a:r>
            <a:r>
              <a:rPr sz="1600" dirty="0"/>
              <a:t> immer “</a:t>
            </a:r>
            <a:r>
              <a:rPr sz="1600" dirty="0" err="1"/>
              <a:t>grün</a:t>
            </a:r>
            <a:r>
              <a:rPr sz="1600" dirty="0"/>
              <a:t>” </a:t>
            </a:r>
            <a:r>
              <a:rPr sz="1600" dirty="0" err="1"/>
              <a:t>anzeigt</a:t>
            </a:r>
            <a:r>
              <a:rPr sz="1600" dirty="0"/>
              <a:t>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GREEN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557" y="1103179"/>
            <a:ext cx="5600513" cy="3603318"/>
          </a:xfrm>
        </p:spPr>
        <p:txBody>
          <a:bodyPr>
            <a:noAutofit/>
          </a:bodyPr>
          <a:lstStyle/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/>
              <a:t>Sie </a:t>
            </a:r>
            <a:r>
              <a:rPr sz="1600" dirty="0" err="1"/>
              <a:t>schreiben</a:t>
            </a:r>
            <a:r>
              <a:rPr sz="1600" dirty="0"/>
              <a:t> den </a:t>
            </a:r>
            <a:r>
              <a:rPr sz="1600" dirty="0" err="1"/>
              <a:t>Produktiv</a:t>
            </a:r>
            <a:r>
              <a:rPr sz="1600" dirty="0"/>
              <a:t>-Code.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 err="1"/>
              <a:t>Wichtig</a:t>
            </a:r>
            <a:r>
              <a:rPr sz="1600" dirty="0"/>
              <a:t>: </a:t>
            </a:r>
            <a:r>
              <a:rPr sz="1600" dirty="0" err="1"/>
              <a:t>Schreiben</a:t>
            </a:r>
            <a:r>
              <a:rPr sz="1600" dirty="0"/>
              <a:t>/</a:t>
            </a:r>
            <a:r>
              <a:rPr sz="1600" dirty="0" err="1"/>
              <a:t>nutzen</a:t>
            </a:r>
            <a:r>
              <a:rPr sz="1600" dirty="0"/>
              <a:t> Sie </a:t>
            </a:r>
            <a:r>
              <a:rPr sz="1600" dirty="0" err="1"/>
              <a:t>keine</a:t>
            </a:r>
            <a:r>
              <a:rPr sz="1600" dirty="0"/>
              <a:t> </a:t>
            </a:r>
            <a:r>
              <a:rPr sz="1600" dirty="0" err="1"/>
              <a:t>komplexen</a:t>
            </a:r>
            <a:r>
              <a:rPr sz="1600" dirty="0"/>
              <a:t> </a:t>
            </a:r>
            <a:r>
              <a:rPr sz="1600" dirty="0" err="1"/>
              <a:t>Architekturen</a:t>
            </a:r>
            <a:r>
              <a:rPr sz="1600" dirty="0"/>
              <a:t> </a:t>
            </a:r>
            <a:r>
              <a:rPr sz="1600" dirty="0" err="1"/>
              <a:t>oder</a:t>
            </a:r>
            <a:r>
              <a:rPr sz="1600" dirty="0"/>
              <a:t> Design-Patterns.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 err="1"/>
              <a:t>Schreiben</a:t>
            </a:r>
            <a:r>
              <a:rPr sz="1600" dirty="0"/>
              <a:t> Sie </a:t>
            </a:r>
            <a:r>
              <a:rPr sz="1600" dirty="0" err="1"/>
              <a:t>nur</a:t>
            </a:r>
            <a:r>
              <a:rPr sz="1600" dirty="0"/>
              <a:t> das, was </a:t>
            </a:r>
            <a:r>
              <a:rPr sz="1600" dirty="0" err="1"/>
              <a:t>nötig</a:t>
            </a:r>
            <a:r>
              <a:rPr sz="1600" dirty="0"/>
              <a:t> </a:t>
            </a:r>
            <a:r>
              <a:rPr sz="1600" dirty="0" err="1"/>
              <a:t>ist</a:t>
            </a:r>
            <a:r>
              <a:rPr sz="1600" dirty="0"/>
              <a:t>. Es </a:t>
            </a:r>
            <a:r>
              <a:rPr sz="1600" dirty="0" err="1"/>
              <a:t>ist</a:t>
            </a:r>
            <a:r>
              <a:rPr sz="1600" dirty="0"/>
              <a:t> </a:t>
            </a:r>
            <a:r>
              <a:rPr sz="1600" dirty="0" err="1"/>
              <a:t>völlig</a:t>
            </a:r>
            <a:r>
              <a:rPr sz="1600" dirty="0"/>
              <a:t> in Ordnung, </a:t>
            </a:r>
            <a:r>
              <a:rPr sz="1600" dirty="0" err="1"/>
              <a:t>wenn</a:t>
            </a:r>
            <a:r>
              <a:rPr sz="1600" dirty="0"/>
              <a:t> der Code “</a:t>
            </a:r>
            <a:r>
              <a:rPr sz="1600" dirty="0" err="1"/>
              <a:t>hässlich</a:t>
            </a:r>
            <a:r>
              <a:rPr sz="1600" dirty="0"/>
              <a:t>” </a:t>
            </a:r>
            <a:r>
              <a:rPr sz="1600" dirty="0" err="1"/>
              <a:t>oder</a:t>
            </a:r>
            <a:r>
              <a:rPr sz="1600" dirty="0"/>
              <a:t> “</a:t>
            </a:r>
            <a:r>
              <a:rPr sz="1600" dirty="0" err="1"/>
              <a:t>unfertig</a:t>
            </a:r>
            <a:r>
              <a:rPr sz="1600" dirty="0"/>
              <a:t>” </a:t>
            </a:r>
            <a:r>
              <a:rPr sz="1600" dirty="0" err="1"/>
              <a:t>ist</a:t>
            </a:r>
            <a:r>
              <a:rPr sz="1600" dirty="0"/>
              <a:t>. </a:t>
            </a:r>
            <a:r>
              <a:rPr sz="1600" dirty="0" err="1"/>
              <a:t>Hauptsache</a:t>
            </a:r>
            <a:r>
              <a:rPr sz="1600" dirty="0"/>
              <a:t>, der Test </a:t>
            </a:r>
            <a:r>
              <a:rPr sz="1600" dirty="0" err="1"/>
              <a:t>besteht</a:t>
            </a:r>
            <a:r>
              <a:rPr sz="1600" dirty="0"/>
              <a:t>, </a:t>
            </a:r>
            <a:r>
              <a:rPr sz="1600" dirty="0" err="1"/>
              <a:t>d.h.</a:t>
            </a:r>
            <a:r>
              <a:rPr sz="1600" dirty="0"/>
              <a:t> die </a:t>
            </a:r>
            <a:r>
              <a:rPr sz="1600" dirty="0" err="1"/>
              <a:t>Funktionalität</a:t>
            </a:r>
            <a:r>
              <a:rPr sz="1600" dirty="0"/>
              <a:t> </a:t>
            </a:r>
            <a:r>
              <a:rPr sz="1600" dirty="0" err="1"/>
              <a:t>ist</a:t>
            </a:r>
            <a:r>
              <a:rPr sz="1600" dirty="0"/>
              <a:t> da.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/>
              <a:t>Das Ziel </a:t>
            </a:r>
            <a:r>
              <a:rPr sz="1600" dirty="0" err="1"/>
              <a:t>ist</a:t>
            </a:r>
            <a:r>
              <a:rPr sz="1600" dirty="0"/>
              <a:t> </a:t>
            </a:r>
            <a:r>
              <a:rPr sz="1600" dirty="0" err="1"/>
              <a:t>einzig</a:t>
            </a:r>
            <a:r>
              <a:rPr sz="1600" dirty="0"/>
              <a:t> und </a:t>
            </a:r>
            <a:r>
              <a:rPr sz="1600" dirty="0" err="1"/>
              <a:t>allein</a:t>
            </a:r>
            <a:r>
              <a:rPr sz="1600" dirty="0"/>
              <a:t>, den Test so schnell </a:t>
            </a:r>
            <a:r>
              <a:rPr sz="1600" dirty="0" err="1"/>
              <a:t>wie</a:t>
            </a:r>
            <a:r>
              <a:rPr sz="1600" dirty="0"/>
              <a:t> </a:t>
            </a:r>
            <a:r>
              <a:rPr sz="1600" dirty="0" err="1"/>
              <a:t>möglich</a:t>
            </a:r>
            <a:r>
              <a:rPr sz="1600" dirty="0"/>
              <a:t> </a:t>
            </a:r>
            <a:r>
              <a:rPr sz="1600" dirty="0" err="1"/>
              <a:t>grün</a:t>
            </a:r>
            <a:r>
              <a:rPr sz="1600" dirty="0"/>
              <a:t> (</a:t>
            </a:r>
            <a:r>
              <a:rPr sz="1600" dirty="0" err="1"/>
              <a:t>erfolgreich</a:t>
            </a:r>
            <a:r>
              <a:rPr sz="1600" dirty="0"/>
              <a:t>)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bekommen</a:t>
            </a:r>
            <a:r>
              <a:rPr sz="1600" dirty="0"/>
              <a:t>.</a:t>
            </a:r>
            <a:br>
              <a:rPr lang="de-DE" sz="1600" dirty="0"/>
            </a:br>
            <a:endParaRPr sz="1600" dirty="0"/>
          </a:p>
          <a:p>
            <a:pPr marL="0" indent="0">
              <a:buNone/>
            </a:pPr>
            <a:r>
              <a:rPr sz="1600" b="1" i="1" dirty="0" err="1">
                <a:solidFill>
                  <a:srgbClr val="0070C0"/>
                </a:solidFill>
              </a:rPr>
              <a:t>Warum</a:t>
            </a:r>
            <a:r>
              <a:rPr sz="1600" b="1" i="1" dirty="0">
                <a:solidFill>
                  <a:srgbClr val="0070C0"/>
                </a:solidFill>
              </a:rPr>
              <a:t> </a:t>
            </a:r>
            <a:r>
              <a:rPr sz="1600" b="1" i="1" dirty="0" err="1">
                <a:solidFill>
                  <a:srgbClr val="0070C0"/>
                </a:solidFill>
              </a:rPr>
              <a:t>ist</a:t>
            </a:r>
            <a:r>
              <a:rPr sz="1600" b="1" i="1" dirty="0">
                <a:solidFill>
                  <a:srgbClr val="0070C0"/>
                </a:solidFill>
              </a:rPr>
              <a:t> das </a:t>
            </a:r>
            <a:r>
              <a:rPr sz="1600" b="1" i="1" dirty="0" err="1">
                <a:solidFill>
                  <a:srgbClr val="0070C0"/>
                </a:solidFill>
              </a:rPr>
              <a:t>wichtig</a:t>
            </a:r>
            <a:r>
              <a:rPr sz="1600" b="1" i="1" dirty="0">
                <a:solidFill>
                  <a:srgbClr val="0070C0"/>
                </a:solidFill>
              </a:rPr>
              <a:t>?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br>
              <a:rPr lang="de-DE" sz="1600" b="1" dirty="0">
                <a:solidFill>
                  <a:srgbClr val="0070C0"/>
                </a:solidFill>
              </a:rPr>
            </a:br>
            <a:r>
              <a:rPr sz="1600" dirty="0"/>
              <a:t>Weil Sie so schnell Feedback </a:t>
            </a:r>
            <a:r>
              <a:rPr sz="1600" dirty="0" err="1"/>
              <a:t>bekommen</a:t>
            </a:r>
            <a:r>
              <a:rPr sz="1600" dirty="0"/>
              <a:t>, </a:t>
            </a:r>
            <a:r>
              <a:rPr sz="1600" dirty="0" err="1"/>
              <a:t>ob</a:t>
            </a:r>
            <a:r>
              <a:rPr sz="1600" dirty="0"/>
              <a:t> </a:t>
            </a:r>
            <a:r>
              <a:rPr sz="1600" dirty="0" err="1"/>
              <a:t>Ihre</a:t>
            </a:r>
            <a:r>
              <a:rPr sz="1600" dirty="0"/>
              <a:t> </a:t>
            </a:r>
            <a:r>
              <a:rPr sz="1600" dirty="0" err="1"/>
              <a:t>Implementierung</a:t>
            </a:r>
            <a:r>
              <a:rPr sz="1600" dirty="0"/>
              <a:t> </a:t>
            </a:r>
            <a:r>
              <a:rPr sz="1600" dirty="0" err="1"/>
              <a:t>korrekt</a:t>
            </a:r>
            <a:r>
              <a:rPr sz="1600" dirty="0"/>
              <a:t> </a:t>
            </a:r>
            <a:r>
              <a:rPr sz="1600" dirty="0" err="1"/>
              <a:t>ist</a:t>
            </a:r>
            <a:r>
              <a:rPr sz="1600" dirty="0"/>
              <a:t>. Sie </a:t>
            </a:r>
            <a:r>
              <a:rPr sz="1600" dirty="0" err="1"/>
              <a:t>vermeiden</a:t>
            </a:r>
            <a:r>
              <a:rPr sz="1600" dirty="0"/>
              <a:t> es, Zeit in die </a:t>
            </a:r>
            <a:r>
              <a:rPr sz="1600" dirty="0" err="1"/>
              <a:t>falsche</a:t>
            </a:r>
            <a:r>
              <a:rPr sz="1600" dirty="0"/>
              <a:t> </a:t>
            </a:r>
            <a:r>
              <a:rPr sz="1600" dirty="0" err="1"/>
              <a:t>Richtung</a:t>
            </a:r>
            <a:r>
              <a:rPr sz="1600" dirty="0"/>
              <a:t>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investieren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REFACTOR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051" y="1103179"/>
            <a:ext cx="5906125" cy="3603318"/>
          </a:xfrm>
        </p:spPr>
        <p:txBody>
          <a:bodyPr>
            <a:noAutofit/>
          </a:bodyPr>
          <a:lstStyle/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/>
              <a:t>Der Test </a:t>
            </a:r>
            <a:r>
              <a:rPr sz="1600" dirty="0" err="1"/>
              <a:t>ist</a:t>
            </a:r>
            <a:r>
              <a:rPr sz="1600" dirty="0"/>
              <a:t> </a:t>
            </a:r>
            <a:r>
              <a:rPr sz="1600" dirty="0" err="1"/>
              <a:t>grün</a:t>
            </a:r>
            <a:r>
              <a:rPr sz="1600" dirty="0"/>
              <a:t>. Sie </a:t>
            </a:r>
            <a:r>
              <a:rPr sz="1600" dirty="0" err="1"/>
              <a:t>haben</a:t>
            </a:r>
            <a:r>
              <a:rPr sz="1600" dirty="0"/>
              <a:t> nun </a:t>
            </a:r>
            <a:r>
              <a:rPr sz="1600" dirty="0" err="1"/>
              <a:t>ein</a:t>
            </a:r>
            <a:r>
              <a:rPr sz="1600" dirty="0"/>
              <a:t> </a:t>
            </a:r>
            <a:r>
              <a:rPr sz="1600" dirty="0" err="1"/>
              <a:t>Sicherheitsnetz</a:t>
            </a:r>
            <a:r>
              <a:rPr sz="1600" dirty="0"/>
              <a:t>!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 err="1"/>
              <a:t>Jetzt</a:t>
            </a:r>
            <a:r>
              <a:rPr sz="1600" dirty="0"/>
              <a:t> </a:t>
            </a:r>
            <a:r>
              <a:rPr sz="1600" dirty="0" err="1"/>
              <a:t>schauen</a:t>
            </a:r>
            <a:r>
              <a:rPr sz="1600" dirty="0"/>
              <a:t> Sie </a:t>
            </a:r>
            <a:r>
              <a:rPr sz="1600" dirty="0" err="1"/>
              <a:t>sich</a:t>
            </a:r>
            <a:r>
              <a:rPr sz="1600" dirty="0"/>
              <a:t> den </a:t>
            </a:r>
            <a:r>
              <a:rPr sz="1600" dirty="0" err="1"/>
              <a:t>Produktiv</a:t>
            </a:r>
            <a:r>
              <a:rPr sz="1600" dirty="0"/>
              <a:t>-Code an.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 err="1"/>
              <a:t>Gibt</a:t>
            </a:r>
            <a:r>
              <a:rPr sz="1600" dirty="0"/>
              <a:t> es Magic Numbers? </a:t>
            </a:r>
            <a:r>
              <a:rPr sz="1600" dirty="0" err="1"/>
              <a:t>Ist</a:t>
            </a:r>
            <a:r>
              <a:rPr sz="1600" dirty="0"/>
              <a:t> die Methode </a:t>
            </a:r>
            <a:r>
              <a:rPr sz="1600" dirty="0" err="1"/>
              <a:t>zu</a:t>
            </a:r>
            <a:r>
              <a:rPr sz="1600" dirty="0"/>
              <a:t> lang? Sind die </a:t>
            </a:r>
            <a:r>
              <a:rPr sz="1600" dirty="0" err="1"/>
              <a:t>Variablennamen</a:t>
            </a:r>
            <a:r>
              <a:rPr sz="1600" dirty="0"/>
              <a:t> </a:t>
            </a:r>
            <a:r>
              <a:rPr sz="1600" dirty="0" err="1"/>
              <a:t>schlecht</a:t>
            </a:r>
            <a:r>
              <a:rPr sz="1600" dirty="0"/>
              <a:t>? </a:t>
            </a:r>
            <a:r>
              <a:rPr sz="1600" dirty="0" err="1"/>
              <a:t>Ist</a:t>
            </a:r>
            <a:r>
              <a:rPr sz="1600" dirty="0"/>
              <a:t> die Klasse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groß</a:t>
            </a:r>
            <a:r>
              <a:rPr sz="1600" dirty="0"/>
              <a:t>? </a:t>
            </a:r>
            <a:r>
              <a:rPr sz="1600" dirty="0" err="1"/>
              <a:t>Gibt</a:t>
            </a:r>
            <a:r>
              <a:rPr sz="1600" dirty="0"/>
              <a:t> es </a:t>
            </a:r>
            <a:r>
              <a:rPr sz="1600" dirty="0" err="1"/>
              <a:t>Duplikate</a:t>
            </a:r>
            <a:r>
              <a:rPr sz="1600" dirty="0"/>
              <a:t>? </a:t>
            </a:r>
            <a:r>
              <a:rPr sz="1600" dirty="0" err="1"/>
              <a:t>Sollten</a:t>
            </a:r>
            <a:r>
              <a:rPr sz="1600" dirty="0"/>
              <a:t> Design-Patterns </a:t>
            </a:r>
            <a:r>
              <a:rPr sz="1600" dirty="0" err="1"/>
              <a:t>angewendet</a:t>
            </a:r>
            <a:r>
              <a:rPr sz="1600" dirty="0"/>
              <a:t> </a:t>
            </a:r>
            <a:r>
              <a:rPr sz="1600" dirty="0" err="1"/>
              <a:t>werden</a:t>
            </a:r>
            <a:r>
              <a:rPr sz="1600" dirty="0"/>
              <a:t>?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/>
              <a:t>Sie </a:t>
            </a:r>
            <a:r>
              <a:rPr sz="1600" dirty="0" err="1"/>
              <a:t>passen</a:t>
            </a:r>
            <a:r>
              <a:rPr sz="1600" dirty="0"/>
              <a:t> den Code an.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sz="1600" dirty="0"/>
              <a:t>Nach </a:t>
            </a:r>
            <a:r>
              <a:rPr sz="1600" b="1" dirty="0" err="1"/>
              <a:t>jeder</a:t>
            </a:r>
            <a:r>
              <a:rPr sz="1600" dirty="0"/>
              <a:t> </a:t>
            </a:r>
            <a:r>
              <a:rPr sz="1600" dirty="0" err="1"/>
              <a:t>kleinen</a:t>
            </a:r>
            <a:r>
              <a:rPr sz="1600" dirty="0"/>
              <a:t> </a:t>
            </a:r>
            <a:r>
              <a:rPr sz="1600" dirty="0" err="1"/>
              <a:t>Änderung</a:t>
            </a:r>
            <a:r>
              <a:rPr sz="1600" dirty="0"/>
              <a:t> </a:t>
            </a:r>
            <a:r>
              <a:rPr sz="1600" dirty="0" err="1"/>
              <a:t>lassen</a:t>
            </a:r>
            <a:r>
              <a:rPr sz="1600" dirty="0"/>
              <a:t> Sie die Tests </a:t>
            </a:r>
            <a:r>
              <a:rPr sz="1600" dirty="0" err="1"/>
              <a:t>laufen</a:t>
            </a:r>
            <a:r>
              <a:rPr sz="1600" dirty="0"/>
              <a:t>. Solange </a:t>
            </a:r>
            <a:r>
              <a:rPr sz="1600" dirty="0" err="1"/>
              <a:t>sie</a:t>
            </a:r>
            <a:r>
              <a:rPr sz="1600" dirty="0"/>
              <a:t> </a:t>
            </a:r>
            <a:r>
              <a:rPr sz="1600" dirty="0" err="1"/>
              <a:t>grün</a:t>
            </a:r>
            <a:r>
              <a:rPr sz="1600" dirty="0"/>
              <a:t> </a:t>
            </a:r>
            <a:r>
              <a:rPr sz="1600" dirty="0" err="1"/>
              <a:t>bleiben</a:t>
            </a:r>
            <a:r>
              <a:rPr sz="1600" dirty="0"/>
              <a:t>, </a:t>
            </a:r>
            <a:r>
              <a:rPr sz="1600" dirty="0" err="1"/>
              <a:t>haben</a:t>
            </a:r>
            <a:r>
              <a:rPr sz="1600" dirty="0"/>
              <a:t> Sie </a:t>
            </a:r>
            <a:r>
              <a:rPr sz="1600" dirty="0" err="1"/>
              <a:t>nichts</a:t>
            </a:r>
            <a:r>
              <a:rPr sz="1600" dirty="0"/>
              <a:t> kaputt </a:t>
            </a:r>
            <a:r>
              <a:rPr sz="1600" dirty="0" err="1"/>
              <a:t>gemacht</a:t>
            </a:r>
            <a:r>
              <a:rPr sz="1600" dirty="0"/>
              <a:t>.</a:t>
            </a:r>
            <a:br>
              <a:rPr lang="de-DE" sz="1600" dirty="0"/>
            </a:br>
            <a:endParaRPr sz="1600" dirty="0"/>
          </a:p>
          <a:p>
            <a:pPr marL="0" indent="0">
              <a:buNone/>
            </a:pPr>
            <a:r>
              <a:rPr sz="1600" b="1" i="1" dirty="0" err="1">
                <a:solidFill>
                  <a:srgbClr val="0070C0"/>
                </a:solidFill>
              </a:rPr>
              <a:t>Warum</a:t>
            </a:r>
            <a:r>
              <a:rPr sz="1600" b="1" i="1" dirty="0">
                <a:solidFill>
                  <a:srgbClr val="0070C0"/>
                </a:solidFill>
              </a:rPr>
              <a:t> </a:t>
            </a:r>
            <a:r>
              <a:rPr sz="1600" b="1" i="1" dirty="0" err="1">
                <a:solidFill>
                  <a:srgbClr val="0070C0"/>
                </a:solidFill>
              </a:rPr>
              <a:t>ist</a:t>
            </a:r>
            <a:r>
              <a:rPr sz="1600" b="1" i="1" dirty="0">
                <a:solidFill>
                  <a:srgbClr val="0070C0"/>
                </a:solidFill>
              </a:rPr>
              <a:t> das </a:t>
            </a:r>
            <a:r>
              <a:rPr sz="1600" b="1" i="1" dirty="0" err="1">
                <a:solidFill>
                  <a:srgbClr val="0070C0"/>
                </a:solidFill>
              </a:rPr>
              <a:t>wichtig</a:t>
            </a:r>
            <a:r>
              <a:rPr sz="1600" b="1" i="1" dirty="0">
                <a:solidFill>
                  <a:srgbClr val="0070C0"/>
                </a:solidFill>
              </a:rPr>
              <a:t>?</a:t>
            </a:r>
            <a:r>
              <a:rPr sz="1600" b="1" dirty="0">
                <a:solidFill>
                  <a:srgbClr val="0070C0"/>
                </a:solidFill>
              </a:rPr>
              <a:t> </a:t>
            </a:r>
            <a:br>
              <a:rPr lang="de-DE" sz="1600" b="1" dirty="0">
                <a:solidFill>
                  <a:srgbClr val="0070C0"/>
                </a:solidFill>
              </a:rPr>
            </a:br>
            <a:r>
              <a:rPr sz="1600" dirty="0"/>
              <a:t>Weil es so </a:t>
            </a:r>
            <a:r>
              <a:rPr sz="1600" dirty="0" err="1"/>
              <a:t>leicht</a:t>
            </a:r>
            <a:r>
              <a:rPr sz="1600" dirty="0"/>
              <a:t> </a:t>
            </a:r>
            <a:r>
              <a:rPr sz="1600" dirty="0" err="1"/>
              <a:t>ist</a:t>
            </a:r>
            <a:r>
              <a:rPr sz="1600" dirty="0"/>
              <a:t>, in der “Green”-Phase </a:t>
            </a:r>
            <a:r>
              <a:rPr sz="1600" dirty="0" err="1"/>
              <a:t>unstrukturierten</a:t>
            </a:r>
            <a:r>
              <a:rPr sz="1600" dirty="0"/>
              <a:t> Code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produzieren</a:t>
            </a:r>
            <a:r>
              <a:rPr sz="1600" dirty="0"/>
              <a:t>. Refactoring </a:t>
            </a:r>
            <a:r>
              <a:rPr sz="1600" dirty="0" err="1"/>
              <a:t>sorgt</a:t>
            </a:r>
            <a:r>
              <a:rPr sz="1600" dirty="0"/>
              <a:t> </a:t>
            </a:r>
            <a:r>
              <a:rPr sz="1600" dirty="0" err="1"/>
              <a:t>dafür</a:t>
            </a:r>
            <a:r>
              <a:rPr sz="1600" dirty="0"/>
              <a:t>, </a:t>
            </a:r>
            <a:r>
              <a:rPr sz="1600" dirty="0" err="1"/>
              <a:t>dass</a:t>
            </a:r>
            <a:r>
              <a:rPr sz="1600" dirty="0"/>
              <a:t> </a:t>
            </a:r>
            <a:r>
              <a:rPr sz="1600" dirty="0" err="1"/>
              <a:t>Ihr</a:t>
            </a:r>
            <a:r>
              <a:rPr sz="1600" dirty="0"/>
              <a:t> Code </a:t>
            </a:r>
            <a:r>
              <a:rPr sz="1600" dirty="0" err="1"/>
              <a:t>sauber</a:t>
            </a:r>
            <a:r>
              <a:rPr sz="1600" dirty="0"/>
              <a:t> und </a:t>
            </a:r>
            <a:r>
              <a:rPr sz="1600" dirty="0" err="1"/>
              <a:t>wartbar</a:t>
            </a:r>
            <a:r>
              <a:rPr sz="1600" dirty="0"/>
              <a:t> </a:t>
            </a:r>
            <a:r>
              <a:rPr sz="1600" dirty="0" err="1"/>
              <a:t>bleibt</a:t>
            </a:r>
            <a:r>
              <a:rPr sz="1600" dirty="0"/>
              <a:t>, </a:t>
            </a:r>
            <a:r>
              <a:rPr sz="1600" dirty="0" err="1"/>
              <a:t>ohne</a:t>
            </a:r>
            <a:r>
              <a:rPr sz="1600" dirty="0"/>
              <a:t> die </a:t>
            </a:r>
            <a:r>
              <a:rPr sz="1600" dirty="0" err="1"/>
              <a:t>Funktionalität</a:t>
            </a:r>
            <a:r>
              <a:rPr sz="1600" dirty="0"/>
              <a:t> </a:t>
            </a:r>
            <a:r>
              <a:rPr sz="1600" dirty="0" err="1"/>
              <a:t>zu</a:t>
            </a:r>
            <a:r>
              <a:rPr sz="1600" dirty="0"/>
              <a:t> </a:t>
            </a:r>
            <a:r>
              <a:rPr sz="1600" dirty="0" err="1"/>
              <a:t>gefährden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Warum</a:t>
            </a:r>
            <a:r>
              <a:rPr dirty="0"/>
              <a:t> TDD so </a:t>
            </a:r>
            <a:r>
              <a:rPr dirty="0" err="1"/>
              <a:t>mächtig</a:t>
            </a:r>
            <a:r>
              <a:rPr dirty="0"/>
              <a:t> </a:t>
            </a:r>
            <a:r>
              <a:rPr dirty="0" err="1"/>
              <a:t>ist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052" y="1103179"/>
            <a:ext cx="5593018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dirty="0" err="1"/>
              <a:t>Vorteile</a:t>
            </a:r>
            <a:r>
              <a:rPr dirty="0"/>
              <a:t>: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b="1" dirty="0"/>
              <a:t>100% </a:t>
            </a:r>
            <a:r>
              <a:rPr b="1" dirty="0" err="1"/>
              <a:t>Testabdeckung</a:t>
            </a:r>
            <a:r>
              <a:rPr b="1" dirty="0"/>
              <a:t>:</a:t>
            </a:r>
            <a:r>
              <a:rPr dirty="0"/>
              <a:t> Da </a:t>
            </a:r>
            <a:r>
              <a:rPr dirty="0" err="1"/>
              <a:t>kein</a:t>
            </a:r>
            <a:r>
              <a:rPr dirty="0"/>
              <a:t> Code </a:t>
            </a:r>
            <a:r>
              <a:rPr dirty="0" err="1"/>
              <a:t>ohne</a:t>
            </a:r>
            <a:r>
              <a:rPr dirty="0"/>
              <a:t> </a:t>
            </a:r>
            <a:r>
              <a:rPr dirty="0" err="1"/>
              <a:t>vorherigen</a:t>
            </a:r>
            <a:r>
              <a:rPr dirty="0"/>
              <a:t> Test </a:t>
            </a:r>
            <a:r>
              <a:rPr dirty="0" err="1"/>
              <a:t>geschrieben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, </a:t>
            </a:r>
            <a:r>
              <a:rPr dirty="0" err="1"/>
              <a:t>ist</a:t>
            </a:r>
            <a:r>
              <a:rPr dirty="0"/>
              <a:t> das </a:t>
            </a:r>
            <a:r>
              <a:rPr dirty="0" err="1"/>
              <a:t>gesamte</a:t>
            </a:r>
            <a:r>
              <a:rPr dirty="0"/>
              <a:t> System </a:t>
            </a:r>
            <a:r>
              <a:rPr dirty="0" err="1"/>
              <a:t>automatisch</a:t>
            </a:r>
            <a:r>
              <a:rPr dirty="0"/>
              <a:t> </a:t>
            </a:r>
            <a:r>
              <a:rPr dirty="0" err="1"/>
              <a:t>getestet</a:t>
            </a:r>
            <a:r>
              <a:rPr dirty="0"/>
              <a:t>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b="1" dirty="0" err="1"/>
              <a:t>Lebende</a:t>
            </a:r>
            <a:r>
              <a:rPr b="1" dirty="0"/>
              <a:t> </a:t>
            </a:r>
            <a:r>
              <a:rPr b="1" dirty="0" err="1"/>
              <a:t>Dokumentation</a:t>
            </a:r>
            <a:r>
              <a:rPr b="1" dirty="0"/>
              <a:t>:</a:t>
            </a:r>
            <a:r>
              <a:rPr dirty="0"/>
              <a:t> Die Tests </a:t>
            </a:r>
            <a:r>
              <a:rPr dirty="0" err="1"/>
              <a:t>beschreiben</a:t>
            </a:r>
            <a:r>
              <a:rPr dirty="0"/>
              <a:t> das </a:t>
            </a:r>
            <a:r>
              <a:rPr dirty="0" err="1"/>
              <a:t>Systemverhalten</a:t>
            </a:r>
            <a:r>
              <a:rPr dirty="0"/>
              <a:t> </a:t>
            </a:r>
            <a:r>
              <a:rPr dirty="0" err="1"/>
              <a:t>besser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jedes</a:t>
            </a:r>
            <a:r>
              <a:rPr dirty="0"/>
              <a:t> Word-</a:t>
            </a:r>
            <a:r>
              <a:rPr dirty="0" err="1"/>
              <a:t>Dokument</a:t>
            </a:r>
            <a:r>
              <a:rPr dirty="0"/>
              <a:t>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b="1" dirty="0" err="1"/>
              <a:t>Besseres</a:t>
            </a:r>
            <a:r>
              <a:rPr b="1" dirty="0"/>
              <a:t> Design:</a:t>
            </a:r>
            <a:r>
              <a:rPr dirty="0"/>
              <a:t> </a:t>
            </a:r>
            <a:r>
              <a:rPr dirty="0" err="1"/>
              <a:t>Wer</a:t>
            </a:r>
            <a:r>
              <a:rPr dirty="0"/>
              <a:t> TDD </a:t>
            </a:r>
            <a:r>
              <a:rPr dirty="0" err="1"/>
              <a:t>anwendet</a:t>
            </a:r>
            <a:r>
              <a:rPr dirty="0"/>
              <a:t>, </a:t>
            </a:r>
            <a:r>
              <a:rPr dirty="0" err="1"/>
              <a:t>baut</a:t>
            </a:r>
            <a:r>
              <a:rPr dirty="0"/>
              <a:t> </a:t>
            </a:r>
            <a:r>
              <a:rPr dirty="0" err="1"/>
              <a:t>automatisch</a:t>
            </a:r>
            <a:r>
              <a:rPr dirty="0"/>
              <a:t> </a:t>
            </a:r>
            <a:r>
              <a:rPr dirty="0" err="1"/>
              <a:t>entkoppelte</a:t>
            </a:r>
            <a:r>
              <a:rPr dirty="0"/>
              <a:t>, gut </a:t>
            </a:r>
            <a:r>
              <a:rPr dirty="0" err="1"/>
              <a:t>strukturierte</a:t>
            </a:r>
            <a:r>
              <a:rPr dirty="0"/>
              <a:t> Klassen (da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sonst</a:t>
            </a:r>
            <a:r>
              <a:rPr dirty="0"/>
              <a:t> gar nicht </a:t>
            </a:r>
            <a:r>
              <a:rPr dirty="0" err="1"/>
              <a:t>vorab</a:t>
            </a:r>
            <a:r>
              <a:rPr dirty="0"/>
              <a:t> </a:t>
            </a:r>
            <a:r>
              <a:rPr dirty="0" err="1"/>
              <a:t>testbar</a:t>
            </a:r>
            <a:r>
              <a:rPr dirty="0"/>
              <a:t> </a:t>
            </a:r>
            <a:r>
              <a:rPr dirty="0" err="1"/>
              <a:t>wären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ADF69-F8F0-50E9-99F8-A44F811D3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02F1-0D1F-3300-5046-C6500C7B5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Warum</a:t>
            </a:r>
            <a:r>
              <a:rPr dirty="0"/>
              <a:t> TDD </a:t>
            </a:r>
            <a:r>
              <a:rPr lang="de-DE" dirty="0"/>
              <a:t>keine „Allzweckwaffe“ ist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2E97C-1B23-FC49-DCB1-2E9951493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557" y="1103179"/>
            <a:ext cx="5600513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dirty="0" err="1"/>
              <a:t>Nachteile</a:t>
            </a:r>
            <a:r>
              <a:rPr dirty="0"/>
              <a:t>: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dirty="0" err="1"/>
              <a:t>Anfangs</a:t>
            </a:r>
            <a:r>
              <a:rPr dirty="0"/>
              <a:t> </a:t>
            </a:r>
            <a:r>
              <a:rPr b="1" dirty="0" err="1"/>
              <a:t>ungewohnt</a:t>
            </a:r>
            <a:r>
              <a:rPr dirty="0"/>
              <a:t> und (immer) </a:t>
            </a:r>
            <a:r>
              <a:rPr b="1" dirty="0" err="1"/>
              <a:t>zeitintensiv</a:t>
            </a:r>
            <a:r>
              <a:rPr dirty="0"/>
              <a:t> (</a:t>
            </a:r>
            <a:r>
              <a:rPr dirty="0" err="1"/>
              <a:t>meint</a:t>
            </a:r>
            <a:r>
              <a:rPr dirty="0"/>
              <a:t>: </a:t>
            </a:r>
            <a:r>
              <a:rPr dirty="0" err="1"/>
              <a:t>teuer</a:t>
            </a:r>
            <a:r>
              <a:rPr dirty="0"/>
              <a:t>).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dirty="0" err="1"/>
              <a:t>Ohne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gute</a:t>
            </a:r>
            <a:r>
              <a:rPr dirty="0"/>
              <a:t> </a:t>
            </a:r>
            <a:r>
              <a:rPr b="1" dirty="0" err="1"/>
              <a:t>Spezifikation</a:t>
            </a:r>
            <a:r>
              <a:rPr dirty="0"/>
              <a:t> </a:t>
            </a:r>
            <a:r>
              <a:rPr dirty="0" err="1"/>
              <a:t>kann</a:t>
            </a:r>
            <a:r>
              <a:rPr dirty="0"/>
              <a:t> es </a:t>
            </a:r>
            <a:r>
              <a:rPr dirty="0" err="1"/>
              <a:t>schwierig</a:t>
            </a:r>
            <a:r>
              <a:rPr dirty="0"/>
              <a:t> sein, die Tests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schreiben</a:t>
            </a:r>
            <a:r>
              <a:rPr dirty="0"/>
              <a:t>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dirty="0"/>
              <a:t>Es </a:t>
            </a:r>
            <a:r>
              <a:rPr dirty="0" err="1"/>
              <a:t>erfordert</a:t>
            </a:r>
            <a:r>
              <a:rPr dirty="0"/>
              <a:t> </a:t>
            </a:r>
            <a:r>
              <a:rPr dirty="0" err="1"/>
              <a:t>Disziplin</a:t>
            </a:r>
            <a:r>
              <a:rPr dirty="0"/>
              <a:t>, um den </a:t>
            </a:r>
            <a:r>
              <a:rPr b="1" dirty="0"/>
              <a:t>Workflow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meistern</a:t>
            </a:r>
            <a:r>
              <a:rPr dirty="0"/>
              <a:t>.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b="1" dirty="0" err="1"/>
              <a:t>Kompromiss</a:t>
            </a:r>
            <a:r>
              <a:rPr b="1" dirty="0"/>
              <a:t>:</a:t>
            </a:r>
            <a:r>
              <a:rPr dirty="0"/>
              <a:t> Nicht </a:t>
            </a:r>
            <a:r>
              <a:rPr dirty="0" err="1"/>
              <a:t>jeder</a:t>
            </a:r>
            <a:r>
              <a:rPr dirty="0"/>
              <a:t> Test muss </a:t>
            </a:r>
            <a:r>
              <a:rPr dirty="0" err="1"/>
              <a:t>mit</a:t>
            </a:r>
            <a:r>
              <a:rPr dirty="0"/>
              <a:t> TDD </a:t>
            </a:r>
            <a:r>
              <a:rPr dirty="0" err="1"/>
              <a:t>geschrieben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, </a:t>
            </a:r>
            <a:r>
              <a:rPr dirty="0" err="1"/>
              <a:t>aber</a:t>
            </a:r>
            <a:r>
              <a:rPr dirty="0"/>
              <a:t> die </a:t>
            </a:r>
            <a:r>
              <a:rPr dirty="0" err="1"/>
              <a:t>wichtigsten</a:t>
            </a:r>
            <a:r>
              <a:rPr dirty="0"/>
              <a:t> und </a:t>
            </a:r>
            <a:r>
              <a:rPr dirty="0" err="1"/>
              <a:t>kritischsten</a:t>
            </a:r>
            <a:r>
              <a:rPr dirty="0"/>
              <a:t> </a:t>
            </a:r>
            <a:r>
              <a:rPr dirty="0" err="1"/>
              <a:t>Logiken</a:t>
            </a:r>
            <a:r>
              <a:rPr dirty="0"/>
              <a:t> </a:t>
            </a:r>
            <a:r>
              <a:rPr dirty="0" err="1"/>
              <a:t>sollten</a:t>
            </a:r>
            <a:r>
              <a:rPr dirty="0"/>
              <a:t> es sein.</a:t>
            </a:r>
          </a:p>
        </p:txBody>
      </p:sp>
    </p:spTree>
    <p:extLst>
      <p:ext uri="{BB962C8B-B14F-4D97-AF65-F5344CB8AC3E}">
        <p14:creationId xmlns:p14="http://schemas.microsoft.com/office/powerpoint/2010/main" val="11239596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/>
          <a:lstStyle/>
          <a:p>
            <a:r>
              <a:rPr lang="de-DE" dirty="0"/>
              <a:t>Teil 5: </a:t>
            </a:r>
            <a:br>
              <a:rPr lang="de-DE" dirty="0"/>
            </a:br>
            <a:r>
              <a:rPr lang="de-DE" dirty="0" err="1"/>
              <a:t>Refactoring</a:t>
            </a:r>
            <a:r>
              <a:rPr lang="de-DE" dirty="0"/>
              <a:t>-Techniken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D9A0159-639F-B24F-7A75-701D7704EF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Refactoring?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548" y="1103179"/>
            <a:ext cx="5585522" cy="3603318"/>
          </a:xfrm>
        </p:spPr>
        <p:txBody>
          <a:bodyPr/>
          <a:lstStyle/>
          <a:p>
            <a:pPr marL="0" indent="0">
              <a:buNone/>
            </a:pPr>
            <a:r>
              <a:rPr b="1" i="1" dirty="0">
                <a:solidFill>
                  <a:srgbClr val="0070C0"/>
                </a:solidFill>
              </a:rPr>
              <a:t>Refactoring </a:t>
            </a:r>
            <a:r>
              <a:rPr b="1" i="1" dirty="0" err="1">
                <a:solidFill>
                  <a:srgbClr val="0070C0"/>
                </a:solidFill>
              </a:rPr>
              <a:t>ist</a:t>
            </a:r>
            <a:r>
              <a:rPr b="1" i="1" dirty="0">
                <a:solidFill>
                  <a:srgbClr val="0070C0"/>
                </a:solidFill>
              </a:rPr>
              <a:t> die </a:t>
            </a:r>
            <a:r>
              <a:rPr b="1" i="1" dirty="0" err="1">
                <a:solidFill>
                  <a:srgbClr val="0070C0"/>
                </a:solidFill>
              </a:rPr>
              <a:t>Verbesserung</a:t>
            </a:r>
            <a:r>
              <a:rPr b="1" i="1" dirty="0">
                <a:solidFill>
                  <a:srgbClr val="0070C0"/>
                </a:solidFill>
              </a:rPr>
              <a:t> der </a:t>
            </a:r>
            <a:r>
              <a:rPr b="1" i="1" dirty="0" err="1">
                <a:solidFill>
                  <a:srgbClr val="0070C0"/>
                </a:solidFill>
              </a:rPr>
              <a:t>inneren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Struktur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ohne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Änderung</a:t>
            </a:r>
            <a:r>
              <a:rPr b="1" i="1" dirty="0">
                <a:solidFill>
                  <a:srgbClr val="0070C0"/>
                </a:solidFill>
              </a:rPr>
              <a:t> des </a:t>
            </a:r>
            <a:r>
              <a:rPr b="1" i="1" dirty="0" err="1">
                <a:solidFill>
                  <a:srgbClr val="0070C0"/>
                </a:solidFill>
              </a:rPr>
              <a:t>äußeren</a:t>
            </a:r>
            <a:r>
              <a:rPr b="1" i="1" dirty="0">
                <a:solidFill>
                  <a:srgbClr val="0070C0"/>
                </a:solidFill>
              </a:rPr>
              <a:t> </a:t>
            </a:r>
            <a:r>
              <a:rPr b="1" i="1" dirty="0" err="1">
                <a:solidFill>
                  <a:srgbClr val="0070C0"/>
                </a:solidFill>
              </a:rPr>
              <a:t>Verhaltens</a:t>
            </a:r>
            <a:r>
              <a:rPr b="1" i="1" dirty="0">
                <a:solidFill>
                  <a:srgbClr val="0070C0"/>
                </a:solidFill>
              </a:rPr>
              <a:t>. </a:t>
            </a:r>
            <a:endParaRPr lang="de-DE" b="1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i="1" dirty="0"/>
              <a:t>Es </a:t>
            </a:r>
            <a:r>
              <a:rPr i="1" dirty="0" err="1"/>
              <a:t>ist</a:t>
            </a:r>
            <a:r>
              <a:rPr i="1" dirty="0"/>
              <a:t> das </a:t>
            </a:r>
            <a:r>
              <a:rPr i="1" dirty="0" err="1"/>
              <a:t>Aufräumen</a:t>
            </a:r>
            <a:r>
              <a:rPr i="1" dirty="0"/>
              <a:t> des Codes, um </a:t>
            </a:r>
            <a:r>
              <a:rPr i="1" dirty="0" err="1"/>
              <a:t>ihn</a:t>
            </a:r>
            <a:r>
              <a:rPr i="1" dirty="0"/>
              <a:t> </a:t>
            </a:r>
            <a:r>
              <a:rPr i="1" dirty="0" err="1"/>
              <a:t>lesbar</a:t>
            </a:r>
            <a:r>
              <a:rPr i="1" dirty="0"/>
              <a:t> und </a:t>
            </a:r>
            <a:r>
              <a:rPr i="1" dirty="0" err="1"/>
              <a:t>wartbar</a:t>
            </a:r>
            <a:r>
              <a:rPr i="1" dirty="0"/>
              <a:t> </a:t>
            </a:r>
            <a:r>
              <a:rPr i="1" dirty="0" err="1"/>
              <a:t>zu</a:t>
            </a:r>
            <a:r>
              <a:rPr i="1" dirty="0"/>
              <a:t> </a:t>
            </a:r>
            <a:r>
              <a:rPr i="1" dirty="0" err="1"/>
              <a:t>halten</a:t>
            </a:r>
            <a:r>
              <a:rPr i="1" dirty="0"/>
              <a:t>.</a:t>
            </a:r>
          </a:p>
          <a:p>
            <a:pPr marL="0" indent="0">
              <a:buNone/>
            </a:pPr>
            <a:r>
              <a:rPr dirty="0"/>
              <a:t>Refactoring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kontinuierlicher</a:t>
            </a:r>
            <a:r>
              <a:rPr dirty="0"/>
              <a:t> </a:t>
            </a:r>
            <a:r>
              <a:rPr dirty="0" err="1"/>
              <a:t>Prozess</a:t>
            </a:r>
            <a:r>
              <a:rPr dirty="0"/>
              <a:t>, der </a:t>
            </a:r>
            <a:r>
              <a:rPr dirty="0" err="1"/>
              <a:t>während</a:t>
            </a:r>
            <a:r>
              <a:rPr dirty="0"/>
              <a:t> der </a:t>
            </a:r>
            <a:r>
              <a:rPr dirty="0" err="1"/>
              <a:t>gesamten</a:t>
            </a:r>
            <a:r>
              <a:rPr dirty="0"/>
              <a:t> </a:t>
            </a:r>
            <a:r>
              <a:rPr dirty="0" err="1"/>
              <a:t>Softwareentwicklung</a:t>
            </a:r>
            <a:r>
              <a:rPr dirty="0"/>
              <a:t> </a:t>
            </a:r>
            <a:r>
              <a:rPr dirty="0" err="1"/>
              <a:t>stattfindet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/>
              <a:t>Es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kein</a:t>
            </a:r>
            <a:r>
              <a:rPr dirty="0"/>
              <a:t> </a:t>
            </a:r>
            <a:r>
              <a:rPr dirty="0" err="1"/>
              <a:t>einmaliges</a:t>
            </a:r>
            <a:r>
              <a:rPr dirty="0"/>
              <a:t> </a:t>
            </a:r>
            <a:r>
              <a:rPr dirty="0" err="1"/>
              <a:t>Ereignis</a:t>
            </a:r>
            <a:r>
              <a:rPr dirty="0"/>
              <a:t>, </a:t>
            </a:r>
            <a:r>
              <a:rPr dirty="0" err="1"/>
              <a:t>sondern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Praxis, die in den </a:t>
            </a:r>
            <a:r>
              <a:rPr dirty="0" err="1"/>
              <a:t>Alltag</a:t>
            </a:r>
            <a:r>
              <a:rPr dirty="0"/>
              <a:t> </a:t>
            </a:r>
            <a:r>
              <a:rPr dirty="0" err="1"/>
              <a:t>eines</a:t>
            </a:r>
            <a:r>
              <a:rPr dirty="0"/>
              <a:t> </a:t>
            </a:r>
            <a:r>
              <a:rPr dirty="0" err="1"/>
              <a:t>Entwicklers</a:t>
            </a:r>
            <a:r>
              <a:rPr dirty="0"/>
              <a:t> </a:t>
            </a:r>
            <a:r>
              <a:rPr dirty="0" err="1"/>
              <a:t>integriert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 </a:t>
            </a:r>
            <a:r>
              <a:rPr dirty="0" err="1"/>
              <a:t>sollte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3705E-FB64-DB67-25E9-ECE983992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39E11-E4FC-8236-EBD2-38F28D7B1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Wa</a:t>
            </a:r>
            <a:r>
              <a:rPr lang="de-DE" dirty="0"/>
              <a:t>rum</a:t>
            </a:r>
            <a:r>
              <a:rPr dirty="0"/>
              <a:t> Refactoring?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08752-B55E-6C83-77DB-5A26EBA81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548" y="1103179"/>
            <a:ext cx="5585522" cy="360331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Code der </a:t>
            </a:r>
            <a:r>
              <a:rPr dirty="0" err="1"/>
              <a:t>während</a:t>
            </a:r>
            <a:r>
              <a:rPr dirty="0"/>
              <a:t> der </a:t>
            </a:r>
            <a:r>
              <a:rPr dirty="0" err="1"/>
              <a:t>Entwicklung</a:t>
            </a:r>
            <a:r>
              <a:rPr dirty="0"/>
              <a:t> nicht </a:t>
            </a:r>
            <a:r>
              <a:rPr dirty="0" err="1"/>
              <a:t>regelmäßig</a:t>
            </a:r>
            <a:r>
              <a:rPr dirty="0"/>
              <a:t> </a:t>
            </a:r>
            <a:r>
              <a:rPr dirty="0" err="1"/>
              <a:t>refaktorisiert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, </a:t>
            </a:r>
            <a:r>
              <a:rPr dirty="0" err="1"/>
              <a:t>neigt</a:t>
            </a:r>
            <a:r>
              <a:rPr dirty="0"/>
              <a:t> </a:t>
            </a:r>
            <a:r>
              <a:rPr dirty="0" err="1"/>
              <a:t>dazu</a:t>
            </a:r>
            <a:r>
              <a:rPr dirty="0"/>
              <a:t>, </a:t>
            </a:r>
            <a:r>
              <a:rPr dirty="0" err="1"/>
              <a:t>unübersichtlich</a:t>
            </a:r>
            <a:r>
              <a:rPr dirty="0"/>
              <a:t> und </a:t>
            </a:r>
            <a:r>
              <a:rPr dirty="0" err="1"/>
              <a:t>schwer</a:t>
            </a:r>
            <a:r>
              <a:rPr dirty="0"/>
              <a:t> </a:t>
            </a:r>
            <a:r>
              <a:rPr dirty="0" err="1"/>
              <a:t>wartbar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/>
              <a:t>Das </a:t>
            </a:r>
            <a:r>
              <a:rPr dirty="0" err="1"/>
              <a:t>führt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“Code Smells” (</a:t>
            </a:r>
            <a:r>
              <a:rPr dirty="0" err="1"/>
              <a:t>z.B.</a:t>
            </a:r>
            <a:r>
              <a:rPr dirty="0"/>
              <a:t> </a:t>
            </a:r>
            <a:r>
              <a:rPr dirty="0" err="1"/>
              <a:t>lange</a:t>
            </a:r>
            <a:r>
              <a:rPr dirty="0"/>
              <a:t> </a:t>
            </a:r>
            <a:r>
              <a:rPr dirty="0" err="1"/>
              <a:t>Methoden</a:t>
            </a:r>
            <a:r>
              <a:rPr dirty="0"/>
              <a:t>, </a:t>
            </a:r>
            <a:r>
              <a:rPr dirty="0" err="1"/>
              <a:t>duplizierter</a:t>
            </a:r>
            <a:r>
              <a:rPr dirty="0"/>
              <a:t> Code, </a:t>
            </a:r>
            <a:r>
              <a:rPr dirty="0" err="1"/>
              <a:t>unklare</a:t>
            </a:r>
            <a:r>
              <a:rPr dirty="0"/>
              <a:t> Namen), die das Risiko von </a:t>
            </a:r>
            <a:r>
              <a:rPr dirty="0" err="1"/>
              <a:t>Fehlern</a:t>
            </a:r>
            <a:r>
              <a:rPr dirty="0"/>
              <a:t> </a:t>
            </a:r>
            <a:r>
              <a:rPr dirty="0" err="1"/>
              <a:t>erhöhen</a:t>
            </a:r>
            <a:r>
              <a:rPr dirty="0"/>
              <a:t> und die </a:t>
            </a:r>
            <a:r>
              <a:rPr dirty="0" err="1"/>
              <a:t>Entwicklung</a:t>
            </a:r>
            <a:r>
              <a:rPr dirty="0"/>
              <a:t> </a:t>
            </a:r>
            <a:r>
              <a:rPr dirty="0" err="1"/>
              <a:t>neuer</a:t>
            </a:r>
            <a:r>
              <a:rPr dirty="0"/>
              <a:t> Features </a:t>
            </a:r>
            <a:r>
              <a:rPr dirty="0" err="1"/>
              <a:t>erschweren</a:t>
            </a:r>
            <a:r>
              <a:rPr dirty="0"/>
              <a:t>.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Der Code „verrottet“.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30452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Häufige</a:t>
            </a:r>
            <a:r>
              <a:rPr dirty="0"/>
              <a:t> Refactoring-</a:t>
            </a:r>
            <a:r>
              <a:rPr dirty="0" err="1"/>
              <a:t>Techniken</a:t>
            </a:r>
            <a:r>
              <a:rPr lang="de-DE" dirty="0"/>
              <a:t> (1/2)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548" y="1103179"/>
            <a:ext cx="5585522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dirty="0"/>
              <a:t>Die </a:t>
            </a:r>
            <a:r>
              <a:rPr dirty="0" err="1"/>
              <a:t>folgende</a:t>
            </a:r>
            <a:r>
              <a:rPr dirty="0"/>
              <a:t> </a:t>
            </a:r>
            <a:r>
              <a:rPr dirty="0" err="1"/>
              <a:t>Liste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nicht </a:t>
            </a:r>
            <a:r>
              <a:rPr dirty="0" err="1"/>
              <a:t>vollständig</a:t>
            </a:r>
            <a:r>
              <a:rPr dirty="0"/>
              <a:t>, </a:t>
            </a:r>
            <a:r>
              <a:rPr dirty="0" err="1"/>
              <a:t>aber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deckt</a:t>
            </a:r>
            <a:r>
              <a:rPr dirty="0"/>
              <a:t> </a:t>
            </a:r>
            <a:r>
              <a:rPr dirty="0" err="1"/>
              <a:t>einige</a:t>
            </a:r>
            <a:r>
              <a:rPr dirty="0"/>
              <a:t> der </a:t>
            </a:r>
            <a:r>
              <a:rPr dirty="0" err="1"/>
              <a:t>häufigsten</a:t>
            </a:r>
            <a:r>
              <a:rPr dirty="0"/>
              <a:t> und </a:t>
            </a:r>
            <a:r>
              <a:rPr dirty="0" err="1"/>
              <a:t>effektivsten</a:t>
            </a:r>
            <a:r>
              <a:rPr dirty="0"/>
              <a:t> Refactoring-</a:t>
            </a:r>
            <a:r>
              <a:rPr dirty="0" err="1"/>
              <a:t>Techniken</a:t>
            </a:r>
            <a:r>
              <a:rPr dirty="0"/>
              <a:t> ab:</a:t>
            </a:r>
          </a:p>
          <a:p>
            <a:pPr marL="257175" indent="-257175">
              <a:buAutoNum type="arabicPeriod"/>
            </a:pPr>
            <a:r>
              <a:rPr b="1" dirty="0"/>
              <a:t>Extract Method:</a:t>
            </a:r>
            <a:r>
              <a:rPr dirty="0"/>
              <a:t> Eine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lange</a:t>
            </a:r>
            <a:r>
              <a:rPr dirty="0"/>
              <a:t> Methode in </a:t>
            </a:r>
            <a:r>
              <a:rPr dirty="0" err="1"/>
              <a:t>mehrere</a:t>
            </a:r>
            <a:r>
              <a:rPr dirty="0"/>
              <a:t> </a:t>
            </a:r>
            <a:r>
              <a:rPr dirty="0" err="1"/>
              <a:t>kleine</a:t>
            </a:r>
            <a:r>
              <a:rPr dirty="0"/>
              <a:t> </a:t>
            </a:r>
            <a:r>
              <a:rPr dirty="0" err="1"/>
              <a:t>aufteilen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b="1" dirty="0"/>
              <a:t>Rename Variable:</a:t>
            </a:r>
            <a:r>
              <a:rPr dirty="0"/>
              <a:t> </a:t>
            </a:r>
            <a:r>
              <a:rPr dirty="0" err="1"/>
              <a:t>Unklare</a:t>
            </a:r>
            <a:r>
              <a:rPr dirty="0"/>
              <a:t> Namen (</a:t>
            </a:r>
            <a:r>
              <a:rPr dirty="0" err="1"/>
              <a:t>z.B.</a:t>
            </a:r>
            <a:r>
              <a:rPr dirty="0"/>
              <a:t> </a:t>
            </a:r>
            <a:r>
              <a:rPr dirty="0">
                <a:latin typeface="Courier"/>
              </a:rPr>
              <a:t>x</a:t>
            </a:r>
            <a:r>
              <a:rPr dirty="0"/>
              <a:t>) </a:t>
            </a:r>
            <a:r>
              <a:rPr dirty="0" err="1"/>
              <a:t>durch</a:t>
            </a:r>
            <a:r>
              <a:rPr dirty="0"/>
              <a:t> </a:t>
            </a:r>
            <a:r>
              <a:rPr dirty="0" err="1"/>
              <a:t>sprechende</a:t>
            </a:r>
            <a:r>
              <a:rPr dirty="0"/>
              <a:t> Namen (</a:t>
            </a:r>
            <a:r>
              <a:rPr dirty="0" err="1"/>
              <a:t>z.B.</a:t>
            </a:r>
            <a:r>
              <a:rPr dirty="0"/>
              <a:t> </a:t>
            </a:r>
            <a:r>
              <a:rPr dirty="0" err="1">
                <a:latin typeface="Courier"/>
              </a:rPr>
              <a:t>antragsId</a:t>
            </a:r>
            <a:r>
              <a:rPr dirty="0"/>
              <a:t>) </a:t>
            </a:r>
            <a:r>
              <a:rPr dirty="0" err="1"/>
              <a:t>ersetzen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b="1" dirty="0"/>
              <a:t>Move Method:</a:t>
            </a:r>
            <a:r>
              <a:rPr dirty="0"/>
              <a:t> Eine Methode in die Klasse </a:t>
            </a:r>
            <a:r>
              <a:rPr dirty="0" err="1"/>
              <a:t>verschieben</a:t>
            </a:r>
            <a:r>
              <a:rPr dirty="0"/>
              <a:t>, </a:t>
            </a:r>
            <a:r>
              <a:rPr dirty="0" err="1"/>
              <a:t>zu</a:t>
            </a:r>
            <a:r>
              <a:rPr dirty="0"/>
              <a:t> der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logisch</a:t>
            </a:r>
            <a:r>
              <a:rPr dirty="0"/>
              <a:t> </a:t>
            </a:r>
            <a:r>
              <a:rPr dirty="0" err="1"/>
              <a:t>gehört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b="1" dirty="0"/>
              <a:t>Remove Duplication:</a:t>
            </a:r>
            <a:r>
              <a:rPr dirty="0"/>
              <a:t> Den “DRY” (Don’t Repeat Yourself) </a:t>
            </a:r>
            <a:r>
              <a:rPr dirty="0" err="1"/>
              <a:t>Grundsatz</a:t>
            </a:r>
            <a:r>
              <a:rPr dirty="0"/>
              <a:t> </a:t>
            </a:r>
            <a:r>
              <a:rPr dirty="0" err="1"/>
              <a:t>anwenden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6E3D7-C134-F1AF-C6A8-07EF07D88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20192-A608-2554-6D33-3A76ED63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Häufige</a:t>
            </a:r>
            <a:r>
              <a:rPr dirty="0"/>
              <a:t> Refactoring-</a:t>
            </a:r>
            <a:r>
              <a:rPr dirty="0" err="1"/>
              <a:t>Techniken</a:t>
            </a:r>
            <a:r>
              <a:rPr lang="de-DE" dirty="0"/>
              <a:t> (2/2)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332F9-D2E5-E72A-9AE2-6410A5107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043" y="1103179"/>
            <a:ext cx="5578027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dirty="0"/>
              <a:t>Die </a:t>
            </a:r>
            <a:r>
              <a:rPr dirty="0" err="1"/>
              <a:t>folgende</a:t>
            </a:r>
            <a:r>
              <a:rPr dirty="0"/>
              <a:t> </a:t>
            </a:r>
            <a:r>
              <a:rPr dirty="0" err="1"/>
              <a:t>Liste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nicht </a:t>
            </a:r>
            <a:r>
              <a:rPr dirty="0" err="1"/>
              <a:t>vollständig</a:t>
            </a:r>
            <a:r>
              <a:rPr dirty="0"/>
              <a:t>, </a:t>
            </a:r>
            <a:r>
              <a:rPr dirty="0" err="1"/>
              <a:t>aber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deckt</a:t>
            </a:r>
            <a:r>
              <a:rPr dirty="0"/>
              <a:t> </a:t>
            </a:r>
            <a:r>
              <a:rPr dirty="0" err="1"/>
              <a:t>einige</a:t>
            </a:r>
            <a:r>
              <a:rPr dirty="0"/>
              <a:t> der </a:t>
            </a:r>
            <a:r>
              <a:rPr dirty="0" err="1"/>
              <a:t>häufigsten</a:t>
            </a:r>
            <a:r>
              <a:rPr dirty="0"/>
              <a:t> und </a:t>
            </a:r>
            <a:r>
              <a:rPr dirty="0" err="1"/>
              <a:t>effektivsten</a:t>
            </a:r>
            <a:r>
              <a:rPr dirty="0"/>
              <a:t> Refactoring-</a:t>
            </a:r>
            <a:r>
              <a:rPr dirty="0" err="1"/>
              <a:t>Techniken</a:t>
            </a:r>
            <a:r>
              <a:rPr dirty="0"/>
              <a:t> ab:</a:t>
            </a:r>
          </a:p>
          <a:p>
            <a:pPr marL="342900" indent="-342900">
              <a:buFont typeface="+mj-lt"/>
              <a:buAutoNum type="arabicPeriod" startAt="5"/>
            </a:pPr>
            <a:r>
              <a:rPr b="1" dirty="0"/>
              <a:t>Introduce Parameter Object:</a:t>
            </a:r>
            <a:r>
              <a:rPr dirty="0"/>
              <a:t> Wenn </a:t>
            </a:r>
            <a:r>
              <a:rPr dirty="0" err="1"/>
              <a:t>eine</a:t>
            </a:r>
            <a:r>
              <a:rPr dirty="0"/>
              <a:t> Methode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viele</a:t>
            </a:r>
            <a:r>
              <a:rPr dirty="0"/>
              <a:t> Parameter hat, </a:t>
            </a:r>
            <a:r>
              <a:rPr dirty="0" err="1"/>
              <a:t>diese</a:t>
            </a:r>
            <a:r>
              <a:rPr dirty="0"/>
              <a:t> in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Objekt</a:t>
            </a:r>
            <a:r>
              <a:rPr dirty="0"/>
              <a:t> </a:t>
            </a:r>
            <a:r>
              <a:rPr dirty="0" err="1"/>
              <a:t>packen</a:t>
            </a:r>
            <a:r>
              <a:rPr dirty="0"/>
              <a:t>.</a:t>
            </a:r>
          </a:p>
          <a:p>
            <a:pPr marL="257175" indent="-257175">
              <a:buAutoNum type="arabicPeriod" startAt="5"/>
            </a:pPr>
            <a:r>
              <a:rPr b="1" dirty="0"/>
              <a:t>Replace Magic Numbers:</a:t>
            </a:r>
            <a:r>
              <a:rPr dirty="0"/>
              <a:t> </a:t>
            </a:r>
            <a:r>
              <a:rPr dirty="0" err="1"/>
              <a:t>Unklare</a:t>
            </a:r>
            <a:r>
              <a:rPr dirty="0"/>
              <a:t> Zahlen </a:t>
            </a:r>
            <a:r>
              <a:rPr dirty="0" err="1"/>
              <a:t>durch</a:t>
            </a:r>
            <a:r>
              <a:rPr dirty="0"/>
              <a:t> </a:t>
            </a:r>
            <a:r>
              <a:rPr dirty="0" err="1"/>
              <a:t>benannte</a:t>
            </a:r>
            <a:r>
              <a:rPr dirty="0"/>
              <a:t> </a:t>
            </a:r>
            <a:r>
              <a:rPr dirty="0" err="1"/>
              <a:t>Konstanten</a:t>
            </a:r>
            <a:r>
              <a:rPr dirty="0"/>
              <a:t> </a:t>
            </a:r>
            <a:r>
              <a:rPr dirty="0" err="1"/>
              <a:t>ersetzen</a:t>
            </a:r>
            <a:r>
              <a:rPr dirty="0"/>
              <a:t>.</a:t>
            </a:r>
          </a:p>
          <a:p>
            <a:pPr marL="257175" indent="-257175">
              <a:buAutoNum type="arabicPeriod" startAt="5"/>
            </a:pPr>
            <a:r>
              <a:rPr b="1" dirty="0"/>
              <a:t>Encapsulate Field:</a:t>
            </a:r>
            <a:r>
              <a:rPr dirty="0"/>
              <a:t> </a:t>
            </a:r>
            <a:r>
              <a:rPr dirty="0" err="1"/>
              <a:t>Direkten</a:t>
            </a:r>
            <a:r>
              <a:rPr dirty="0"/>
              <a:t> </a:t>
            </a:r>
            <a:r>
              <a:rPr dirty="0" err="1"/>
              <a:t>Zugriff</a:t>
            </a:r>
            <a:r>
              <a:rPr dirty="0"/>
              <a:t> auf Felder </a:t>
            </a:r>
            <a:r>
              <a:rPr dirty="0" err="1"/>
              <a:t>durch</a:t>
            </a:r>
            <a:r>
              <a:rPr dirty="0"/>
              <a:t> Getter/Setter </a:t>
            </a:r>
            <a:r>
              <a:rPr dirty="0" err="1"/>
              <a:t>ersetzen</a:t>
            </a:r>
            <a:r>
              <a:rPr dirty="0"/>
              <a:t>.</a:t>
            </a:r>
            <a:endParaRPr lang="de-DE" dirty="0"/>
          </a:p>
          <a:p>
            <a:pPr marL="257175" indent="-257175">
              <a:buAutoNum type="arabicPeriod" startAt="5"/>
            </a:pPr>
            <a:endParaRPr lang="de-DE" dirty="0"/>
          </a:p>
          <a:p>
            <a:pPr marL="0" indent="0">
              <a:buNone/>
            </a:pPr>
            <a:r>
              <a:rPr lang="de-DE" b="1" dirty="0" err="1">
                <a:solidFill>
                  <a:srgbClr val="0070C0"/>
                </a:solidFill>
              </a:rPr>
              <a:t>Refactoring</a:t>
            </a:r>
            <a:r>
              <a:rPr lang="de-DE" b="1" dirty="0">
                <a:solidFill>
                  <a:srgbClr val="0070C0"/>
                </a:solidFill>
              </a:rPr>
              <a:t> ist kein „Hexenwerk“!</a:t>
            </a:r>
            <a:endParaRPr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9751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Wann refaktorisieren?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052" y="1103179"/>
            <a:ext cx="5593018" cy="3603318"/>
          </a:xfrm>
        </p:spPr>
        <p:txBody>
          <a:bodyPr/>
          <a:lstStyle/>
          <a:p>
            <a:pPr marL="216000" lvl="0" indent="-216000">
              <a:buFont typeface="Symbol" panose="05050102010706020507" pitchFamily="18" charset="2"/>
              <a:buChar char="-"/>
            </a:pPr>
            <a:r>
              <a:rPr dirty="0"/>
              <a:t>Wenn Sie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neue</a:t>
            </a:r>
            <a:r>
              <a:rPr dirty="0"/>
              <a:t> </a:t>
            </a:r>
            <a:r>
              <a:rPr dirty="0" err="1"/>
              <a:t>Funktion</a:t>
            </a:r>
            <a:r>
              <a:rPr dirty="0"/>
              <a:t> </a:t>
            </a:r>
            <a:r>
              <a:rPr dirty="0" err="1"/>
              <a:t>hinzufügen</a:t>
            </a:r>
            <a:r>
              <a:rPr dirty="0"/>
              <a:t> </a:t>
            </a:r>
            <a:r>
              <a:rPr dirty="0" err="1"/>
              <a:t>wollen</a:t>
            </a:r>
            <a:r>
              <a:rPr dirty="0"/>
              <a:t>, </a:t>
            </a:r>
            <a:r>
              <a:rPr dirty="0" err="1"/>
              <a:t>aber</a:t>
            </a:r>
            <a:r>
              <a:rPr dirty="0"/>
              <a:t> der </a:t>
            </a:r>
            <a:r>
              <a:rPr dirty="0" err="1"/>
              <a:t>bestehende</a:t>
            </a:r>
            <a:r>
              <a:rPr dirty="0"/>
              <a:t> Code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starr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(Refactor first!).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dirty="0"/>
              <a:t>Wenn Sie “Code Smells” </a:t>
            </a:r>
            <a:r>
              <a:rPr dirty="0" err="1"/>
              <a:t>entdecken</a:t>
            </a:r>
            <a:r>
              <a:rPr dirty="0"/>
              <a:t>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dirty="0"/>
              <a:t>Wenn Sie die </a:t>
            </a:r>
            <a:r>
              <a:rPr dirty="0" err="1"/>
              <a:t>Lesbarkeit</a:t>
            </a:r>
            <a:r>
              <a:rPr dirty="0"/>
              <a:t> </a:t>
            </a:r>
            <a:r>
              <a:rPr dirty="0" err="1"/>
              <a:t>verbessern</a:t>
            </a:r>
            <a:r>
              <a:rPr dirty="0"/>
              <a:t> </a:t>
            </a:r>
            <a:r>
              <a:rPr dirty="0" err="1"/>
              <a:t>wollen</a:t>
            </a:r>
            <a:r>
              <a:rPr dirty="0"/>
              <a:t>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dirty="0"/>
              <a:t>Wenn Sie die </a:t>
            </a:r>
            <a:r>
              <a:rPr dirty="0" err="1"/>
              <a:t>Wartbarkeit</a:t>
            </a:r>
            <a:r>
              <a:rPr dirty="0"/>
              <a:t> </a:t>
            </a:r>
            <a:r>
              <a:rPr dirty="0" err="1"/>
              <a:t>erhöhen</a:t>
            </a:r>
            <a:r>
              <a:rPr dirty="0"/>
              <a:t> </a:t>
            </a:r>
            <a:r>
              <a:rPr dirty="0" err="1"/>
              <a:t>wollen</a:t>
            </a:r>
            <a:r>
              <a:rPr dirty="0"/>
              <a:t>.</a:t>
            </a:r>
          </a:p>
          <a:p>
            <a:pPr marL="0" indent="0">
              <a:buNone/>
            </a:pPr>
            <a:endParaRPr lang="de-DE" b="1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de-DE" b="1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de-DE" b="1" i="1" dirty="0">
                <a:solidFill>
                  <a:schemeClr val="tx1"/>
                </a:solidFill>
              </a:rPr>
              <a:t>„</a:t>
            </a:r>
            <a:r>
              <a:rPr b="1" i="1" dirty="0" err="1">
                <a:solidFill>
                  <a:schemeClr val="tx1"/>
                </a:solidFill>
              </a:rPr>
              <a:t>Pfadfinder</a:t>
            </a:r>
            <a:r>
              <a:rPr b="1" i="1" dirty="0">
                <a:solidFill>
                  <a:schemeClr val="tx1"/>
                </a:solidFill>
              </a:rPr>
              <a:t>-Regel</a:t>
            </a:r>
            <a:r>
              <a:rPr lang="de-DE" b="1" i="1" dirty="0">
                <a:solidFill>
                  <a:schemeClr val="tx1"/>
                </a:solidFill>
              </a:rPr>
              <a:t>"</a:t>
            </a:r>
            <a:r>
              <a:rPr b="1" i="1" dirty="0">
                <a:solidFill>
                  <a:schemeClr val="tx1"/>
                </a:solidFill>
              </a:rPr>
              <a:t>: </a:t>
            </a:r>
            <a:br>
              <a:rPr lang="de-DE" b="1" i="1" dirty="0">
                <a:solidFill>
                  <a:schemeClr val="tx1"/>
                </a:solidFill>
              </a:rPr>
            </a:br>
            <a:r>
              <a:rPr b="1" i="1" dirty="0">
                <a:solidFill>
                  <a:srgbClr val="0070C0"/>
                </a:solidFill>
              </a:rPr>
              <a:t>Always leave the code better than you found it.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goldene Regel des Refactorings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548" y="1103179"/>
            <a:ext cx="5585522" cy="3603318"/>
          </a:xfrm>
        </p:spPr>
        <p:txBody>
          <a:bodyPr/>
          <a:lstStyle/>
          <a:p>
            <a:pPr marL="0" indent="0">
              <a:buNone/>
            </a:pPr>
            <a:r>
              <a:rPr b="1" dirty="0" err="1">
                <a:solidFill>
                  <a:srgbClr val="0070C0"/>
                </a:solidFill>
              </a:rPr>
              <a:t>Niemals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refaktorisieren</a:t>
            </a:r>
            <a:r>
              <a:rPr b="1" dirty="0">
                <a:solidFill>
                  <a:srgbClr val="0070C0"/>
                </a:solidFill>
              </a:rPr>
              <a:t>, </a:t>
            </a:r>
            <a:r>
              <a:rPr b="1" dirty="0" err="1">
                <a:solidFill>
                  <a:srgbClr val="0070C0"/>
                </a:solidFill>
              </a:rPr>
              <a:t>wenn</a:t>
            </a:r>
            <a:r>
              <a:rPr b="1" dirty="0">
                <a:solidFill>
                  <a:srgbClr val="0070C0"/>
                </a:solidFill>
              </a:rPr>
              <a:t> die Unit-Tests rot </a:t>
            </a:r>
            <a:r>
              <a:rPr b="1" dirty="0" err="1">
                <a:solidFill>
                  <a:srgbClr val="0070C0"/>
                </a:solidFill>
              </a:rPr>
              <a:t>sind</a:t>
            </a:r>
            <a:r>
              <a:rPr b="1" dirty="0">
                <a:solidFill>
                  <a:srgbClr val="0070C0"/>
                </a:solidFill>
              </a:rPr>
              <a:t>!</a:t>
            </a:r>
          </a:p>
          <a:p>
            <a:pPr marL="0" indent="0">
              <a:buNone/>
            </a:pPr>
            <a:r>
              <a:rPr dirty="0" err="1"/>
              <a:t>Ohne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grünes</a:t>
            </a:r>
            <a:r>
              <a:rPr dirty="0"/>
              <a:t> </a:t>
            </a:r>
            <a:r>
              <a:rPr dirty="0" err="1"/>
              <a:t>Sicherheitsnetz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Refactoring </a:t>
            </a:r>
            <a:r>
              <a:rPr dirty="0" err="1"/>
              <a:t>extrem</a:t>
            </a:r>
            <a:r>
              <a:rPr dirty="0"/>
              <a:t> </a:t>
            </a:r>
            <a:r>
              <a:rPr dirty="0" err="1"/>
              <a:t>riskant</a:t>
            </a:r>
            <a:r>
              <a:rPr dirty="0"/>
              <a:t> und </a:t>
            </a:r>
            <a:r>
              <a:rPr dirty="0" err="1"/>
              <a:t>führt</a:t>
            </a:r>
            <a:r>
              <a:rPr dirty="0"/>
              <a:t> oft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neuen</a:t>
            </a:r>
            <a:r>
              <a:rPr dirty="0"/>
              <a:t> </a:t>
            </a:r>
            <a:r>
              <a:rPr dirty="0" err="1"/>
              <a:t>Fehlern</a:t>
            </a:r>
            <a:r>
              <a:rPr dirty="0"/>
              <a:t>, die erst </a:t>
            </a:r>
            <a:r>
              <a:rPr dirty="0" err="1"/>
              <a:t>spät</a:t>
            </a:r>
            <a:r>
              <a:rPr dirty="0"/>
              <a:t> </a:t>
            </a:r>
            <a:r>
              <a:rPr dirty="0" err="1"/>
              <a:t>bemerkt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Daher </a:t>
            </a:r>
            <a:r>
              <a:rPr dirty="0" err="1"/>
              <a:t>ist</a:t>
            </a:r>
            <a:r>
              <a:rPr dirty="0"/>
              <a:t> es </a:t>
            </a:r>
            <a:r>
              <a:rPr dirty="0" err="1"/>
              <a:t>essenziell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Sie </a:t>
            </a:r>
            <a:r>
              <a:rPr dirty="0" err="1"/>
              <a:t>vor</a:t>
            </a:r>
            <a:r>
              <a:rPr dirty="0"/>
              <a:t> </a:t>
            </a:r>
            <a:r>
              <a:rPr dirty="0" err="1"/>
              <a:t>jedem</a:t>
            </a:r>
            <a:r>
              <a:rPr dirty="0"/>
              <a:t> Refactoring </a:t>
            </a:r>
            <a:r>
              <a:rPr dirty="0" err="1"/>
              <a:t>sicherstellen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alle Tests </a:t>
            </a:r>
            <a:r>
              <a:rPr dirty="0" err="1"/>
              <a:t>grün</a:t>
            </a:r>
            <a:r>
              <a:rPr dirty="0"/>
              <a:t> </a:t>
            </a:r>
            <a:r>
              <a:rPr dirty="0" err="1"/>
              <a:t>sind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/>
              <a:t>So </a:t>
            </a:r>
            <a:r>
              <a:rPr dirty="0" err="1"/>
              <a:t>können</a:t>
            </a:r>
            <a:r>
              <a:rPr dirty="0"/>
              <a:t> Sie </a:t>
            </a:r>
            <a:r>
              <a:rPr dirty="0" err="1"/>
              <a:t>sofort</a:t>
            </a:r>
            <a:r>
              <a:rPr dirty="0"/>
              <a:t> </a:t>
            </a:r>
            <a:r>
              <a:rPr dirty="0" err="1"/>
              <a:t>erkennen</a:t>
            </a:r>
            <a:r>
              <a:rPr dirty="0"/>
              <a:t>, </a:t>
            </a:r>
            <a:r>
              <a:rPr dirty="0" err="1"/>
              <a:t>wenn</a:t>
            </a:r>
            <a:r>
              <a:rPr dirty="0"/>
              <a:t> Sie </a:t>
            </a:r>
            <a:r>
              <a:rPr dirty="0" err="1"/>
              <a:t>etwas</a:t>
            </a:r>
            <a:r>
              <a:rPr dirty="0"/>
              <a:t> </a:t>
            </a:r>
            <a:r>
              <a:rPr lang="de-DE" dirty="0"/>
              <a:t>"</a:t>
            </a:r>
            <a:r>
              <a:rPr dirty="0"/>
              <a:t>kaputt</a:t>
            </a:r>
            <a:r>
              <a:rPr lang="de-DE" dirty="0"/>
              <a:t>"</a:t>
            </a:r>
            <a:r>
              <a:rPr dirty="0"/>
              <a:t> </a:t>
            </a:r>
            <a:r>
              <a:rPr dirty="0" err="1"/>
              <a:t>gemacht</a:t>
            </a:r>
            <a:r>
              <a:rPr dirty="0"/>
              <a:t> </a:t>
            </a:r>
            <a:r>
              <a:rPr dirty="0" err="1"/>
              <a:t>haben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/>
          <a:lstStyle/>
          <a:p>
            <a:r>
              <a:rPr lang="de-DE" dirty="0"/>
              <a:t>Teil 6: </a:t>
            </a:r>
            <a:br>
              <a:rPr lang="de-DE" dirty="0"/>
            </a:br>
            <a:r>
              <a:rPr lang="de-DE" dirty="0"/>
              <a:t>Zusammenfassung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0FFBC40-5D4C-4C03-3E5F-A98CD2C5F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 Woche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043" y="1103179"/>
            <a:ext cx="5578027" cy="3603318"/>
          </a:xfrm>
        </p:spPr>
        <p:txBody>
          <a:bodyPr/>
          <a:lstStyle/>
          <a:p>
            <a:pPr lvl="0"/>
            <a:r>
              <a:rPr b="1" dirty="0"/>
              <a:t>Unit Tests:</a:t>
            </a:r>
            <a:r>
              <a:rPr dirty="0"/>
              <a:t> </a:t>
            </a:r>
            <a:r>
              <a:rPr dirty="0" err="1"/>
              <a:t>Sichern</a:t>
            </a:r>
            <a:r>
              <a:rPr dirty="0"/>
              <a:t> die Basis ab und </a:t>
            </a:r>
            <a:r>
              <a:rPr dirty="0" err="1"/>
              <a:t>dienen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lebendige</a:t>
            </a:r>
            <a:r>
              <a:rPr dirty="0"/>
              <a:t> </a:t>
            </a:r>
            <a:r>
              <a:rPr dirty="0" err="1"/>
              <a:t>Dokumentation</a:t>
            </a:r>
            <a:r>
              <a:rPr dirty="0"/>
              <a:t>.</a:t>
            </a:r>
          </a:p>
          <a:p>
            <a:pPr lvl="0"/>
            <a:r>
              <a:rPr b="1" dirty="0" err="1"/>
              <a:t>xUnit</a:t>
            </a:r>
            <a:r>
              <a:rPr b="1" dirty="0"/>
              <a:t> &amp; AAA:</a:t>
            </a:r>
            <a:r>
              <a:rPr dirty="0"/>
              <a:t> Ein </a:t>
            </a:r>
            <a:r>
              <a:rPr dirty="0" err="1"/>
              <a:t>strukturierter</a:t>
            </a:r>
            <a:r>
              <a:rPr dirty="0"/>
              <a:t> Standard für alle .NET </a:t>
            </a:r>
            <a:r>
              <a:rPr dirty="0" err="1"/>
              <a:t>Entwickler</a:t>
            </a:r>
            <a:r>
              <a:rPr dirty="0"/>
              <a:t>.</a:t>
            </a:r>
          </a:p>
          <a:p>
            <a:pPr lvl="0"/>
            <a:r>
              <a:rPr b="1" dirty="0"/>
              <a:t>Mocking:</a:t>
            </a:r>
            <a:r>
              <a:rPr dirty="0"/>
              <a:t> </a:t>
            </a:r>
            <a:r>
              <a:rPr dirty="0" err="1"/>
              <a:t>Isoliert</a:t>
            </a:r>
            <a:r>
              <a:rPr dirty="0"/>
              <a:t> Logik von </a:t>
            </a:r>
            <a:r>
              <a:rPr dirty="0" err="1"/>
              <a:t>unzuverlässiger</a:t>
            </a:r>
            <a:r>
              <a:rPr dirty="0"/>
              <a:t> </a:t>
            </a:r>
            <a:r>
              <a:rPr dirty="0" err="1"/>
              <a:t>Infrastruktur</a:t>
            </a:r>
            <a:r>
              <a:rPr dirty="0"/>
              <a:t>.</a:t>
            </a:r>
          </a:p>
          <a:p>
            <a:pPr lvl="0"/>
            <a:r>
              <a:rPr b="1" dirty="0"/>
              <a:t>TDD:</a:t>
            </a:r>
            <a:r>
              <a:rPr dirty="0"/>
              <a:t> Ein Workflow, der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besserem</a:t>
            </a:r>
            <a:r>
              <a:rPr dirty="0"/>
              <a:t> Design und </a:t>
            </a:r>
            <a:r>
              <a:rPr dirty="0" err="1"/>
              <a:t>hoher</a:t>
            </a:r>
            <a:r>
              <a:rPr dirty="0"/>
              <a:t> </a:t>
            </a:r>
            <a:r>
              <a:rPr dirty="0" err="1"/>
              <a:t>Qualität</a:t>
            </a:r>
            <a:r>
              <a:rPr dirty="0"/>
              <a:t> </a:t>
            </a:r>
            <a:r>
              <a:rPr dirty="0" err="1"/>
              <a:t>führt</a:t>
            </a:r>
            <a:r>
              <a:rPr lang="de-DE" dirty="0"/>
              <a:t>, jedoch seinen Preis hat.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Ausblick auf nächste Woche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557" y="1103179"/>
            <a:ext cx="5600513" cy="360331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In der </a:t>
            </a:r>
            <a:r>
              <a:rPr dirty="0" err="1"/>
              <a:t>finalen</a:t>
            </a:r>
            <a:r>
              <a:rPr dirty="0"/>
              <a:t> </a:t>
            </a:r>
            <a:r>
              <a:rPr dirty="0" err="1"/>
              <a:t>Theorie-Woche</a:t>
            </a:r>
            <a:r>
              <a:rPr dirty="0"/>
              <a:t> (</a:t>
            </a:r>
            <a:r>
              <a:rPr dirty="0" err="1"/>
              <a:t>Woche</a:t>
            </a:r>
            <a:r>
              <a:rPr dirty="0"/>
              <a:t> 6) </a:t>
            </a:r>
            <a:r>
              <a:rPr dirty="0" err="1"/>
              <a:t>betrachten</a:t>
            </a:r>
            <a:r>
              <a:rPr dirty="0"/>
              <a:t> wir </a:t>
            </a:r>
            <a:r>
              <a:rPr dirty="0" err="1"/>
              <a:t>asynchrone</a:t>
            </a:r>
            <a:r>
              <a:rPr dirty="0"/>
              <a:t> </a:t>
            </a:r>
            <a:r>
              <a:rPr dirty="0" err="1"/>
              <a:t>Programmierung</a:t>
            </a:r>
            <a:r>
              <a:rPr dirty="0"/>
              <a:t> (</a:t>
            </a:r>
            <a:r>
              <a:rPr dirty="0">
                <a:latin typeface="Courier"/>
              </a:rPr>
              <a:t>async</a:t>
            </a:r>
            <a:r>
              <a:rPr dirty="0"/>
              <a:t>/</a:t>
            </a:r>
            <a:r>
              <a:rPr dirty="0">
                <a:latin typeface="Courier"/>
              </a:rPr>
              <a:t>await</a:t>
            </a:r>
            <a:r>
              <a:rPr dirty="0"/>
              <a:t>) und </a:t>
            </a:r>
            <a:r>
              <a:rPr dirty="0" err="1"/>
              <a:t>professionelles</a:t>
            </a:r>
            <a:r>
              <a:rPr dirty="0"/>
              <a:t> Error Handling.</a:t>
            </a:r>
          </a:p>
          <a:p>
            <a:pPr marL="0" indent="0">
              <a:buNone/>
            </a:pPr>
            <a:r>
              <a:rPr dirty="0" err="1"/>
              <a:t>Zudem</a:t>
            </a:r>
            <a:r>
              <a:rPr dirty="0"/>
              <a:t> </a:t>
            </a:r>
            <a:r>
              <a:rPr dirty="0" err="1"/>
              <a:t>besprechen</a:t>
            </a:r>
            <a:r>
              <a:rPr dirty="0"/>
              <a:t> wir die Details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Ihren</a:t>
            </a:r>
            <a:r>
              <a:rPr dirty="0"/>
              <a:t> </a:t>
            </a:r>
            <a:r>
              <a:rPr dirty="0" err="1"/>
              <a:t>Abschlussprojekten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ückblick">
  <a:themeElements>
    <a:clrScheme name="Rückblick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ückblick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ückblick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3180</Words>
  <Application>Microsoft Office PowerPoint</Application>
  <PresentationFormat>Benutzerdefiniert</PresentationFormat>
  <Paragraphs>283</Paragraphs>
  <Slides>42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42</vt:i4>
      </vt:variant>
    </vt:vector>
  </HeadingPairs>
  <TitlesOfParts>
    <vt:vector size="50" baseType="lpstr">
      <vt:lpstr>Aptos</vt:lpstr>
      <vt:lpstr>Arial</vt:lpstr>
      <vt:lpstr>Calibri</vt:lpstr>
      <vt:lpstr>Calibri Light</vt:lpstr>
      <vt:lpstr>Consolas</vt:lpstr>
      <vt:lpstr>Courier</vt:lpstr>
      <vt:lpstr>Symbol</vt:lpstr>
      <vt:lpstr>Rückblick</vt:lpstr>
      <vt:lpstr>Objektorientierte Programmierung</vt:lpstr>
      <vt:lpstr>Teil 1:  Einführung in automatisierte Tests</vt:lpstr>
      <vt:lpstr>Willkommen zu Woche 5</vt:lpstr>
      <vt:lpstr>Die Kosten von unentdeckten Fehlern</vt:lpstr>
      <vt:lpstr>Was ist ein Unit Test?</vt:lpstr>
      <vt:lpstr>Ziele des Unit Testings</vt:lpstr>
      <vt:lpstr>Teil 2: Tests schreiben mit xUnit</vt:lpstr>
      <vt:lpstr>xUnit in .NET</vt:lpstr>
      <vt:lpstr>Die Struktur: Das AAA-Pattern</vt:lpstr>
      <vt:lpstr>Der Unit Testing Lifecycle</vt:lpstr>
      <vt:lpstr>xUnit Attribute: [Fact]</vt:lpstr>
      <vt:lpstr>Einschub:  Die Wichtigkeit der Namensgebung bei Tests</vt:lpstr>
      <vt:lpstr>xUnit Attribute: [Theory]</vt:lpstr>
      <vt:lpstr>xUnit Attribute: [InlineData] (1/2)</vt:lpstr>
      <vt:lpstr>xUnit Attribute: [InlineData] (2/2)</vt:lpstr>
      <vt:lpstr>Assertions: Mehr als nur True/False</vt:lpstr>
      <vt:lpstr>Teil 3:  Mocking von Abhängigkeiten</vt:lpstr>
      <vt:lpstr>Die wichtigste Test-Regel: Isolation</vt:lpstr>
      <vt:lpstr>Das Problem:  Infrastruktur-Abhängigkeiten</vt:lpstr>
      <vt:lpstr>Die Lösung: Warum Interfaces?</vt:lpstr>
      <vt:lpstr>Der zu testende Service (Code)</vt:lpstr>
      <vt:lpstr>Der Mock-Einsatz im Test</vt:lpstr>
      <vt:lpstr>Nutzung von Mocking-Frameworks</vt:lpstr>
      <vt:lpstr>Teil 4:  Test-Driven Development (TDD)</vt:lpstr>
      <vt:lpstr>Was ist Test-Driven Development? (1/2)</vt:lpstr>
      <vt:lpstr>Was ist Test-Driven Development? (2/2)</vt:lpstr>
      <vt:lpstr>Der Rot-Grün-Refactor Zyklus</vt:lpstr>
      <vt:lpstr>Phase 1: RED</vt:lpstr>
      <vt:lpstr>Phase 2: GREEN</vt:lpstr>
      <vt:lpstr>Phase 3: REFACTOR</vt:lpstr>
      <vt:lpstr>Warum TDD so mächtig ist</vt:lpstr>
      <vt:lpstr>Warum TDD keine „Allzweckwaffe“ ist</vt:lpstr>
      <vt:lpstr>Teil 5:  Refactoring-Techniken</vt:lpstr>
      <vt:lpstr>Was ist Refactoring?</vt:lpstr>
      <vt:lpstr>Warum Refactoring?</vt:lpstr>
      <vt:lpstr>Häufige Refactoring-Techniken (1/2)</vt:lpstr>
      <vt:lpstr>Häufige Refactoring-Techniken (2/2)</vt:lpstr>
      <vt:lpstr>Wann refaktorisieren?</vt:lpstr>
      <vt:lpstr>Die goldene Regel des Refactorings</vt:lpstr>
      <vt:lpstr>Teil 6:  Zusammenfassung</vt:lpstr>
      <vt:lpstr>Wrap-up Woche 5</vt:lpstr>
      <vt:lpstr>Ausblick auf nächste Woche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Entwicklung langlebiger Software</dc:title>
  <dc:creator>Peter Bernhardt</dc:creator>
  <cp:keywords/>
  <cp:lastModifiedBy>Peter Bernhardt</cp:lastModifiedBy>
  <cp:revision>2</cp:revision>
  <dcterms:created xsi:type="dcterms:W3CDTF">2026-03-18T16:32:38Z</dcterms:created>
  <dcterms:modified xsi:type="dcterms:W3CDTF">2026-04-16T15:10:23Z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</vt:lpwstr>
  </property>
  <property fmtid="{D5CDD505-2E9C-101B-9397-08002B2CF9AE}" pid="3" name="subtitle">
    <vt:lpwstr>Woche 1: Die Dimension Zeit &amp; Software-Erosion</vt:lpwstr>
  </property>
</Properties>
</file>