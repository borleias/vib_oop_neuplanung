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37"/>
  </p:notesMasterIdLst>
  <p:handoutMasterIdLst>
    <p:handoutMasterId r:id="rId38"/>
  </p:handoutMasterIdLst>
  <p:sldIdLst>
    <p:sldId id="299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33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</p:sldIdLst>
  <p:sldSz cx="6858000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127F4-DEC5-41D9-977A-3B1282D851A9}" v="2" dt="2026-04-23T14:17:39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6" autoAdjust="0"/>
    <p:restoredTop sz="94694" autoAdjust="0"/>
  </p:normalViewPr>
  <p:slideViewPr>
    <p:cSldViewPr snapToGrid="0" snapToObjects="1">
      <p:cViewPr varScale="1">
        <p:scale>
          <a:sx n="121" d="100"/>
          <a:sy n="121" d="100"/>
        </p:scale>
        <p:origin x="1275" y="57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ernhardt" userId="f2333933-0b12-4d6e-972f-f87625423892" providerId="ADAL" clId="{2C628E33-589C-449E-BBA5-ED05E3E5CC01}"/>
    <pc:docChg chg="undo custSel addSld delSld modSld modHandout">
      <pc:chgData name="Peter Bernhardt" userId="f2333933-0b12-4d6e-972f-f87625423892" providerId="ADAL" clId="{2C628E33-589C-449E-BBA5-ED05E3E5CC01}" dt="2026-04-21T11:30:17.304" v="1984" actId="478"/>
      <pc:docMkLst>
        <pc:docMk/>
      </pc:docMkLst>
      <pc:sldChg chg="addSp delSp modSp add mod chgLayout">
        <pc:chgData name="Peter Bernhardt" userId="f2333933-0b12-4d6e-972f-f87625423892" providerId="ADAL" clId="{2C628E33-589C-449E-BBA5-ED05E3E5CC01}" dt="2026-04-21T08:37:51.433" v="9" actId="20577"/>
        <pc:sldMkLst>
          <pc:docMk/>
          <pc:sldMk cId="0" sldId="299"/>
        </pc:sldMkLst>
        <pc:spChg chg="mod ord">
          <ac:chgData name="Peter Bernhardt" userId="f2333933-0b12-4d6e-972f-f87625423892" providerId="ADAL" clId="{2C628E33-589C-449E-BBA5-ED05E3E5CC01}" dt="2026-04-21T08:37:51.433" v="9" actId="20577"/>
          <ac:spMkLst>
            <pc:docMk/>
            <pc:sldMk cId="0" sldId="299"/>
            <ac:spMk id="2" creationId="{00000000-0000-0000-0000-000000000000}"/>
          </ac:spMkLst>
        </pc:spChg>
        <pc:spChg chg="mod ord">
          <ac:chgData name="Peter Bernhardt" userId="f2333933-0b12-4d6e-972f-f87625423892" providerId="ADAL" clId="{2C628E33-589C-449E-BBA5-ED05E3E5CC01}" dt="2026-04-21T08:37:48.619" v="3" actId="27636"/>
          <ac:spMkLst>
            <pc:docMk/>
            <pc:sldMk cId="0" sldId="299"/>
            <ac:spMk id="3" creationId="{00000000-0000-0000-0000-000000000000}"/>
          </ac:spMkLst>
        </pc:spChg>
        <pc:spChg chg="mod ord">
          <ac:chgData name="Peter Bernhardt" userId="f2333933-0b12-4d6e-972f-f87625423892" providerId="ADAL" clId="{2C628E33-589C-449E-BBA5-ED05E3E5CC01}" dt="2026-04-21T08:37:48.614" v="2" actId="6264"/>
          <ac:spMkLst>
            <pc:docMk/>
            <pc:sldMk cId="0" sldId="299"/>
            <ac:spMk id="4" creationId="{00000000-0000-0000-0000-000000000000}"/>
          </ac:spMkLst>
        </pc:spChg>
      </pc:sldChg>
      <pc:sldChg chg="addSp delSp modSp add mod chgLayout">
        <pc:chgData name="Peter Bernhardt" userId="f2333933-0b12-4d6e-972f-f87625423892" providerId="ADAL" clId="{2C628E33-589C-449E-BBA5-ED05E3E5CC01}" dt="2026-04-21T08:38:00.793" v="12" actId="20577"/>
        <pc:sldMkLst>
          <pc:docMk/>
          <pc:sldMk cId="0" sldId="300"/>
        </pc:sldMkLst>
        <pc:spChg chg="mod ord">
          <ac:chgData name="Peter Bernhardt" userId="f2333933-0b12-4d6e-972f-f87625423892" providerId="ADAL" clId="{2C628E33-589C-449E-BBA5-ED05E3E5CC01}" dt="2026-04-21T08:38:00.793" v="12" actId="20577"/>
          <ac:spMkLst>
            <pc:docMk/>
            <pc:sldMk cId="0" sldId="300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21T08:37:57.801" v="10" actId="6264"/>
          <ac:spMkLst>
            <pc:docMk/>
            <pc:sldMk cId="0" sldId="300"/>
            <ac:spMk id="4" creationId="{49B4D5C8-D241-52A6-B3E6-55F39FA82F58}"/>
          </ac:spMkLst>
        </pc:spChg>
      </pc:sldChg>
      <pc:sldChg chg="addSp modSp add mod">
        <pc:chgData name="Peter Bernhardt" userId="f2333933-0b12-4d6e-972f-f87625423892" providerId="ADAL" clId="{2C628E33-589C-449E-BBA5-ED05E3E5CC01}" dt="2026-04-21T09:00:39.931" v="77" actId="20577"/>
        <pc:sldMkLst>
          <pc:docMk/>
          <pc:sldMk cId="0" sldId="301"/>
        </pc:sldMkLst>
        <pc:spChg chg="mod">
          <ac:chgData name="Peter Bernhardt" userId="f2333933-0b12-4d6e-972f-f87625423892" providerId="ADAL" clId="{2C628E33-589C-449E-BBA5-ED05E3E5CC01}" dt="2026-04-21T09:00:39.931" v="77" actId="20577"/>
          <ac:spMkLst>
            <pc:docMk/>
            <pc:sldMk cId="0" sldId="301"/>
            <ac:spMk id="3" creationId="{00000000-0000-0000-0000-000000000000}"/>
          </ac:spMkLst>
        </pc:spChg>
        <pc:picChg chg="add mod">
          <ac:chgData name="Peter Bernhardt" userId="f2333933-0b12-4d6e-972f-f87625423892" providerId="ADAL" clId="{2C628E33-589C-449E-BBA5-ED05E3E5CC01}" dt="2026-04-21T08:59:11.557" v="71" actId="14100"/>
          <ac:picMkLst>
            <pc:docMk/>
            <pc:sldMk cId="0" sldId="301"/>
            <ac:picMk id="1026" creationId="{A5DAF64D-8A1E-5ED8-291C-266298DDD783}"/>
          </ac:picMkLst>
        </pc:picChg>
      </pc:sldChg>
      <pc:sldChg chg="modSp add mod">
        <pc:chgData name="Peter Bernhardt" userId="f2333933-0b12-4d6e-972f-f87625423892" providerId="ADAL" clId="{2C628E33-589C-449E-BBA5-ED05E3E5CC01}" dt="2026-04-21T09:01:52.576" v="162" actId="20577"/>
        <pc:sldMkLst>
          <pc:docMk/>
          <pc:sldMk cId="0" sldId="302"/>
        </pc:sldMkLst>
        <pc:spChg chg="mod">
          <ac:chgData name="Peter Bernhardt" userId="f2333933-0b12-4d6e-972f-f87625423892" providerId="ADAL" clId="{2C628E33-589C-449E-BBA5-ED05E3E5CC01}" dt="2026-04-21T09:01:52.576" v="162" actId="20577"/>
          <ac:spMkLst>
            <pc:docMk/>
            <pc:sldMk cId="0" sldId="302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21T09:01:40.211" v="158" actId="20577"/>
          <ac:spMkLst>
            <pc:docMk/>
            <pc:sldMk cId="0" sldId="302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09:02:54.590" v="215" actId="20577"/>
        <pc:sldMkLst>
          <pc:docMk/>
          <pc:sldMk cId="0" sldId="303"/>
        </pc:sldMkLst>
        <pc:spChg chg="mod">
          <ac:chgData name="Peter Bernhardt" userId="f2333933-0b12-4d6e-972f-f87625423892" providerId="ADAL" clId="{2C628E33-589C-449E-BBA5-ED05E3E5CC01}" dt="2026-04-21T09:02:54.590" v="215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09:10:56.955" v="453" actId="20577"/>
        <pc:sldMkLst>
          <pc:docMk/>
          <pc:sldMk cId="0" sldId="304"/>
        </pc:sldMkLst>
        <pc:spChg chg="mod">
          <ac:chgData name="Peter Bernhardt" userId="f2333933-0b12-4d6e-972f-f87625423892" providerId="ADAL" clId="{2C628E33-589C-449E-BBA5-ED05E3E5CC01}" dt="2026-04-21T09:10:56.955" v="453" actId="20577"/>
          <ac:spMkLst>
            <pc:docMk/>
            <pc:sldMk cId="0" sldId="304"/>
            <ac:spMk id="3" creationId="{00000000-0000-0000-0000-000000000000}"/>
          </ac:spMkLst>
        </pc:spChg>
      </pc:sldChg>
      <pc:sldChg chg="addSp delSp modSp add mod chgLayout">
        <pc:chgData name="Peter Bernhardt" userId="f2333933-0b12-4d6e-972f-f87625423892" providerId="ADAL" clId="{2C628E33-589C-449E-BBA5-ED05E3E5CC01}" dt="2026-04-21T08:38:36.097" v="23" actId="20577"/>
        <pc:sldMkLst>
          <pc:docMk/>
          <pc:sldMk cId="0" sldId="305"/>
        </pc:sldMkLst>
        <pc:spChg chg="mod ord">
          <ac:chgData name="Peter Bernhardt" userId="f2333933-0b12-4d6e-972f-f87625423892" providerId="ADAL" clId="{2C628E33-589C-449E-BBA5-ED05E3E5CC01}" dt="2026-04-21T08:38:36.097" v="23" actId="20577"/>
          <ac:spMkLst>
            <pc:docMk/>
            <pc:sldMk cId="0" sldId="305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21T08:38:28.062" v="17" actId="6264"/>
          <ac:spMkLst>
            <pc:docMk/>
            <pc:sldMk cId="0" sldId="305"/>
            <ac:spMk id="4" creationId="{3FA93217-7CCD-F981-722F-76E104D03D35}"/>
          </ac:spMkLst>
        </pc:spChg>
      </pc:sldChg>
      <pc:sldChg chg="modSp add mod">
        <pc:chgData name="Peter Bernhardt" userId="f2333933-0b12-4d6e-972f-f87625423892" providerId="ADAL" clId="{2C628E33-589C-449E-BBA5-ED05E3E5CC01}" dt="2026-04-21T09:32:56.628" v="1097" actId="20577"/>
        <pc:sldMkLst>
          <pc:docMk/>
          <pc:sldMk cId="0" sldId="306"/>
        </pc:sldMkLst>
        <pc:spChg chg="mod">
          <ac:chgData name="Peter Bernhardt" userId="f2333933-0b12-4d6e-972f-f87625423892" providerId="ADAL" clId="{2C628E33-589C-449E-BBA5-ED05E3E5CC01}" dt="2026-04-21T09:32:56.628" v="1097" actId="20577"/>
          <ac:spMkLst>
            <pc:docMk/>
            <pc:sldMk cId="0" sldId="306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09:16:07.710" v="793" actId="5793"/>
        <pc:sldMkLst>
          <pc:docMk/>
          <pc:sldMk cId="0" sldId="307"/>
        </pc:sldMkLst>
        <pc:spChg chg="mod">
          <ac:chgData name="Peter Bernhardt" userId="f2333933-0b12-4d6e-972f-f87625423892" providerId="ADAL" clId="{2C628E33-589C-449E-BBA5-ED05E3E5CC01}" dt="2026-04-21T09:16:07.710" v="793" actId="5793"/>
          <ac:spMkLst>
            <pc:docMk/>
            <pc:sldMk cId="0" sldId="307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09:16:38.866" v="810" actId="20577"/>
        <pc:sldMkLst>
          <pc:docMk/>
          <pc:sldMk cId="0" sldId="308"/>
        </pc:sldMkLst>
        <pc:spChg chg="mod">
          <ac:chgData name="Peter Bernhardt" userId="f2333933-0b12-4d6e-972f-f87625423892" providerId="ADAL" clId="{2C628E33-589C-449E-BBA5-ED05E3E5CC01}" dt="2026-04-21T09:16:38.866" v="810" actId="20577"/>
          <ac:spMkLst>
            <pc:docMk/>
            <pc:sldMk cId="0" sldId="308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09:22:43.249" v="1036" actId="20577"/>
        <pc:sldMkLst>
          <pc:docMk/>
          <pc:sldMk cId="0" sldId="309"/>
        </pc:sldMkLst>
        <pc:spChg chg="mod">
          <ac:chgData name="Peter Bernhardt" userId="f2333933-0b12-4d6e-972f-f87625423892" providerId="ADAL" clId="{2C628E33-589C-449E-BBA5-ED05E3E5CC01}" dt="2026-04-21T09:18:54.038" v="832" actId="2711"/>
          <ac:spMkLst>
            <pc:docMk/>
            <pc:sldMk cId="0" sldId="309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21T09:22:43.249" v="1036" actId="20577"/>
          <ac:spMkLst>
            <pc:docMk/>
            <pc:sldMk cId="0" sldId="309"/>
            <ac:spMk id="3" creationId="{00000000-0000-0000-0000-000000000000}"/>
          </ac:spMkLst>
        </pc:spChg>
      </pc:sldChg>
      <pc:sldChg chg="addSp modSp add mod">
        <pc:chgData name="Peter Bernhardt" userId="f2333933-0b12-4d6e-972f-f87625423892" providerId="ADAL" clId="{2C628E33-589C-449E-BBA5-ED05E3E5CC01}" dt="2026-04-21T09:48:10.688" v="1206" actId="1036"/>
        <pc:sldMkLst>
          <pc:docMk/>
          <pc:sldMk cId="0" sldId="310"/>
        </pc:sldMkLst>
        <pc:spChg chg="mod">
          <ac:chgData name="Peter Bernhardt" userId="f2333933-0b12-4d6e-972f-f87625423892" providerId="ADAL" clId="{2C628E33-589C-449E-BBA5-ED05E3E5CC01}" dt="2026-04-21T09:24:35.479" v="1038" actId="27636"/>
          <ac:spMkLst>
            <pc:docMk/>
            <pc:sldMk cId="0" sldId="310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21T09:48:10.688" v="1206" actId="1036"/>
          <ac:spMkLst>
            <pc:docMk/>
            <pc:sldMk cId="0" sldId="310"/>
            <ac:spMk id="5" creationId="{0B351CE9-1C8C-ACD2-0057-8452677BE683}"/>
          </ac:spMkLst>
        </pc:spChg>
      </pc:sldChg>
      <pc:sldChg chg="modSp add mod">
        <pc:chgData name="Peter Bernhardt" userId="f2333933-0b12-4d6e-972f-f87625423892" providerId="ADAL" clId="{2C628E33-589C-449E-BBA5-ED05E3E5CC01}" dt="2026-04-21T09:47:01.160" v="1192" actId="27636"/>
        <pc:sldMkLst>
          <pc:docMk/>
          <pc:sldMk cId="0" sldId="311"/>
        </pc:sldMkLst>
        <pc:spChg chg="mod">
          <ac:chgData name="Peter Bernhardt" userId="f2333933-0b12-4d6e-972f-f87625423892" providerId="ADAL" clId="{2C628E33-589C-449E-BBA5-ED05E3E5CC01}" dt="2026-04-21T09:28:09.847" v="1059" actId="2711"/>
          <ac:spMkLst>
            <pc:docMk/>
            <pc:sldMk cId="0" sldId="311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21T09:47:01.160" v="1192" actId="27636"/>
          <ac:spMkLst>
            <pc:docMk/>
            <pc:sldMk cId="0" sldId="311"/>
            <ac:spMk id="3" creationId="{00000000-0000-0000-0000-000000000000}"/>
          </ac:spMkLst>
        </pc:spChg>
      </pc:sldChg>
      <pc:sldChg chg="addSp delSp modSp add mod">
        <pc:chgData name="Peter Bernhardt" userId="f2333933-0b12-4d6e-972f-f87625423892" providerId="ADAL" clId="{2C628E33-589C-449E-BBA5-ED05E3E5CC01}" dt="2026-04-21T09:49:37.023" v="1232" actId="1076"/>
        <pc:sldMkLst>
          <pc:docMk/>
          <pc:sldMk cId="0" sldId="312"/>
        </pc:sldMkLst>
        <pc:spChg chg="add mod">
          <ac:chgData name="Peter Bernhardt" userId="f2333933-0b12-4d6e-972f-f87625423892" providerId="ADAL" clId="{2C628E33-589C-449E-BBA5-ED05E3E5CC01}" dt="2026-04-21T09:49:37.023" v="1232" actId="1076"/>
          <ac:spMkLst>
            <pc:docMk/>
            <pc:sldMk cId="0" sldId="312"/>
            <ac:spMk id="5" creationId="{A12D37CE-10DD-D13D-F193-322C5EFDC0E5}"/>
          </ac:spMkLst>
        </pc:spChg>
      </pc:sldChg>
      <pc:sldChg chg="modSp add mod">
        <pc:chgData name="Peter Bernhardt" userId="f2333933-0b12-4d6e-972f-f87625423892" providerId="ADAL" clId="{2C628E33-589C-449E-BBA5-ED05E3E5CC01}" dt="2026-04-21T09:50:31.619" v="1242" actId="14100"/>
        <pc:sldMkLst>
          <pc:docMk/>
          <pc:sldMk cId="0" sldId="313"/>
        </pc:sldMkLst>
        <pc:spChg chg="mod">
          <ac:chgData name="Peter Bernhardt" userId="f2333933-0b12-4d6e-972f-f87625423892" providerId="ADAL" clId="{2C628E33-589C-449E-BBA5-ED05E3E5CC01}" dt="2026-04-21T09:50:31.619" v="1242" actId="14100"/>
          <ac:spMkLst>
            <pc:docMk/>
            <pc:sldMk cId="0" sldId="313"/>
            <ac:spMk id="3" creationId="{00000000-0000-0000-0000-000000000000}"/>
          </ac:spMkLst>
        </pc:spChg>
      </pc:sldChg>
      <pc:sldChg chg="addSp modSp add mod">
        <pc:chgData name="Peter Bernhardt" userId="f2333933-0b12-4d6e-972f-f87625423892" providerId="ADAL" clId="{2C628E33-589C-449E-BBA5-ED05E3E5CC01}" dt="2026-04-21T09:54:47.151" v="1336" actId="1076"/>
        <pc:sldMkLst>
          <pc:docMk/>
          <pc:sldMk cId="0" sldId="314"/>
        </pc:sldMkLst>
        <pc:spChg chg="mod">
          <ac:chgData name="Peter Bernhardt" userId="f2333933-0b12-4d6e-972f-f87625423892" providerId="ADAL" clId="{2C628E33-589C-449E-BBA5-ED05E3E5CC01}" dt="2026-04-21T09:54:35.759" v="1335" actId="20577"/>
          <ac:spMkLst>
            <pc:docMk/>
            <pc:sldMk cId="0" sldId="314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21T09:54:47.151" v="1336" actId="1076"/>
          <ac:spMkLst>
            <pc:docMk/>
            <pc:sldMk cId="0" sldId="314"/>
            <ac:spMk id="4" creationId="{3359AF79-2B7F-AF5A-EA05-CE3909DC5806}"/>
          </ac:spMkLst>
        </pc:spChg>
      </pc:sldChg>
      <pc:sldChg chg="addSp delSp modSp add mod chgLayout">
        <pc:chgData name="Peter Bernhardt" userId="f2333933-0b12-4d6e-972f-f87625423892" providerId="ADAL" clId="{2C628E33-589C-449E-BBA5-ED05E3E5CC01}" dt="2026-04-21T08:39:41.464" v="34" actId="20577"/>
        <pc:sldMkLst>
          <pc:docMk/>
          <pc:sldMk cId="0" sldId="315"/>
        </pc:sldMkLst>
        <pc:spChg chg="mod ord">
          <ac:chgData name="Peter Bernhardt" userId="f2333933-0b12-4d6e-972f-f87625423892" providerId="ADAL" clId="{2C628E33-589C-449E-BBA5-ED05E3E5CC01}" dt="2026-04-21T08:39:41.464" v="34" actId="20577"/>
          <ac:spMkLst>
            <pc:docMk/>
            <pc:sldMk cId="0" sldId="315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21T08:39:38.271" v="33" actId="6264"/>
          <ac:spMkLst>
            <pc:docMk/>
            <pc:sldMk cId="0" sldId="315"/>
            <ac:spMk id="4" creationId="{F5BE2562-71E6-362D-2F62-2209A2692B78}"/>
          </ac:spMkLst>
        </pc:spChg>
      </pc:sldChg>
      <pc:sldChg chg="addSp delSp modSp add mod">
        <pc:chgData name="Peter Bernhardt" userId="f2333933-0b12-4d6e-972f-f87625423892" providerId="ADAL" clId="{2C628E33-589C-449E-BBA5-ED05E3E5CC01}" dt="2026-04-21T09:59:31.746" v="1392" actId="1076"/>
        <pc:sldMkLst>
          <pc:docMk/>
          <pc:sldMk cId="0" sldId="316"/>
        </pc:sldMkLst>
        <pc:spChg chg="mod">
          <ac:chgData name="Peter Bernhardt" userId="f2333933-0b12-4d6e-972f-f87625423892" providerId="ADAL" clId="{2C628E33-589C-449E-BBA5-ED05E3E5CC01}" dt="2026-04-21T09:58:31.975" v="1362" actId="20577"/>
          <ac:spMkLst>
            <pc:docMk/>
            <pc:sldMk cId="0" sldId="316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21T09:59:27.226" v="1391" actId="14100"/>
          <ac:spMkLst>
            <pc:docMk/>
            <pc:sldMk cId="0" sldId="316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21T09:59:31.746" v="1392" actId="1076"/>
          <ac:spMkLst>
            <pc:docMk/>
            <pc:sldMk cId="0" sldId="316"/>
            <ac:spMk id="7" creationId="{71D5B198-0090-9191-8675-24E1E7D89EEA}"/>
          </ac:spMkLst>
        </pc:spChg>
      </pc:sldChg>
      <pc:sldChg chg="modSp add mod">
        <pc:chgData name="Peter Bernhardt" userId="f2333933-0b12-4d6e-972f-f87625423892" providerId="ADAL" clId="{2C628E33-589C-449E-BBA5-ED05E3E5CC01}" dt="2026-04-21T10:04:20.938" v="1425" actId="20577"/>
        <pc:sldMkLst>
          <pc:docMk/>
          <pc:sldMk cId="0" sldId="317"/>
        </pc:sldMkLst>
        <pc:spChg chg="mod">
          <ac:chgData name="Peter Bernhardt" userId="f2333933-0b12-4d6e-972f-f87625423892" providerId="ADAL" clId="{2C628E33-589C-449E-BBA5-ED05E3E5CC01}" dt="2026-04-21T10:04:20.938" v="1425" actId="20577"/>
          <ac:spMkLst>
            <pc:docMk/>
            <pc:sldMk cId="0" sldId="317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03:38.692" v="1419" actId="20577"/>
        <pc:sldMkLst>
          <pc:docMk/>
          <pc:sldMk cId="0" sldId="318"/>
        </pc:sldMkLst>
        <pc:spChg chg="mod">
          <ac:chgData name="Peter Bernhardt" userId="f2333933-0b12-4d6e-972f-f87625423892" providerId="ADAL" clId="{2C628E33-589C-449E-BBA5-ED05E3E5CC01}" dt="2026-04-21T10:03:38.692" v="1419" actId="20577"/>
          <ac:spMkLst>
            <pc:docMk/>
            <pc:sldMk cId="0" sldId="318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04:16.186" v="1424" actId="20577"/>
        <pc:sldMkLst>
          <pc:docMk/>
          <pc:sldMk cId="0" sldId="319"/>
        </pc:sldMkLst>
        <pc:spChg chg="mod">
          <ac:chgData name="Peter Bernhardt" userId="f2333933-0b12-4d6e-972f-f87625423892" providerId="ADAL" clId="{2C628E33-589C-449E-BBA5-ED05E3E5CC01}" dt="2026-04-21T10:04:16.186" v="1424" actId="20577"/>
          <ac:spMkLst>
            <pc:docMk/>
            <pc:sldMk cId="0" sldId="319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06:17.133" v="1572" actId="20577"/>
        <pc:sldMkLst>
          <pc:docMk/>
          <pc:sldMk cId="0" sldId="320"/>
        </pc:sldMkLst>
        <pc:spChg chg="mod">
          <ac:chgData name="Peter Bernhardt" userId="f2333933-0b12-4d6e-972f-f87625423892" providerId="ADAL" clId="{2C628E33-589C-449E-BBA5-ED05E3E5CC01}" dt="2026-04-21T10:06:17.133" v="1572" actId="20577"/>
          <ac:spMkLst>
            <pc:docMk/>
            <pc:sldMk cId="0" sldId="320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07:14.869" v="1576" actId="11"/>
        <pc:sldMkLst>
          <pc:docMk/>
          <pc:sldMk cId="0" sldId="321"/>
        </pc:sldMkLst>
        <pc:spChg chg="mod">
          <ac:chgData name="Peter Bernhardt" userId="f2333933-0b12-4d6e-972f-f87625423892" providerId="ADAL" clId="{2C628E33-589C-449E-BBA5-ED05E3E5CC01}" dt="2026-04-21T10:07:14.869" v="1576" actId="11"/>
          <ac:spMkLst>
            <pc:docMk/>
            <pc:sldMk cId="0" sldId="321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08:16.351" v="1662" actId="20577"/>
        <pc:sldMkLst>
          <pc:docMk/>
          <pc:sldMk cId="0" sldId="322"/>
        </pc:sldMkLst>
        <pc:spChg chg="mod">
          <ac:chgData name="Peter Bernhardt" userId="f2333933-0b12-4d6e-972f-f87625423892" providerId="ADAL" clId="{2C628E33-589C-449E-BBA5-ED05E3E5CC01}" dt="2026-04-21T10:08:16.351" v="1662" actId="20577"/>
          <ac:spMkLst>
            <pc:docMk/>
            <pc:sldMk cId="0" sldId="322"/>
            <ac:spMk id="3" creationId="{00000000-0000-0000-0000-000000000000}"/>
          </ac:spMkLst>
        </pc:spChg>
      </pc:sldChg>
      <pc:sldChg chg="addSp delSp modSp add mod">
        <pc:chgData name="Peter Bernhardt" userId="f2333933-0b12-4d6e-972f-f87625423892" providerId="ADAL" clId="{2C628E33-589C-449E-BBA5-ED05E3E5CC01}" dt="2026-04-21T10:11:08.782" v="1685" actId="1076"/>
        <pc:sldMkLst>
          <pc:docMk/>
          <pc:sldMk cId="0" sldId="323"/>
        </pc:sldMkLst>
        <pc:spChg chg="mod">
          <ac:chgData name="Peter Bernhardt" userId="f2333933-0b12-4d6e-972f-f87625423892" providerId="ADAL" clId="{2C628E33-589C-449E-BBA5-ED05E3E5CC01}" dt="2026-04-21T10:10:04.585" v="1675" actId="20577"/>
          <ac:spMkLst>
            <pc:docMk/>
            <pc:sldMk cId="0" sldId="323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21T10:11:08.782" v="1685" actId="1076"/>
          <ac:spMkLst>
            <pc:docMk/>
            <pc:sldMk cId="0" sldId="323"/>
            <ac:spMk id="7" creationId="{3B9F0EA8-8D7C-1618-6AAC-580B3F6E76BB}"/>
          </ac:spMkLst>
        </pc:spChg>
      </pc:sldChg>
      <pc:sldChg chg="addSp delSp modSp add mod">
        <pc:chgData name="Peter Bernhardt" userId="f2333933-0b12-4d6e-972f-f87625423892" providerId="ADAL" clId="{2C628E33-589C-449E-BBA5-ED05E3E5CC01}" dt="2026-04-21T10:13:30.057" v="1746" actId="1076"/>
        <pc:sldMkLst>
          <pc:docMk/>
          <pc:sldMk cId="0" sldId="324"/>
        </pc:sldMkLst>
        <pc:spChg chg="add mod">
          <ac:chgData name="Peter Bernhardt" userId="f2333933-0b12-4d6e-972f-f87625423892" providerId="ADAL" clId="{2C628E33-589C-449E-BBA5-ED05E3E5CC01}" dt="2026-04-21T10:13:30.057" v="1746" actId="1076"/>
          <ac:spMkLst>
            <pc:docMk/>
            <pc:sldMk cId="0" sldId="324"/>
            <ac:spMk id="5" creationId="{0E194594-A0ED-1191-D5BC-F0A3251D6AA4}"/>
          </ac:spMkLst>
        </pc:spChg>
      </pc:sldChg>
      <pc:sldChg chg="addSp delSp modSp add mod chgLayout">
        <pc:chgData name="Peter Bernhardt" userId="f2333933-0b12-4d6e-972f-f87625423892" providerId="ADAL" clId="{2C628E33-589C-449E-BBA5-ED05E3E5CC01}" dt="2026-04-21T08:40:43.558" v="45" actId="20577"/>
        <pc:sldMkLst>
          <pc:docMk/>
          <pc:sldMk cId="0" sldId="325"/>
        </pc:sldMkLst>
        <pc:spChg chg="mod ord">
          <ac:chgData name="Peter Bernhardt" userId="f2333933-0b12-4d6e-972f-f87625423892" providerId="ADAL" clId="{2C628E33-589C-449E-BBA5-ED05E3E5CC01}" dt="2026-04-21T08:40:43.558" v="45" actId="20577"/>
          <ac:spMkLst>
            <pc:docMk/>
            <pc:sldMk cId="0" sldId="325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21T08:40:41.234" v="44" actId="6264"/>
          <ac:spMkLst>
            <pc:docMk/>
            <pc:sldMk cId="0" sldId="325"/>
            <ac:spMk id="4" creationId="{20A44152-4B26-EF7C-AB13-398377CD18B9}"/>
          </ac:spMkLst>
        </pc:spChg>
      </pc:sldChg>
      <pc:sldChg chg="modSp add mod">
        <pc:chgData name="Peter Bernhardt" userId="f2333933-0b12-4d6e-972f-f87625423892" providerId="ADAL" clId="{2C628E33-589C-449E-BBA5-ED05E3E5CC01}" dt="2026-04-21T10:14:19.604" v="1749" actId="207"/>
        <pc:sldMkLst>
          <pc:docMk/>
          <pc:sldMk cId="0" sldId="326"/>
        </pc:sldMkLst>
        <pc:spChg chg="mod">
          <ac:chgData name="Peter Bernhardt" userId="f2333933-0b12-4d6e-972f-f87625423892" providerId="ADAL" clId="{2C628E33-589C-449E-BBA5-ED05E3E5CC01}" dt="2026-04-21T10:14:19.604" v="1749" actId="207"/>
          <ac:spMkLst>
            <pc:docMk/>
            <pc:sldMk cId="0" sldId="326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08:40:56.488" v="48" actId="14100"/>
        <pc:sldMkLst>
          <pc:docMk/>
          <pc:sldMk cId="0" sldId="327"/>
        </pc:sldMkLst>
        <pc:spChg chg="mod">
          <ac:chgData name="Peter Bernhardt" userId="f2333933-0b12-4d6e-972f-f87625423892" providerId="ADAL" clId="{2C628E33-589C-449E-BBA5-ED05E3E5CC01}" dt="2026-04-21T08:40:56.488" v="48" actId="14100"/>
          <ac:spMkLst>
            <pc:docMk/>
            <pc:sldMk cId="0" sldId="327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14:57.640" v="1751" actId="948"/>
        <pc:sldMkLst>
          <pc:docMk/>
          <pc:sldMk cId="0" sldId="328"/>
        </pc:sldMkLst>
        <pc:spChg chg="mod">
          <ac:chgData name="Peter Bernhardt" userId="f2333933-0b12-4d6e-972f-f87625423892" providerId="ADAL" clId="{2C628E33-589C-449E-BBA5-ED05E3E5CC01}" dt="2026-04-21T10:14:57.640" v="1751" actId="948"/>
          <ac:spMkLst>
            <pc:docMk/>
            <pc:sldMk cId="0" sldId="328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16:03.115" v="1851" actId="20577"/>
        <pc:sldMkLst>
          <pc:docMk/>
          <pc:sldMk cId="0" sldId="329"/>
        </pc:sldMkLst>
        <pc:spChg chg="mod">
          <ac:chgData name="Peter Bernhardt" userId="f2333933-0b12-4d6e-972f-f87625423892" providerId="ADAL" clId="{2C628E33-589C-449E-BBA5-ED05E3E5CC01}" dt="2026-04-21T10:16:03.115" v="1851" actId="20577"/>
          <ac:spMkLst>
            <pc:docMk/>
            <pc:sldMk cId="0" sldId="329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1:21:56.956" v="1983" actId="20577"/>
        <pc:sldMkLst>
          <pc:docMk/>
          <pc:sldMk cId="0" sldId="330"/>
        </pc:sldMkLst>
        <pc:spChg chg="mod">
          <ac:chgData name="Peter Bernhardt" userId="f2333933-0b12-4d6e-972f-f87625423892" providerId="ADAL" clId="{2C628E33-589C-449E-BBA5-ED05E3E5CC01}" dt="2026-04-21T11:21:56.956" v="1983" actId="20577"/>
          <ac:spMkLst>
            <pc:docMk/>
            <pc:sldMk cId="0" sldId="330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18:00.691" v="1978" actId="113"/>
        <pc:sldMkLst>
          <pc:docMk/>
          <pc:sldMk cId="0" sldId="331"/>
        </pc:sldMkLst>
        <pc:spChg chg="mod">
          <ac:chgData name="Peter Bernhardt" userId="f2333933-0b12-4d6e-972f-f87625423892" providerId="ADAL" clId="{2C628E33-589C-449E-BBA5-ED05E3E5CC01}" dt="2026-04-21T10:18:00.691" v="1978" actId="113"/>
          <ac:spMkLst>
            <pc:docMk/>
            <pc:sldMk cId="0" sldId="331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21T10:17:04.018" v="1869" actId="948"/>
        <pc:sldMkLst>
          <pc:docMk/>
          <pc:sldMk cId="0" sldId="332"/>
        </pc:sldMkLst>
        <pc:spChg chg="mod">
          <ac:chgData name="Peter Bernhardt" userId="f2333933-0b12-4d6e-972f-f87625423892" providerId="ADAL" clId="{2C628E33-589C-449E-BBA5-ED05E3E5CC01}" dt="2026-04-21T10:17:04.018" v="1869" actId="948"/>
          <ac:spMkLst>
            <pc:docMk/>
            <pc:sldMk cId="0" sldId="332"/>
            <ac:spMk id="3" creationId="{00000000-0000-0000-0000-000000000000}"/>
          </ac:spMkLst>
        </pc:spChg>
      </pc:sldChg>
      <pc:sldChg chg="addSp delSp modSp new mod">
        <pc:chgData name="Peter Bernhardt" userId="f2333933-0b12-4d6e-972f-f87625423892" providerId="ADAL" clId="{2C628E33-589C-449E-BBA5-ED05E3E5CC01}" dt="2026-04-21T09:46:02.745" v="1150" actId="20577"/>
        <pc:sldMkLst>
          <pc:docMk/>
          <pc:sldMk cId="3793914736" sldId="333"/>
        </pc:sldMkLst>
        <pc:spChg chg="mod">
          <ac:chgData name="Peter Bernhardt" userId="f2333933-0b12-4d6e-972f-f87625423892" providerId="ADAL" clId="{2C628E33-589C-449E-BBA5-ED05E3E5CC01}" dt="2026-04-21T09:46:02.745" v="1150" actId="20577"/>
          <ac:spMkLst>
            <pc:docMk/>
            <pc:sldMk cId="3793914736" sldId="333"/>
            <ac:spMk id="2" creationId="{A22B8489-4F8B-B7FE-1698-89117A47C320}"/>
          </ac:spMkLst>
        </pc:spChg>
        <pc:picChg chg="add mod">
          <ac:chgData name="Peter Bernhardt" userId="f2333933-0b12-4d6e-972f-f87625423892" providerId="ADAL" clId="{2C628E33-589C-449E-BBA5-ED05E3E5CC01}" dt="2026-04-21T09:45:37.695" v="1107" actId="1076"/>
          <ac:picMkLst>
            <pc:docMk/>
            <pc:sldMk cId="3793914736" sldId="333"/>
            <ac:picMk id="6" creationId="{637390E1-DB75-C8EB-07DB-CC77E923857D}"/>
          </ac:picMkLst>
        </pc:picChg>
      </pc:sldChg>
    </pc:docChg>
  </pc:docChgLst>
  <pc:docChgLst>
    <pc:chgData name="Peter Bernhardt" userId="f2333933-0b12-4d6e-972f-f87625423892" providerId="ADAL" clId="{34DA1458-4058-4912-885C-C6A06A12728D}"/>
    <pc:docChg chg="undo custSel modSld">
      <pc:chgData name="Peter Bernhardt" userId="f2333933-0b12-4d6e-972f-f87625423892" providerId="ADAL" clId="{34DA1458-4058-4912-885C-C6A06A12728D}" dt="2026-04-23T14:17:44.871" v="157" actId="20577"/>
      <pc:docMkLst>
        <pc:docMk/>
      </pc:docMkLst>
      <pc:sldChg chg="modSp mod">
        <pc:chgData name="Peter Bernhardt" userId="f2333933-0b12-4d6e-972f-f87625423892" providerId="ADAL" clId="{34DA1458-4058-4912-885C-C6A06A12728D}" dt="2026-04-23T14:17:44.871" v="157" actId="20577"/>
        <pc:sldMkLst>
          <pc:docMk/>
          <pc:sldMk cId="0" sldId="312"/>
        </pc:sldMkLst>
        <pc:spChg chg="mod">
          <ac:chgData name="Peter Bernhardt" userId="f2333933-0b12-4d6e-972f-f87625423892" providerId="ADAL" clId="{34DA1458-4058-4912-885C-C6A06A12728D}" dt="2026-04-23T14:17:44.871" v="157" actId="20577"/>
          <ac:spMkLst>
            <pc:docMk/>
            <pc:sldMk cId="0" sldId="312"/>
            <ac:spMk id="5" creationId="{A12D37CE-10DD-D13D-F193-322C5EFDC0E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0B434C2-CA52-51F0-C1F2-B635298BF8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150869-4EB4-AE84-653E-A7F5BCEF5B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4FC74E-8D4D-CDEA-B64F-A86A9D4510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8CE83-0405-4231-BD80-FF07552D0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08392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E66AD-FDB0-4D6F-9C9A-174F6869DEE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36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13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3339846"/>
            <a:ext cx="565785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06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220" y="1384302"/>
            <a:ext cx="2777490" cy="30175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7580" y="1384301"/>
            <a:ext cx="277749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9758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758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4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1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" y="0"/>
            <a:ext cx="227857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72540" y="0"/>
            <a:ext cx="36005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445769"/>
            <a:ext cx="1800225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338" y="548640"/>
            <a:ext cx="3651885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2194560"/>
            <a:ext cx="1800225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1851" y="4844840"/>
            <a:ext cx="1472912" cy="273844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00337" y="4844840"/>
            <a:ext cx="2614613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5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714750"/>
            <a:ext cx="6856214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" y="368630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3806190"/>
            <a:ext cx="5692140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" y="0"/>
            <a:ext cx="6857992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" y="4430268"/>
            <a:ext cx="5692140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3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09226"/>
            <a:ext cx="1478756" cy="431992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09226"/>
            <a:ext cx="4350544" cy="4319924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6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800600"/>
            <a:ext cx="6858001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6858001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820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19" y="1103179"/>
            <a:ext cx="5657851" cy="36033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1" y="4844840"/>
            <a:ext cx="13906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73480" y="4844840"/>
            <a:ext cx="2712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69009" y="4844840"/>
            <a:ext cx="7380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1362" y="1058938"/>
            <a:ext cx="560641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0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b="1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Objektorientierte Programmierung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>
            <a:normAutofit fontScale="92500" lnSpcReduction="20000"/>
          </a:bodyPr>
          <a:lstStyle/>
          <a:p>
            <a:r>
              <a:rPr lang="de-DE"/>
              <a:t>Woche 6: Fortgeschrittene Konzepte und Projektstart</a:t>
            </a:r>
            <a:br>
              <a:rPr lang="de-DE"/>
            </a:br>
            <a:br>
              <a:rPr lang="de-DE"/>
            </a:br>
            <a:r>
              <a:rPr lang="de-DE"/>
              <a:t>Peter Bernhardt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1" y="4844840"/>
            <a:ext cx="1390652" cy="273844"/>
          </a:xfrm>
        </p:spPr>
        <p:txBody>
          <a:bodyPr/>
          <a:lstStyle/>
          <a:p>
            <a:r>
              <a:rPr lang="de-DE"/>
              <a:t>März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>
            <a:normAutofit/>
          </a:bodyPr>
          <a:lstStyle/>
          <a:p>
            <a:r>
              <a:rPr lang="de-DE" dirty="0"/>
              <a:t>Teil 1: </a:t>
            </a:r>
            <a:br>
              <a:rPr lang="de-DE" dirty="0"/>
            </a:br>
            <a:r>
              <a:rPr lang="de-DE" dirty="0"/>
              <a:t>Einführung &amp; Das Warten auf Daten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B4D5C8-D241-52A6-B3E6-55F39FA82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Willkommen zu Woche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73" y="1103179"/>
            <a:ext cx="5596197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haben</a:t>
            </a:r>
            <a:r>
              <a:rPr dirty="0"/>
              <a:t> den </a:t>
            </a:r>
            <a:r>
              <a:rPr dirty="0" err="1"/>
              <a:t>theoretischen</a:t>
            </a:r>
            <a:r>
              <a:rPr dirty="0"/>
              <a:t> </a:t>
            </a:r>
            <a:r>
              <a:rPr dirty="0" err="1"/>
              <a:t>Gipfel</a:t>
            </a:r>
            <a:r>
              <a:rPr dirty="0"/>
              <a:t> </a:t>
            </a:r>
            <a:br>
              <a:rPr lang="de-DE" dirty="0"/>
            </a:br>
            <a:r>
              <a:rPr dirty="0"/>
              <a:t>dieses </a:t>
            </a:r>
            <a:r>
              <a:rPr dirty="0" err="1"/>
              <a:t>Kurses</a:t>
            </a:r>
            <a:r>
              <a:rPr dirty="0"/>
              <a:t> </a:t>
            </a:r>
            <a:r>
              <a:rPr dirty="0" err="1"/>
              <a:t>erreicht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 err="1"/>
              <a:t>Architekturen</a:t>
            </a:r>
            <a:r>
              <a:rPr dirty="0"/>
              <a:t>, Patterns, SOLID und </a:t>
            </a:r>
            <a:br>
              <a:rPr lang="de-DE" dirty="0"/>
            </a:br>
            <a:r>
              <a:rPr dirty="0"/>
              <a:t>Testing </a:t>
            </a:r>
            <a:r>
              <a:rPr dirty="0" err="1"/>
              <a:t>liegen</a:t>
            </a:r>
            <a:r>
              <a:rPr dirty="0"/>
              <a:t> hinter uns.</a:t>
            </a:r>
          </a:p>
          <a:p>
            <a:pPr marL="0" indent="0">
              <a:buNone/>
            </a:pPr>
            <a:r>
              <a:rPr dirty="0"/>
              <a:t>Heute </a:t>
            </a:r>
            <a:r>
              <a:rPr dirty="0" err="1"/>
              <a:t>betrachten</a:t>
            </a:r>
            <a:r>
              <a:rPr dirty="0"/>
              <a:t> wir die Brücke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realen</a:t>
            </a:r>
            <a:r>
              <a:rPr dirty="0"/>
              <a:t> Welt: </a:t>
            </a:r>
            <a:br>
              <a:rPr lang="de-DE" dirty="0"/>
            </a:br>
            <a:r>
              <a:rPr dirty="0"/>
              <a:t>Wie </a:t>
            </a:r>
            <a:r>
              <a:rPr dirty="0" err="1"/>
              <a:t>interagieren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</a:t>
            </a:r>
            <a:r>
              <a:rPr dirty="0" err="1"/>
              <a:t>sauberen</a:t>
            </a:r>
            <a:r>
              <a:rPr dirty="0"/>
              <a:t> Systeme </a:t>
            </a:r>
            <a:r>
              <a:rPr dirty="0" err="1"/>
              <a:t>effizient</a:t>
            </a:r>
            <a:r>
              <a:rPr dirty="0"/>
              <a:t> und </a:t>
            </a:r>
            <a:r>
              <a:rPr dirty="0" err="1"/>
              <a:t>ausfallsicher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</a:t>
            </a:r>
            <a:r>
              <a:rPr dirty="0" err="1"/>
              <a:t>Außenwelt</a:t>
            </a:r>
            <a:r>
              <a:rPr dirty="0"/>
              <a:t> (APIs, </a:t>
            </a:r>
            <a:r>
              <a:rPr dirty="0" err="1"/>
              <a:t>Datenbanken</a:t>
            </a:r>
            <a:r>
              <a:rPr dirty="0"/>
              <a:t>)?</a:t>
            </a:r>
          </a:p>
          <a:p>
            <a:pPr marL="0" indent="0">
              <a:buNone/>
            </a:pPr>
            <a:br>
              <a:rPr lang="de-DE" dirty="0"/>
            </a:br>
            <a:r>
              <a:rPr dirty="0" err="1"/>
              <a:t>Zudem</a:t>
            </a:r>
            <a:r>
              <a:rPr dirty="0"/>
              <a:t> </a:t>
            </a:r>
            <a:r>
              <a:rPr dirty="0" err="1"/>
              <a:t>geben</a:t>
            </a:r>
            <a:r>
              <a:rPr dirty="0"/>
              <a:t> wir </a:t>
            </a:r>
            <a:r>
              <a:rPr dirty="0" err="1"/>
              <a:t>heute</a:t>
            </a:r>
            <a:r>
              <a:rPr dirty="0"/>
              <a:t> den </a:t>
            </a:r>
            <a:r>
              <a:rPr dirty="0" err="1"/>
              <a:t>Startschuss</a:t>
            </a:r>
            <a:r>
              <a:rPr dirty="0"/>
              <a:t> für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praktischen</a:t>
            </a:r>
            <a:r>
              <a:rPr dirty="0"/>
              <a:t> </a:t>
            </a:r>
            <a:r>
              <a:rPr dirty="0" err="1"/>
              <a:t>Abschlussprojekte</a:t>
            </a:r>
            <a:r>
              <a:rPr dirty="0"/>
              <a:t>.</a:t>
            </a:r>
          </a:p>
        </p:txBody>
      </p:sp>
      <p:pic>
        <p:nvPicPr>
          <p:cNvPr id="1026" name="Picture 2" descr="Comichaftes Schwarz-Weiß-Bild eines freudigen Bergsteigers auf dem Gipfel">
            <a:extLst>
              <a:ext uri="{FF2B5EF4-FFF2-40B4-BE49-F238E27FC236}">
                <a16:creationId xmlns:a16="http://schemas.microsoft.com/office/drawing/2014/main" id="{A5DAF64D-8A1E-5ED8-291C-266298DDD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691" y="117763"/>
            <a:ext cx="2024494" cy="202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Die </a:t>
            </a:r>
            <a:r>
              <a:rPr dirty="0" err="1"/>
              <a:t>vernetzte</a:t>
            </a:r>
            <a:r>
              <a:rPr dirty="0"/>
              <a:t> </a:t>
            </a:r>
            <a:r>
              <a:rPr lang="de-DE" dirty="0"/>
              <a:t>Welt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Kein </a:t>
            </a:r>
            <a:r>
              <a:rPr dirty="0" err="1"/>
              <a:t>modernes</a:t>
            </a:r>
            <a:r>
              <a:rPr dirty="0"/>
              <a:t> </a:t>
            </a:r>
            <a:r>
              <a:rPr dirty="0" err="1"/>
              <a:t>Fachverfahren</a:t>
            </a:r>
            <a:r>
              <a:rPr dirty="0"/>
              <a:t> </a:t>
            </a:r>
            <a:r>
              <a:rPr dirty="0" err="1"/>
              <a:t>arbeitet</a:t>
            </a:r>
            <a:r>
              <a:rPr dirty="0"/>
              <a:t>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isoliert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müssen</a:t>
            </a:r>
            <a:r>
              <a:rPr dirty="0"/>
              <a:t> das </a:t>
            </a:r>
            <a:r>
              <a:rPr dirty="0" err="1"/>
              <a:t>zentrale</a:t>
            </a:r>
            <a:r>
              <a:rPr dirty="0"/>
              <a:t> </a:t>
            </a:r>
            <a:r>
              <a:rPr dirty="0" err="1"/>
              <a:t>Melderegister</a:t>
            </a:r>
            <a:r>
              <a:rPr dirty="0"/>
              <a:t> </a:t>
            </a:r>
            <a:r>
              <a:rPr dirty="0" err="1"/>
              <a:t>abfragen</a:t>
            </a:r>
            <a:r>
              <a:rPr dirty="0"/>
              <a:t>, PDF-</a:t>
            </a:r>
            <a:r>
              <a:rPr dirty="0" err="1"/>
              <a:t>Generatoren</a:t>
            </a:r>
            <a:r>
              <a:rPr dirty="0"/>
              <a:t> in der Cloud </a:t>
            </a:r>
            <a:r>
              <a:rPr dirty="0" err="1"/>
              <a:t>ansprechen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Geodaten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Karten-Dienst laden.</a:t>
            </a:r>
          </a:p>
          <a:p>
            <a:pPr marL="0" indent="0">
              <a:buNone/>
            </a:pP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Abfragen</a:t>
            </a:r>
            <a:r>
              <a:rPr dirty="0"/>
              <a:t> über das </a:t>
            </a:r>
            <a:r>
              <a:rPr dirty="0" err="1"/>
              <a:t>Netzwerk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die </a:t>
            </a:r>
            <a:r>
              <a:rPr dirty="0" err="1"/>
              <a:t>Festplatte</a:t>
            </a:r>
            <a:r>
              <a:rPr dirty="0"/>
              <a:t> </a:t>
            </a:r>
            <a:r>
              <a:rPr dirty="0" err="1"/>
              <a:t>benötigen</a:t>
            </a:r>
            <a:r>
              <a:rPr dirty="0"/>
              <a:t> Zeit. </a:t>
            </a:r>
            <a:endParaRPr lang="de-DE" dirty="0"/>
          </a:p>
          <a:p>
            <a:pPr marL="0" indent="0">
              <a:buNone/>
            </a:pPr>
            <a:r>
              <a:rPr dirty="0" err="1"/>
              <a:t>Manchmal</a:t>
            </a:r>
            <a:r>
              <a:rPr dirty="0"/>
              <a:t> </a:t>
            </a:r>
            <a:r>
              <a:rPr dirty="0" err="1"/>
              <a:t>Millisekunden</a:t>
            </a:r>
            <a:r>
              <a:rPr dirty="0"/>
              <a:t>, </a:t>
            </a:r>
            <a:r>
              <a:rPr dirty="0" err="1"/>
              <a:t>manchmal</a:t>
            </a:r>
            <a:r>
              <a:rPr dirty="0"/>
              <a:t> </a:t>
            </a:r>
            <a:r>
              <a:rPr dirty="0" err="1"/>
              <a:t>Sekunden</a:t>
            </a:r>
            <a:r>
              <a:rPr dirty="0"/>
              <a:t>.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Manchmal geht es gar nicht… </a:t>
            </a:r>
            <a:br>
              <a:rPr lang="de-DE" dirty="0"/>
            </a:br>
            <a:r>
              <a:rPr lang="de-DE" dirty="0"/>
              <a:t>(Aber darüber denken wir heute mal nicht nach.)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Problem der Synchronität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Wenn wir </a:t>
            </a:r>
            <a:r>
              <a:rPr dirty="0" err="1"/>
              <a:t>traditionell</a:t>
            </a:r>
            <a:r>
              <a:rPr dirty="0"/>
              <a:t> (</a:t>
            </a:r>
            <a:r>
              <a:rPr b="1" dirty="0" err="1">
                <a:solidFill>
                  <a:srgbClr val="0070C0"/>
                </a:solidFill>
              </a:rPr>
              <a:t>synchron</a:t>
            </a:r>
            <a:r>
              <a:rPr dirty="0"/>
              <a:t>) </a:t>
            </a:r>
            <a:r>
              <a:rPr dirty="0" err="1"/>
              <a:t>programmieren</a:t>
            </a:r>
            <a:r>
              <a:rPr dirty="0"/>
              <a:t>, </a:t>
            </a:r>
            <a:r>
              <a:rPr dirty="0" err="1"/>
              <a:t>blockiert</a:t>
            </a:r>
            <a:r>
              <a:rPr lang="de-DE" dirty="0"/>
              <a:t>, also wartet, </a:t>
            </a:r>
            <a:r>
              <a:rPr dirty="0"/>
              <a:t>der </a:t>
            </a:r>
            <a:r>
              <a:rPr dirty="0" err="1"/>
              <a:t>aktuelle</a:t>
            </a:r>
            <a:r>
              <a:rPr dirty="0"/>
              <a:t> Thread </a:t>
            </a:r>
            <a:r>
              <a:rPr dirty="0" err="1"/>
              <a:t>unseres</a:t>
            </a:r>
            <a:r>
              <a:rPr dirty="0"/>
              <a:t> </a:t>
            </a:r>
            <a:r>
              <a:rPr dirty="0" err="1"/>
              <a:t>Programms</a:t>
            </a:r>
            <a:r>
              <a:rPr dirty="0"/>
              <a:t>, bis die externe </a:t>
            </a:r>
            <a:r>
              <a:rPr dirty="0" err="1"/>
              <a:t>Antwort</a:t>
            </a:r>
            <a:r>
              <a:rPr dirty="0"/>
              <a:t> da </a:t>
            </a:r>
            <a:r>
              <a:rPr dirty="0" err="1"/>
              <a:t>ist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In </a:t>
            </a:r>
            <a:r>
              <a:rPr dirty="0" err="1"/>
              <a:t>einer</a:t>
            </a:r>
            <a:r>
              <a:rPr dirty="0"/>
              <a:t> Desktop-</a:t>
            </a:r>
            <a:r>
              <a:rPr dirty="0" err="1"/>
              <a:t>Anwendung</a:t>
            </a:r>
            <a:r>
              <a:rPr dirty="0"/>
              <a:t> </a:t>
            </a:r>
            <a:r>
              <a:rPr dirty="0" err="1"/>
              <a:t>führt</a:t>
            </a:r>
            <a:r>
              <a:rPr dirty="0"/>
              <a:t> das </a:t>
            </a:r>
            <a:r>
              <a:rPr dirty="0" err="1"/>
              <a:t>dazu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die </a:t>
            </a:r>
            <a:r>
              <a:rPr dirty="0" err="1"/>
              <a:t>Oberfläche</a:t>
            </a:r>
            <a:r>
              <a:rPr dirty="0"/>
              <a:t> “</a:t>
            </a:r>
            <a:r>
              <a:rPr dirty="0" err="1"/>
              <a:t>einfriert</a:t>
            </a:r>
            <a:r>
              <a:rPr dirty="0"/>
              <a:t>” (Keine </a:t>
            </a:r>
            <a:r>
              <a:rPr dirty="0" err="1"/>
              <a:t>Rückmeldung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In </a:t>
            </a:r>
            <a:r>
              <a:rPr dirty="0" err="1"/>
              <a:t>einer</a:t>
            </a:r>
            <a:r>
              <a:rPr dirty="0"/>
              <a:t> Web-</a:t>
            </a:r>
            <a:r>
              <a:rPr dirty="0" err="1"/>
              <a:t>Anwendung</a:t>
            </a:r>
            <a:r>
              <a:rPr dirty="0"/>
              <a:t> </a:t>
            </a:r>
            <a:r>
              <a:rPr dirty="0" err="1"/>
              <a:t>blockieren</a:t>
            </a:r>
            <a:r>
              <a:rPr dirty="0"/>
              <a:t> wir den Webserver für </a:t>
            </a:r>
            <a:r>
              <a:rPr dirty="0" err="1"/>
              <a:t>andere</a:t>
            </a:r>
            <a:r>
              <a:rPr dirty="0"/>
              <a:t> </a:t>
            </a:r>
            <a:r>
              <a:rPr lang="de-DE" dirty="0"/>
              <a:t>Nutzer</a:t>
            </a:r>
            <a:r>
              <a:rPr dirty="0"/>
              <a:t>.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Irgendwie nicht ideal.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Lösung: Asynchrone Ausführung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73" y="1103179"/>
            <a:ext cx="5596197" cy="3603318"/>
          </a:xfrm>
        </p:spPr>
        <p:txBody>
          <a:bodyPr/>
          <a:lstStyle/>
          <a:p>
            <a:r>
              <a:rPr lang="de-DE" b="1" dirty="0">
                <a:solidFill>
                  <a:srgbClr val="0070C0"/>
                </a:solidFill>
              </a:rPr>
              <a:t>Asynchronität</a:t>
            </a:r>
            <a:r>
              <a:rPr lang="de-DE" dirty="0"/>
              <a:t> heißt: </a:t>
            </a:r>
          </a:p>
          <a:p>
            <a:r>
              <a:rPr lang="de-DE" dirty="0"/>
              <a:t>Das Programm wartet nicht direkt auf die Antwort. Es vergibt eine Aufgabe, macht in der Wartezeit etwas anderes und arbeitet weiter, sobald die Daten angekommen sind.</a:t>
            </a:r>
          </a:p>
          <a:p>
            <a:br>
              <a:rPr lang="de-DE" dirty="0"/>
            </a:br>
            <a:r>
              <a:rPr lang="de-DE" dirty="0"/>
              <a:t>Analogie:</a:t>
            </a:r>
          </a:p>
          <a:p>
            <a:r>
              <a:rPr lang="de-DE" dirty="0"/>
              <a:t>Asynchronität ist wie eine Bestellung im Selbstbedienungs-Restaurant: Du gibst sie auf, setzt dich wieder an den Tisch und machst etwas anderes. Wenn das Essen fertig ist, wirst du informiert und machst dann weiter (holen, essen, etc.).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>
            <a:normAutofit/>
          </a:bodyPr>
          <a:lstStyle/>
          <a:p>
            <a:r>
              <a:rPr lang="de-DE" dirty="0"/>
              <a:t>Teil 2: </a:t>
            </a:r>
            <a:br>
              <a:rPr lang="de-DE" dirty="0"/>
            </a:br>
            <a:r>
              <a:rPr lang="de-DE" dirty="0"/>
              <a:t>Asynchrone Programmierung (</a:t>
            </a:r>
            <a:r>
              <a:rPr lang="de-DE" dirty="0" err="1"/>
              <a:t>async</a:t>
            </a:r>
            <a:r>
              <a:rPr lang="de-DE" dirty="0"/>
              <a:t> / </a:t>
            </a:r>
            <a:r>
              <a:rPr lang="de-DE" dirty="0" err="1"/>
              <a:t>await</a:t>
            </a:r>
            <a:r>
              <a:rPr lang="de-DE" dirty="0"/>
              <a:t>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A93217-7CCD-F981-722F-76E104D03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I/O-Bound vs. CPU-Bound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gibt</a:t>
            </a:r>
            <a:r>
              <a:rPr dirty="0"/>
              <a:t>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Arten</a:t>
            </a:r>
            <a:r>
              <a:rPr dirty="0"/>
              <a:t> von </a:t>
            </a:r>
            <a:r>
              <a:rPr lang="de-DE" dirty="0"/>
              <a:t>langwierigen </a:t>
            </a:r>
            <a:r>
              <a:rPr dirty="0" err="1"/>
              <a:t>Aufgaben</a:t>
            </a:r>
            <a:r>
              <a:rPr lang="de-DE" dirty="0"/>
              <a:t> in der Programmierung</a:t>
            </a:r>
            <a:r>
              <a:rPr dirty="0"/>
              <a:t>:</a:t>
            </a:r>
          </a:p>
          <a:p>
            <a:pPr marL="257175" indent="-257175">
              <a:buAutoNum type="arabicPeriod"/>
            </a:pPr>
            <a:r>
              <a:rPr b="1" dirty="0"/>
              <a:t>I/O-Bound:</a:t>
            </a:r>
            <a:r>
              <a:rPr dirty="0"/>
              <a:t> Warten auf </a:t>
            </a:r>
            <a:r>
              <a:rPr dirty="0" err="1"/>
              <a:t>Netzwerk</a:t>
            </a:r>
            <a:r>
              <a:rPr dirty="0"/>
              <a:t>, </a:t>
            </a:r>
            <a:r>
              <a:rPr dirty="0" err="1"/>
              <a:t>Festplatte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Datenbank</a:t>
            </a:r>
            <a:r>
              <a:rPr dirty="0"/>
              <a:t>. Hier </a:t>
            </a:r>
            <a:r>
              <a:rPr dirty="0" err="1"/>
              <a:t>ist</a:t>
            </a:r>
            <a:r>
              <a:rPr dirty="0"/>
              <a:t> </a:t>
            </a:r>
            <a:r>
              <a:rPr i="1" dirty="0" err="1">
                <a:solidFill>
                  <a:srgbClr val="0070C0"/>
                </a:solidFill>
              </a:rPr>
              <a:t>Asynchronität</a:t>
            </a:r>
            <a:r>
              <a:rPr dirty="0"/>
              <a:t> </a:t>
            </a:r>
            <a:r>
              <a:rPr dirty="0" err="1"/>
              <a:t>perfekt</a:t>
            </a:r>
            <a:r>
              <a:rPr dirty="0"/>
              <a:t>, da die CPU </a:t>
            </a:r>
            <a:r>
              <a:rPr dirty="0" err="1"/>
              <a:t>während</a:t>
            </a:r>
            <a:r>
              <a:rPr dirty="0"/>
              <a:t> des </a:t>
            </a:r>
            <a:r>
              <a:rPr dirty="0" err="1"/>
              <a:t>Wartens</a:t>
            </a:r>
            <a:r>
              <a:rPr dirty="0"/>
              <a:t> </a:t>
            </a:r>
            <a:r>
              <a:rPr dirty="0" err="1"/>
              <a:t>nichts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tun hat.</a:t>
            </a:r>
          </a:p>
          <a:p>
            <a:pPr marL="257175" indent="-257175">
              <a:buAutoNum type="arabicPeriod"/>
            </a:pPr>
            <a:r>
              <a:rPr b="1" dirty="0"/>
              <a:t>CPU-Bound:</a:t>
            </a:r>
            <a:r>
              <a:rPr dirty="0"/>
              <a:t> </a:t>
            </a:r>
            <a:r>
              <a:rPr dirty="0" err="1"/>
              <a:t>Komplexe</a:t>
            </a:r>
            <a:r>
              <a:rPr dirty="0"/>
              <a:t> </a:t>
            </a:r>
            <a:r>
              <a:rPr dirty="0" err="1"/>
              <a:t>Berechnungen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Verschlüsselung</a:t>
            </a:r>
            <a:r>
              <a:rPr dirty="0"/>
              <a:t>). Hier </a:t>
            </a:r>
            <a:r>
              <a:rPr dirty="0" err="1"/>
              <a:t>nutzt</a:t>
            </a:r>
            <a:r>
              <a:rPr dirty="0"/>
              <a:t> man </a:t>
            </a:r>
            <a:r>
              <a:rPr dirty="0" err="1"/>
              <a:t>eher</a:t>
            </a:r>
            <a:r>
              <a:rPr dirty="0"/>
              <a:t> </a:t>
            </a:r>
            <a:r>
              <a:rPr i="1" dirty="0" err="1">
                <a:solidFill>
                  <a:srgbClr val="0070C0"/>
                </a:solidFill>
              </a:rPr>
              <a:t>Parallelität</a:t>
            </a:r>
            <a:r>
              <a:rPr dirty="0"/>
              <a:t> auf </a:t>
            </a:r>
            <a:r>
              <a:rPr dirty="0" err="1"/>
              <a:t>mehreren</a:t>
            </a:r>
            <a:r>
              <a:rPr dirty="0"/>
              <a:t> Kernen, da die CPU </a:t>
            </a:r>
            <a:r>
              <a:rPr dirty="0" err="1"/>
              <a:t>aktiv</a:t>
            </a:r>
            <a:r>
              <a:rPr dirty="0"/>
              <a:t> </a:t>
            </a:r>
            <a:r>
              <a:rPr dirty="0" err="1"/>
              <a:t>arbeitet</a:t>
            </a:r>
            <a:r>
              <a:rPr dirty="0"/>
              <a:t>.</a:t>
            </a:r>
            <a:endParaRPr lang="de-DE" dirty="0"/>
          </a:p>
          <a:p>
            <a:pPr marL="257175" indent="-257175">
              <a:buAutoNum type="arabicPeriod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Für die Parallelität haben wir leider nicht viel Zeit…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C# und die Task Parallel Library (TPL)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945" y="1103179"/>
            <a:ext cx="5603125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C# hat </a:t>
            </a:r>
            <a:r>
              <a:rPr dirty="0" err="1"/>
              <a:t>asynchrone</a:t>
            </a:r>
            <a:r>
              <a:rPr dirty="0"/>
              <a:t> </a:t>
            </a:r>
            <a:r>
              <a:rPr dirty="0" err="1"/>
              <a:t>Programmierung</a:t>
            </a:r>
            <a:r>
              <a:rPr dirty="0"/>
              <a:t> </a:t>
            </a:r>
            <a:r>
              <a:rPr lang="de-DE" dirty="0"/>
              <a:t>stark vereinfacht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 err="1"/>
              <a:t>Anstatt</a:t>
            </a:r>
            <a:r>
              <a:rPr dirty="0"/>
              <a:t> </a:t>
            </a:r>
            <a:r>
              <a:rPr dirty="0" err="1"/>
              <a:t>komplexe</a:t>
            </a:r>
            <a:r>
              <a:rPr dirty="0"/>
              <a:t> “Callbacks”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schreiben</a:t>
            </a:r>
            <a:r>
              <a:rPr dirty="0"/>
              <a:t>, </a:t>
            </a:r>
            <a:r>
              <a:rPr dirty="0" err="1"/>
              <a:t>bietet</a:t>
            </a:r>
            <a:r>
              <a:rPr dirty="0"/>
              <a:t> C#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magische</a:t>
            </a:r>
            <a:r>
              <a:rPr dirty="0"/>
              <a:t> </a:t>
            </a:r>
            <a:r>
              <a:rPr dirty="0" err="1"/>
              <a:t>Schlüsselwörter</a:t>
            </a:r>
            <a:r>
              <a:rPr dirty="0"/>
              <a:t>: </a:t>
            </a:r>
            <a:r>
              <a:rPr dirty="0">
                <a:latin typeface="Courier"/>
              </a:rPr>
              <a:t>async</a:t>
            </a:r>
            <a:r>
              <a:rPr dirty="0"/>
              <a:t> und </a:t>
            </a:r>
            <a:r>
              <a:rPr dirty="0">
                <a:latin typeface="Courier"/>
              </a:rPr>
              <a:t>await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Zusammen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Klasse </a:t>
            </a:r>
            <a:r>
              <a:rPr dirty="0">
                <a:latin typeface="Courier"/>
              </a:rPr>
              <a:t>Task&lt;T&gt;</a:t>
            </a:r>
            <a:r>
              <a:rPr dirty="0"/>
              <a:t> </a:t>
            </a:r>
            <a:r>
              <a:rPr dirty="0" err="1"/>
              <a:t>ermöglichen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, </a:t>
            </a:r>
            <a:r>
              <a:rPr dirty="0" err="1"/>
              <a:t>asynchronen</a:t>
            </a:r>
            <a:r>
              <a:rPr dirty="0"/>
              <a:t> Code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schreiben</a:t>
            </a:r>
            <a:r>
              <a:rPr dirty="0"/>
              <a:t>, der </a:t>
            </a:r>
            <a:r>
              <a:rPr dirty="0" err="1"/>
              <a:t>sich</a:t>
            </a:r>
            <a:r>
              <a:rPr dirty="0"/>
              <a:t> fast </a:t>
            </a:r>
            <a:r>
              <a:rPr dirty="0" err="1"/>
              <a:t>genau</a:t>
            </a:r>
            <a:r>
              <a:rPr dirty="0"/>
              <a:t> so </a:t>
            </a:r>
            <a:r>
              <a:rPr lang="de-DE" dirty="0"/>
              <a:t>einfach </a:t>
            </a:r>
            <a:r>
              <a:rPr dirty="0" err="1"/>
              <a:t>liest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synchroner</a:t>
            </a:r>
            <a:r>
              <a:rPr dirty="0"/>
              <a:t> Code.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Man hat also die Komplexität der asynchronen Programmierung gekapselt und dabei sehr transparent gemacht.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Und ja, andere Programmiersprachen können das auch :-)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Wie funktioniert ein Task?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27" y="1103179"/>
            <a:ext cx="5582343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Ein </a:t>
            </a:r>
            <a:r>
              <a:rPr dirty="0">
                <a:latin typeface="Courier"/>
              </a:rPr>
              <a:t>Task</a:t>
            </a:r>
            <a:r>
              <a:rPr dirty="0"/>
              <a:t> </a:t>
            </a:r>
            <a:r>
              <a:rPr dirty="0" err="1"/>
              <a:t>repräsentiert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laufende</a:t>
            </a:r>
            <a:r>
              <a:rPr dirty="0"/>
              <a:t> Operation. </a:t>
            </a:r>
            <a:endParaRPr lang="de-DE" dirty="0"/>
          </a:p>
          <a:p>
            <a:pPr marL="0" indent="0">
              <a:buNone/>
            </a:pPr>
            <a:r>
              <a:rPr dirty="0"/>
              <a:t>Er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“</a:t>
            </a:r>
            <a:r>
              <a:rPr dirty="0" err="1"/>
              <a:t>Gutschein</a:t>
            </a:r>
            <a:r>
              <a:rPr dirty="0"/>
              <a:t>” für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zukünftiges</a:t>
            </a:r>
            <a:r>
              <a:rPr dirty="0"/>
              <a:t> </a:t>
            </a:r>
            <a:r>
              <a:rPr dirty="0" err="1"/>
              <a:t>Ergebnis</a:t>
            </a:r>
            <a:r>
              <a:rPr dirty="0"/>
              <a:t>.</a:t>
            </a:r>
          </a:p>
          <a:p>
            <a:pPr lvl="0"/>
            <a:r>
              <a:rPr dirty="0">
                <a:latin typeface="Courier"/>
              </a:rPr>
              <a:t>Task</a:t>
            </a:r>
            <a:r>
              <a:rPr dirty="0"/>
              <a:t>: Eine Operation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Rückgabewert</a:t>
            </a:r>
            <a:r>
              <a:rPr dirty="0"/>
              <a:t> (</a:t>
            </a:r>
            <a:r>
              <a:rPr dirty="0" err="1"/>
              <a:t>wie</a:t>
            </a:r>
            <a:r>
              <a:rPr dirty="0"/>
              <a:t> </a:t>
            </a:r>
            <a:r>
              <a:rPr dirty="0">
                <a:latin typeface="Courier"/>
              </a:rPr>
              <a:t>void</a:t>
            </a:r>
            <a:r>
              <a:rPr dirty="0"/>
              <a:t>).</a:t>
            </a:r>
          </a:p>
          <a:p>
            <a:pPr lvl="0"/>
            <a:r>
              <a:rPr dirty="0">
                <a:latin typeface="Courier"/>
              </a:rPr>
              <a:t>Task&lt;T&gt;</a:t>
            </a:r>
            <a:r>
              <a:rPr dirty="0"/>
              <a:t>: Eine Operation, die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vom</a:t>
            </a:r>
            <a:r>
              <a:rPr dirty="0"/>
              <a:t> </a:t>
            </a:r>
            <a:r>
              <a:rPr dirty="0" err="1"/>
              <a:t>Typ</a:t>
            </a:r>
            <a:r>
              <a:rPr dirty="0"/>
              <a:t> </a:t>
            </a:r>
            <a:r>
              <a:rPr dirty="0">
                <a:latin typeface="Courier"/>
              </a:rPr>
              <a:t>T</a:t>
            </a:r>
            <a:r>
              <a:rPr dirty="0"/>
              <a:t> </a:t>
            </a:r>
            <a:r>
              <a:rPr lang="de-DE" dirty="0"/>
              <a:t>		          </a:t>
            </a:r>
            <a:r>
              <a:rPr dirty="0" err="1"/>
              <a:t>liefern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Die Klasse </a:t>
            </a:r>
            <a:r>
              <a:rPr dirty="0">
                <a:latin typeface="Courier"/>
              </a:rPr>
              <a:t>Task</a:t>
            </a:r>
            <a:r>
              <a:rPr dirty="0"/>
              <a:t> </a:t>
            </a:r>
            <a:r>
              <a:rPr dirty="0" err="1"/>
              <a:t>kümmert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um die Verwaltung der Threads und die </a:t>
            </a:r>
            <a:r>
              <a:rPr dirty="0" err="1"/>
              <a:t>Synchronisation</a:t>
            </a:r>
            <a:r>
              <a:rPr dirty="0"/>
              <a:t>, </a:t>
            </a:r>
            <a:r>
              <a:rPr dirty="0" err="1"/>
              <a:t>damit</a:t>
            </a:r>
            <a:r>
              <a:rPr dirty="0"/>
              <a:t> wir </a:t>
            </a:r>
            <a:r>
              <a:rPr dirty="0" err="1"/>
              <a:t>uns</a:t>
            </a:r>
            <a:r>
              <a:rPr dirty="0"/>
              <a:t> auf die Logik </a:t>
            </a:r>
            <a:r>
              <a:rPr dirty="0" err="1"/>
              <a:t>konzentrieren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</a:t>
            </a:r>
            <a:r>
              <a:rPr lang="de-DE" dirty="0" err="1"/>
              <a:t>ie</a:t>
            </a:r>
            <a:r>
              <a:rPr dirty="0"/>
              <a:t> </a:t>
            </a:r>
            <a:r>
              <a:rPr dirty="0" err="1"/>
              <a:t>Schlüsselwort</a:t>
            </a:r>
            <a:r>
              <a:rPr lang="de-DE" dirty="0"/>
              <a:t>e</a:t>
            </a:r>
            <a:r>
              <a:rPr dirty="0"/>
              <a:t>: </a:t>
            </a:r>
            <a:r>
              <a:rPr lang="de-DE" dirty="0" err="1">
                <a:latin typeface="Consolas" panose="020B0609020204030204" pitchFamily="49" charset="0"/>
              </a:rPr>
              <a:t>async</a:t>
            </a:r>
            <a:r>
              <a:rPr lang="de-DE" dirty="0"/>
              <a:t> und </a:t>
            </a:r>
            <a:r>
              <a:rPr dirty="0">
                <a:latin typeface="Consolas" panose="020B0609020204030204" pitchFamily="49" charset="0"/>
              </a:rPr>
              <a:t>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Das </a:t>
            </a:r>
            <a:r>
              <a:rPr lang="de-DE" dirty="0" err="1">
                <a:latin typeface="Courier"/>
              </a:rPr>
              <a:t>async</a:t>
            </a:r>
            <a:r>
              <a:rPr lang="de-DE" dirty="0"/>
              <a:t>-Schlüsselwort markiert eine Methode als asynchron. Es ermöglicht die Nutzung von </a:t>
            </a:r>
            <a:r>
              <a:rPr lang="de-DE" dirty="0" err="1">
                <a:latin typeface="Courier"/>
              </a:rPr>
              <a:t>await</a:t>
            </a:r>
            <a:r>
              <a:rPr lang="de-DE" dirty="0"/>
              <a:t> in dieser Methode. </a:t>
            </a:r>
          </a:p>
          <a:p>
            <a:pPr marL="0" indent="0">
              <a:buNone/>
            </a:pPr>
            <a:r>
              <a:rPr dirty="0"/>
              <a:t>Das </a:t>
            </a:r>
            <a:r>
              <a:rPr dirty="0">
                <a:latin typeface="Courier"/>
              </a:rPr>
              <a:t>await</a:t>
            </a:r>
            <a:r>
              <a:rPr dirty="0"/>
              <a:t>-</a:t>
            </a:r>
            <a:r>
              <a:rPr dirty="0" err="1"/>
              <a:t>Schlüsselwort</a:t>
            </a:r>
            <a:r>
              <a:rPr dirty="0"/>
              <a:t> </a:t>
            </a:r>
            <a:r>
              <a:rPr dirty="0" err="1"/>
              <a:t>bewirkt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die </a:t>
            </a:r>
            <a:r>
              <a:rPr dirty="0" err="1"/>
              <a:t>Ausführung</a:t>
            </a:r>
            <a:r>
              <a:rPr dirty="0"/>
              <a:t> der Methode </a:t>
            </a:r>
            <a:r>
              <a:rPr dirty="0" err="1"/>
              <a:t>pausiert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bis der Task </a:t>
            </a:r>
            <a:r>
              <a:rPr dirty="0" err="1"/>
              <a:t>abgeschlossen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Währenddessen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der </a:t>
            </a:r>
            <a:r>
              <a:rPr dirty="0" err="1"/>
              <a:t>aufrufende</a:t>
            </a:r>
            <a:r>
              <a:rPr dirty="0"/>
              <a:t> Thread </a:t>
            </a:r>
            <a:r>
              <a:rPr dirty="0" err="1"/>
              <a:t>freigegeben</a:t>
            </a:r>
            <a:r>
              <a:rPr dirty="0"/>
              <a:t> und </a:t>
            </a:r>
            <a:r>
              <a:rPr dirty="0" err="1"/>
              <a:t>kann</a:t>
            </a:r>
            <a:r>
              <a:rPr dirty="0"/>
              <a:t> </a:t>
            </a:r>
            <a:r>
              <a:rPr dirty="0" err="1"/>
              <a:t>andere</a:t>
            </a:r>
            <a:r>
              <a:rPr dirty="0"/>
              <a:t> </a:t>
            </a:r>
            <a:r>
              <a:rPr dirty="0" err="1"/>
              <a:t>Aufgaben</a:t>
            </a:r>
            <a:r>
              <a:rPr dirty="0"/>
              <a:t> </a:t>
            </a:r>
            <a:r>
              <a:rPr dirty="0" err="1"/>
              <a:t>bearbeiten</a:t>
            </a:r>
            <a:r>
              <a:rPr dirty="0"/>
              <a:t>. </a:t>
            </a:r>
            <a:r>
              <a:rPr dirty="0" err="1"/>
              <a:t>Sobald</a:t>
            </a:r>
            <a:r>
              <a:rPr dirty="0"/>
              <a:t> der Task </a:t>
            </a:r>
            <a:r>
              <a:rPr dirty="0" err="1"/>
              <a:t>fertig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kehrt</a:t>
            </a:r>
            <a:r>
              <a:rPr dirty="0"/>
              <a:t> die Methode an </a:t>
            </a:r>
            <a:r>
              <a:rPr dirty="0" err="1"/>
              <a:t>genau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Stelle </a:t>
            </a:r>
            <a:r>
              <a:rPr dirty="0" err="1"/>
              <a:t>zurück</a:t>
            </a:r>
            <a:r>
              <a:rPr dirty="0"/>
              <a:t>.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Der Aufruf einer asynchronen Methode entkoppelt also die Anfrage von der Verarbeitung und meldet sich zurück, sobald die Daten verfügbar sind.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Beispiel</a:t>
            </a:r>
            <a:r>
              <a:rPr dirty="0"/>
              <a:t>: </a:t>
            </a:r>
            <a:r>
              <a:rPr dirty="0" err="1"/>
              <a:t>Asynchrone</a:t>
            </a:r>
            <a:r>
              <a:rPr dirty="0"/>
              <a:t> </a:t>
            </a:r>
            <a:r>
              <a:rPr dirty="0" err="1"/>
              <a:t>Abfrage</a:t>
            </a:r>
            <a:r>
              <a:rPr dirty="0"/>
              <a:t>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kennzeichnen</a:t>
            </a:r>
            <a:r>
              <a:rPr dirty="0"/>
              <a:t> die Methode </a:t>
            </a:r>
            <a:r>
              <a:rPr dirty="0" err="1"/>
              <a:t>mit</a:t>
            </a:r>
            <a:r>
              <a:rPr dirty="0"/>
              <a:t> </a:t>
            </a:r>
            <a:r>
              <a:rPr dirty="0">
                <a:latin typeface="Courier"/>
              </a:rPr>
              <a:t>async Task&lt;T&gt;</a:t>
            </a:r>
            <a:r>
              <a:rPr dirty="0"/>
              <a:t> und </a:t>
            </a:r>
            <a:r>
              <a:rPr dirty="0" err="1"/>
              <a:t>warten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>
                <a:latin typeface="Courier"/>
              </a:rPr>
              <a:t>await</a:t>
            </a:r>
            <a:r>
              <a:rPr dirty="0"/>
              <a:t> auf das </a:t>
            </a:r>
            <a:r>
              <a:rPr dirty="0" err="1"/>
              <a:t>Netzwerk</a:t>
            </a:r>
            <a:r>
              <a:rPr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B351CE9-1C8C-ACD2-0057-8452677BE683}"/>
              </a:ext>
            </a:extLst>
          </p:cNvPr>
          <p:cNvSpPr txBox="1"/>
          <p:nvPr/>
        </p:nvSpPr>
        <p:spPr>
          <a:xfrm>
            <a:off x="190499" y="1812805"/>
            <a:ext cx="663979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Die Methode gibt keinen </a:t>
            </a:r>
            <a:r>
              <a:rPr lang="de-DE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zurück, sondern ein "Versprechen" (Task)</a:t>
            </a: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de-DE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HoleBuergerDatenAsync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HttpClient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HttpClient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de-DE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"pausiert" diese Methode hier, ohne den Thread zu blockieren!</a:t>
            </a: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de-DE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GetStringAsync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$"https://api.behoerde.de/</a:t>
            </a:r>
            <a:r>
              <a:rPr lang="de-DE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Der Dienst ermittelt nun die Antwort, was u.U. einige Zeit dauern kann...</a:t>
            </a: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Der Thread wartet nicht untätig, sondern kann in der Zwischenzeit andere </a:t>
            </a: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Anfragen bearbeiten oder die UI responsive halten.</a:t>
            </a: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Wenn die Antwort vom Dienst dann da ist, geht es hier weiter</a:t>
            </a: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1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Parallelität</a:t>
            </a:r>
            <a:r>
              <a:rPr dirty="0"/>
              <a:t>: </a:t>
            </a:r>
            <a:r>
              <a:rPr dirty="0" err="1">
                <a:latin typeface="Consolas" panose="020B0609020204030204" pitchFamily="49" charset="0"/>
              </a:rPr>
              <a:t>Task.WhenAll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73" y="1103179"/>
            <a:ext cx="5596197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Noch </a:t>
            </a:r>
            <a:r>
              <a:rPr dirty="0" err="1"/>
              <a:t>mächtiger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es, </a:t>
            </a:r>
            <a:r>
              <a:rPr dirty="0" err="1"/>
              <a:t>wenn</a:t>
            </a:r>
            <a:r>
              <a:rPr dirty="0"/>
              <a:t> wir </a:t>
            </a:r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</a:t>
            </a:r>
            <a:r>
              <a:rPr i="1" dirty="0" err="1"/>
              <a:t>mehreren</a:t>
            </a:r>
            <a:r>
              <a:rPr dirty="0"/>
              <a:t> </a:t>
            </a:r>
            <a:r>
              <a:rPr dirty="0" err="1"/>
              <a:t>Quellen</a:t>
            </a:r>
            <a:r>
              <a:rPr dirty="0"/>
              <a:t> </a:t>
            </a:r>
            <a:r>
              <a:rPr dirty="0" err="1"/>
              <a:t>brauchen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 err="1"/>
              <a:t>Anstatt</a:t>
            </a:r>
            <a:r>
              <a:rPr dirty="0"/>
              <a:t> Quelle A </a:t>
            </a:r>
            <a:r>
              <a:rPr lang="de-DE" dirty="0"/>
              <a:t>und</a:t>
            </a:r>
            <a:r>
              <a:rPr dirty="0"/>
              <a:t> dan</a:t>
            </a:r>
            <a:r>
              <a:rPr lang="de-DE" dirty="0"/>
              <a:t>ach erst</a:t>
            </a:r>
            <a:r>
              <a:rPr dirty="0"/>
              <a:t> Quelle B</a:t>
            </a:r>
            <a:r>
              <a:rPr lang="de-DE" dirty="0"/>
              <a:t> abzufragen</a:t>
            </a:r>
            <a:r>
              <a:rPr dirty="0"/>
              <a:t>, </a:t>
            </a:r>
            <a:r>
              <a:rPr dirty="0" err="1"/>
              <a:t>können</a:t>
            </a:r>
            <a:r>
              <a:rPr dirty="0"/>
              <a:t> wir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Anfragen</a:t>
            </a:r>
            <a:r>
              <a:rPr dirty="0"/>
              <a:t> </a:t>
            </a:r>
            <a:r>
              <a:rPr dirty="0" err="1"/>
              <a:t>gleichzeitig</a:t>
            </a:r>
            <a:r>
              <a:rPr dirty="0"/>
              <a:t> auf die Reise </a:t>
            </a:r>
            <a:r>
              <a:rPr dirty="0" err="1"/>
              <a:t>schicken</a:t>
            </a:r>
            <a:r>
              <a:rPr dirty="0"/>
              <a:t>.</a:t>
            </a:r>
            <a:br>
              <a:rPr lang="de-DE" dirty="0"/>
            </a:br>
            <a:endParaRPr dirty="0"/>
          </a:p>
          <a:p>
            <a:pPr marL="0" indent="0">
              <a:buNone/>
            </a:pPr>
            <a:r>
              <a:rPr b="1" dirty="0" err="1"/>
              <a:t>Vorteil</a:t>
            </a:r>
            <a:r>
              <a:rPr lang="de-DE" b="1" dirty="0"/>
              <a:t>: </a:t>
            </a:r>
            <a:r>
              <a:rPr dirty="0"/>
              <a:t>Durch </a:t>
            </a:r>
            <a:r>
              <a:rPr dirty="0" err="1"/>
              <a:t>parallele</a:t>
            </a:r>
            <a:r>
              <a:rPr dirty="0"/>
              <a:t> </a:t>
            </a:r>
            <a:r>
              <a:rPr dirty="0" err="1"/>
              <a:t>Abfragen</a:t>
            </a:r>
            <a:r>
              <a:rPr dirty="0"/>
              <a:t> </a:t>
            </a:r>
            <a:r>
              <a:rPr lang="de-DE" dirty="0"/>
              <a:t>kann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Gesamtwartezeit</a:t>
            </a:r>
            <a:r>
              <a:rPr dirty="0"/>
              <a:t> </a:t>
            </a:r>
            <a:r>
              <a:rPr dirty="0" err="1"/>
              <a:t>drastisch</a:t>
            </a:r>
            <a:r>
              <a:rPr lang="de-DE" dirty="0"/>
              <a:t> reduzieren</a:t>
            </a:r>
            <a:r>
              <a:rPr dirty="0"/>
              <a:t>. Statt der Summe </a:t>
            </a:r>
            <a:r>
              <a:rPr dirty="0" err="1"/>
              <a:t>aller</a:t>
            </a:r>
            <a:r>
              <a:rPr dirty="0"/>
              <a:t> </a:t>
            </a:r>
            <a:r>
              <a:rPr dirty="0" err="1"/>
              <a:t>Wartezeiten</a:t>
            </a:r>
            <a:r>
              <a:rPr dirty="0"/>
              <a:t> </a:t>
            </a:r>
            <a:r>
              <a:rPr dirty="0" err="1"/>
              <a:t>warten</a:t>
            </a:r>
            <a:r>
              <a:rPr dirty="0"/>
              <a:t> wir </a:t>
            </a:r>
            <a:r>
              <a:rPr dirty="0" err="1"/>
              <a:t>nur</a:t>
            </a:r>
            <a:r>
              <a:rPr dirty="0"/>
              <a:t> so </a:t>
            </a:r>
            <a:r>
              <a:rPr dirty="0" err="1"/>
              <a:t>lange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die </a:t>
            </a:r>
            <a:r>
              <a:rPr dirty="0" err="1"/>
              <a:t>langsamste</a:t>
            </a:r>
            <a:r>
              <a:rPr dirty="0"/>
              <a:t> </a:t>
            </a:r>
            <a:r>
              <a:rPr dirty="0" err="1"/>
              <a:t>Einzelabfrage</a:t>
            </a:r>
            <a:r>
              <a:rPr dirty="0"/>
              <a:t> </a:t>
            </a:r>
            <a:r>
              <a:rPr dirty="0" err="1"/>
              <a:t>dauert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In </a:t>
            </a:r>
            <a:r>
              <a:rPr dirty="0" err="1"/>
              <a:t>vernetzten</a:t>
            </a:r>
            <a:r>
              <a:rPr dirty="0"/>
              <a:t> </a:t>
            </a:r>
            <a:r>
              <a:rPr dirty="0" err="1"/>
              <a:t>Systemen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das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massiver</a:t>
            </a:r>
            <a:r>
              <a:rPr dirty="0"/>
              <a:t> Performance-</a:t>
            </a:r>
            <a:r>
              <a:rPr dirty="0" err="1"/>
              <a:t>Gewinn</a:t>
            </a:r>
            <a:r>
              <a:rPr dirty="0"/>
              <a:t> sein.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2B8489-4F8B-B7FE-1698-89117A47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Laufzeitvergleich ohne/mit Parallelität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37390E1-DB75-C8EB-07DB-CC77E923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09" y="1262128"/>
            <a:ext cx="5430981" cy="342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14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Beispiel: Parallele API-Abfragen (Code)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12D37CE-10DD-D13D-F193-322C5EFDC0E5}"/>
              </a:ext>
            </a:extLst>
          </p:cNvPr>
          <p:cNvSpPr txBox="1"/>
          <p:nvPr/>
        </p:nvSpPr>
        <p:spPr>
          <a:xfrm>
            <a:off x="256310" y="1335725"/>
            <a:ext cx="6477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BuergerDaten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HoleVollstaendigeDatenAsync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Wir starten zwei Abfragen gleichzeitig (parallel)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meldeTask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apiClient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GetMelderegisterDatenAsync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steuerTask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apiClient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GetSteuerDatenAsync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Hier warten wir auf beide Ergebnisse, </a:t>
            </a:r>
          </a:p>
          <a:p>
            <a:pPr>
              <a:buNone/>
            </a:pP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//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ohne den Thread zu blockieren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WhenAll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meldeTask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steuerTask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BuergerDaten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(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meldeTask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  </a:t>
            </a: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Name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steuerTask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Klasse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Steuerklasse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goldene Regel: “Async all the way”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657850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Wenn Sie </a:t>
            </a:r>
            <a:r>
              <a:rPr sz="1600" dirty="0" err="1"/>
              <a:t>im</a:t>
            </a:r>
            <a:r>
              <a:rPr sz="1600" dirty="0"/>
              <a:t> </a:t>
            </a:r>
            <a:r>
              <a:rPr lang="de-DE" sz="1600" dirty="0"/>
              <a:t>"</a:t>
            </a:r>
            <a:r>
              <a:rPr sz="1600" dirty="0"/>
              <a:t>Keller</a:t>
            </a:r>
            <a:r>
              <a:rPr lang="de-DE" sz="1600" dirty="0"/>
              <a:t>"</a:t>
            </a:r>
            <a:r>
              <a:rPr sz="1600" dirty="0"/>
              <a:t> </a:t>
            </a:r>
            <a:r>
              <a:rPr sz="1600" dirty="0" err="1"/>
              <a:t>Ihrer</a:t>
            </a:r>
            <a:r>
              <a:rPr sz="1600" dirty="0"/>
              <a:t> </a:t>
            </a:r>
            <a:r>
              <a:rPr sz="1600" dirty="0" err="1"/>
              <a:t>Architektur</a:t>
            </a:r>
            <a:r>
              <a:rPr sz="1600" dirty="0"/>
              <a:t> (Data Access Layer) </a:t>
            </a:r>
            <a:r>
              <a:rPr sz="1600" dirty="0" err="1"/>
              <a:t>asynchron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, </a:t>
            </a:r>
            <a:r>
              <a:rPr sz="1600" dirty="0" err="1"/>
              <a:t>sollten</a:t>
            </a:r>
            <a:r>
              <a:rPr sz="1600" dirty="0"/>
              <a:t> Sie die </a:t>
            </a:r>
            <a:r>
              <a:rPr sz="1600" dirty="0" err="1"/>
              <a:t>Asynchronität</a:t>
            </a:r>
            <a:r>
              <a:rPr sz="1600" dirty="0"/>
              <a:t> bis </a:t>
            </a:r>
            <a:r>
              <a:rPr sz="1600" dirty="0" err="1"/>
              <a:t>ganz</a:t>
            </a:r>
            <a:r>
              <a:rPr sz="1600" dirty="0"/>
              <a:t> </a:t>
            </a:r>
            <a:r>
              <a:rPr sz="1600" dirty="0" err="1"/>
              <a:t>nach</a:t>
            </a:r>
            <a:r>
              <a:rPr sz="1600" dirty="0"/>
              <a:t> </a:t>
            </a:r>
            <a:r>
              <a:rPr sz="1600" dirty="0" err="1"/>
              <a:t>oben</a:t>
            </a:r>
            <a:r>
              <a:rPr sz="1600" dirty="0"/>
              <a:t> (Presentation Layer) </a:t>
            </a:r>
            <a:r>
              <a:rPr sz="1600" dirty="0" err="1"/>
              <a:t>durchziehen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dirty="0">
                <a:latin typeface="Courier"/>
              </a:rPr>
              <a:t>async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/>
              <a:t>ein</a:t>
            </a:r>
            <a:r>
              <a:rPr sz="1600" dirty="0"/>
              <a:t> “Virus”, das </a:t>
            </a:r>
            <a:r>
              <a:rPr sz="1600" dirty="0" err="1"/>
              <a:t>sich</a:t>
            </a:r>
            <a:r>
              <a:rPr sz="1600" dirty="0"/>
              <a:t> </a:t>
            </a:r>
            <a:r>
              <a:rPr sz="1600" dirty="0" err="1"/>
              <a:t>im</a:t>
            </a:r>
            <a:r>
              <a:rPr sz="1600" dirty="0"/>
              <a:t> </a:t>
            </a:r>
            <a:r>
              <a:rPr sz="1600" dirty="0" err="1"/>
              <a:t>positiven</a:t>
            </a:r>
            <a:r>
              <a:rPr sz="1600" dirty="0"/>
              <a:t> Sinne </a:t>
            </a:r>
            <a:r>
              <a:rPr sz="1600" dirty="0" err="1"/>
              <a:t>durch</a:t>
            </a:r>
            <a:r>
              <a:rPr sz="1600" dirty="0"/>
              <a:t> den Call-Stack </a:t>
            </a:r>
            <a:r>
              <a:rPr sz="1600" dirty="0" err="1"/>
              <a:t>frisst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dirty="0"/>
              <a:t>Eine </a:t>
            </a:r>
            <a:r>
              <a:rPr sz="1600" dirty="0" err="1"/>
              <a:t>synchrone</a:t>
            </a:r>
            <a:r>
              <a:rPr sz="1600" dirty="0"/>
              <a:t> Methode, die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asynchrone</a:t>
            </a:r>
            <a:r>
              <a:rPr sz="1600" dirty="0"/>
              <a:t> Methode </a:t>
            </a:r>
            <a:r>
              <a:rPr sz="1600" dirty="0" err="1"/>
              <a:t>aufruft</a:t>
            </a:r>
            <a:r>
              <a:rPr sz="1600" dirty="0"/>
              <a:t>,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ein</a:t>
            </a:r>
            <a:r>
              <a:rPr sz="1600" dirty="0"/>
              <a:t> Anti-Pattern.</a:t>
            </a:r>
            <a:endParaRPr lang="de-DE" sz="1600" dirty="0"/>
          </a:p>
          <a:p>
            <a:pPr marL="0" indent="0">
              <a:buNone/>
            </a:pPr>
            <a:r>
              <a:rPr sz="1600" dirty="0"/>
              <a:t>Denn </a:t>
            </a:r>
            <a:r>
              <a:rPr sz="1600" dirty="0" err="1"/>
              <a:t>dann</a:t>
            </a:r>
            <a:r>
              <a:rPr sz="1600" dirty="0"/>
              <a:t> </a:t>
            </a:r>
            <a:r>
              <a:rPr sz="1600" dirty="0" err="1"/>
              <a:t>müssen</a:t>
            </a:r>
            <a:r>
              <a:rPr sz="1600" dirty="0"/>
              <a:t> Sie </a:t>
            </a:r>
            <a:r>
              <a:rPr sz="1600" dirty="0" err="1"/>
              <a:t>entweder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.Wait()</a:t>
            </a:r>
            <a:r>
              <a:rPr sz="1600" dirty="0"/>
              <a:t> </a:t>
            </a:r>
            <a:r>
              <a:rPr sz="1600" dirty="0" err="1"/>
              <a:t>oder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.Result</a:t>
            </a:r>
            <a:r>
              <a:rPr sz="1600" dirty="0"/>
              <a:t> </a:t>
            </a:r>
            <a:r>
              <a:rPr sz="1600" dirty="0" err="1"/>
              <a:t>verwenden</a:t>
            </a:r>
            <a:r>
              <a:rPr sz="1600" dirty="0"/>
              <a:t>, um das </a:t>
            </a:r>
            <a:r>
              <a:rPr sz="1600" dirty="0" err="1"/>
              <a:t>Ergebnis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bekommen</a:t>
            </a:r>
            <a:r>
              <a:rPr sz="1600" dirty="0"/>
              <a:t>, was die </a:t>
            </a:r>
            <a:r>
              <a:rPr sz="1600" dirty="0" err="1"/>
              <a:t>Vorteile</a:t>
            </a:r>
            <a:r>
              <a:rPr sz="1600" dirty="0"/>
              <a:t> der </a:t>
            </a:r>
            <a:r>
              <a:rPr sz="1600" dirty="0" err="1"/>
              <a:t>Asynchronität</a:t>
            </a:r>
            <a:r>
              <a:rPr sz="1600" dirty="0"/>
              <a:t> </a:t>
            </a:r>
            <a:r>
              <a:rPr sz="1600" dirty="0" err="1"/>
              <a:t>zunichte</a:t>
            </a:r>
            <a:r>
              <a:rPr sz="1600" dirty="0"/>
              <a:t> </a:t>
            </a:r>
            <a:r>
              <a:rPr sz="1600" dirty="0" err="1"/>
              <a:t>macht</a:t>
            </a:r>
            <a:r>
              <a:rPr sz="1600" dirty="0"/>
              <a:t>. </a:t>
            </a:r>
            <a:endParaRPr lang="de-DE" sz="1600" dirty="0"/>
          </a:p>
          <a:p>
            <a:pPr marL="0" indent="0">
              <a:buNone/>
            </a:pPr>
            <a:r>
              <a:rPr sz="1600" dirty="0" err="1"/>
              <a:t>Zusätzlich</a:t>
            </a:r>
            <a:r>
              <a:rPr sz="1600" dirty="0"/>
              <a:t> </a:t>
            </a:r>
            <a:r>
              <a:rPr sz="1600" dirty="0" err="1"/>
              <a:t>kann</a:t>
            </a:r>
            <a:r>
              <a:rPr sz="1600" dirty="0"/>
              <a:t> in der UI das </a:t>
            </a:r>
            <a:r>
              <a:rPr sz="1600" dirty="0" err="1"/>
              <a:t>Programm</a:t>
            </a:r>
            <a:r>
              <a:rPr sz="1600" dirty="0"/>
              <a:t> </a:t>
            </a:r>
            <a:r>
              <a:rPr sz="1600" dirty="0" err="1"/>
              <a:t>einfrieren</a:t>
            </a:r>
            <a:r>
              <a:rPr sz="1600" dirty="0"/>
              <a:t>, da der GUI-Thread </a:t>
            </a:r>
            <a:r>
              <a:rPr sz="1600" dirty="0" err="1"/>
              <a:t>blockiert</a:t>
            </a:r>
            <a:r>
              <a:rPr sz="1600" dirty="0"/>
              <a:t> </a:t>
            </a:r>
            <a:r>
              <a:rPr sz="1600" dirty="0" err="1"/>
              <a:t>wird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Deadlock-Gefahr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4" y="1103179"/>
            <a:ext cx="6130636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 err="1"/>
              <a:t>Nutzen</a:t>
            </a:r>
            <a:r>
              <a:rPr sz="1600" dirty="0"/>
              <a:t> Sie </a:t>
            </a:r>
            <a:r>
              <a:rPr sz="1600" b="1" dirty="0" err="1"/>
              <a:t>niemals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.Wait()</a:t>
            </a:r>
            <a:r>
              <a:rPr sz="1600" dirty="0"/>
              <a:t> </a:t>
            </a:r>
            <a:r>
              <a:rPr sz="1600" dirty="0" err="1"/>
              <a:t>oder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.Result</a:t>
            </a:r>
            <a:r>
              <a:rPr sz="1600" dirty="0"/>
              <a:t> auf </a:t>
            </a:r>
            <a:r>
              <a:rPr sz="1600" dirty="0" err="1"/>
              <a:t>einem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Task</a:t>
            </a:r>
            <a:r>
              <a:rPr sz="1600" dirty="0"/>
              <a:t> </a:t>
            </a:r>
            <a:r>
              <a:rPr sz="1600" dirty="0" err="1"/>
              <a:t>innerhalb</a:t>
            </a:r>
            <a:r>
              <a:rPr sz="1600" dirty="0"/>
              <a:t> </a:t>
            </a:r>
            <a:r>
              <a:rPr sz="1600" dirty="0" err="1"/>
              <a:t>einer</a:t>
            </a:r>
            <a:r>
              <a:rPr sz="1600" dirty="0"/>
              <a:t> </a:t>
            </a:r>
            <a:r>
              <a:rPr sz="1600" dirty="0" err="1"/>
              <a:t>normalen</a:t>
            </a:r>
            <a:r>
              <a:rPr sz="1600" dirty="0"/>
              <a:t> (</a:t>
            </a:r>
            <a:r>
              <a:rPr sz="1600" dirty="0" err="1"/>
              <a:t>synchronen</a:t>
            </a:r>
            <a:r>
              <a:rPr sz="1600" dirty="0"/>
              <a:t>) Methode, um </a:t>
            </a:r>
            <a:r>
              <a:rPr sz="1600" dirty="0" err="1"/>
              <a:t>Asynchronität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erzwingen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dirty="0"/>
              <a:t>In UI-Frameworks (WPF) </a:t>
            </a:r>
            <a:r>
              <a:rPr sz="1600" dirty="0" err="1"/>
              <a:t>oder</a:t>
            </a:r>
            <a:r>
              <a:rPr sz="1600" dirty="0"/>
              <a:t> Web-</a:t>
            </a:r>
            <a:r>
              <a:rPr sz="1600" dirty="0" err="1"/>
              <a:t>Kontexten</a:t>
            </a:r>
            <a:r>
              <a:rPr sz="1600" dirty="0"/>
              <a:t> </a:t>
            </a:r>
            <a:r>
              <a:rPr sz="1600" dirty="0" err="1"/>
              <a:t>führt</a:t>
            </a:r>
            <a:r>
              <a:rPr sz="1600" dirty="0"/>
              <a:t> dies fast </a:t>
            </a:r>
            <a:r>
              <a:rPr sz="1600" dirty="0" err="1"/>
              <a:t>unweigerlich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b="1" dirty="0"/>
              <a:t>Deadlocks</a:t>
            </a:r>
            <a:r>
              <a:rPr sz="1600" dirty="0"/>
              <a:t> (das </a:t>
            </a:r>
            <a:r>
              <a:rPr sz="1600" dirty="0" err="1"/>
              <a:t>Programm</a:t>
            </a:r>
            <a:r>
              <a:rPr sz="1600" dirty="0"/>
              <a:t> </a:t>
            </a:r>
            <a:r>
              <a:rPr sz="1600" dirty="0" err="1"/>
              <a:t>verhakt</a:t>
            </a:r>
            <a:r>
              <a:rPr sz="1600" dirty="0"/>
              <a:t> </a:t>
            </a:r>
            <a:r>
              <a:rPr sz="1600" dirty="0" err="1"/>
              <a:t>sich</a:t>
            </a:r>
            <a:r>
              <a:rPr sz="1600" dirty="0"/>
              <a:t> in </a:t>
            </a:r>
            <a:r>
              <a:rPr sz="1600" dirty="0" err="1"/>
              <a:t>sich</a:t>
            </a:r>
            <a:r>
              <a:rPr sz="1600" dirty="0"/>
              <a:t> </a:t>
            </a:r>
            <a:r>
              <a:rPr sz="1600" dirty="0" err="1"/>
              <a:t>selbst</a:t>
            </a:r>
            <a:r>
              <a:rPr sz="1600" dirty="0"/>
              <a:t> und </a:t>
            </a:r>
            <a:r>
              <a:rPr sz="1600" dirty="0" err="1"/>
              <a:t>steht</a:t>
            </a:r>
            <a:r>
              <a:rPr sz="1600" dirty="0"/>
              <a:t> still).</a:t>
            </a:r>
            <a:endParaRPr lang="de-DE" sz="1600" dirty="0"/>
          </a:p>
          <a:p>
            <a:pPr marL="0" indent="0">
              <a:buNone/>
            </a:pPr>
            <a:br>
              <a:rPr lang="de-DE" sz="1600" dirty="0"/>
            </a:b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Regel:</a:t>
            </a:r>
            <a:r>
              <a:rPr sz="1600" dirty="0"/>
              <a:t> Wo </a:t>
            </a:r>
            <a:r>
              <a:rPr sz="1600" dirty="0" err="1"/>
              <a:t>ein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Task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, muss </a:t>
            </a:r>
            <a:r>
              <a:rPr sz="1600" dirty="0" err="1"/>
              <a:t>ein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await</a:t>
            </a:r>
            <a:r>
              <a:rPr sz="1600" dirty="0"/>
              <a:t> sein.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59AF79-2B7F-AF5A-EA05-CE3909DC5806}"/>
              </a:ext>
            </a:extLst>
          </p:cNvPr>
          <p:cNvSpPr txBox="1"/>
          <p:nvPr/>
        </p:nvSpPr>
        <p:spPr>
          <a:xfrm>
            <a:off x="173182" y="2450113"/>
            <a:ext cx="672984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HoleBuergerDaten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HttpClient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HttpClient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de-DE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Der Aufruf blockiert Thread bis die Antwort da ist!</a:t>
            </a: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de-DE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GetStringAsync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$"https://api.behoerde.de/</a:t>
            </a:r>
            <a:r>
              <a:rPr lang="de-DE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de-DE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1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de-DE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de-DE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nb-NO" dirty="0"/>
              <a:t>Teil 3: </a:t>
            </a:r>
            <a:br>
              <a:rPr lang="nb-NO" dirty="0"/>
            </a:br>
            <a:r>
              <a:rPr lang="nb-NO" dirty="0"/>
              <a:t>Robustes Error Handling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BE2562-71E6-362D-2F62-2209A2692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Warum</a:t>
            </a:r>
            <a:r>
              <a:rPr dirty="0"/>
              <a:t> </a:t>
            </a:r>
            <a:r>
              <a:rPr dirty="0">
                <a:latin typeface="Consolas" panose="020B0609020204030204" pitchFamily="49" charset="0"/>
              </a:rPr>
              <a:t>try-catch</a:t>
            </a:r>
            <a:r>
              <a:rPr dirty="0"/>
              <a:t> </a:t>
            </a:r>
            <a:r>
              <a:rPr lang="de-DE" dirty="0"/>
              <a:t>allein</a:t>
            </a:r>
            <a:r>
              <a:rPr dirty="0"/>
              <a:t> nicht </a:t>
            </a:r>
            <a:r>
              <a:rPr dirty="0" err="1"/>
              <a:t>reicht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27" y="1103179"/>
            <a:ext cx="5957455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dirty="0"/>
              <a:t>Manchmal tut man </a:t>
            </a:r>
            <a:r>
              <a:rPr dirty="0" err="1"/>
              <a:t>einfach</a:t>
            </a:r>
            <a:r>
              <a:rPr dirty="0"/>
              <a:t> </a:t>
            </a:r>
            <a:r>
              <a:rPr dirty="0" err="1"/>
              <a:t>alles</a:t>
            </a:r>
            <a:r>
              <a:rPr dirty="0"/>
              <a:t>, um </a:t>
            </a:r>
            <a:r>
              <a:rPr dirty="0" err="1"/>
              <a:t>Abstürze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verhindern</a:t>
            </a:r>
            <a:r>
              <a:rPr dirty="0"/>
              <a:t>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/>
              <a:t>In </a:t>
            </a:r>
            <a:r>
              <a:rPr dirty="0" err="1"/>
              <a:t>großen</a:t>
            </a:r>
            <a:r>
              <a:rPr dirty="0"/>
              <a:t> </a:t>
            </a:r>
            <a:r>
              <a:rPr dirty="0" err="1"/>
              <a:t>Fachverfahren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dieses </a:t>
            </a:r>
            <a:r>
              <a:rPr dirty="0" err="1"/>
              <a:t>Ignorieren</a:t>
            </a:r>
            <a:r>
              <a:rPr dirty="0"/>
              <a:t> (“</a:t>
            </a:r>
            <a:r>
              <a:rPr dirty="0" err="1"/>
              <a:t>Verschlucken</a:t>
            </a:r>
            <a:r>
              <a:rPr dirty="0"/>
              <a:t>”) von </a:t>
            </a:r>
            <a:r>
              <a:rPr dirty="0" err="1"/>
              <a:t>Fehlern</a:t>
            </a:r>
            <a:r>
              <a:rPr dirty="0"/>
              <a:t> fatal. </a:t>
            </a:r>
            <a:endParaRPr lang="de-DE" dirty="0"/>
          </a:p>
          <a:p>
            <a:pPr marL="0" indent="0">
              <a:buNone/>
            </a:pPr>
            <a:r>
              <a:rPr dirty="0"/>
              <a:t>Der Bürger </a:t>
            </a:r>
            <a:r>
              <a:rPr dirty="0" err="1"/>
              <a:t>denkt</a:t>
            </a:r>
            <a:r>
              <a:rPr lang="de-DE" dirty="0"/>
              <a:t> z.B.</a:t>
            </a:r>
            <a:r>
              <a:rPr dirty="0"/>
              <a:t>, der </a:t>
            </a:r>
            <a:r>
              <a:rPr dirty="0" err="1"/>
              <a:t>Antrag</a:t>
            </a:r>
            <a:r>
              <a:rPr dirty="0"/>
              <a:t> </a:t>
            </a:r>
            <a:r>
              <a:rPr dirty="0" err="1"/>
              <a:t>ging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er </a:t>
            </a:r>
            <a:r>
              <a:rPr dirty="0" err="1"/>
              <a:t>liegt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in der </a:t>
            </a:r>
            <a:r>
              <a:rPr dirty="0" err="1"/>
              <a:t>Datenbank</a:t>
            </a:r>
            <a:r>
              <a:rPr dirty="0"/>
              <a:t>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1D5B198-0090-9191-8675-24E1E7D89EEA}"/>
              </a:ext>
            </a:extLst>
          </p:cNvPr>
          <p:cNvSpPr txBox="1"/>
          <p:nvPr/>
        </p:nvSpPr>
        <p:spPr>
          <a:xfrm>
            <a:off x="0" y="1615176"/>
            <a:ext cx="43330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MacheEtwas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fängt alle möglichen Ausnahmen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Ignorieren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“Fail Fast” Prinzip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27" y="1103179"/>
            <a:ext cx="5756564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Grundidee</a:t>
            </a:r>
            <a:r>
              <a:rPr dirty="0"/>
              <a:t>: </a:t>
            </a:r>
            <a:r>
              <a:rPr b="1" i="1" dirty="0">
                <a:solidFill>
                  <a:srgbClr val="0070C0"/>
                </a:solidFill>
              </a:rPr>
              <a:t>Ein System </a:t>
            </a:r>
            <a:r>
              <a:rPr b="1" i="1" dirty="0" err="1">
                <a:solidFill>
                  <a:srgbClr val="0070C0"/>
                </a:solidFill>
              </a:rPr>
              <a:t>soll</a:t>
            </a:r>
            <a:r>
              <a:rPr b="1" i="1" dirty="0">
                <a:solidFill>
                  <a:srgbClr val="0070C0"/>
                </a:solidFill>
              </a:rPr>
              <a:t> so </a:t>
            </a:r>
            <a:r>
              <a:rPr b="1" i="1" dirty="0" err="1">
                <a:solidFill>
                  <a:srgbClr val="0070C0"/>
                </a:solidFill>
              </a:rPr>
              <a:t>früh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wie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möglich</a:t>
            </a:r>
            <a:r>
              <a:rPr b="1" i="1" dirty="0">
                <a:solidFill>
                  <a:srgbClr val="0070C0"/>
                </a:solidFill>
              </a:rPr>
              <a:t> auf Fehler </a:t>
            </a:r>
            <a:r>
              <a:rPr b="1" i="1" dirty="0" err="1">
                <a:solidFill>
                  <a:srgbClr val="0070C0"/>
                </a:solidFill>
              </a:rPr>
              <a:t>reagieren</a:t>
            </a:r>
            <a:r>
              <a:rPr b="1" i="1" dirty="0">
                <a:solidFill>
                  <a:srgbClr val="0070C0"/>
                </a:solidFill>
              </a:rPr>
              <a:t> und nicht </a:t>
            </a:r>
            <a:r>
              <a:rPr b="1" i="1" dirty="0" err="1">
                <a:solidFill>
                  <a:srgbClr val="0070C0"/>
                </a:solidFill>
              </a:rPr>
              <a:t>weiterlaufen</a:t>
            </a:r>
            <a:r>
              <a:rPr b="1" i="1" dirty="0">
                <a:solidFill>
                  <a:srgbClr val="0070C0"/>
                </a:solidFill>
              </a:rPr>
              <a:t>, </a:t>
            </a:r>
            <a:r>
              <a:rPr b="1" i="1" dirty="0" err="1">
                <a:solidFill>
                  <a:srgbClr val="0070C0"/>
                </a:solidFill>
              </a:rPr>
              <a:t>wenn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etwas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offensichtlich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schief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läuft</a:t>
            </a:r>
            <a:r>
              <a:rPr b="1" i="1" dirty="0">
                <a:solidFill>
                  <a:srgbClr val="0070C0"/>
                </a:solidFill>
              </a:rPr>
              <a:t>.</a:t>
            </a:r>
            <a:br>
              <a:rPr lang="de-DE" b="1" i="1" dirty="0">
                <a:solidFill>
                  <a:srgbClr val="0070C0"/>
                </a:solidFill>
              </a:rPr>
            </a:br>
            <a:endParaRPr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dirty="0"/>
              <a:t>Das </a:t>
            </a:r>
            <a:r>
              <a:rPr dirty="0" err="1"/>
              <a:t>heißt</a:t>
            </a:r>
            <a:r>
              <a:rPr dirty="0"/>
              <a:t> </a:t>
            </a:r>
            <a:r>
              <a:rPr dirty="0" err="1"/>
              <a:t>unter</a:t>
            </a:r>
            <a:r>
              <a:rPr dirty="0"/>
              <a:t> </a:t>
            </a:r>
            <a:r>
              <a:rPr dirty="0" err="1"/>
              <a:t>anderem</a:t>
            </a:r>
            <a:r>
              <a:rPr dirty="0"/>
              <a:t>, </a:t>
            </a:r>
            <a:r>
              <a:rPr dirty="0" err="1"/>
              <a:t>prüfen</a:t>
            </a:r>
            <a:r>
              <a:rPr dirty="0"/>
              <a:t> Sie </a:t>
            </a:r>
            <a:r>
              <a:rPr dirty="0" err="1"/>
              <a:t>Eingaben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Pflichtfelder</a:t>
            </a:r>
            <a:r>
              <a:rPr dirty="0"/>
              <a:t>, </a:t>
            </a:r>
            <a:r>
              <a:rPr dirty="0" err="1"/>
              <a:t>leerer</a:t>
            </a:r>
            <a:r>
              <a:rPr dirty="0"/>
              <a:t> Name) und </a:t>
            </a:r>
            <a:r>
              <a:rPr dirty="0" err="1"/>
              <a:t>Rahmenbedingungen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freier</a:t>
            </a:r>
            <a:r>
              <a:rPr dirty="0"/>
              <a:t> Speicher) so </a:t>
            </a:r>
            <a:r>
              <a:rPr dirty="0" err="1"/>
              <a:t>früh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möglich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Beispiel</a:t>
            </a:r>
            <a:r>
              <a:rPr dirty="0"/>
              <a:t>: </a:t>
            </a:r>
            <a:br>
              <a:rPr lang="de-DE" dirty="0"/>
            </a:br>
            <a:r>
              <a:rPr dirty="0"/>
              <a:t>Wenn die </a:t>
            </a:r>
            <a:r>
              <a:rPr dirty="0" err="1">
                <a:latin typeface="Courier"/>
              </a:rPr>
              <a:t>SteuerId</a:t>
            </a:r>
            <a:r>
              <a:rPr dirty="0"/>
              <a:t> des </a:t>
            </a:r>
            <a:r>
              <a:rPr dirty="0" err="1"/>
              <a:t>Antrags</a:t>
            </a:r>
            <a:r>
              <a:rPr dirty="0"/>
              <a:t> leer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macht</a:t>
            </a:r>
            <a:r>
              <a:rPr dirty="0"/>
              <a:t> es </a:t>
            </a:r>
            <a:r>
              <a:rPr dirty="0" err="1"/>
              <a:t>keinen</a:t>
            </a:r>
            <a:r>
              <a:rPr dirty="0"/>
              <a:t> Sinn, den Service </a:t>
            </a:r>
            <a:r>
              <a:rPr dirty="0" err="1"/>
              <a:t>aufzurufen</a:t>
            </a:r>
            <a:r>
              <a:rPr dirty="0"/>
              <a:t>. </a:t>
            </a:r>
            <a:r>
              <a:rPr dirty="0" err="1"/>
              <a:t>Werfen</a:t>
            </a:r>
            <a:r>
              <a:rPr dirty="0"/>
              <a:t> Sie </a:t>
            </a:r>
            <a:r>
              <a:rPr dirty="0" err="1"/>
              <a:t>sofort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Exception und </a:t>
            </a:r>
            <a:r>
              <a:rPr dirty="0" err="1"/>
              <a:t>brechen</a:t>
            </a:r>
            <a:r>
              <a:rPr dirty="0"/>
              <a:t> Sie ab, bevor </a:t>
            </a:r>
            <a:r>
              <a:rPr dirty="0" err="1"/>
              <a:t>teure</a:t>
            </a:r>
            <a:r>
              <a:rPr dirty="0"/>
              <a:t> </a:t>
            </a:r>
            <a:r>
              <a:rPr dirty="0" err="1"/>
              <a:t>Ressourcen</a:t>
            </a:r>
            <a:r>
              <a:rPr dirty="0"/>
              <a:t> (</a:t>
            </a:r>
            <a:r>
              <a:rPr lang="de-DE" dirty="0"/>
              <a:t>z.B. </a:t>
            </a:r>
            <a:r>
              <a:rPr dirty="0"/>
              <a:t>DB-</a:t>
            </a:r>
            <a:r>
              <a:rPr dirty="0" err="1"/>
              <a:t>Verbindungen</a:t>
            </a:r>
            <a:r>
              <a:rPr dirty="0"/>
              <a:t>) </a:t>
            </a:r>
            <a:r>
              <a:rPr dirty="0" err="1"/>
              <a:t>verbraucht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Vorteile von Fail-Fast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257175" indent="-257175">
              <a:buAutoNum type="arabicPeriod"/>
            </a:pPr>
            <a:r>
              <a:rPr b="1" dirty="0" err="1"/>
              <a:t>Ressourcenschonung</a:t>
            </a:r>
            <a:r>
              <a:rPr b="1" dirty="0"/>
              <a:t>:</a:t>
            </a:r>
            <a:r>
              <a:rPr dirty="0"/>
              <a:t> Keine </a:t>
            </a:r>
            <a:r>
              <a:rPr dirty="0" err="1"/>
              <a:t>unnötigen</a:t>
            </a:r>
            <a:r>
              <a:rPr dirty="0"/>
              <a:t> DB-</a:t>
            </a:r>
            <a:r>
              <a:rPr dirty="0" err="1"/>
              <a:t>Aufrufe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 err="1"/>
              <a:t>Klarheit</a:t>
            </a:r>
            <a:r>
              <a:rPr b="1" dirty="0"/>
              <a:t>:</a:t>
            </a:r>
            <a:r>
              <a:rPr dirty="0"/>
              <a:t> Der Fehler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dort</a:t>
            </a:r>
            <a:r>
              <a:rPr dirty="0"/>
              <a:t> </a:t>
            </a:r>
            <a:r>
              <a:rPr dirty="0" err="1"/>
              <a:t>gemeldet</a:t>
            </a:r>
            <a:r>
              <a:rPr dirty="0"/>
              <a:t>, wo er </a:t>
            </a:r>
            <a:r>
              <a:rPr dirty="0" err="1"/>
              <a:t>verursacht</a:t>
            </a:r>
            <a:r>
              <a:rPr dirty="0"/>
              <a:t> </a:t>
            </a:r>
            <a:r>
              <a:rPr dirty="0" err="1"/>
              <a:t>wurde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Sicherheit:</a:t>
            </a:r>
            <a:r>
              <a:rPr dirty="0"/>
              <a:t> </a:t>
            </a:r>
            <a:r>
              <a:rPr dirty="0" err="1"/>
              <a:t>Verhindert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das System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korrupten</a:t>
            </a:r>
            <a:r>
              <a:rPr dirty="0"/>
              <a:t> </a:t>
            </a:r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arbeitet</a:t>
            </a:r>
            <a:r>
              <a:rPr dirty="0"/>
              <a:t>.</a:t>
            </a:r>
            <a:endParaRPr lang="de-DE" dirty="0"/>
          </a:p>
          <a:p>
            <a:pPr marL="257175" indent="-257175">
              <a:buAutoNum type="arabicPeriod"/>
            </a:pPr>
            <a:r>
              <a:rPr lang="de-DE" b="1" dirty="0"/>
              <a:t>Reduzierte Komplexität im Code: </a:t>
            </a:r>
            <a:r>
              <a:rPr lang="de-DE" dirty="0"/>
              <a:t>Wenn du früh abbrichst, brauchst du weniger „Was wäre wenn“-Logik.</a:t>
            </a:r>
          </a:p>
          <a:p>
            <a:pPr marL="257175" indent="-257175">
              <a:buAutoNum type="arabicPeriod"/>
            </a:pPr>
            <a:r>
              <a:rPr lang="de-DE" b="1" dirty="0"/>
              <a:t>Bessere Testbarkeit: </a:t>
            </a:r>
            <a:r>
              <a:rPr lang="de-DE" dirty="0"/>
              <a:t>Klare Fehlerszenarien lassen sich gezielt testen.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Lokales vs. Globales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27" y="1103179"/>
            <a:ext cx="5582343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Grundidee</a:t>
            </a:r>
            <a:r>
              <a:rPr dirty="0"/>
              <a:t>: </a:t>
            </a:r>
            <a:r>
              <a:rPr b="1" i="1" dirty="0">
                <a:solidFill>
                  <a:srgbClr val="0070C0"/>
                </a:solidFill>
              </a:rPr>
              <a:t>Fehler </a:t>
            </a:r>
            <a:r>
              <a:rPr b="1" i="1" dirty="0" err="1">
                <a:solidFill>
                  <a:srgbClr val="0070C0"/>
                </a:solidFill>
              </a:rPr>
              <a:t>sollten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dort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gefangen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werden</a:t>
            </a:r>
            <a:r>
              <a:rPr b="1" i="1" dirty="0">
                <a:solidFill>
                  <a:srgbClr val="0070C0"/>
                </a:solidFill>
              </a:rPr>
              <a:t>, wo </a:t>
            </a:r>
            <a:r>
              <a:rPr b="1" i="1" dirty="0" err="1">
                <a:solidFill>
                  <a:srgbClr val="0070C0"/>
                </a:solidFill>
              </a:rPr>
              <a:t>sie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sinnvoll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behandelt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werden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können</a:t>
            </a:r>
            <a:r>
              <a:rPr b="1" i="1" dirty="0">
                <a:solidFill>
                  <a:srgbClr val="0070C0"/>
                </a:solidFill>
              </a:rPr>
              <a:t>.</a:t>
            </a:r>
            <a:br>
              <a:rPr lang="de-DE" b="1" i="1" dirty="0">
                <a:solidFill>
                  <a:srgbClr val="0070C0"/>
                </a:solidFill>
              </a:rPr>
            </a:br>
            <a:endParaRPr b="1" i="1" dirty="0">
              <a:solidFill>
                <a:srgbClr val="0070C0"/>
              </a:solidFill>
            </a:endParaRPr>
          </a:p>
          <a:p>
            <a:pPr marL="257175" indent="-257175">
              <a:buAutoNum type="arabicPeriod"/>
            </a:pPr>
            <a:r>
              <a:rPr b="1" dirty="0"/>
              <a:t>Lokal:</a:t>
            </a:r>
            <a:r>
              <a:rPr dirty="0"/>
              <a:t> </a:t>
            </a:r>
            <a:r>
              <a:rPr dirty="0" err="1"/>
              <a:t>Fangen</a:t>
            </a:r>
            <a:r>
              <a:rPr dirty="0"/>
              <a:t> Sie Fehler </a:t>
            </a:r>
            <a:r>
              <a:rPr dirty="0" err="1"/>
              <a:t>dort</a:t>
            </a:r>
            <a:r>
              <a:rPr dirty="0"/>
              <a:t> ab, wo Sie </a:t>
            </a:r>
            <a:r>
              <a:rPr dirty="0" err="1"/>
              <a:t>sie</a:t>
            </a:r>
            <a:r>
              <a:rPr dirty="0"/>
              <a:t> </a:t>
            </a:r>
            <a:r>
              <a:rPr i="1" dirty="0" err="1"/>
              <a:t>behandeln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Retry-</a:t>
            </a:r>
            <a:r>
              <a:rPr dirty="0" err="1"/>
              <a:t>Mechanismus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Netzwerkproblemen</a:t>
            </a:r>
            <a:r>
              <a:rPr dirty="0"/>
              <a:t>).</a:t>
            </a:r>
          </a:p>
          <a:p>
            <a:pPr marL="257175" indent="-257175">
              <a:buAutoNum type="arabicPeriod"/>
            </a:pPr>
            <a:r>
              <a:rPr b="1" dirty="0"/>
              <a:t>Global:</a:t>
            </a:r>
            <a:r>
              <a:rPr dirty="0"/>
              <a:t> </a:t>
            </a:r>
            <a:r>
              <a:rPr dirty="0" err="1"/>
              <a:t>Nutzen</a:t>
            </a:r>
            <a:r>
              <a:rPr dirty="0"/>
              <a:t> Sie in </a:t>
            </a:r>
            <a:r>
              <a:rPr dirty="0" err="1"/>
              <a:t>Anwendungen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zentrale</a:t>
            </a:r>
            <a:r>
              <a:rPr dirty="0"/>
              <a:t> Middleware, um alle </a:t>
            </a:r>
            <a:r>
              <a:rPr dirty="0" err="1"/>
              <a:t>unvorhergesehenen</a:t>
            </a:r>
            <a:r>
              <a:rPr dirty="0"/>
              <a:t> Fehler (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mindesten</a:t>
            </a:r>
            <a:r>
              <a:rPr dirty="0"/>
              <a:t>)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loggen</a:t>
            </a:r>
            <a:r>
              <a:rPr dirty="0"/>
              <a:t> und dem </a:t>
            </a:r>
            <a:r>
              <a:rPr dirty="0" err="1"/>
              <a:t>Nutzer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freundliche</a:t>
            </a:r>
            <a:r>
              <a:rPr dirty="0"/>
              <a:t> </a:t>
            </a:r>
            <a:r>
              <a:rPr dirty="0" err="1"/>
              <a:t>Meldung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Spezifische Exceptions fangen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655" y="1103179"/>
            <a:ext cx="5575415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Grundidee</a:t>
            </a:r>
            <a:r>
              <a:rPr dirty="0"/>
              <a:t>: </a:t>
            </a:r>
            <a:r>
              <a:rPr b="1" dirty="0" err="1">
                <a:solidFill>
                  <a:srgbClr val="0070C0"/>
                </a:solidFill>
              </a:rPr>
              <a:t>Fangen</a:t>
            </a:r>
            <a:r>
              <a:rPr b="1" dirty="0">
                <a:solidFill>
                  <a:srgbClr val="0070C0"/>
                </a:solidFill>
              </a:rPr>
              <a:t> Sie </a:t>
            </a:r>
            <a:r>
              <a:rPr b="1" dirty="0" err="1">
                <a:solidFill>
                  <a:srgbClr val="0070C0"/>
                </a:solidFill>
              </a:rPr>
              <a:t>nur</a:t>
            </a:r>
            <a:r>
              <a:rPr b="1" dirty="0">
                <a:solidFill>
                  <a:srgbClr val="0070C0"/>
                </a:solidFill>
              </a:rPr>
              <a:t> Fehler, die Sie </a:t>
            </a:r>
            <a:r>
              <a:rPr b="1" dirty="0" err="1">
                <a:solidFill>
                  <a:srgbClr val="0070C0"/>
                </a:solidFill>
              </a:rPr>
              <a:t>auch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sinnvoll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behandeln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können</a:t>
            </a:r>
            <a:r>
              <a:rPr b="1" dirty="0">
                <a:solidFill>
                  <a:srgbClr val="0070C0"/>
                </a:solidFill>
              </a:rPr>
              <a:t>.</a:t>
            </a:r>
            <a:br>
              <a:rPr lang="de-DE" b="1" dirty="0">
                <a:solidFill>
                  <a:srgbClr val="0070C0"/>
                </a:solidFill>
              </a:rPr>
            </a:br>
            <a:endParaRPr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dirty="0"/>
              <a:t>Wenn die </a:t>
            </a:r>
            <a:r>
              <a:rPr dirty="0" err="1"/>
              <a:t>Festplatte</a:t>
            </a:r>
            <a:r>
              <a:rPr dirty="0"/>
              <a:t> “</a:t>
            </a:r>
            <a:r>
              <a:rPr dirty="0" err="1"/>
              <a:t>brennt</a:t>
            </a:r>
            <a:r>
              <a:rPr dirty="0"/>
              <a:t>” </a:t>
            </a:r>
            <a:r>
              <a:rPr lang="de-DE" dirty="0"/>
              <a:t>(z.B. voll, kaputt</a:t>
            </a:r>
            <a:r>
              <a:rPr dirty="0"/>
              <a:t>), </a:t>
            </a:r>
            <a:r>
              <a:rPr dirty="0" err="1"/>
              <a:t>kann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Code das nicht </a:t>
            </a:r>
            <a:r>
              <a:rPr dirty="0" err="1"/>
              <a:t>beheben</a:t>
            </a:r>
            <a:r>
              <a:rPr dirty="0"/>
              <a:t>. Lassen Sie das </a:t>
            </a:r>
            <a:r>
              <a:rPr dirty="0" err="1"/>
              <a:t>Programm</a:t>
            </a:r>
            <a:r>
              <a:rPr dirty="0"/>
              <a:t> </a:t>
            </a:r>
            <a:r>
              <a:rPr dirty="0" err="1"/>
              <a:t>kontrolliert</a:t>
            </a:r>
            <a:r>
              <a:rPr dirty="0"/>
              <a:t> </a:t>
            </a:r>
            <a:r>
              <a:rPr dirty="0" err="1"/>
              <a:t>abbrechen</a:t>
            </a:r>
            <a:r>
              <a:rPr dirty="0"/>
              <a:t>!</a:t>
            </a:r>
          </a:p>
          <a:p>
            <a:pPr marL="0" indent="0">
              <a:buNone/>
            </a:pPr>
            <a:r>
              <a:rPr dirty="0" err="1"/>
              <a:t>Fangen</a:t>
            </a:r>
            <a:r>
              <a:rPr dirty="0"/>
              <a:t> Sie </a:t>
            </a:r>
            <a:r>
              <a:rPr dirty="0" err="1"/>
              <a:t>spezifische</a:t>
            </a:r>
            <a:r>
              <a:rPr dirty="0"/>
              <a:t> Dinge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>
                <a:latin typeface="Courier"/>
              </a:rPr>
              <a:t>SqlException</a:t>
            </a:r>
            <a:r>
              <a:rPr dirty="0"/>
              <a:t>, um 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Verbindungsversuch</a:t>
            </a:r>
            <a:r>
              <a:rPr dirty="0"/>
              <a:t> 3 </a:t>
            </a:r>
            <a:r>
              <a:rPr dirty="0" err="1"/>
              <a:t>Sekunden</a:t>
            </a:r>
            <a:r>
              <a:rPr dirty="0"/>
              <a:t> </a:t>
            </a:r>
            <a:r>
              <a:rPr dirty="0" err="1"/>
              <a:t>später</a:t>
            </a:r>
            <a:r>
              <a:rPr dirty="0"/>
              <a:t> </a:t>
            </a:r>
            <a:r>
              <a:rPr dirty="0" err="1"/>
              <a:t>nochmal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wiederholen</a:t>
            </a:r>
            <a:r>
              <a:rPr dirty="0"/>
              <a:t>.</a:t>
            </a:r>
            <a:br>
              <a:rPr lang="de-DE" dirty="0"/>
            </a:br>
            <a:r>
              <a:rPr lang="de-DE" dirty="0"/>
              <a:t>Transiente (also temporäre) Fehler kann man so oft wieder „heilen“. 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Fachliche vs. Technische Fehler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Grundidee</a:t>
            </a:r>
            <a:r>
              <a:rPr dirty="0"/>
              <a:t>: </a:t>
            </a:r>
            <a:r>
              <a:rPr b="1" i="1" dirty="0" err="1">
                <a:solidFill>
                  <a:srgbClr val="0070C0"/>
                </a:solidFill>
              </a:rPr>
              <a:t>Unterscheiden</a:t>
            </a:r>
            <a:r>
              <a:rPr b="1" i="1" dirty="0">
                <a:solidFill>
                  <a:srgbClr val="0070C0"/>
                </a:solidFill>
              </a:rPr>
              <a:t> Sie </a:t>
            </a:r>
            <a:r>
              <a:rPr b="1" i="1" dirty="0" err="1">
                <a:solidFill>
                  <a:srgbClr val="0070C0"/>
                </a:solidFill>
              </a:rPr>
              <a:t>zwischen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Fehlern</a:t>
            </a:r>
            <a:r>
              <a:rPr b="1" i="1" dirty="0">
                <a:solidFill>
                  <a:srgbClr val="0070C0"/>
                </a:solidFill>
              </a:rPr>
              <a:t>, die </a:t>
            </a:r>
            <a:r>
              <a:rPr b="1" i="1" dirty="0" err="1">
                <a:solidFill>
                  <a:srgbClr val="0070C0"/>
                </a:solidFill>
              </a:rPr>
              <a:t>durch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falsche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Benutzereingaben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verursacht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werden</a:t>
            </a:r>
            <a:r>
              <a:rPr b="1" i="1" dirty="0">
                <a:solidFill>
                  <a:srgbClr val="0070C0"/>
                </a:solidFill>
              </a:rPr>
              <a:t> (</a:t>
            </a:r>
            <a:r>
              <a:rPr b="1" i="1" dirty="0" err="1">
                <a:solidFill>
                  <a:srgbClr val="0070C0"/>
                </a:solidFill>
              </a:rPr>
              <a:t>fachlich</a:t>
            </a:r>
            <a:r>
              <a:rPr b="1" i="1" dirty="0">
                <a:solidFill>
                  <a:srgbClr val="0070C0"/>
                </a:solidFill>
              </a:rPr>
              <a:t>) und </a:t>
            </a:r>
            <a:r>
              <a:rPr b="1" i="1" dirty="0" err="1">
                <a:solidFill>
                  <a:srgbClr val="0070C0"/>
                </a:solidFill>
              </a:rPr>
              <a:t>solchen</a:t>
            </a:r>
            <a:r>
              <a:rPr b="1" i="1" dirty="0">
                <a:solidFill>
                  <a:srgbClr val="0070C0"/>
                </a:solidFill>
              </a:rPr>
              <a:t>, die </a:t>
            </a:r>
            <a:r>
              <a:rPr b="1" i="1" dirty="0" err="1">
                <a:solidFill>
                  <a:srgbClr val="0070C0"/>
                </a:solidFill>
              </a:rPr>
              <a:t>durch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Systemfehler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entstehen</a:t>
            </a:r>
            <a:r>
              <a:rPr b="1" i="1" dirty="0">
                <a:solidFill>
                  <a:srgbClr val="0070C0"/>
                </a:solidFill>
              </a:rPr>
              <a:t> (</a:t>
            </a:r>
            <a:r>
              <a:rPr b="1" i="1" dirty="0" err="1">
                <a:solidFill>
                  <a:srgbClr val="0070C0"/>
                </a:solidFill>
              </a:rPr>
              <a:t>technisch</a:t>
            </a:r>
            <a:r>
              <a:rPr b="1" i="1" dirty="0">
                <a:solidFill>
                  <a:srgbClr val="0070C0"/>
                </a:solidFill>
              </a:rPr>
              <a:t>).</a:t>
            </a:r>
            <a:br>
              <a:rPr lang="de-DE" b="1" i="1" dirty="0">
                <a:solidFill>
                  <a:srgbClr val="0070C0"/>
                </a:solidFill>
              </a:rPr>
            </a:br>
            <a:endParaRPr b="1" i="1" dirty="0">
              <a:solidFill>
                <a:srgbClr val="0070C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b="1" dirty="0" err="1"/>
              <a:t>Fachlich</a:t>
            </a:r>
            <a:r>
              <a:rPr b="1" dirty="0"/>
              <a:t> (User-Fehler):</a:t>
            </a:r>
            <a:r>
              <a:rPr dirty="0"/>
              <a:t> Der Bürger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jung</a:t>
            </a:r>
            <a:r>
              <a:rPr dirty="0"/>
              <a:t>. Zeigen Sie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nette</a:t>
            </a:r>
            <a:r>
              <a:rPr dirty="0"/>
              <a:t> </a:t>
            </a:r>
            <a:r>
              <a:rPr dirty="0" err="1"/>
              <a:t>Meldung</a:t>
            </a:r>
            <a:r>
              <a:rPr dirty="0"/>
              <a:t>: “Sie </a:t>
            </a:r>
            <a:r>
              <a:rPr dirty="0" err="1"/>
              <a:t>erfüllen</a:t>
            </a:r>
            <a:r>
              <a:rPr dirty="0"/>
              <a:t> die </a:t>
            </a:r>
            <a:r>
              <a:rPr dirty="0" err="1"/>
              <a:t>Voraussetzungen</a:t>
            </a:r>
            <a:r>
              <a:rPr dirty="0"/>
              <a:t> nicht.”</a:t>
            </a:r>
          </a:p>
          <a:p>
            <a:pPr marL="342900" lvl="0" indent="-342900">
              <a:buFont typeface="+mj-lt"/>
              <a:buAutoNum type="arabicPeriod"/>
            </a:pPr>
            <a:r>
              <a:rPr b="1" dirty="0" err="1"/>
              <a:t>Technisch</a:t>
            </a:r>
            <a:r>
              <a:rPr b="1" dirty="0"/>
              <a:t> (System-Fehler):</a:t>
            </a:r>
            <a:r>
              <a:rPr dirty="0"/>
              <a:t> Die </a:t>
            </a:r>
            <a:r>
              <a:rPr dirty="0" err="1"/>
              <a:t>Datenbank</a:t>
            </a:r>
            <a:r>
              <a:rPr dirty="0"/>
              <a:t> </a:t>
            </a:r>
            <a:r>
              <a:rPr dirty="0" err="1"/>
              <a:t>antwortet</a:t>
            </a:r>
            <a:r>
              <a:rPr dirty="0"/>
              <a:t> nicht. </a:t>
            </a:r>
            <a:r>
              <a:rPr dirty="0" err="1"/>
              <a:t>Loggen</a:t>
            </a:r>
            <a:r>
              <a:rPr dirty="0"/>
              <a:t> Sie den Fehler für den Admin und </a:t>
            </a:r>
            <a:r>
              <a:rPr dirty="0" err="1"/>
              <a:t>zeigen</a:t>
            </a:r>
            <a:r>
              <a:rPr dirty="0"/>
              <a:t> Sie dem </a:t>
            </a:r>
            <a:r>
              <a:rPr dirty="0" err="1"/>
              <a:t>Nutzer</a:t>
            </a:r>
            <a:r>
              <a:rPr dirty="0"/>
              <a:t>: “Ein </a:t>
            </a:r>
            <a:r>
              <a:rPr dirty="0" err="1"/>
              <a:t>technisches</a:t>
            </a:r>
            <a:r>
              <a:rPr dirty="0"/>
              <a:t> Problem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aufgetreten</a:t>
            </a:r>
            <a:r>
              <a:rPr dirty="0"/>
              <a:t>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Fehler-Propagierung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Grundidee</a:t>
            </a:r>
            <a:r>
              <a:rPr dirty="0"/>
              <a:t>: </a:t>
            </a:r>
            <a:r>
              <a:rPr b="1" i="1" dirty="0">
                <a:solidFill>
                  <a:srgbClr val="0070C0"/>
                </a:solidFill>
              </a:rPr>
              <a:t>Es </a:t>
            </a:r>
            <a:r>
              <a:rPr b="1" i="1" dirty="0" err="1">
                <a:solidFill>
                  <a:srgbClr val="0070C0"/>
                </a:solidFill>
              </a:rPr>
              <a:t>ist</a:t>
            </a:r>
            <a:r>
              <a:rPr b="1" i="1" dirty="0">
                <a:solidFill>
                  <a:srgbClr val="0070C0"/>
                </a:solidFill>
              </a:rPr>
              <a:t> nicht </a:t>
            </a:r>
            <a:r>
              <a:rPr b="1" i="1" dirty="0" err="1">
                <a:solidFill>
                  <a:srgbClr val="0070C0"/>
                </a:solidFill>
              </a:rPr>
              <a:t>falsch</a:t>
            </a:r>
            <a:r>
              <a:rPr b="1" i="1" dirty="0">
                <a:solidFill>
                  <a:srgbClr val="0070C0"/>
                </a:solidFill>
              </a:rPr>
              <a:t>, um </a:t>
            </a:r>
            <a:r>
              <a:rPr b="1" i="1" dirty="0" err="1">
                <a:solidFill>
                  <a:srgbClr val="0070C0"/>
                </a:solidFill>
              </a:rPr>
              <a:t>Hilfe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zu</a:t>
            </a:r>
            <a:r>
              <a:rPr b="1" i="1" dirty="0">
                <a:solidFill>
                  <a:srgbClr val="0070C0"/>
                </a:solidFill>
              </a:rPr>
              <a:t> bitten.</a:t>
            </a:r>
            <a:br>
              <a:rPr lang="de-DE" b="1" i="1" dirty="0">
                <a:solidFill>
                  <a:srgbClr val="0070C0"/>
                </a:solidFill>
              </a:rPr>
            </a:br>
            <a:endParaRPr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dirty="0"/>
              <a:t>Exceptions </a:t>
            </a:r>
            <a:r>
              <a:rPr dirty="0" err="1"/>
              <a:t>sollten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gefangen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man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sinnvoll</a:t>
            </a:r>
            <a:r>
              <a:rPr dirty="0"/>
              <a:t> </a:t>
            </a:r>
            <a:r>
              <a:rPr dirty="0" err="1"/>
              <a:t>behandeln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 err="1"/>
              <a:t>Ansonsten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es </a:t>
            </a:r>
            <a:r>
              <a:rPr dirty="0" err="1"/>
              <a:t>besser</a:t>
            </a:r>
            <a:r>
              <a:rPr dirty="0"/>
              <a:t>,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oben</a:t>
            </a:r>
            <a:r>
              <a:rPr dirty="0"/>
              <a:t> (an den </a:t>
            </a:r>
            <a:r>
              <a:rPr dirty="0" err="1"/>
              <a:t>Aufrufer</a:t>
            </a:r>
            <a:r>
              <a:rPr dirty="0"/>
              <a:t>) </a:t>
            </a:r>
            <a:r>
              <a:rPr dirty="0" err="1"/>
              <a:t>weiterzureichen</a:t>
            </a:r>
            <a:r>
              <a:rPr dirty="0"/>
              <a:t>, bis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Schicht</a:t>
            </a:r>
            <a:r>
              <a:rPr dirty="0"/>
              <a:t> </a:t>
            </a:r>
            <a:r>
              <a:rPr dirty="0" err="1"/>
              <a:t>erreichen</a:t>
            </a:r>
            <a:r>
              <a:rPr dirty="0"/>
              <a:t>, die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Entscheidung</a:t>
            </a:r>
            <a:r>
              <a:rPr dirty="0"/>
              <a:t> </a:t>
            </a:r>
            <a:r>
              <a:rPr dirty="0" err="1"/>
              <a:t>treffen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UI </a:t>
            </a:r>
            <a:r>
              <a:rPr dirty="0" err="1"/>
              <a:t>zeigt</a:t>
            </a:r>
            <a:r>
              <a:rPr dirty="0"/>
              <a:t> </a:t>
            </a:r>
            <a:r>
              <a:rPr dirty="0" err="1"/>
              <a:t>Fehlermeldung</a:t>
            </a:r>
            <a:r>
              <a:rPr dirty="0"/>
              <a:t>).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Oder sie letztendlich vom globalen Error-Handling zumindest loggen zu lassen.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Wichtigkeit von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655" y="1103179"/>
            <a:ext cx="5860472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Grundidee</a:t>
            </a:r>
            <a:r>
              <a:rPr dirty="0"/>
              <a:t>: </a:t>
            </a:r>
            <a:r>
              <a:rPr b="1" i="1" dirty="0">
                <a:solidFill>
                  <a:srgbClr val="0070C0"/>
                </a:solidFill>
              </a:rPr>
              <a:t>Ein Fehler, der nicht </a:t>
            </a:r>
            <a:r>
              <a:rPr b="1" i="1" dirty="0" err="1">
                <a:solidFill>
                  <a:srgbClr val="0070C0"/>
                </a:solidFill>
              </a:rPr>
              <a:t>geloggt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wurde</a:t>
            </a:r>
            <a:r>
              <a:rPr b="1" i="1" dirty="0">
                <a:solidFill>
                  <a:srgbClr val="0070C0"/>
                </a:solidFill>
              </a:rPr>
              <a:t>, hat </a:t>
            </a:r>
            <a:r>
              <a:rPr b="1" i="1" dirty="0" err="1">
                <a:solidFill>
                  <a:srgbClr val="0070C0"/>
                </a:solidFill>
              </a:rPr>
              <a:t>nie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stattgefunden</a:t>
            </a:r>
            <a:r>
              <a:rPr b="1" i="1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Logdateien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Sie </a:t>
            </a:r>
            <a:r>
              <a:rPr dirty="0" err="1"/>
              <a:t>als</a:t>
            </a:r>
            <a:r>
              <a:rPr dirty="0"/>
              <a:t> Administrator blind. </a:t>
            </a:r>
            <a:endParaRPr lang="de-DE" dirty="0"/>
          </a:p>
          <a:p>
            <a:pPr marL="0" indent="0">
              <a:buNone/>
            </a:pPr>
            <a:r>
              <a:rPr dirty="0"/>
              <a:t>Wenn um 3 Uhr </a:t>
            </a:r>
            <a:r>
              <a:rPr dirty="0" err="1"/>
              <a:t>nachts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Fehler </a:t>
            </a:r>
            <a:r>
              <a:rPr dirty="0" err="1"/>
              <a:t>auftritt</a:t>
            </a:r>
            <a:r>
              <a:rPr dirty="0"/>
              <a:t>, </a:t>
            </a:r>
            <a:r>
              <a:rPr dirty="0" err="1"/>
              <a:t>brauchen</a:t>
            </a:r>
            <a:r>
              <a:rPr dirty="0"/>
              <a:t> Sie den </a:t>
            </a:r>
            <a:r>
              <a:rPr dirty="0" err="1"/>
              <a:t>Stacktrace</a:t>
            </a:r>
            <a:r>
              <a:rPr dirty="0"/>
              <a:t>, die </a:t>
            </a:r>
            <a:r>
              <a:rPr dirty="0" err="1"/>
              <a:t>Uhrzeit</a:t>
            </a:r>
            <a:r>
              <a:rPr dirty="0"/>
              <a:t> und </a:t>
            </a:r>
            <a:r>
              <a:rPr dirty="0" err="1"/>
              <a:t>idealerweise</a:t>
            </a:r>
            <a:r>
              <a:rPr dirty="0"/>
              <a:t> die ID des </a:t>
            </a:r>
            <a:r>
              <a:rPr dirty="0" err="1"/>
              <a:t>betroffenen</a:t>
            </a:r>
            <a:r>
              <a:rPr dirty="0"/>
              <a:t> </a:t>
            </a:r>
            <a:r>
              <a:rPr dirty="0" err="1"/>
              <a:t>Antrags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Nutzen</a:t>
            </a:r>
            <a:r>
              <a:rPr dirty="0"/>
              <a:t> Sie </a:t>
            </a:r>
            <a:r>
              <a:rPr dirty="0" err="1"/>
              <a:t>moderne</a:t>
            </a:r>
            <a:r>
              <a:rPr dirty="0"/>
              <a:t> </a:t>
            </a:r>
            <a:r>
              <a:rPr dirty="0" err="1"/>
              <a:t>Bibliotheken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>
                <a:latin typeface="Courier"/>
              </a:rPr>
              <a:t>Serilog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>
                <a:latin typeface="Courier"/>
              </a:rPr>
              <a:t>NLog</a:t>
            </a:r>
            <a:r>
              <a:rPr dirty="0"/>
              <a:t> und </a:t>
            </a:r>
            <a:r>
              <a:rPr dirty="0" err="1"/>
              <a:t>nutzen</a:t>
            </a:r>
            <a:r>
              <a:rPr dirty="0"/>
              <a:t> Sie </a:t>
            </a:r>
            <a:r>
              <a:rPr dirty="0" err="1"/>
              <a:t>strukturierte</a:t>
            </a:r>
            <a:r>
              <a:rPr dirty="0"/>
              <a:t> Logs</a:t>
            </a:r>
            <a:r>
              <a:rPr lang="de-DE" dirty="0"/>
              <a:t>, </a:t>
            </a:r>
            <a:r>
              <a:rPr dirty="0" err="1"/>
              <a:t>damit</a:t>
            </a:r>
            <a:r>
              <a:rPr dirty="0"/>
              <a:t> Sie </a:t>
            </a:r>
            <a:r>
              <a:rPr dirty="0" err="1"/>
              <a:t>später</a:t>
            </a:r>
            <a:r>
              <a:rPr dirty="0"/>
              <a:t> </a:t>
            </a:r>
            <a:r>
              <a:rPr dirty="0" err="1"/>
              <a:t>gezielt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Fehlern</a:t>
            </a:r>
            <a:r>
              <a:rPr dirty="0"/>
              <a:t> </a:t>
            </a:r>
            <a:r>
              <a:rPr dirty="0" err="1"/>
              <a:t>filtern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B9F0EA8-8D7C-1618-6AAC-580B3F6E76BB}"/>
              </a:ext>
            </a:extLst>
          </p:cNvPr>
          <p:cNvSpPr txBox="1"/>
          <p:nvPr/>
        </p:nvSpPr>
        <p:spPr>
          <a:xfrm>
            <a:off x="617220" y="4064529"/>
            <a:ext cx="5860472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AntragSpeichern</a:t>
            </a:r>
            <a:r>
              <a:rPr lang="de-DE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Fehler bei Antrag {</a:t>
            </a:r>
            <a:r>
              <a:rPr lang="de-DE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antrag.Id</a:t>
            </a:r>
            <a:r>
              <a:rPr lang="de-DE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Beispiel: Globales Fehlerhandling (Code)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E194594-A0ED-1191-D5BC-F0A3251D6AA4}"/>
              </a:ext>
            </a:extLst>
          </p:cNvPr>
          <p:cNvSpPr txBox="1"/>
          <p:nvPr/>
        </p:nvSpPr>
        <p:spPr>
          <a:xfrm>
            <a:off x="-377536" y="1205386"/>
            <a:ext cx="723553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0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de-DE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de-DE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Eingaben sollten nicht zu </a:t>
            </a:r>
            <a:r>
              <a:rPr lang="de-DE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de-DE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führen, sondern vorher validiert werden.</a:t>
            </a:r>
            <a:endParaRPr lang="de-DE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 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de-DE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istFehlerfrei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FrageDenNutzerNachEingaben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antrag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 </a:t>
            </a:r>
            <a:r>
              <a:rPr lang="de-DE" sz="10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istFehlerfrei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de-DE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Hier könnte immer noch ein Fehler passieren (z.B. fehlende externe Daten, DB-Ausfall)</a:t>
            </a:r>
            <a:endParaRPr lang="de-DE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0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de-DE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VerarbeiteAntragAsync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antrag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de-DE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Wenn alles gut geht, zeigen wir eine Erfolgsmeldung.</a:t>
            </a:r>
            <a:endParaRPr lang="de-DE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ZeigeErfolgsMeldung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AntragUngueltigException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de-DE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Fachlicher Fehler (z.B. Antrag kann nicht bearbeitet werden)</a:t>
            </a:r>
            <a:endParaRPr lang="de-DE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de-DE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"Ungültiger Antrag von User {U}: {</a:t>
            </a:r>
            <a:r>
              <a:rPr lang="de-DE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de-DE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antrag</a:t>
            </a:r>
            <a:r>
              <a:rPr lang="de-DE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lang="de-DE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ZeigeFehlerMeldung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"Bitte prüfen Sie Ihre Eingaben."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de-DE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Technischer Fehler (z.B. Datenbank weg)</a:t>
            </a:r>
            <a:endParaRPr lang="de-DE" sz="1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de-DE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"Kritischer technischer Fehler"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ZeigeFehlerMeldung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"Ein technisches Problem ist aufgetreten. Versuch später erneut."</a:t>
            </a: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Teil 4: </a:t>
            </a:r>
            <a:br>
              <a:rPr lang="de-DE" dirty="0"/>
            </a:br>
            <a:r>
              <a:rPr lang="de-DE" dirty="0"/>
              <a:t>Projektstart &amp; Abschluss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A44152-4B26-EF7C-AB13-398377CD1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Abschlussprojekt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Ab </a:t>
            </a:r>
            <a:r>
              <a:rPr dirty="0" err="1"/>
              <a:t>heute</a:t>
            </a:r>
            <a:r>
              <a:rPr dirty="0"/>
              <a:t> </a:t>
            </a:r>
            <a:r>
              <a:rPr dirty="0" err="1"/>
              <a:t>beginnt</a:t>
            </a:r>
            <a:r>
              <a:rPr dirty="0"/>
              <a:t> die Praxis-Phase. </a:t>
            </a:r>
            <a:endParaRPr lang="de-DE" dirty="0"/>
          </a:p>
          <a:p>
            <a:pPr marL="0" indent="0">
              <a:buNone/>
            </a:pPr>
            <a:r>
              <a:rPr dirty="0"/>
              <a:t>Sie </a:t>
            </a:r>
            <a:r>
              <a:rPr dirty="0" err="1"/>
              <a:t>haben</a:t>
            </a:r>
            <a:r>
              <a:rPr dirty="0"/>
              <a:t> nun den </a:t>
            </a:r>
            <a:r>
              <a:rPr dirty="0" err="1"/>
              <a:t>restlichen</a:t>
            </a:r>
            <a:r>
              <a:rPr dirty="0"/>
              <a:t> </a:t>
            </a:r>
            <a:r>
              <a:rPr dirty="0" err="1"/>
              <a:t>Kurszeitraum</a:t>
            </a:r>
            <a:r>
              <a:rPr dirty="0"/>
              <a:t> Zeit,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eigenes</a:t>
            </a:r>
            <a:r>
              <a:rPr dirty="0"/>
              <a:t> </a:t>
            </a:r>
            <a:r>
              <a:rPr dirty="0" err="1"/>
              <a:t>Fachverfahren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entwickeln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geht</a:t>
            </a:r>
            <a:r>
              <a:rPr dirty="0"/>
              <a:t> nicht </a:t>
            </a:r>
            <a:r>
              <a:rPr dirty="0" err="1"/>
              <a:t>darum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riesiges</a:t>
            </a:r>
            <a:r>
              <a:rPr dirty="0"/>
              <a:t> System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hunderten</a:t>
            </a:r>
            <a:r>
              <a:rPr dirty="0"/>
              <a:t> </a:t>
            </a:r>
            <a:r>
              <a:rPr dirty="0" err="1"/>
              <a:t>Funktionen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bauen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geht</a:t>
            </a:r>
            <a:r>
              <a:rPr dirty="0"/>
              <a:t> </a:t>
            </a:r>
            <a:r>
              <a:rPr dirty="0" err="1"/>
              <a:t>darum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</a:t>
            </a:r>
            <a:r>
              <a:rPr b="1" dirty="0" err="1">
                <a:solidFill>
                  <a:srgbClr val="0070C0"/>
                </a:solidFill>
              </a:rPr>
              <a:t>kleines</a:t>
            </a:r>
            <a:r>
              <a:rPr b="1" dirty="0">
                <a:solidFill>
                  <a:srgbClr val="0070C0"/>
                </a:solidFill>
              </a:rPr>
              <a:t> System </a:t>
            </a:r>
            <a:r>
              <a:rPr b="1" dirty="0" err="1">
                <a:solidFill>
                  <a:srgbClr val="0070C0"/>
                </a:solidFill>
              </a:rPr>
              <a:t>architektonisch</a:t>
            </a:r>
            <a:r>
              <a:rPr b="1" dirty="0">
                <a:solidFill>
                  <a:srgbClr val="0070C0"/>
                </a:solidFill>
              </a:rPr>
              <a:t> gut</a:t>
            </a:r>
            <a:r>
              <a:rPr dirty="0">
                <a:solidFill>
                  <a:srgbClr val="0070C0"/>
                </a:solidFill>
              </a:rPr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konstruieren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Architektur-Anforderungen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72" y="1103179"/>
            <a:ext cx="5596197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Ihr</a:t>
            </a:r>
            <a:r>
              <a:rPr dirty="0"/>
              <a:t> Projekt muss </a:t>
            </a:r>
            <a:r>
              <a:rPr dirty="0" err="1"/>
              <a:t>folgende</a:t>
            </a:r>
            <a:r>
              <a:rPr dirty="0"/>
              <a:t> </a:t>
            </a:r>
            <a:r>
              <a:rPr dirty="0" err="1"/>
              <a:t>Kriterien</a:t>
            </a:r>
            <a:r>
              <a:rPr dirty="0"/>
              <a:t> </a:t>
            </a:r>
            <a:r>
              <a:rPr dirty="0" err="1"/>
              <a:t>erfüllen</a:t>
            </a:r>
            <a:r>
              <a:rPr dirty="0"/>
              <a:t>:</a:t>
            </a:r>
          </a:p>
          <a:p>
            <a:pPr marL="257175" indent="-257175">
              <a:buAutoNum type="arabicPeriod"/>
            </a:pPr>
            <a:r>
              <a:rPr b="1" dirty="0" err="1"/>
              <a:t>Schichtenarchitektur</a:t>
            </a:r>
            <a:r>
              <a:rPr b="1" dirty="0"/>
              <a:t>:</a:t>
            </a:r>
            <a:r>
              <a:rPr dirty="0"/>
              <a:t> UI, Business Logic und Data Access Layer </a:t>
            </a:r>
            <a:r>
              <a:rPr dirty="0" err="1"/>
              <a:t>strikt</a:t>
            </a:r>
            <a:r>
              <a:rPr dirty="0"/>
              <a:t> </a:t>
            </a:r>
            <a:r>
              <a:rPr dirty="0" err="1"/>
              <a:t>getrennt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SOLID:</a:t>
            </a:r>
            <a:r>
              <a:rPr dirty="0"/>
              <a:t> </a:t>
            </a:r>
            <a:r>
              <a:rPr dirty="0" err="1"/>
              <a:t>Bewusste</a:t>
            </a:r>
            <a:r>
              <a:rPr dirty="0"/>
              <a:t> </a:t>
            </a:r>
            <a:r>
              <a:rPr dirty="0" err="1"/>
              <a:t>Anwendung</a:t>
            </a:r>
            <a:r>
              <a:rPr dirty="0"/>
              <a:t> der </a:t>
            </a:r>
            <a:r>
              <a:rPr dirty="0" err="1"/>
              <a:t>Prinzipien</a:t>
            </a:r>
            <a:r>
              <a:rPr dirty="0"/>
              <a:t> (</a:t>
            </a:r>
            <a:r>
              <a:rPr dirty="0" err="1"/>
              <a:t>insb</a:t>
            </a:r>
            <a:r>
              <a:rPr dirty="0"/>
              <a:t>. DI).</a:t>
            </a:r>
          </a:p>
          <a:p>
            <a:pPr marL="257175" indent="-257175">
              <a:buAutoNum type="arabicPeriod"/>
            </a:pPr>
            <a:r>
              <a:rPr b="1" dirty="0"/>
              <a:t>Design Patterns:</a:t>
            </a:r>
            <a:r>
              <a:rPr dirty="0"/>
              <a:t> </a:t>
            </a:r>
            <a:r>
              <a:rPr dirty="0" err="1"/>
              <a:t>Mindestens</a:t>
            </a:r>
            <a:r>
              <a:rPr dirty="0"/>
              <a:t> </a:t>
            </a:r>
            <a:r>
              <a:rPr dirty="0" err="1"/>
              <a:t>zwei</a:t>
            </a:r>
            <a:r>
              <a:rPr dirty="0"/>
              <a:t> Muster </a:t>
            </a:r>
            <a:r>
              <a:rPr dirty="0" err="1"/>
              <a:t>implementiert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Testing:</a:t>
            </a:r>
            <a:r>
              <a:rPr dirty="0"/>
              <a:t> </a:t>
            </a:r>
            <a:r>
              <a:rPr dirty="0" err="1"/>
              <a:t>Kernlogik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Unit Tests (</a:t>
            </a:r>
            <a:r>
              <a:rPr dirty="0" err="1"/>
              <a:t>xUnit</a:t>
            </a:r>
            <a:r>
              <a:rPr dirty="0"/>
              <a:t>) </a:t>
            </a:r>
            <a:r>
              <a:rPr dirty="0" err="1"/>
              <a:t>abgesichert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Code Kriterien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 err="1"/>
              <a:t>Sprechende</a:t>
            </a:r>
            <a:r>
              <a:rPr b="1" dirty="0"/>
              <a:t> Namen:</a:t>
            </a:r>
            <a:r>
              <a:rPr dirty="0"/>
              <a:t> Klassen und </a:t>
            </a:r>
            <a:r>
              <a:rPr dirty="0" err="1"/>
              <a:t>Methoden</a:t>
            </a:r>
            <a:r>
              <a:rPr dirty="0"/>
              <a:t> </a:t>
            </a:r>
            <a:r>
              <a:rPr dirty="0" err="1"/>
              <a:t>müssen</a:t>
            </a:r>
            <a:r>
              <a:rPr dirty="0"/>
              <a:t> </a:t>
            </a:r>
            <a:r>
              <a:rPr dirty="0" err="1"/>
              <a:t>selbsterklärend</a:t>
            </a:r>
            <a:r>
              <a:rPr dirty="0"/>
              <a:t> sein.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/>
              <a:t>Kleine </a:t>
            </a:r>
            <a:r>
              <a:rPr b="1" dirty="0" err="1"/>
              <a:t>Methoden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Jede</a:t>
            </a:r>
            <a:r>
              <a:rPr dirty="0"/>
              <a:t> Methode </a:t>
            </a:r>
            <a:r>
              <a:rPr dirty="0" err="1"/>
              <a:t>sollte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Sache tun.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 err="1"/>
              <a:t>Kommentare</a:t>
            </a:r>
            <a:r>
              <a:rPr b="1" dirty="0"/>
              <a:t>:</a:t>
            </a:r>
            <a:r>
              <a:rPr dirty="0"/>
              <a:t> Nur </a:t>
            </a:r>
            <a:r>
              <a:rPr dirty="0" err="1"/>
              <a:t>dort</a:t>
            </a:r>
            <a:r>
              <a:rPr dirty="0"/>
              <a:t>, wo das “</a:t>
            </a:r>
            <a:r>
              <a:rPr dirty="0" err="1"/>
              <a:t>Warum</a:t>
            </a:r>
            <a:r>
              <a:rPr dirty="0"/>
              <a:t>” nicht </a:t>
            </a:r>
            <a:r>
              <a:rPr dirty="0" err="1"/>
              <a:t>aus</a:t>
            </a:r>
            <a:r>
              <a:rPr dirty="0"/>
              <a:t> dem Code </a:t>
            </a:r>
            <a:r>
              <a:rPr dirty="0" err="1"/>
              <a:t>hervorgeht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Dokumentation des Projekts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Schreiben</a:t>
            </a:r>
            <a:r>
              <a:rPr dirty="0"/>
              <a:t> Sie nicht </a:t>
            </a:r>
            <a:r>
              <a:rPr dirty="0" err="1"/>
              <a:t>nur</a:t>
            </a:r>
            <a:r>
              <a:rPr dirty="0"/>
              <a:t> Code. </a:t>
            </a:r>
            <a:endParaRPr lang="de-DE" dirty="0"/>
          </a:p>
          <a:p>
            <a:pPr marL="0" indent="0">
              <a:buNone/>
            </a:pPr>
            <a:r>
              <a:rPr dirty="0"/>
              <a:t>Ein </a:t>
            </a:r>
            <a:r>
              <a:rPr dirty="0" err="1"/>
              <a:t>kurzes</a:t>
            </a:r>
            <a:r>
              <a:rPr dirty="0"/>
              <a:t> README, das </a:t>
            </a:r>
            <a:r>
              <a:rPr dirty="0" err="1"/>
              <a:t>Ihre</a:t>
            </a:r>
            <a:r>
              <a:rPr dirty="0"/>
              <a:t> Design-</a:t>
            </a:r>
            <a:r>
              <a:rPr dirty="0" err="1"/>
              <a:t>Entscheidungen</a:t>
            </a:r>
            <a:r>
              <a:rPr dirty="0"/>
              <a:t> (</a:t>
            </a:r>
            <a:r>
              <a:rPr dirty="0" err="1"/>
              <a:t>Welche</a:t>
            </a:r>
            <a:r>
              <a:rPr dirty="0"/>
              <a:t> Patterns? </a:t>
            </a:r>
            <a:r>
              <a:rPr dirty="0" err="1"/>
              <a:t>Warum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Architektur</a:t>
            </a:r>
            <a:r>
              <a:rPr dirty="0"/>
              <a:t>?</a:t>
            </a:r>
            <a:r>
              <a:rPr lang="de-DE" dirty="0"/>
              <a:t> etc.</a:t>
            </a:r>
            <a:r>
              <a:rPr dirty="0"/>
              <a:t>) </a:t>
            </a:r>
            <a:r>
              <a:rPr dirty="0" err="1"/>
              <a:t>erläutert</a:t>
            </a:r>
            <a:r>
              <a:rPr dirty="0"/>
              <a:t>, </a:t>
            </a:r>
            <a:r>
              <a:rPr dirty="0" err="1"/>
              <a:t>ist</a:t>
            </a:r>
            <a:r>
              <a:rPr dirty="0"/>
              <a:t> Teil der </a:t>
            </a:r>
            <a:r>
              <a:rPr dirty="0" err="1"/>
              <a:t>Abgabe</a:t>
            </a:r>
            <a:r>
              <a:rPr dirty="0"/>
              <a:t> und </a:t>
            </a:r>
            <a:r>
              <a:rPr dirty="0" err="1"/>
              <a:t>hilft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der </a:t>
            </a:r>
            <a:r>
              <a:rPr dirty="0" err="1"/>
              <a:t>Bewertung</a:t>
            </a:r>
            <a:r>
              <a:rPr dirty="0"/>
              <a:t>.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Es hilft Ihnen ebenso bei der späteren Präsentation des Projektes vor der Gruppe.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Themenvorschläge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3179"/>
            <a:ext cx="5589270" cy="3603318"/>
          </a:xfrm>
        </p:spPr>
        <p:txBody>
          <a:bodyPr>
            <a:normAutofit lnSpcReduction="10000"/>
          </a:bodyPr>
          <a:lstStyle/>
          <a:p>
            <a:r>
              <a:rPr lang="de-DE" dirty="0"/>
              <a:t>- Wohngeld-Prüfmodul</a:t>
            </a:r>
          </a:p>
          <a:p>
            <a:r>
              <a:rPr lang="de-DE" dirty="0"/>
              <a:t>- Kfz-Bestandsverwaltung</a:t>
            </a:r>
          </a:p>
          <a:p>
            <a:r>
              <a:rPr lang="de-DE" dirty="0"/>
              <a:t>- Kita-Priorisierung</a:t>
            </a:r>
          </a:p>
          <a:p>
            <a:r>
              <a:rPr lang="de-DE" dirty="0"/>
              <a:t>- Bürgeramt-Terminreservierung</a:t>
            </a:r>
          </a:p>
          <a:p>
            <a:r>
              <a:rPr lang="de-DE" dirty="0"/>
              <a:t>- Fundbüro-Bestandsführung</a:t>
            </a:r>
          </a:p>
          <a:p>
            <a:r>
              <a:rPr lang="de-DE" dirty="0"/>
              <a:t>- Bauantrags-Statusverfolgung</a:t>
            </a:r>
          </a:p>
          <a:p>
            <a:r>
              <a:rPr lang="de-DE" dirty="0"/>
              <a:t>- Hundesteuer-Veranlagung</a:t>
            </a:r>
          </a:p>
          <a:p>
            <a:r>
              <a:rPr lang="de-DE" dirty="0"/>
              <a:t>- Mängelmelder-System</a:t>
            </a:r>
          </a:p>
          <a:p>
            <a:r>
              <a:rPr lang="de-DE" dirty="0"/>
              <a:t>- Gewerberegister-Eintragung</a:t>
            </a:r>
          </a:p>
          <a:p>
            <a:r>
              <a:rPr lang="de-DE" dirty="0"/>
              <a:t>- Friedhofs-Grabverwaltung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Workflow für die nächsten beiden Wochen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945" y="1103179"/>
            <a:ext cx="5603125" cy="3603318"/>
          </a:xfrm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dirty="0" err="1"/>
              <a:t>Überlegen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Thema und </a:t>
            </a:r>
            <a:r>
              <a:rPr dirty="0" err="1"/>
              <a:t>definieren</a:t>
            </a:r>
            <a:r>
              <a:rPr dirty="0"/>
              <a:t> Sie das Kern-Feature.</a:t>
            </a:r>
          </a:p>
          <a:p>
            <a:pPr marL="342900" lvl="0" indent="-342900">
              <a:buFont typeface="+mj-lt"/>
              <a:buAutoNum type="arabicPeriod"/>
            </a:pPr>
            <a:r>
              <a:rPr dirty="0" err="1"/>
              <a:t>Skizzieren</a:t>
            </a:r>
            <a:r>
              <a:rPr dirty="0"/>
              <a:t> Sie die </a:t>
            </a:r>
            <a:r>
              <a:rPr dirty="0" err="1"/>
              <a:t>Klassenstruktur</a:t>
            </a:r>
            <a:r>
              <a:rPr dirty="0"/>
              <a:t> (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Schichten</a:t>
            </a:r>
            <a:r>
              <a:rPr dirty="0"/>
              <a:t>? </a:t>
            </a:r>
            <a:r>
              <a:rPr dirty="0" err="1"/>
              <a:t>Welche</a:t>
            </a:r>
            <a:r>
              <a:rPr dirty="0"/>
              <a:t> Patterns?).</a:t>
            </a:r>
          </a:p>
          <a:p>
            <a:pPr marL="342900" lvl="0" indent="-342900">
              <a:buFont typeface="+mj-lt"/>
              <a:buAutoNum type="arabicPeriod"/>
            </a:pPr>
            <a:r>
              <a:rPr dirty="0" err="1"/>
              <a:t>Starten</a:t>
            </a:r>
            <a:r>
              <a:rPr dirty="0"/>
              <a:t> Sie </a:t>
            </a:r>
            <a:r>
              <a:rPr dirty="0" err="1"/>
              <a:t>mit</a:t>
            </a:r>
            <a:r>
              <a:rPr dirty="0"/>
              <a:t> der </a:t>
            </a:r>
            <a:r>
              <a:rPr dirty="0" err="1"/>
              <a:t>Fachlogik</a:t>
            </a:r>
            <a:r>
              <a:rPr dirty="0"/>
              <a:t> und </a:t>
            </a:r>
            <a:r>
              <a:rPr dirty="0" err="1"/>
              <a:t>schreiben</a:t>
            </a:r>
            <a:r>
              <a:rPr dirty="0"/>
              <a:t> Sie Tests (TDD</a:t>
            </a:r>
            <a:r>
              <a:rPr lang="de-DE" dirty="0"/>
              <a:t> kann helfen</a:t>
            </a:r>
            <a:r>
              <a:rPr dirty="0"/>
              <a:t>).</a:t>
            </a:r>
          </a:p>
          <a:p>
            <a:pPr marL="342900" lvl="0" indent="-342900">
              <a:buFont typeface="+mj-lt"/>
              <a:buAutoNum type="arabicPeriod"/>
            </a:pPr>
            <a:r>
              <a:rPr dirty="0" err="1"/>
              <a:t>Bauen</a:t>
            </a:r>
            <a:r>
              <a:rPr dirty="0"/>
              <a:t> Sie die UI und die </a:t>
            </a:r>
            <a:r>
              <a:rPr dirty="0" err="1"/>
              <a:t>Datenbank-Anbindung</a:t>
            </a:r>
            <a:r>
              <a:rPr dirty="0"/>
              <a:t> erst </a:t>
            </a:r>
            <a:r>
              <a:rPr dirty="0" err="1"/>
              <a:t>ganz</a:t>
            </a:r>
            <a:r>
              <a:rPr dirty="0"/>
              <a:t> am </a:t>
            </a:r>
            <a:r>
              <a:rPr dirty="0" err="1"/>
              <a:t>Schluss</a:t>
            </a:r>
            <a:r>
              <a:rPr dirty="0"/>
              <a:t> um </a:t>
            </a:r>
            <a:r>
              <a:rPr dirty="0" err="1"/>
              <a:t>Ihre</a:t>
            </a:r>
            <a:r>
              <a:rPr dirty="0"/>
              <a:t> Logik </a:t>
            </a:r>
            <a:r>
              <a:rPr dirty="0" err="1"/>
              <a:t>herum</a:t>
            </a:r>
            <a:r>
              <a:rPr dirty="0"/>
              <a:t>.</a:t>
            </a:r>
            <a:endParaRPr lang="de-DE" dirty="0"/>
          </a:p>
          <a:p>
            <a:pPr marL="342900" lvl="0" indent="-342900">
              <a:buFont typeface="+mj-lt"/>
              <a:buAutoNum type="arabicPeriod"/>
            </a:pPr>
            <a:endParaRPr lang="de-DE" dirty="0"/>
          </a:p>
          <a:p>
            <a:pPr marL="0" lvl="0" indent="0">
              <a:buNone/>
            </a:pPr>
            <a:r>
              <a:rPr lang="de-DE" b="1" dirty="0"/>
              <a:t>Hinweis</a:t>
            </a:r>
            <a:r>
              <a:rPr lang="de-DE" dirty="0"/>
              <a:t>: Sie können statt einer echten Datenbank eine </a:t>
            </a:r>
            <a:r>
              <a:rPr lang="de-DE" dirty="0" err="1"/>
              <a:t>InMemory</a:t>
            </a:r>
            <a:r>
              <a:rPr lang="de-DE" dirty="0"/>
              <a:t>-Datenbank (siehe Übung) verwenden.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Zusammenfassung &amp; Startschuss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73" y="1103179"/>
            <a:ext cx="5596197" cy="3603318"/>
          </a:xfrm>
        </p:spPr>
        <p:txBody>
          <a:bodyPr/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 err="1"/>
              <a:t>Asynchronität</a:t>
            </a:r>
            <a:r>
              <a:rPr dirty="0"/>
              <a:t> und </a:t>
            </a:r>
            <a:r>
              <a:rPr dirty="0" err="1"/>
              <a:t>Fehlerbehandlung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die </a:t>
            </a:r>
            <a:r>
              <a:rPr dirty="0" err="1"/>
              <a:t>Kür</a:t>
            </a:r>
            <a:r>
              <a:rPr dirty="0"/>
              <a:t> für den </a:t>
            </a:r>
            <a:r>
              <a:rPr dirty="0" err="1"/>
              <a:t>Produktivbetrieb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 err="1"/>
              <a:t>Jetzt</a:t>
            </a:r>
            <a:r>
              <a:rPr dirty="0"/>
              <a:t> </a:t>
            </a:r>
            <a:r>
              <a:rPr dirty="0" err="1"/>
              <a:t>liegt</a:t>
            </a:r>
            <a:r>
              <a:rPr dirty="0"/>
              <a:t> es an Ihnen, das </a:t>
            </a:r>
            <a:r>
              <a:rPr dirty="0" err="1"/>
              <a:t>Theoriewissen</a:t>
            </a:r>
            <a:r>
              <a:rPr dirty="0"/>
              <a:t> in </a:t>
            </a:r>
            <a:r>
              <a:rPr dirty="0" err="1"/>
              <a:t>praktischen</a:t>
            </a:r>
            <a:r>
              <a:rPr dirty="0"/>
              <a:t>, </a:t>
            </a:r>
            <a:r>
              <a:rPr dirty="0" err="1"/>
              <a:t>langlebigen</a:t>
            </a:r>
            <a:r>
              <a:rPr dirty="0"/>
              <a:t> Code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gießen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Viel </a:t>
            </a:r>
            <a:r>
              <a:rPr dirty="0" err="1"/>
              <a:t>Erfolg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der </a:t>
            </a:r>
            <a:r>
              <a:rPr dirty="0" err="1"/>
              <a:t>Konzeption</a:t>
            </a:r>
            <a:r>
              <a:rPr dirty="0"/>
              <a:t> und </a:t>
            </a:r>
            <a:r>
              <a:rPr dirty="0" err="1"/>
              <a:t>Programmierung</a:t>
            </a:r>
            <a:r>
              <a:rPr dirty="0"/>
              <a:t> </a:t>
            </a:r>
            <a:r>
              <a:rPr dirty="0" err="1"/>
              <a:t>Ihrer</a:t>
            </a:r>
            <a:r>
              <a:rPr dirty="0"/>
              <a:t> </a:t>
            </a:r>
            <a:r>
              <a:rPr dirty="0" err="1"/>
              <a:t>Abschlussprojekte</a:t>
            </a:r>
            <a:r>
              <a:rPr dirty="0"/>
              <a:t>!</a:t>
            </a:r>
          </a:p>
          <a:p>
            <a:pPr marL="0" indent="0">
              <a:buNone/>
            </a:pPr>
            <a:r>
              <a:rPr b="1" dirty="0"/>
              <a:t>Die “</a:t>
            </a:r>
            <a:r>
              <a:rPr b="1" dirty="0" err="1"/>
              <a:t>Projektwerkstatt</a:t>
            </a:r>
            <a:r>
              <a:rPr b="1" dirty="0"/>
              <a:t>” </a:t>
            </a:r>
            <a:r>
              <a:rPr b="1" dirty="0" err="1"/>
              <a:t>ist</a:t>
            </a:r>
            <a:r>
              <a:rPr b="1" dirty="0"/>
              <a:t> </a:t>
            </a:r>
            <a:r>
              <a:rPr b="1" dirty="0" err="1"/>
              <a:t>hiermit</a:t>
            </a:r>
            <a:r>
              <a:rPr b="1" dirty="0"/>
              <a:t> </a:t>
            </a:r>
            <a:r>
              <a:rPr b="1" dirty="0" err="1"/>
              <a:t>eröffnet</a:t>
            </a:r>
            <a:r>
              <a:rPr b="1" dirty="0"/>
              <a:t>.</a:t>
            </a:r>
            <a:r>
              <a:rPr lang="de-DE" b="1" dirty="0"/>
              <a:t>     :-)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2427</Words>
  <Application>Microsoft Office PowerPoint</Application>
  <PresentationFormat>Benutzerdefiniert</PresentationFormat>
  <Paragraphs>231</Paragraphs>
  <Slides>35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35</vt:i4>
      </vt:variant>
    </vt:vector>
  </HeadingPairs>
  <TitlesOfParts>
    <vt:vector size="42" baseType="lpstr">
      <vt:lpstr>Aptos</vt:lpstr>
      <vt:lpstr>Calibri</vt:lpstr>
      <vt:lpstr>Calibri Light</vt:lpstr>
      <vt:lpstr>Consolas</vt:lpstr>
      <vt:lpstr>Courier</vt:lpstr>
      <vt:lpstr>Symbol</vt:lpstr>
      <vt:lpstr>Rückblick</vt:lpstr>
      <vt:lpstr>Objektorientierte Programmierung</vt:lpstr>
      <vt:lpstr>Teil 1:  Einführung &amp; Das Warten auf Daten</vt:lpstr>
      <vt:lpstr>Willkommen zu Woche 6</vt:lpstr>
      <vt:lpstr>Die vernetzte Welt</vt:lpstr>
      <vt:lpstr>Das Problem der Synchronität</vt:lpstr>
      <vt:lpstr>Die Lösung: Asynchrone Ausführung</vt:lpstr>
      <vt:lpstr>Teil 2:  Asynchrone Programmierung (async / await)</vt:lpstr>
      <vt:lpstr>I/O-Bound vs. CPU-Bound</vt:lpstr>
      <vt:lpstr>C# und die Task Parallel Library (TPL)</vt:lpstr>
      <vt:lpstr>Wie funktioniert ein Task?</vt:lpstr>
      <vt:lpstr>Die Schlüsselworte: async und await</vt:lpstr>
      <vt:lpstr>Beispiel: Asynchrone Abfrage (Code)</vt:lpstr>
      <vt:lpstr>Parallelität: Task.WhenAll</vt:lpstr>
      <vt:lpstr>Laufzeitvergleich ohne/mit Parallelität</vt:lpstr>
      <vt:lpstr>Beispiel: Parallele API-Abfragen (Code)</vt:lpstr>
      <vt:lpstr>Die goldene Regel: “Async all the way”</vt:lpstr>
      <vt:lpstr>Die Deadlock-Gefahr</vt:lpstr>
      <vt:lpstr>Teil 3:  Robustes Error Handling</vt:lpstr>
      <vt:lpstr>Warum try-catch allein nicht reicht</vt:lpstr>
      <vt:lpstr>Das “Fail Fast” Prinzip</vt:lpstr>
      <vt:lpstr>Vorteile von Fail-Fast</vt:lpstr>
      <vt:lpstr>Lokales vs. Globales Error Handling</vt:lpstr>
      <vt:lpstr>Spezifische Exceptions fangen</vt:lpstr>
      <vt:lpstr>Fachliche vs. Technische Fehler</vt:lpstr>
      <vt:lpstr>Fehler-Propagierung</vt:lpstr>
      <vt:lpstr>Die Wichtigkeit von Logging</vt:lpstr>
      <vt:lpstr>Beispiel: Globales Fehlerhandling (Code)</vt:lpstr>
      <vt:lpstr>Teil 4:  Projektstart &amp; Abschluss</vt:lpstr>
      <vt:lpstr>Das Abschlussprojekt</vt:lpstr>
      <vt:lpstr>Architektur-Anforderungen</vt:lpstr>
      <vt:lpstr>Clean Code Kriterien</vt:lpstr>
      <vt:lpstr>Dokumentation des Projekts</vt:lpstr>
      <vt:lpstr>Themenvorschläge</vt:lpstr>
      <vt:lpstr>Der Workflow für die nächsten beiden Wochen</vt:lpstr>
      <vt:lpstr>Zusammenfassung &amp; Startschuss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langlebiger Software</dc:title>
  <dc:creator>Peter Bernhardt</dc:creator>
  <cp:keywords/>
  <cp:lastModifiedBy>Peter Bernhardt</cp:lastModifiedBy>
  <cp:revision>2</cp:revision>
  <dcterms:created xsi:type="dcterms:W3CDTF">2026-03-18T16:32:38Z</dcterms:created>
  <dcterms:modified xsi:type="dcterms:W3CDTF">2026-04-23T14:17:52Z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Woche 1: Die Dimension Zeit &amp; Software-Erosion</vt:lpwstr>
  </property>
</Properties>
</file>