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7" Type="http://schemas.openxmlformats.org/officeDocument/2006/relationships/viewProps" Target="viewProps.xml" /><Relationship Id="rId36" Type="http://schemas.openxmlformats.org/officeDocument/2006/relationships/presProps" Target="presProps.xml" /><Relationship Id="rId1" Type="http://schemas.openxmlformats.org/officeDocument/2006/relationships/slideMaster" Target="slideMasters/slideMaster1.xml" /><Relationship Id="rId39" Type="http://schemas.openxmlformats.org/officeDocument/2006/relationships/tableStyles" Target="tableStyles.xml" /><Relationship Id="rId3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Objektorientierte Programmierung (Vertiefung)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Woche 6: Fortgeschrittene Konzepte und Projektstart</a:t>
            </a:r>
            <a:br/>
            <a:br/>
            <a:r>
              <a:rPr/>
              <a:t>Peter Bernhardt</a:t>
            </a:r>
          </a:p>
        </p:txBody>
      </p:sp>
      <p:sp>
        <p:nvSpPr>
          <p:cNvPr id="4" name="Date Placeholder 3"/>
          <p:cNvSpPr>
            <a:spLocks noGrp="1"/>
          </p:cNvSpPr>
          <p:nvPr>
            <p:ph idx="10" sz="half" type="dt"/>
          </p:nvPr>
        </p:nvSpPr>
        <p:spPr/>
        <p:txBody>
          <a:bodyPr/>
          <a:lstStyle/>
          <a:p>
            <a:pPr lvl="0" indent="0" marL="0">
              <a:buNone/>
            </a:pPr>
            <a:r>
              <a:rPr/>
              <a:t>März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1: Einführung &amp; Das Warten auf Daten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Willkommen zu Woche 6</a:t>
            </a:r>
          </a:p>
        </p:txBody>
      </p:sp>
      <p:sp>
        <p:nvSpPr>
          <p:cNvPr id="3" name="Content Placeholder 2"/>
          <p:cNvSpPr>
            <a:spLocks noGrp="1"/>
          </p:cNvSpPr>
          <p:nvPr>
            <p:ph idx="1"/>
          </p:nvPr>
        </p:nvSpPr>
        <p:spPr/>
        <p:txBody>
          <a:bodyPr/>
          <a:lstStyle/>
          <a:p>
            <a:pPr lvl="0" indent="0" marL="0">
              <a:buNone/>
            </a:pPr>
            <a:r>
              <a:rPr/>
              <a:t>Wir haben den theoretischen Gipfel dieses Kurses erreicht. Architekturen, Patterns, SOLID und Testing liegen hinter uns.</a:t>
            </a:r>
          </a:p>
          <a:p>
            <a:pPr lvl="0" indent="0" marL="0">
              <a:buNone/>
            </a:pPr>
            <a:r>
              <a:rPr/>
              <a:t>Heute betrachten wir die Brücke zur realen Welt: Wie interagieren unsere sauberen Systeme effizient und ausfallsicher mit der Außenwelt (APIs, Datenbanken)?</a:t>
            </a:r>
          </a:p>
          <a:p>
            <a:pPr lvl="0" indent="0" marL="0">
              <a:buNone/>
            </a:pPr>
            <a:r>
              <a:rPr/>
              <a:t>Zudem geben wir heute den Startschuss für Ihre praktischen Abschlussprojekte.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Die vernetzte Verwaltung</a:t>
            </a:r>
          </a:p>
        </p:txBody>
      </p:sp>
      <p:sp>
        <p:nvSpPr>
          <p:cNvPr id="3" name="Content Placeholder 2"/>
          <p:cNvSpPr>
            <a:spLocks noGrp="1"/>
          </p:cNvSpPr>
          <p:nvPr>
            <p:ph idx="1"/>
          </p:nvPr>
        </p:nvSpPr>
        <p:spPr/>
        <p:txBody>
          <a:bodyPr/>
          <a:lstStyle/>
          <a:p>
            <a:pPr lvl="0" indent="0" marL="0">
              <a:buNone/>
            </a:pPr>
            <a:r>
              <a:rPr/>
              <a:t>Kein modernes Fachverfahren arbeitet mehr isoliert.</a:t>
            </a:r>
          </a:p>
          <a:p>
            <a:pPr lvl="0" indent="0" marL="0">
              <a:buNone/>
            </a:pPr>
            <a:r>
              <a:rPr/>
              <a:t>Wir müssen das zentrale Melderegister abfragen, PDF-Generatoren in der Cloud ansprechen oder Geodaten bei einem Karten-Dienst laden.</a:t>
            </a:r>
          </a:p>
          <a:p>
            <a:pPr lvl="0" indent="0" marL="0">
              <a:buNone/>
            </a:pPr>
            <a:r>
              <a:rPr/>
              <a:t>Diese Abfragen über das Netzwerk oder die Festplatte benötigen Zeit. Manchmal Millisekunden, manchmal Sekunden.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Das Problem der Synchronität</a:t>
            </a:r>
          </a:p>
        </p:txBody>
      </p:sp>
      <p:sp>
        <p:nvSpPr>
          <p:cNvPr id="3" name="Content Placeholder 2"/>
          <p:cNvSpPr>
            <a:spLocks noGrp="1"/>
          </p:cNvSpPr>
          <p:nvPr>
            <p:ph idx="1"/>
          </p:nvPr>
        </p:nvSpPr>
        <p:spPr/>
        <p:txBody>
          <a:bodyPr/>
          <a:lstStyle/>
          <a:p>
            <a:pPr lvl="0" indent="0" marL="0">
              <a:buNone/>
            </a:pPr>
            <a:r>
              <a:rPr/>
              <a:t>Wenn wir traditionell (synchron) programmieren, blockiert der aktuelle Thread unseres Programms, bis die externe Antwort da ist.</a:t>
            </a:r>
          </a:p>
          <a:p>
            <a:pPr lvl="0" indent="0" marL="0">
              <a:buNone/>
            </a:pPr>
            <a:r>
              <a:rPr/>
              <a:t>In einer Desktop-Anwendung führt das dazu, dass die Oberfläche “einfriert” (Keine Rückmeldung).</a:t>
            </a:r>
          </a:p>
          <a:p>
            <a:pPr lvl="0" indent="0" marL="0">
              <a:buNone/>
            </a:pPr>
            <a:r>
              <a:rPr/>
              <a:t>In einer Web-Anwendung blockieren wir den Webserver für andere Bürger.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Die Lösung: Asynchrone Ausführung</a:t>
            </a:r>
          </a:p>
        </p:txBody>
      </p:sp>
      <p:sp>
        <p:nvSpPr>
          <p:cNvPr id="3" name="Content Placeholder 2"/>
          <p:cNvSpPr>
            <a:spLocks noGrp="1"/>
          </p:cNvSpPr>
          <p:nvPr>
            <p:ph idx="1"/>
          </p:nvPr>
        </p:nvSpPr>
        <p:spPr/>
        <p:txBody>
          <a:bodyPr/>
          <a:lstStyle/>
          <a:p>
            <a:pPr lvl="0" indent="0" marL="0">
              <a:buNone/>
            </a:pPr>
            <a:r>
              <a:rPr/>
              <a:t>Asynchronität bedeutet: Das Programm schickt die Anfrage an das Netzwerk ab und sagt dem Thread: “Du bist frei, mach in der Zwischenzeit andere Arbeit. Sag mir Bescheid, wenn die Daten da sind, dann rechne ich hier weiter.”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2: Asynchrone Programmierung (Async / Await)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I/O-Bound vs. CPU-Bound</a:t>
            </a:r>
          </a:p>
        </p:txBody>
      </p:sp>
      <p:sp>
        <p:nvSpPr>
          <p:cNvPr id="3" name="Content Placeholder 2"/>
          <p:cNvSpPr>
            <a:spLocks noGrp="1"/>
          </p:cNvSpPr>
          <p:nvPr>
            <p:ph idx="1"/>
          </p:nvPr>
        </p:nvSpPr>
        <p:spPr/>
        <p:txBody>
          <a:bodyPr/>
          <a:lstStyle/>
          <a:p>
            <a:pPr lvl="0" indent="0" marL="0">
              <a:buNone/>
            </a:pPr>
            <a:r>
              <a:rPr/>
              <a:t>Es gibt zwei Arten von Aufgaben:</a:t>
            </a:r>
          </a:p>
          <a:p>
            <a:pPr lvl="0" indent="-342900" marL="342900">
              <a:buAutoNum type="arabicPeriod"/>
            </a:pPr>
            <a:r>
              <a:rPr b="1"/>
              <a:t>I/O-Bound:</a:t>
            </a:r>
            <a:r>
              <a:rPr/>
              <a:t> Warten auf Netzwerk, Festplatte oder Datenbank. Hier ist </a:t>
            </a:r>
            <a:r>
              <a:rPr i="1"/>
              <a:t>Asynchronität</a:t>
            </a:r>
            <a:r>
              <a:rPr/>
              <a:t> perfekt, da die CPU während des Wartens nichts zu tun hat.</a:t>
            </a:r>
          </a:p>
          <a:p>
            <a:pPr lvl="0" indent="-342900" marL="342900">
              <a:buAutoNum type="arabicPeriod"/>
            </a:pPr>
            <a:r>
              <a:rPr b="1"/>
              <a:t>CPU-Bound:</a:t>
            </a:r>
            <a:r>
              <a:rPr/>
              <a:t> Komplexe Berechnungen (z.B. Verschlüsselung). Hier nutzt man eher </a:t>
            </a:r>
            <a:r>
              <a:rPr i="1"/>
              <a:t>Parallelität</a:t>
            </a:r>
            <a:r>
              <a:rPr/>
              <a:t> auf mehreren Kernen, da die CPU aktiv arbeitet.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 und die Task Parallel Library (TPL)</a:t>
            </a:r>
          </a:p>
        </p:txBody>
      </p:sp>
      <p:sp>
        <p:nvSpPr>
          <p:cNvPr id="3" name="Content Placeholder 2"/>
          <p:cNvSpPr>
            <a:spLocks noGrp="1"/>
          </p:cNvSpPr>
          <p:nvPr>
            <p:ph idx="1"/>
          </p:nvPr>
        </p:nvSpPr>
        <p:spPr/>
        <p:txBody>
          <a:bodyPr/>
          <a:lstStyle/>
          <a:p>
            <a:pPr lvl="0" indent="0" marL="0">
              <a:buNone/>
            </a:pPr>
            <a:r>
              <a:rPr/>
              <a:t>C# hat asynchrone Programmierung revolutioniert. Anstatt komplexe “Callbacks” zu schreiben, bietet C# zwei magische Schlüsselwörter: </a:t>
            </a:r>
            <a:r>
              <a:rPr>
                <a:latin typeface="Courier"/>
              </a:rPr>
              <a:t>async</a:t>
            </a:r>
            <a:r>
              <a:rPr/>
              <a:t> und </a:t>
            </a:r>
            <a:r>
              <a:rPr>
                <a:latin typeface="Courier"/>
              </a:rPr>
              <a:t>await</a:t>
            </a:r>
            <a:r>
              <a:rPr/>
              <a:t>.</a:t>
            </a:r>
          </a:p>
          <a:p>
            <a:pPr lvl="0" indent="0" marL="0">
              <a:buNone/>
            </a:pPr>
            <a:r>
              <a:rPr/>
              <a:t>Zusammen mit der Klasse </a:t>
            </a:r>
            <a:r>
              <a:rPr>
                <a:latin typeface="Courier"/>
              </a:rPr>
              <a:t>Task&lt;T&gt;</a:t>
            </a:r>
            <a:r>
              <a:rPr/>
              <a:t> ermöglichen sie uns, asynchronen Code zu schreiben, der sich fast genau so liest wie synchroner Code.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Wie funktioniert ein Task?</a:t>
            </a:r>
          </a:p>
        </p:txBody>
      </p:sp>
      <p:sp>
        <p:nvSpPr>
          <p:cNvPr id="3" name="Content Placeholder 2"/>
          <p:cNvSpPr>
            <a:spLocks noGrp="1"/>
          </p:cNvSpPr>
          <p:nvPr>
            <p:ph idx="1"/>
          </p:nvPr>
        </p:nvSpPr>
        <p:spPr/>
        <p:txBody>
          <a:bodyPr/>
          <a:lstStyle/>
          <a:p>
            <a:pPr lvl="0" indent="0" marL="0">
              <a:buNone/>
            </a:pPr>
            <a:r>
              <a:rPr/>
              <a:t>Ein </a:t>
            </a:r>
            <a:r>
              <a:rPr>
                <a:latin typeface="Courier"/>
              </a:rPr>
              <a:t>Task</a:t>
            </a:r>
            <a:r>
              <a:rPr/>
              <a:t> repräsentiert eine laufende Operation. Er ist wie ein “Gutschein” für ein zukünftiges Ergebnis.</a:t>
            </a:r>
          </a:p>
          <a:p>
            <a:pPr lvl="0"/>
            <a:r>
              <a:rPr>
                <a:latin typeface="Courier"/>
              </a:rPr>
              <a:t>Task</a:t>
            </a:r>
            <a:r>
              <a:rPr/>
              <a:t>: Eine Operation ohne Rückgabewert (wie </a:t>
            </a:r>
            <a:r>
              <a:rPr>
                <a:latin typeface="Courier"/>
              </a:rPr>
              <a:t>void</a:t>
            </a:r>
            <a:r>
              <a:rPr/>
              <a:t>).</a:t>
            </a:r>
          </a:p>
          <a:p>
            <a:pPr lvl="0"/>
            <a:r>
              <a:rPr>
                <a:latin typeface="Courier"/>
              </a:rPr>
              <a:t>Task&lt;T&gt;</a:t>
            </a:r>
            <a:r>
              <a:rPr/>
              <a:t>: Eine Operation, die ein Ergebnis vom Typ </a:t>
            </a:r>
            <a:r>
              <a:rPr>
                <a:latin typeface="Courier"/>
              </a:rPr>
              <a:t>T</a:t>
            </a:r>
            <a:r>
              <a:rPr/>
              <a:t> liefern wird.</a:t>
            </a:r>
          </a:p>
          <a:p>
            <a:pPr lvl="0" indent="0" marL="0">
              <a:buNone/>
            </a:pPr>
            <a:r>
              <a:rPr/>
              <a:t>Die Klasse </a:t>
            </a:r>
            <a:r>
              <a:rPr>
                <a:latin typeface="Courier"/>
              </a:rPr>
              <a:t>Task</a:t>
            </a:r>
            <a:r>
              <a:rPr/>
              <a:t> kümmert sich um die Verwaltung der Threads und die Synchronisation, damit wir uns auf die Logik konzentrieren können.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Das Schlüsselwort: await</a:t>
            </a:r>
          </a:p>
        </p:txBody>
      </p:sp>
      <p:sp>
        <p:nvSpPr>
          <p:cNvPr id="3" name="Content Placeholder 2"/>
          <p:cNvSpPr>
            <a:spLocks noGrp="1"/>
          </p:cNvSpPr>
          <p:nvPr>
            <p:ph idx="1"/>
          </p:nvPr>
        </p:nvSpPr>
        <p:spPr/>
        <p:txBody>
          <a:bodyPr/>
          <a:lstStyle/>
          <a:p>
            <a:pPr lvl="0" indent="0" marL="0">
              <a:buNone/>
            </a:pPr>
            <a:r>
              <a:rPr/>
              <a:t>Das </a:t>
            </a:r>
            <a:r>
              <a:rPr>
                <a:latin typeface="Courier"/>
              </a:rPr>
              <a:t>await</a:t>
            </a:r>
            <a:r>
              <a:rPr/>
              <a:t>-Schlüsselwort bewirkt, dass die Ausführung der Methode pausiert wird, bis der Task abgeschlossen ist.</a:t>
            </a:r>
          </a:p>
          <a:p>
            <a:pPr lvl="0" indent="0" marL="0">
              <a:buNone/>
            </a:pPr>
            <a:r>
              <a:rPr/>
              <a:t>Währenddessen wird der aufrufende Thread freigegeben und kann andere Aufgaben bearbeiten. Sobald der Task fertig ist, kehrt die Methode an genau diese Stelle zurück.</a:t>
            </a:r>
          </a:p>
          <a:p>
            <a:pPr lvl="0" indent="0" marL="0">
              <a:buNone/>
            </a:pPr>
            <a:r>
              <a:rPr/>
              <a:t>Der Thread sagt quasi zum Hauptprogramm “Hold my beer. I’ll be back when the data is ready.”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Beispiel: Asynchrone Abfrage (Code)</a:t>
            </a:r>
          </a:p>
        </p:txBody>
      </p:sp>
      <p:sp>
        <p:nvSpPr>
          <p:cNvPr id="3" name="Content Placeholder 2"/>
          <p:cNvSpPr>
            <a:spLocks noGrp="1"/>
          </p:cNvSpPr>
          <p:nvPr>
            <p:ph idx="1"/>
          </p:nvPr>
        </p:nvSpPr>
        <p:spPr/>
        <p:txBody>
          <a:bodyPr/>
          <a:lstStyle/>
          <a:p>
            <a:pPr lvl="0" indent="0" marL="0">
              <a:buNone/>
            </a:pPr>
            <a:r>
              <a:rPr/>
              <a:t>Wir kennzeichnen die Methode mit </a:t>
            </a:r>
            <a:r>
              <a:rPr>
                <a:latin typeface="Courier"/>
              </a:rPr>
              <a:t>async Task&lt;T&gt;</a:t>
            </a:r>
            <a:r>
              <a:rPr/>
              <a:t> und warten mit </a:t>
            </a:r>
            <a:r>
              <a:rPr>
                <a:latin typeface="Courier"/>
              </a:rPr>
              <a:t>await</a:t>
            </a:r>
            <a:r>
              <a:rPr/>
              <a:t> auf das Netzwerk.</a:t>
            </a:r>
          </a:p>
          <a:p>
            <a:pPr lvl="0" indent="0">
              <a:buNone/>
            </a:pPr>
            <a:r>
              <a:rPr b="1">
                <a:solidFill>
                  <a:srgbClr val="007020"/>
                </a:solidFill>
                <a:latin typeface="Courier"/>
              </a:rPr>
              <a:t>using</a:t>
            </a:r>
            <a:r>
              <a:rPr>
                <a:latin typeface="Courier"/>
              </a:rPr>
              <a:t> System</a:t>
            </a:r>
            <a:r>
              <a:rPr>
                <a:solidFill>
                  <a:srgbClr val="666666"/>
                </a:solidFill>
                <a:latin typeface="Courier"/>
              </a:rPr>
              <a:t>.</a:t>
            </a:r>
            <a:r>
              <a:rPr>
                <a:solidFill>
                  <a:srgbClr val="06287E"/>
                </a:solidFill>
                <a:latin typeface="Courier"/>
              </a:rPr>
              <a:t>Net</a:t>
            </a:r>
            <a:r>
              <a:rPr>
                <a:solidFill>
                  <a:srgbClr val="666666"/>
                </a:solidFill>
                <a:latin typeface="Courier"/>
              </a:rPr>
              <a:t>.</a:t>
            </a:r>
            <a:r>
              <a:rPr>
                <a:solidFill>
                  <a:srgbClr val="06287E"/>
                </a:solidFill>
                <a:latin typeface="Courier"/>
              </a:rPr>
              <a:t>Http</a:t>
            </a:r>
            <a:r>
              <a:rPr>
                <a:solidFill>
                  <a:srgbClr val="666666"/>
                </a:solidFill>
                <a:latin typeface="Courier"/>
              </a:rPr>
              <a:t>;</a:t>
            </a:r>
            <a:br/>
            <a:r>
              <a:rPr b="1">
                <a:solidFill>
                  <a:srgbClr val="007020"/>
                </a:solidFill>
                <a:latin typeface="Courier"/>
              </a:rPr>
              <a:t>using</a:t>
            </a:r>
            <a:r>
              <a:rPr>
                <a:latin typeface="Courier"/>
              </a:rPr>
              <a:t> System</a:t>
            </a:r>
            <a:r>
              <a:rPr>
                <a:solidFill>
                  <a:srgbClr val="666666"/>
                </a:solidFill>
                <a:latin typeface="Courier"/>
              </a:rPr>
              <a:t>.</a:t>
            </a:r>
            <a:r>
              <a:rPr>
                <a:solidFill>
                  <a:srgbClr val="06287E"/>
                </a:solidFill>
                <a:latin typeface="Courier"/>
              </a:rPr>
              <a:t>Threading</a:t>
            </a:r>
            <a:r>
              <a:rPr>
                <a:solidFill>
                  <a:srgbClr val="666666"/>
                </a:solidFill>
                <a:latin typeface="Courier"/>
              </a:rPr>
              <a:t>.</a:t>
            </a:r>
            <a:r>
              <a:rPr>
                <a:solidFill>
                  <a:srgbClr val="06287E"/>
                </a:solidFill>
                <a:latin typeface="Courier"/>
              </a:rPr>
              <a:t>Tasks</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MeldeService</a:t>
            </a:r>
            <a:br/>
            <a:r>
              <a:rPr>
                <a:solidFill>
                  <a:srgbClr val="666666"/>
                </a:solidFill>
                <a:latin typeface="Courier"/>
              </a:rPr>
              <a:t>{</a:t>
            </a:r>
            <a:br/>
            <a:r>
              <a:rPr>
                <a:latin typeface="Courier"/>
              </a:rPr>
              <a:t>    </a:t>
            </a:r>
            <a:r>
              <a:rPr i="1">
                <a:solidFill>
                  <a:srgbClr val="60A0B0"/>
                </a:solidFill>
                <a:latin typeface="Courier"/>
              </a:rPr>
              <a:t>// Die Methode gibt keinen string zurück, sondern ein "Versprechen" (Task)</a:t>
            </a:r>
            <a:br/>
            <a:r>
              <a:rPr>
                <a:latin typeface="Courier"/>
              </a:rPr>
              <a:t>    </a:t>
            </a:r>
            <a:r>
              <a:rPr b="1">
                <a:solidFill>
                  <a:srgbClr val="007020"/>
                </a:solidFill>
                <a:latin typeface="Courier"/>
              </a:rPr>
              <a:t>public</a:t>
            </a:r>
            <a:r>
              <a:rPr>
                <a:latin typeface="Courier"/>
              </a:rPr>
              <a:t> async Task</a:t>
            </a:r>
            <a:r>
              <a:rPr>
                <a:solidFill>
                  <a:srgbClr val="666666"/>
                </a:solidFill>
                <a:latin typeface="Courier"/>
              </a:rPr>
              <a:t>&lt;</a:t>
            </a:r>
            <a:r>
              <a:rPr>
                <a:solidFill>
                  <a:srgbClr val="902000"/>
                </a:solidFill>
                <a:latin typeface="Courier"/>
              </a:rPr>
              <a:t>string</a:t>
            </a:r>
            <a:r>
              <a:rPr>
                <a:solidFill>
                  <a:srgbClr val="666666"/>
                </a:solidFill>
                <a:latin typeface="Courier"/>
              </a:rPr>
              <a:t>&gt;</a:t>
            </a:r>
            <a:r>
              <a:rPr>
                <a:latin typeface="Courier"/>
              </a:rPr>
              <a:t> </a:t>
            </a:r>
            <a:r>
              <a:rPr>
                <a:solidFill>
                  <a:srgbClr val="06287E"/>
                </a:solidFill>
                <a:latin typeface="Courier"/>
              </a:rPr>
              <a:t>HoleBuergerDatenAsync</a:t>
            </a:r>
            <a:r>
              <a:rPr>
                <a:solidFill>
                  <a:srgbClr val="666666"/>
                </a:solidFill>
                <a:latin typeface="Courier"/>
              </a:rPr>
              <a:t>(</a:t>
            </a:r>
            <a:r>
              <a:rPr>
                <a:solidFill>
                  <a:srgbClr val="902000"/>
                </a:solidFill>
                <a:latin typeface="Courier"/>
              </a:rPr>
              <a:t>string</a:t>
            </a:r>
            <a:r>
              <a:rPr>
                <a:latin typeface="Courier"/>
              </a:rPr>
              <a:t> id</a:t>
            </a:r>
            <a:r>
              <a:rPr>
                <a:solidFill>
                  <a:srgbClr val="666666"/>
                </a:solidFill>
                <a:latin typeface="Courier"/>
              </a:rPr>
              <a:t>)</a:t>
            </a:r>
            <a:r>
              <a:rPr>
                <a:latin typeface="Courier"/>
              </a:rPr>
              <a:t> </a:t>
            </a:r>
            <a:br/>
            <a:r>
              <a:rPr>
                <a:latin typeface="Courier"/>
              </a:rPr>
              <a:t>    </a:t>
            </a:r>
            <a:r>
              <a:rPr>
                <a:solidFill>
                  <a:srgbClr val="666666"/>
                </a:solidFill>
                <a:latin typeface="Courier"/>
              </a:rPr>
              <a:t>{</a:t>
            </a:r>
            <a:br/>
            <a:r>
              <a:rPr>
                <a:latin typeface="Courier"/>
              </a:rPr>
              <a:t>        HttpClient client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HttpClient</a:t>
            </a:r>
            <a:r>
              <a:rPr>
                <a:solidFill>
                  <a:srgbClr val="666666"/>
                </a:solidFill>
                <a:latin typeface="Courier"/>
              </a:rPr>
              <a:t>();</a:t>
            </a:r>
            <a:br/>
            <a:r>
              <a:rPr>
                <a:latin typeface="Courier"/>
              </a:rPr>
              <a:t>        </a:t>
            </a:r>
            <a:br/>
            <a:r>
              <a:rPr>
                <a:latin typeface="Courier"/>
              </a:rPr>
              <a:t>        </a:t>
            </a:r>
            <a:r>
              <a:rPr i="1">
                <a:solidFill>
                  <a:srgbClr val="60A0B0"/>
                </a:solidFill>
                <a:latin typeface="Courier"/>
              </a:rPr>
              <a:t>// await "pausiert" diese Methode hier, ohne den Thread zu blockieren!</a:t>
            </a:r>
            <a:br/>
            <a:r>
              <a:rPr>
                <a:latin typeface="Courier"/>
              </a:rPr>
              <a:t>        </a:t>
            </a:r>
            <a:r>
              <a:rPr>
                <a:solidFill>
                  <a:srgbClr val="902000"/>
                </a:solidFill>
                <a:latin typeface="Courier"/>
              </a:rPr>
              <a:t>string</a:t>
            </a:r>
            <a:r>
              <a:rPr>
                <a:latin typeface="Courier"/>
              </a:rPr>
              <a:t> daten </a:t>
            </a:r>
            <a:r>
              <a:rPr>
                <a:solidFill>
                  <a:srgbClr val="666666"/>
                </a:solidFill>
                <a:latin typeface="Courier"/>
              </a:rPr>
              <a:t>=</a:t>
            </a:r>
            <a:r>
              <a:rPr>
                <a:latin typeface="Courier"/>
              </a:rPr>
              <a:t> await client</a:t>
            </a:r>
            <a:r>
              <a:rPr>
                <a:solidFill>
                  <a:srgbClr val="666666"/>
                </a:solidFill>
                <a:latin typeface="Courier"/>
              </a:rPr>
              <a:t>.</a:t>
            </a:r>
            <a:r>
              <a:rPr>
                <a:solidFill>
                  <a:srgbClr val="06287E"/>
                </a:solidFill>
                <a:latin typeface="Courier"/>
              </a:rPr>
              <a:t>GetStringAsync</a:t>
            </a:r>
            <a:r>
              <a:rPr>
                <a:solidFill>
                  <a:srgbClr val="666666"/>
                </a:solidFill>
                <a:latin typeface="Courier"/>
              </a:rPr>
              <a:t>(</a:t>
            </a:r>
            <a:r>
              <a:rPr>
                <a:latin typeface="Courier"/>
              </a:rPr>
              <a:t>$</a:t>
            </a:r>
            <a:r>
              <a:rPr>
                <a:solidFill>
                  <a:srgbClr val="4070A0"/>
                </a:solidFill>
                <a:latin typeface="Courier"/>
              </a:rPr>
              <a:t>"https://api.behoerde.de/{id}"</a:t>
            </a:r>
            <a:r>
              <a:rPr>
                <a:solidFill>
                  <a:srgbClr val="666666"/>
                </a:solidFill>
                <a:latin typeface="Courier"/>
              </a:rPr>
              <a:t>);</a:t>
            </a:r>
            <a:br/>
            <a:br/>
            <a:r>
              <a:rPr>
                <a:latin typeface="Courier"/>
              </a:rPr>
              <a:t>        </a:t>
            </a:r>
            <a:r>
              <a:rPr i="1">
                <a:solidFill>
                  <a:srgbClr val="60A0B0"/>
                </a:solidFill>
                <a:latin typeface="Courier"/>
              </a:rPr>
              <a:t>// Der Dienst ermittelt nun die Antwort, was u.U. einige Zeit dauern kann...</a:t>
            </a:r>
            <a:br/>
            <a:br/>
            <a:r>
              <a:rPr>
                <a:latin typeface="Courier"/>
              </a:rPr>
              <a:t>        </a:t>
            </a:r>
            <a:r>
              <a:rPr i="1">
                <a:solidFill>
                  <a:srgbClr val="60A0B0"/>
                </a:solidFill>
                <a:latin typeface="Courier"/>
              </a:rPr>
              <a:t>// Der Thread wartet nicht untätig, sondern kann in der Zwischenzeit andere </a:t>
            </a:r>
            <a:br/>
            <a:r>
              <a:rPr>
                <a:latin typeface="Courier"/>
              </a:rPr>
              <a:t>        </a:t>
            </a:r>
            <a:r>
              <a:rPr i="1">
                <a:solidFill>
                  <a:srgbClr val="60A0B0"/>
                </a:solidFill>
                <a:latin typeface="Courier"/>
              </a:rPr>
              <a:t>// Anfragen bearbeiten oder die UI responsive halten.</a:t>
            </a:r>
            <a:br/>
            <a:r>
              <a:rPr>
                <a:latin typeface="Courier"/>
              </a:rPr>
              <a:t>        </a:t>
            </a:r>
            <a:br/>
            <a:r>
              <a:rPr>
                <a:latin typeface="Courier"/>
              </a:rPr>
              <a:t>        </a:t>
            </a:r>
            <a:r>
              <a:rPr i="1">
                <a:solidFill>
                  <a:srgbClr val="60A0B0"/>
                </a:solidFill>
                <a:latin typeface="Courier"/>
              </a:rPr>
              <a:t>// Wenn die Antwort vom Dienst dann da ist, geht es hier weiter</a:t>
            </a:r>
            <a:br/>
            <a:r>
              <a:rPr>
                <a:latin typeface="Courier"/>
              </a:rPr>
              <a:t>        </a:t>
            </a:r>
            <a:r>
              <a:rPr b="1">
                <a:solidFill>
                  <a:srgbClr val="007020"/>
                </a:solidFill>
                <a:latin typeface="Courier"/>
              </a:rPr>
              <a:t>return</a:t>
            </a:r>
            <a:r>
              <a:rPr>
                <a:latin typeface="Courier"/>
              </a:rPr>
              <a:t> daten</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Parallelität: Task.WhenAll</a:t>
            </a:r>
          </a:p>
        </p:txBody>
      </p:sp>
      <p:sp>
        <p:nvSpPr>
          <p:cNvPr id="3" name="Content Placeholder 2"/>
          <p:cNvSpPr>
            <a:spLocks noGrp="1"/>
          </p:cNvSpPr>
          <p:nvPr>
            <p:ph idx="1"/>
          </p:nvPr>
        </p:nvSpPr>
        <p:spPr/>
        <p:txBody>
          <a:bodyPr/>
          <a:lstStyle/>
          <a:p>
            <a:pPr lvl="0" indent="0" marL="0">
              <a:buNone/>
            </a:pPr>
            <a:r>
              <a:rPr/>
              <a:t>Noch mächtiger wird es, wenn wir Daten aus </a:t>
            </a:r>
            <a:r>
              <a:rPr i="1"/>
              <a:t>mehreren</a:t>
            </a:r>
            <a:r>
              <a:rPr/>
              <a:t> Quellen brauchen. Anstatt Quelle A abzufragen (warten), dann Quelle B (warten), können wir beide Anfragen gleichzeitig auf die Reise schicken.</a:t>
            </a:r>
          </a:p>
          <a:p>
            <a:pPr lvl="0" indent="0" marL="0">
              <a:buNone/>
            </a:pPr>
            <a:r>
              <a:rPr b="1"/>
              <a:t>Vorteile der Parallelität</a:t>
            </a:r>
          </a:p>
          <a:p>
            <a:pPr lvl="0" indent="0" marL="0">
              <a:buNone/>
            </a:pPr>
            <a:r>
              <a:rPr/>
              <a:t>Durch parallele Abfragen reduziert sich die Gesamtwartezeit drastisch. Statt der Summe aller Wartezeiten warten wir nur so lange, wie die langsamste Einzelabfrage dauert. In vernetzten Systemen kann das ein massiver Performance-Gewinn sein.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Beispiel: Parallele API-Abfragen (Code)</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async Task</a:t>
            </a:r>
            <a:r>
              <a:rPr>
                <a:solidFill>
                  <a:srgbClr val="666666"/>
                </a:solidFill>
                <a:latin typeface="Courier"/>
              </a:rPr>
              <a:t>&lt;</a:t>
            </a:r>
            <a:r>
              <a:rPr>
                <a:latin typeface="Courier"/>
              </a:rPr>
              <a:t>BuergerDaten</a:t>
            </a:r>
            <a:r>
              <a:rPr>
                <a:solidFill>
                  <a:srgbClr val="666666"/>
                </a:solidFill>
                <a:latin typeface="Courier"/>
              </a:rPr>
              <a:t>&gt;</a:t>
            </a:r>
            <a:r>
              <a:rPr>
                <a:latin typeface="Courier"/>
              </a:rPr>
              <a:t> </a:t>
            </a:r>
            <a:r>
              <a:rPr>
                <a:solidFill>
                  <a:srgbClr val="06287E"/>
                </a:solidFill>
                <a:latin typeface="Courier"/>
              </a:rPr>
              <a:t>HoleVollstaendigeDatenAsync</a:t>
            </a:r>
            <a:r>
              <a:rPr>
                <a:solidFill>
                  <a:srgbClr val="666666"/>
                </a:solidFill>
                <a:latin typeface="Courier"/>
              </a:rPr>
              <a:t>(</a:t>
            </a:r>
            <a:r>
              <a:rPr>
                <a:solidFill>
                  <a:srgbClr val="902000"/>
                </a:solidFill>
                <a:latin typeface="Courier"/>
              </a:rPr>
              <a:t>string</a:t>
            </a:r>
            <a:r>
              <a:rPr>
                <a:latin typeface="Courier"/>
              </a:rPr>
              <a:t> id</a:t>
            </a:r>
            <a:r>
              <a:rPr>
                <a:solidFill>
                  <a:srgbClr val="666666"/>
                </a:solidFill>
                <a:latin typeface="Courier"/>
              </a:rPr>
              <a:t>)</a:t>
            </a:r>
            <a:br/>
            <a:r>
              <a:rPr>
                <a:solidFill>
                  <a:srgbClr val="666666"/>
                </a:solidFill>
                <a:latin typeface="Courier"/>
              </a:rPr>
              <a:t>{</a:t>
            </a:r>
            <a:br/>
            <a:r>
              <a:rPr>
                <a:latin typeface="Courier"/>
              </a:rPr>
              <a:t>    </a:t>
            </a:r>
            <a:r>
              <a:rPr i="1">
                <a:solidFill>
                  <a:srgbClr val="60A0B0"/>
                </a:solidFill>
                <a:latin typeface="Courier"/>
              </a:rPr>
              <a:t>// Wir starten zwei Abfragen gleichzeitig (parallel)</a:t>
            </a:r>
            <a:br/>
            <a:r>
              <a:rPr>
                <a:latin typeface="Courier"/>
              </a:rPr>
              <a:t>    </a:t>
            </a:r>
            <a:r>
              <a:rPr>
                <a:solidFill>
                  <a:srgbClr val="902000"/>
                </a:solidFill>
                <a:latin typeface="Courier"/>
              </a:rPr>
              <a:t>var</a:t>
            </a:r>
            <a:r>
              <a:rPr>
                <a:latin typeface="Courier"/>
              </a:rPr>
              <a:t> meldeTask </a:t>
            </a:r>
            <a:r>
              <a:rPr>
                <a:solidFill>
                  <a:srgbClr val="666666"/>
                </a:solidFill>
                <a:latin typeface="Courier"/>
              </a:rPr>
              <a:t>=</a:t>
            </a:r>
            <a:r>
              <a:rPr>
                <a:latin typeface="Courier"/>
              </a:rPr>
              <a:t> _apiClient</a:t>
            </a:r>
            <a:r>
              <a:rPr>
                <a:solidFill>
                  <a:srgbClr val="666666"/>
                </a:solidFill>
                <a:latin typeface="Courier"/>
              </a:rPr>
              <a:t>.</a:t>
            </a:r>
            <a:r>
              <a:rPr>
                <a:solidFill>
                  <a:srgbClr val="06287E"/>
                </a:solidFill>
                <a:latin typeface="Courier"/>
              </a:rPr>
              <a:t>GetMelderegisterDatenAsync</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902000"/>
                </a:solidFill>
                <a:latin typeface="Courier"/>
              </a:rPr>
              <a:t>var</a:t>
            </a:r>
            <a:r>
              <a:rPr>
                <a:latin typeface="Courier"/>
              </a:rPr>
              <a:t> steuerTask </a:t>
            </a:r>
            <a:r>
              <a:rPr>
                <a:solidFill>
                  <a:srgbClr val="666666"/>
                </a:solidFill>
                <a:latin typeface="Courier"/>
              </a:rPr>
              <a:t>=</a:t>
            </a:r>
            <a:r>
              <a:rPr>
                <a:latin typeface="Courier"/>
              </a:rPr>
              <a:t> _apiClient</a:t>
            </a:r>
            <a:r>
              <a:rPr>
                <a:solidFill>
                  <a:srgbClr val="666666"/>
                </a:solidFill>
                <a:latin typeface="Courier"/>
              </a:rPr>
              <a:t>.</a:t>
            </a:r>
            <a:r>
              <a:rPr>
                <a:solidFill>
                  <a:srgbClr val="06287E"/>
                </a:solidFill>
                <a:latin typeface="Courier"/>
              </a:rPr>
              <a:t>GetSteuerDatenAsync</a:t>
            </a:r>
            <a:r>
              <a:rPr>
                <a:solidFill>
                  <a:srgbClr val="666666"/>
                </a:solidFill>
                <a:latin typeface="Courier"/>
              </a:rPr>
              <a:t>(</a:t>
            </a:r>
            <a:r>
              <a:rPr>
                <a:latin typeface="Courier"/>
              </a:rPr>
              <a:t>id</a:t>
            </a:r>
            <a:r>
              <a:rPr>
                <a:solidFill>
                  <a:srgbClr val="666666"/>
                </a:solidFill>
                <a:latin typeface="Courier"/>
              </a:rPr>
              <a:t>);</a:t>
            </a:r>
            <a:br/>
            <a:br/>
            <a:r>
              <a:rPr>
                <a:latin typeface="Courier"/>
              </a:rPr>
              <a:t>    </a:t>
            </a:r>
            <a:r>
              <a:rPr i="1">
                <a:solidFill>
                  <a:srgbClr val="60A0B0"/>
                </a:solidFill>
                <a:latin typeface="Courier"/>
              </a:rPr>
              <a:t>// Hier warten wir auf beide Ergebnisse, ohne den Thread zu blockieren</a:t>
            </a:r>
            <a:br/>
            <a:r>
              <a:rPr>
                <a:latin typeface="Courier"/>
              </a:rPr>
              <a:t>    await Task</a:t>
            </a:r>
            <a:r>
              <a:rPr>
                <a:solidFill>
                  <a:srgbClr val="666666"/>
                </a:solidFill>
                <a:latin typeface="Courier"/>
              </a:rPr>
              <a:t>.</a:t>
            </a:r>
            <a:r>
              <a:rPr>
                <a:solidFill>
                  <a:srgbClr val="06287E"/>
                </a:solidFill>
                <a:latin typeface="Courier"/>
              </a:rPr>
              <a:t>WhenAll</a:t>
            </a:r>
            <a:r>
              <a:rPr>
                <a:solidFill>
                  <a:srgbClr val="666666"/>
                </a:solidFill>
                <a:latin typeface="Courier"/>
              </a:rPr>
              <a:t>(</a:t>
            </a:r>
            <a:r>
              <a:rPr>
                <a:latin typeface="Courier"/>
              </a:rPr>
              <a:t>meldeTask</a:t>
            </a:r>
            <a:r>
              <a:rPr>
                <a:solidFill>
                  <a:srgbClr val="666666"/>
                </a:solidFill>
                <a:latin typeface="Courier"/>
              </a:rPr>
              <a:t>,</a:t>
            </a:r>
            <a:r>
              <a:rPr>
                <a:latin typeface="Courier"/>
              </a:rPr>
              <a:t> steuerTask</a:t>
            </a:r>
            <a:r>
              <a:rPr>
                <a:solidFill>
                  <a:srgbClr val="666666"/>
                </a:solidFill>
                <a:latin typeface="Courier"/>
              </a:rPr>
              <a:t>);</a:t>
            </a:r>
            <a:b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BuergerDaten </a:t>
            </a:r>
            <a:r>
              <a:rPr>
                <a:solidFill>
                  <a:srgbClr val="666666"/>
                </a:solidFill>
                <a:latin typeface="Courier"/>
              </a:rPr>
              <a:t>{</a:t>
            </a:r>
            <a:br/>
            <a:r>
              <a:rPr>
                <a:latin typeface="Courier"/>
              </a:rPr>
              <a:t>        Name </a:t>
            </a:r>
            <a:r>
              <a:rPr>
                <a:solidFill>
                  <a:srgbClr val="666666"/>
                </a:solidFill>
                <a:latin typeface="Courier"/>
              </a:rPr>
              <a:t>=</a:t>
            </a:r>
            <a:r>
              <a:rPr>
                <a:latin typeface="Courier"/>
              </a:rPr>
              <a:t> meldeTask</a:t>
            </a:r>
            <a:r>
              <a:rPr>
                <a:solidFill>
                  <a:srgbClr val="666666"/>
                </a:solidFill>
                <a:latin typeface="Courier"/>
              </a:rPr>
              <a:t>.</a:t>
            </a:r>
            <a:r>
              <a:rPr>
                <a:solidFill>
                  <a:srgbClr val="06287E"/>
                </a:solidFill>
                <a:latin typeface="Courier"/>
              </a:rPr>
              <a:t>Result</a:t>
            </a:r>
            <a:r>
              <a:rPr>
                <a:solidFill>
                  <a:srgbClr val="666666"/>
                </a:solidFill>
                <a:latin typeface="Courier"/>
              </a:rPr>
              <a:t>.</a:t>
            </a:r>
            <a:r>
              <a:rPr>
                <a:solidFill>
                  <a:srgbClr val="06287E"/>
                </a:solidFill>
                <a:latin typeface="Courier"/>
              </a:rPr>
              <a:t>Name</a:t>
            </a:r>
            <a:r>
              <a:rPr>
                <a:solidFill>
                  <a:srgbClr val="666666"/>
                </a:solidFill>
                <a:latin typeface="Courier"/>
              </a:rPr>
              <a:t>,</a:t>
            </a:r>
            <a:br/>
            <a:r>
              <a:rPr>
                <a:latin typeface="Courier"/>
              </a:rPr>
              <a:t>        SteuerKlasse </a:t>
            </a:r>
            <a:r>
              <a:rPr>
                <a:solidFill>
                  <a:srgbClr val="666666"/>
                </a:solidFill>
                <a:latin typeface="Courier"/>
              </a:rPr>
              <a:t>=</a:t>
            </a:r>
            <a:r>
              <a:rPr>
                <a:latin typeface="Courier"/>
              </a:rPr>
              <a:t> steuerTask</a:t>
            </a:r>
            <a:r>
              <a:rPr>
                <a:solidFill>
                  <a:srgbClr val="666666"/>
                </a:solidFill>
                <a:latin typeface="Courier"/>
              </a:rPr>
              <a:t>.</a:t>
            </a:r>
            <a:r>
              <a:rPr>
                <a:solidFill>
                  <a:srgbClr val="06287E"/>
                </a:solidFill>
                <a:latin typeface="Courier"/>
              </a:rPr>
              <a:t>Result</a:t>
            </a:r>
            <a:r>
              <a:rPr>
                <a:solidFill>
                  <a:srgbClr val="666666"/>
                </a:solidFill>
                <a:latin typeface="Courier"/>
              </a:rPr>
              <a:t>.</a:t>
            </a:r>
            <a:r>
              <a:rPr>
                <a:solidFill>
                  <a:srgbClr val="06287E"/>
                </a:solidFill>
                <a:latin typeface="Courier"/>
              </a:rPr>
              <a:t>Klasse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Die goldene Regel: “Async all the way”</a:t>
            </a:r>
          </a:p>
        </p:txBody>
      </p:sp>
      <p:sp>
        <p:nvSpPr>
          <p:cNvPr id="3" name="Content Placeholder 2"/>
          <p:cNvSpPr>
            <a:spLocks noGrp="1"/>
          </p:cNvSpPr>
          <p:nvPr>
            <p:ph idx="1"/>
          </p:nvPr>
        </p:nvSpPr>
        <p:spPr/>
        <p:txBody>
          <a:bodyPr/>
          <a:lstStyle/>
          <a:p>
            <a:pPr lvl="0" indent="0" marL="0">
              <a:buNone/>
            </a:pPr>
            <a:r>
              <a:rPr/>
              <a:t>Wenn Sie im Keller Ihrer Architektur (Data Access Layer) asynchron werden, sollten Sie die Asynchronität bis ganz nach oben (Presentation Layer) durchziehen.</a:t>
            </a:r>
          </a:p>
          <a:p>
            <a:pPr lvl="0" indent="0" marL="0">
              <a:buNone/>
            </a:pPr>
            <a:r>
              <a:rPr>
                <a:latin typeface="Courier"/>
              </a:rPr>
              <a:t>async</a:t>
            </a:r>
            <a:r>
              <a:rPr/>
              <a:t> ist wie ein “Virus”, das sich im positiven Sinne durch den Call-Stack frisst.</a:t>
            </a:r>
          </a:p>
          <a:p>
            <a:pPr lvl="0" indent="0" marL="0">
              <a:buNone/>
            </a:pPr>
            <a:r>
              <a:rPr/>
              <a:t>Eine synchrone Methode, die eine asynchrone Methode aufruft, ist ein Anti-Pattern.</a:t>
            </a:r>
            <a:br/>
            <a:r>
              <a:rPr/>
              <a:t>Denn dann müssen Sie entweder </a:t>
            </a:r>
            <a:r>
              <a:rPr>
                <a:latin typeface="Courier"/>
              </a:rPr>
              <a:t>.Wait()</a:t>
            </a:r>
            <a:r>
              <a:rPr/>
              <a:t> oder </a:t>
            </a:r>
            <a:r>
              <a:rPr>
                <a:latin typeface="Courier"/>
              </a:rPr>
              <a:t>.Result</a:t>
            </a:r>
            <a:r>
              <a:rPr/>
              <a:t> verwenden, um das Ergebnis zu bekommen, was die Vorteile der Asynchronität zunichte macht. Zusätzlich kann in der UI das Programm einfrieren, da der GUI-Thread blockiert wird.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Die Deadlock-Gefahr</a:t>
            </a:r>
          </a:p>
        </p:txBody>
      </p:sp>
      <p:sp>
        <p:nvSpPr>
          <p:cNvPr id="3" name="Content Placeholder 2"/>
          <p:cNvSpPr>
            <a:spLocks noGrp="1"/>
          </p:cNvSpPr>
          <p:nvPr>
            <p:ph idx="1"/>
          </p:nvPr>
        </p:nvSpPr>
        <p:spPr/>
        <p:txBody>
          <a:bodyPr/>
          <a:lstStyle/>
          <a:p>
            <a:pPr lvl="0" indent="0" marL="0">
              <a:buNone/>
            </a:pPr>
            <a:r>
              <a:rPr/>
              <a:t>Nutzen Sie </a:t>
            </a:r>
            <a:r>
              <a:rPr b="1"/>
              <a:t>niemals</a:t>
            </a:r>
            <a:r>
              <a:rPr/>
              <a:t> </a:t>
            </a:r>
            <a:r>
              <a:rPr>
                <a:latin typeface="Courier"/>
              </a:rPr>
              <a:t>.Wait()</a:t>
            </a:r>
            <a:r>
              <a:rPr/>
              <a:t> oder </a:t>
            </a:r>
            <a:r>
              <a:rPr>
                <a:latin typeface="Courier"/>
              </a:rPr>
              <a:t>.Result</a:t>
            </a:r>
            <a:r>
              <a:rPr/>
              <a:t> auf einem </a:t>
            </a:r>
            <a:r>
              <a:rPr>
                <a:latin typeface="Courier"/>
              </a:rPr>
              <a:t>Task</a:t>
            </a:r>
            <a:r>
              <a:rPr/>
              <a:t> innerhalb einer normalen (synchronen) Methode, um Asynchronität zu erzwingen.</a:t>
            </a:r>
          </a:p>
          <a:p>
            <a:pPr lvl="0" indent="0" marL="0">
              <a:buNone/>
            </a:pPr>
            <a:r>
              <a:rPr/>
              <a:t>In UI-Frameworks (WPF) oder Web-Kontexten führt dies fast unweigerlich zu </a:t>
            </a:r>
            <a:r>
              <a:rPr b="1"/>
              <a:t>Deadlocks</a:t>
            </a:r>
            <a:r>
              <a:rPr/>
              <a:t> (das Programm verhakt sich in sich selbst und steht still).</a:t>
            </a:r>
          </a:p>
          <a:p>
            <a:pPr lvl="0" indent="0" marL="0">
              <a:buNone/>
            </a:pPr>
            <a:r>
              <a:rPr b="1"/>
              <a:t>Regel:</a:t>
            </a:r>
            <a:r>
              <a:rPr/>
              <a:t> Wo ein </a:t>
            </a:r>
            <a:r>
              <a:rPr>
                <a:latin typeface="Courier"/>
              </a:rPr>
              <a:t>Task</a:t>
            </a:r>
            <a:r>
              <a:rPr/>
              <a:t> ist, muss ein </a:t>
            </a:r>
            <a:r>
              <a:rPr>
                <a:latin typeface="Courier"/>
              </a:rPr>
              <a:t>await</a:t>
            </a:r>
            <a:r>
              <a:rPr/>
              <a:t> sein.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3: Robustes Error Handling</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Warum try-catch oft nicht reicht</a:t>
            </a:r>
          </a:p>
        </p:txBody>
      </p:sp>
      <p:sp>
        <p:nvSpPr>
          <p:cNvPr id="3" name="Content Placeholder 2"/>
          <p:cNvSpPr>
            <a:spLocks noGrp="1"/>
          </p:cNvSpPr>
          <p:nvPr>
            <p:ph idx="1"/>
          </p:nvPr>
        </p:nvSpPr>
        <p:spPr/>
        <p:txBody>
          <a:bodyPr/>
          <a:lstStyle/>
          <a:p>
            <a:pPr lvl="0" indent="0" marL="0">
              <a:buNone/>
            </a:pPr>
            <a:r>
              <a:rPr/>
              <a:t>In vielen Fällen fängt man oft einfach alles ab, um Abstürze zu verhindern:</a:t>
            </a:r>
          </a:p>
          <a:p>
            <a:pPr lvl="0" indent="0">
              <a:buNone/>
            </a:pPr>
            <a:r>
              <a:rPr b="1">
                <a:solidFill>
                  <a:srgbClr val="007020"/>
                </a:solidFill>
                <a:latin typeface="Courier"/>
              </a:rPr>
              <a:t>try</a:t>
            </a:r>
            <a:r>
              <a:rPr>
                <a:latin typeface="Courier"/>
              </a:rPr>
              <a:t> </a:t>
            </a:r>
            <a:r>
              <a:rPr>
                <a:solidFill>
                  <a:srgbClr val="666666"/>
                </a:solidFill>
                <a:latin typeface="Courier"/>
              </a:rPr>
              <a:t>{</a:t>
            </a:r>
            <a:r>
              <a:rPr>
                <a:latin typeface="Courier"/>
              </a:rPr>
              <a:t> </a:t>
            </a:r>
            <a:br/>
            <a:r>
              <a:rPr>
                <a:latin typeface="Courier"/>
              </a:rPr>
              <a:t>   </a:t>
            </a:r>
            <a:r>
              <a:rPr>
                <a:solidFill>
                  <a:srgbClr val="06287E"/>
                </a:solidFill>
                <a:latin typeface="Courier"/>
              </a:rPr>
              <a:t>MacheEtwas</a:t>
            </a:r>
            <a:r>
              <a:rPr>
                <a:solidFill>
                  <a:srgbClr val="666666"/>
                </a:solidFill>
                <a:latin typeface="Courier"/>
              </a:rPr>
              <a:t>();</a:t>
            </a:r>
            <a:r>
              <a:rPr>
                <a:latin typeface="Courier"/>
              </a:rPr>
              <a:t> </a:t>
            </a:r>
            <a:br/>
            <a:r>
              <a:rPr>
                <a:solidFill>
                  <a:srgbClr val="666666"/>
                </a:solidFill>
                <a:latin typeface="Courier"/>
              </a:rPr>
              <a:t>}</a:t>
            </a:r>
            <a:r>
              <a:rPr>
                <a:latin typeface="Courier"/>
              </a:rPr>
              <a:t> </a:t>
            </a:r>
            <a:br/>
            <a:r>
              <a:rPr b="1">
                <a:solidFill>
                  <a:srgbClr val="007020"/>
                </a:solidFill>
                <a:latin typeface="Courier"/>
              </a:rPr>
              <a:t>catch</a:t>
            </a:r>
            <a:r>
              <a:rPr>
                <a:latin typeface="Courier"/>
              </a:rPr>
              <a:t> </a:t>
            </a:r>
            <a:r>
              <a:rPr>
                <a:solidFill>
                  <a:srgbClr val="666666"/>
                </a:solidFill>
                <a:latin typeface="Courier"/>
              </a:rPr>
              <a:t>{</a:t>
            </a:r>
            <a:r>
              <a:rPr>
                <a:latin typeface="Courier"/>
              </a:rPr>
              <a:t> </a:t>
            </a:r>
            <a:br/>
            <a:r>
              <a:rPr>
                <a:latin typeface="Courier"/>
              </a:rPr>
              <a:t>   </a:t>
            </a:r>
            <a:r>
              <a:rPr i="1">
                <a:solidFill>
                  <a:srgbClr val="60A0B0"/>
                </a:solidFill>
                <a:latin typeface="Courier"/>
              </a:rPr>
              <a:t>/* Ignorieren */</a:t>
            </a:r>
            <a:r>
              <a:rPr>
                <a:latin typeface="Courier"/>
              </a:rPr>
              <a:t> </a:t>
            </a:r>
            <a:br/>
            <a:r>
              <a:rPr>
                <a:solidFill>
                  <a:srgbClr val="666666"/>
                </a:solidFill>
                <a:latin typeface="Courier"/>
              </a:rPr>
              <a:t>}</a:t>
            </a:r>
          </a:p>
          <a:p>
            <a:pPr lvl="0" indent="0" marL="0">
              <a:buNone/>
            </a:pPr>
            <a:r>
              <a:rPr/>
              <a:t>In großen Fachverfahren ist dieses Ignorieren (“Verschlucken”) von Fehlern fatal. Der Bürger denkt, der Antrag ging durch, aber er liegt nie in der Datenbank.</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Das “Fail Fast” Prinzip</a:t>
            </a:r>
          </a:p>
        </p:txBody>
      </p:sp>
      <p:sp>
        <p:nvSpPr>
          <p:cNvPr id="3" name="Content Placeholder 2"/>
          <p:cNvSpPr>
            <a:spLocks noGrp="1"/>
          </p:cNvSpPr>
          <p:nvPr>
            <p:ph idx="1"/>
          </p:nvPr>
        </p:nvSpPr>
        <p:spPr/>
        <p:txBody>
          <a:bodyPr/>
          <a:lstStyle/>
          <a:p>
            <a:pPr lvl="0" indent="0" marL="0">
              <a:buNone/>
            </a:pPr>
            <a:r>
              <a:rPr/>
              <a:t>Grundidee: </a:t>
            </a:r>
            <a:r>
              <a:rPr i="1"/>
              <a:t>Ein System soll so früh wie möglich auf Fehler reagieren und nicht weiterlaufen, wenn etwas offensichtlich schief läuft.</a:t>
            </a:r>
          </a:p>
          <a:p>
            <a:pPr lvl="0" indent="0" marL="0">
              <a:buNone/>
            </a:pPr>
            <a:r>
              <a:rPr/>
              <a:t>Das heißt unter anderem, prüfen Sie Eingaben (z.B. Pflichtfelder, leerer Name) und Rahmenbedingungen (z.B. freier Speicher) so früh wie möglich.</a:t>
            </a:r>
          </a:p>
          <a:p>
            <a:pPr lvl="0" indent="0" marL="0">
              <a:buNone/>
            </a:pPr>
            <a:r>
              <a:rPr/>
              <a:t>Beispiel: Wenn die </a:t>
            </a:r>
            <a:r>
              <a:rPr>
                <a:latin typeface="Courier"/>
              </a:rPr>
              <a:t>SteuerId</a:t>
            </a:r>
            <a:r>
              <a:rPr/>
              <a:t> des Antrags leer ist, macht es keinen Sinn, den Service aufzurufen. Werfen Sie sofort eine Exception und brechen Sie ab, bevor teure Ressourcen (DB-Verbindungen) verbraucht werden.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Vorteile von Fail-Fast</a:t>
            </a:r>
          </a:p>
        </p:txBody>
      </p:sp>
      <p:sp>
        <p:nvSpPr>
          <p:cNvPr id="3" name="Content Placeholder 2"/>
          <p:cNvSpPr>
            <a:spLocks noGrp="1"/>
          </p:cNvSpPr>
          <p:nvPr>
            <p:ph idx="1"/>
          </p:nvPr>
        </p:nvSpPr>
        <p:spPr/>
        <p:txBody>
          <a:bodyPr/>
          <a:lstStyle/>
          <a:p>
            <a:pPr lvl="0" indent="-342900" marL="342900">
              <a:buAutoNum type="arabicPeriod"/>
            </a:pPr>
            <a:r>
              <a:rPr b="1"/>
              <a:t>Ressourcenschonung:</a:t>
            </a:r>
            <a:r>
              <a:rPr/>
              <a:t> Keine unnötigen DB-Aufrufe.</a:t>
            </a:r>
          </a:p>
          <a:p>
            <a:pPr lvl="0" indent="-342900" marL="342900">
              <a:buAutoNum type="arabicPeriod"/>
            </a:pPr>
            <a:r>
              <a:rPr b="1"/>
              <a:t>Klarheit:</a:t>
            </a:r>
            <a:r>
              <a:rPr/>
              <a:t> Der Fehler wird dort gemeldet, wo er verursacht wurde.</a:t>
            </a:r>
          </a:p>
          <a:p>
            <a:pPr lvl="0" indent="-342900" marL="342900">
              <a:buAutoNum type="arabicPeriod"/>
            </a:pPr>
            <a:r>
              <a:rPr b="1"/>
              <a:t>Sicherheit:</a:t>
            </a:r>
            <a:r>
              <a:rPr/>
              <a:t> Verhindert, dass das System mit korrupten Daten arbeitet.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Lokales vs. Globales Error Handling</a:t>
            </a:r>
          </a:p>
        </p:txBody>
      </p:sp>
      <p:sp>
        <p:nvSpPr>
          <p:cNvPr id="3" name="Content Placeholder 2"/>
          <p:cNvSpPr>
            <a:spLocks noGrp="1"/>
          </p:cNvSpPr>
          <p:nvPr>
            <p:ph idx="1"/>
          </p:nvPr>
        </p:nvSpPr>
        <p:spPr/>
        <p:txBody>
          <a:bodyPr/>
          <a:lstStyle/>
          <a:p>
            <a:pPr lvl="0" indent="0" marL="0">
              <a:buNone/>
            </a:pPr>
            <a:r>
              <a:rPr/>
              <a:t>Grundidee: </a:t>
            </a:r>
            <a:r>
              <a:rPr i="1"/>
              <a:t>Fehler sollten dort gefangen werden, wo sie sinnvoll behandelt werden können.</a:t>
            </a:r>
          </a:p>
          <a:p>
            <a:pPr lvl="0" indent="-342900" marL="342900">
              <a:buAutoNum type="arabicPeriod"/>
            </a:pPr>
            <a:r>
              <a:rPr b="1"/>
              <a:t>Lokal:</a:t>
            </a:r>
            <a:r>
              <a:rPr/>
              <a:t> Fangen Sie Fehler dort ab, wo Sie sie </a:t>
            </a:r>
            <a:r>
              <a:rPr i="1"/>
              <a:t>behandeln</a:t>
            </a:r>
            <a:r>
              <a:rPr/>
              <a:t> können (z.B. einen Retry-Mechanismus bei Netzwerkproblemen).</a:t>
            </a:r>
          </a:p>
          <a:p>
            <a:pPr lvl="0" indent="-342900" marL="342900">
              <a:buAutoNum type="arabicPeriod"/>
            </a:pPr>
            <a:r>
              <a:rPr b="1"/>
              <a:t>Global:</a:t>
            </a:r>
            <a:r>
              <a:rPr/>
              <a:t> Nutzen Sie in Anwendungen eine zentrale Middleware, um alle unvorhergesehenen Fehler (im mindesten) zu loggen und dem Nutzer eine freundliche Meldung zu zeigen.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Spezifische Exceptions fangen</a:t>
            </a:r>
          </a:p>
        </p:txBody>
      </p:sp>
      <p:sp>
        <p:nvSpPr>
          <p:cNvPr id="3" name="Content Placeholder 2"/>
          <p:cNvSpPr>
            <a:spLocks noGrp="1"/>
          </p:cNvSpPr>
          <p:nvPr>
            <p:ph idx="1"/>
          </p:nvPr>
        </p:nvSpPr>
        <p:spPr/>
        <p:txBody>
          <a:bodyPr/>
          <a:lstStyle/>
          <a:p>
            <a:pPr lvl="0" indent="0" marL="0">
              <a:buNone/>
            </a:pPr>
            <a:r>
              <a:rPr/>
              <a:t>Grundidee: Fangen Sie nur Fehler, die Sie auch </a:t>
            </a:r>
            <a:r>
              <a:rPr i="1"/>
              <a:t>sinnvoll behandeln</a:t>
            </a:r>
            <a:r>
              <a:rPr/>
              <a:t> können.</a:t>
            </a:r>
          </a:p>
          <a:p>
            <a:pPr lvl="0" indent="0" marL="0">
              <a:buNone/>
            </a:pPr>
            <a:r>
              <a:rPr/>
              <a:t>Wenn die Festplatte “brennt” (</a:t>
            </a:r>
            <a:r>
              <a:rPr>
                <a:latin typeface="Courier"/>
              </a:rPr>
              <a:t>OutOfStorageSpaceException</a:t>
            </a:r>
            <a:r>
              <a:rPr/>
              <a:t>), kann Ihr Code das nicht beheben. Lassen Sie das Programm kontrolliert abbrechen!</a:t>
            </a:r>
          </a:p>
          <a:p>
            <a:pPr lvl="0" indent="0" marL="0">
              <a:buNone/>
            </a:pPr>
            <a:r>
              <a:rPr/>
              <a:t>Fangen Sie spezifische Dinge wie </a:t>
            </a:r>
            <a:r>
              <a:rPr>
                <a:latin typeface="Courier"/>
              </a:rPr>
              <a:t>SqlException</a:t>
            </a:r>
            <a:r>
              <a:rPr/>
              <a:t>, um z.B. einen Verbindungsversuch 3 Sekunden später nochmal zu wiederholen.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Fachliche vs. Technische Fehler</a:t>
            </a:r>
          </a:p>
        </p:txBody>
      </p:sp>
      <p:sp>
        <p:nvSpPr>
          <p:cNvPr id="3" name="Content Placeholder 2"/>
          <p:cNvSpPr>
            <a:spLocks noGrp="1"/>
          </p:cNvSpPr>
          <p:nvPr>
            <p:ph idx="1"/>
          </p:nvPr>
        </p:nvSpPr>
        <p:spPr/>
        <p:txBody>
          <a:bodyPr/>
          <a:lstStyle/>
          <a:p>
            <a:pPr lvl="0" indent="0" marL="0">
              <a:buNone/>
            </a:pPr>
            <a:r>
              <a:rPr/>
              <a:t>Grundidee: </a:t>
            </a:r>
            <a:r>
              <a:rPr i="1"/>
              <a:t>Unterscheiden Sie zwischen Fehlern, die durch falsche Benutzereingaben verursacht werden (fachlich) und solchen, die durch Systemfehler entstehen (technisch).</a:t>
            </a:r>
          </a:p>
          <a:p>
            <a:pPr lvl="0"/>
            <a:r>
              <a:rPr b="1"/>
              <a:t>Fachlich (User-Fehler):</a:t>
            </a:r>
            <a:r>
              <a:rPr/>
              <a:t> Der Bürger ist zu jung. Zeigen Sie eine nette Meldung: “Sie erfüllen die Voraussetzungen nicht.”</a:t>
            </a:r>
          </a:p>
          <a:p>
            <a:pPr lvl="0"/>
            <a:r>
              <a:rPr b="1"/>
              <a:t>Technisch (System-Fehler):</a:t>
            </a:r>
            <a:r>
              <a:rPr/>
              <a:t> Die Datenbank antwortet nicht. Loggen Sie den Fehler für den Admin und zeigen Sie dem Nutzer: “Ein technisches Problem ist aufgetreten.”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Fehler-Propagierung</a:t>
            </a:r>
          </a:p>
        </p:txBody>
      </p:sp>
      <p:sp>
        <p:nvSpPr>
          <p:cNvPr id="3" name="Content Placeholder 2"/>
          <p:cNvSpPr>
            <a:spLocks noGrp="1"/>
          </p:cNvSpPr>
          <p:nvPr>
            <p:ph idx="1"/>
          </p:nvPr>
        </p:nvSpPr>
        <p:spPr/>
        <p:txBody>
          <a:bodyPr/>
          <a:lstStyle/>
          <a:p>
            <a:pPr lvl="0" indent="0" marL="0">
              <a:buNone/>
            </a:pPr>
            <a:r>
              <a:rPr/>
              <a:t>Grundidee: </a:t>
            </a:r>
            <a:r>
              <a:rPr i="1"/>
              <a:t>Es ist nicht falsch, um Hilfe zu bitten.</a:t>
            </a:r>
          </a:p>
          <a:p>
            <a:pPr lvl="0" indent="0" marL="0">
              <a:buNone/>
            </a:pPr>
            <a:r>
              <a:rPr/>
              <a:t>Exceptions sollten nur dann gefangen werden, wenn man sie sinnvoll behandeln kann. Ansonsten ist es besser, sie nach oben (an den Aufrufer) weiterzureichen, bis sie eine Schicht erreichen, die eine Entscheidung treffen kann (z.B. UI zeigt Fehlermeldung).</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Die Wichtigkeit von Logging</a:t>
            </a:r>
          </a:p>
        </p:txBody>
      </p:sp>
      <p:sp>
        <p:nvSpPr>
          <p:cNvPr id="3" name="Content Placeholder 2"/>
          <p:cNvSpPr>
            <a:spLocks noGrp="1"/>
          </p:cNvSpPr>
          <p:nvPr>
            <p:ph idx="1"/>
          </p:nvPr>
        </p:nvSpPr>
        <p:spPr/>
        <p:txBody>
          <a:bodyPr/>
          <a:lstStyle/>
          <a:p>
            <a:pPr lvl="0" indent="0" marL="0">
              <a:buNone/>
            </a:pPr>
            <a:r>
              <a:rPr/>
              <a:t>Grundidee: </a:t>
            </a:r>
            <a:r>
              <a:rPr i="1"/>
              <a:t>Ein Fehler, der nicht geloggt wurde, hat nie stattgefunden.</a:t>
            </a:r>
          </a:p>
          <a:p>
            <a:pPr lvl="0" indent="0" marL="0">
              <a:buNone/>
            </a:pPr>
            <a:r>
              <a:rPr/>
              <a:t>Ohne Logdateien sind Sie als Administrator blind. Wenn um 3 Uhr nachts ein Fehler auftritt, brauchen Sie den Stacktrace, die Uhrzeit und idealerweise die ID des betroffenen Antrags.</a:t>
            </a:r>
          </a:p>
          <a:p>
            <a:pPr lvl="0" indent="0" marL="0">
              <a:buNone/>
            </a:pPr>
            <a:r>
              <a:rPr/>
              <a:t>Nutzen Sie in C# moderne Bibliotheken wie </a:t>
            </a:r>
            <a:r>
              <a:rPr>
                <a:latin typeface="Courier"/>
              </a:rPr>
              <a:t>Serilog</a:t>
            </a:r>
            <a:r>
              <a:rPr/>
              <a:t> oder </a:t>
            </a:r>
            <a:r>
              <a:rPr>
                <a:latin typeface="Courier"/>
              </a:rPr>
              <a:t>NLog</a:t>
            </a:r>
            <a:r>
              <a:rPr/>
              <a:t> und nutzen Sie strukturierte Logs (z.B. </a:t>
            </a:r>
            <a:r>
              <a:rPr>
                <a:latin typeface="Courier"/>
              </a:rPr>
              <a:t>logger.Error(ex, "Fehler bei Antrag {A}", antrag.Id)</a:t>
            </a:r>
            <a:r>
              <a:rPr/>
              <a:t>), damit Sie später gezielt nach Fehlern filtern können.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Beispiel: Globales Fehlerhandling (Code)</a:t>
            </a:r>
          </a:p>
        </p:txBody>
      </p:sp>
      <p:sp>
        <p:nvSpPr>
          <p:cNvPr id="3" name="Content Placeholder 2"/>
          <p:cNvSpPr>
            <a:spLocks noGrp="1"/>
          </p:cNvSpPr>
          <p:nvPr>
            <p:ph idx="1"/>
          </p:nvPr>
        </p:nvSpPr>
        <p:spPr/>
        <p:txBody>
          <a:bodyPr/>
          <a:lstStyle/>
          <a:p>
            <a:pPr lvl="0" indent="0" marL="0">
              <a:buNone/>
            </a:pPr>
            <a:r>
              <a:rPr/>
              <a:t>Oft fängt man Fehler ganz oben (in der UI) global ab, um dem Nutzer immer eine saubere Antwort zu geben.</a:t>
            </a:r>
          </a:p>
          <a:p>
            <a:pPr lvl="0" indent="0">
              <a:buNone/>
            </a:pPr>
            <a:r>
              <a:rPr b="1">
                <a:solidFill>
                  <a:srgbClr val="007020"/>
                </a:solidFill>
                <a:latin typeface="Courier"/>
              </a:rPr>
              <a:t>try</a:t>
            </a:r>
            <a:r>
              <a:rPr>
                <a:latin typeface="Courier"/>
              </a:rPr>
              <a:t> </a:t>
            </a:r>
            <a:br/>
            <a:r>
              <a:rPr>
                <a:solidFill>
                  <a:srgbClr val="666666"/>
                </a:solidFill>
                <a:latin typeface="Courier"/>
              </a:rPr>
              <a:t>{</a:t>
            </a:r>
            <a:br/>
            <a:r>
              <a:rPr>
                <a:latin typeface="Courier"/>
              </a:rPr>
              <a:t>    </a:t>
            </a:r>
            <a:r>
              <a:rPr i="1">
                <a:solidFill>
                  <a:srgbClr val="60A0B0"/>
                </a:solidFill>
                <a:latin typeface="Courier"/>
              </a:rPr>
              <a:t>// Eingaben sollten nicht zu Exceptions führen, sondern vorher validiert werden.</a:t>
            </a:r>
            <a:br/>
            <a:r>
              <a:rPr>
                <a:latin typeface="Courier"/>
              </a:rPr>
              <a:t>    </a:t>
            </a:r>
            <a:r>
              <a:rPr b="1">
                <a:solidFill>
                  <a:srgbClr val="007020"/>
                </a:solidFill>
                <a:latin typeface="Courier"/>
              </a:rPr>
              <a:t>do</a:t>
            </a:r>
            <a:r>
              <a:rPr>
                <a:latin typeface="Courier"/>
              </a:rPr>
              <a:t> </a:t>
            </a:r>
            <a:r>
              <a:rPr>
                <a:solidFill>
                  <a:srgbClr val="666666"/>
                </a:solidFill>
                <a:latin typeface="Courier"/>
              </a:rPr>
              <a:t>{</a:t>
            </a:r>
            <a:br/>
            <a:r>
              <a:rPr>
                <a:latin typeface="Courier"/>
              </a:rPr>
              <a:t>    </a:t>
            </a:r>
            <a:r>
              <a:rPr>
                <a:solidFill>
                  <a:srgbClr val="902000"/>
                </a:solidFill>
                <a:latin typeface="Courier"/>
              </a:rPr>
              <a:t>bool</a:t>
            </a:r>
            <a:r>
              <a:rPr>
                <a:latin typeface="Courier"/>
              </a:rPr>
              <a:t> istFehlerfrei </a:t>
            </a:r>
            <a:r>
              <a:rPr>
                <a:solidFill>
                  <a:srgbClr val="666666"/>
                </a:solidFill>
                <a:latin typeface="Courier"/>
              </a:rPr>
              <a:t>=</a:t>
            </a:r>
            <a:r>
              <a:rPr>
                <a:latin typeface="Courier"/>
              </a:rPr>
              <a:t> </a:t>
            </a:r>
            <a:r>
              <a:rPr>
                <a:solidFill>
                  <a:srgbClr val="06287E"/>
                </a:solidFill>
                <a:latin typeface="Courier"/>
              </a:rPr>
              <a:t>FrageDenNutzerNachEingaben</a:t>
            </a:r>
            <a:r>
              <a:rPr>
                <a:solidFill>
                  <a:srgbClr val="666666"/>
                </a:solidFill>
                <a:latin typeface="Courier"/>
              </a:rPr>
              <a:t>(</a:t>
            </a:r>
            <a:r>
              <a:rPr b="1">
                <a:solidFill>
                  <a:srgbClr val="007020"/>
                </a:solidFill>
                <a:latin typeface="Courier"/>
              </a:rPr>
              <a:t>out</a:t>
            </a:r>
            <a:r>
              <a:rPr>
                <a:latin typeface="Courier"/>
              </a:rPr>
              <a:t> antrag</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while</a:t>
            </a:r>
            <a:r>
              <a:rPr>
                <a:latin typeface="Courier"/>
              </a:rPr>
              <a:t> </a:t>
            </a:r>
            <a:r>
              <a:rPr>
                <a:solidFill>
                  <a:srgbClr val="666666"/>
                </a:solidFill>
                <a:latin typeface="Courier"/>
              </a:rPr>
              <a:t>(!</a:t>
            </a:r>
            <a:r>
              <a:rPr>
                <a:latin typeface="Courier"/>
              </a:rPr>
              <a:t>istFehlerfrei</a:t>
            </a:r>
            <a:r>
              <a:rPr>
                <a:solidFill>
                  <a:srgbClr val="666666"/>
                </a:solidFill>
                <a:latin typeface="Courier"/>
              </a:rPr>
              <a:t>);</a:t>
            </a:r>
            <a:br/>
            <a:br/>
            <a:r>
              <a:rPr>
                <a:latin typeface="Courier"/>
              </a:rPr>
              <a:t>    </a:t>
            </a:r>
            <a:r>
              <a:rPr i="1">
                <a:solidFill>
                  <a:srgbClr val="60A0B0"/>
                </a:solidFill>
                <a:latin typeface="Courier"/>
              </a:rPr>
              <a:t>// Hier könnte immer noch ein Fehler passieren (z.B. fehlende externe Daten, DB-Ausfall)</a:t>
            </a:r>
            <a:br/>
            <a:r>
              <a:rPr>
                <a:latin typeface="Courier"/>
              </a:rPr>
              <a:t>    await _service</a:t>
            </a:r>
            <a:r>
              <a:rPr>
                <a:solidFill>
                  <a:srgbClr val="666666"/>
                </a:solidFill>
                <a:latin typeface="Courier"/>
              </a:rPr>
              <a:t>.</a:t>
            </a:r>
            <a:r>
              <a:rPr>
                <a:solidFill>
                  <a:srgbClr val="06287E"/>
                </a:solidFill>
                <a:latin typeface="Courier"/>
              </a:rPr>
              <a:t>VerarbeiteAntragAsync</a:t>
            </a:r>
            <a:r>
              <a:rPr>
                <a:solidFill>
                  <a:srgbClr val="666666"/>
                </a:solidFill>
                <a:latin typeface="Courier"/>
              </a:rPr>
              <a:t>(</a:t>
            </a:r>
            <a:r>
              <a:rPr>
                <a:latin typeface="Courier"/>
              </a:rPr>
              <a:t>antrag</a:t>
            </a:r>
            <a:r>
              <a:rPr>
                <a:solidFill>
                  <a:srgbClr val="666666"/>
                </a:solidFill>
                <a:latin typeface="Courier"/>
              </a:rPr>
              <a:t>);</a:t>
            </a:r>
            <a:br/>
            <a:br/>
            <a:r>
              <a:rPr>
                <a:latin typeface="Courier"/>
              </a:rPr>
              <a:t>    </a:t>
            </a:r>
            <a:r>
              <a:rPr i="1">
                <a:solidFill>
                  <a:srgbClr val="60A0B0"/>
                </a:solidFill>
                <a:latin typeface="Courier"/>
              </a:rPr>
              <a:t>// Wenn alles gut geht, zeigen wir eine Erfolgsmeldung.</a:t>
            </a:r>
            <a:br/>
            <a:r>
              <a:rPr>
                <a:latin typeface="Courier"/>
              </a:rPr>
              <a:t>    </a:t>
            </a:r>
            <a:r>
              <a:rPr>
                <a:solidFill>
                  <a:srgbClr val="06287E"/>
                </a:solidFill>
                <a:latin typeface="Courier"/>
              </a:rPr>
              <a:t>ZeigeErfolgsMeldung</a:t>
            </a:r>
            <a:r>
              <a:rPr>
                <a:solidFill>
                  <a:srgbClr val="666666"/>
                </a:solidFill>
                <a:latin typeface="Courier"/>
              </a:rPr>
              <a:t>();</a:t>
            </a:r>
            <a:br/>
            <a:r>
              <a:rPr>
                <a:solidFill>
                  <a:srgbClr val="666666"/>
                </a:solidFill>
                <a:latin typeface="Courier"/>
              </a:rPr>
              <a:t>}</a:t>
            </a:r>
            <a:br/>
            <a:r>
              <a:rPr b="1">
                <a:solidFill>
                  <a:srgbClr val="007020"/>
                </a:solidFill>
                <a:latin typeface="Courier"/>
              </a:rPr>
              <a:t>catch</a:t>
            </a:r>
            <a:r>
              <a:rPr>
                <a:latin typeface="Courier"/>
              </a:rPr>
              <a:t> </a:t>
            </a:r>
            <a:r>
              <a:rPr>
                <a:solidFill>
                  <a:srgbClr val="666666"/>
                </a:solidFill>
                <a:latin typeface="Courier"/>
              </a:rPr>
              <a:t>(</a:t>
            </a:r>
            <a:r>
              <a:rPr>
                <a:latin typeface="Courier"/>
              </a:rPr>
              <a:t>AntragUngueltigException ex</a:t>
            </a:r>
            <a:r>
              <a:rPr>
                <a:solidFill>
                  <a:srgbClr val="666666"/>
                </a:solidFill>
                <a:latin typeface="Courier"/>
              </a:rPr>
              <a:t>)</a:t>
            </a:r>
            <a:br/>
            <a:r>
              <a:rPr>
                <a:solidFill>
                  <a:srgbClr val="666666"/>
                </a:solidFill>
                <a:latin typeface="Courier"/>
              </a:rPr>
              <a:t>{</a:t>
            </a:r>
            <a:br/>
            <a:r>
              <a:rPr>
                <a:latin typeface="Courier"/>
              </a:rPr>
              <a:t>    </a:t>
            </a:r>
            <a:r>
              <a:rPr i="1">
                <a:solidFill>
                  <a:srgbClr val="60A0B0"/>
                </a:solidFill>
                <a:latin typeface="Courier"/>
              </a:rPr>
              <a:t>// Fachlicher Fehler (z.B. Antrag kann nicht bearbeitet werden)</a:t>
            </a:r>
            <a:br/>
            <a:r>
              <a:rPr>
                <a:latin typeface="Courier"/>
              </a:rPr>
              <a:t>    _logger</a:t>
            </a:r>
            <a:r>
              <a:rPr>
                <a:solidFill>
                  <a:srgbClr val="666666"/>
                </a:solidFill>
                <a:latin typeface="Courier"/>
              </a:rPr>
              <a:t>.</a:t>
            </a:r>
            <a:r>
              <a:rPr>
                <a:solidFill>
                  <a:srgbClr val="06287E"/>
                </a:solidFill>
                <a:latin typeface="Courier"/>
              </a:rPr>
              <a:t>Warning</a:t>
            </a:r>
            <a:r>
              <a:rPr>
                <a:solidFill>
                  <a:srgbClr val="666666"/>
                </a:solidFill>
                <a:latin typeface="Courier"/>
              </a:rPr>
              <a:t>(</a:t>
            </a:r>
            <a:r>
              <a:rPr>
                <a:solidFill>
                  <a:srgbClr val="4070A0"/>
                </a:solidFill>
                <a:latin typeface="Courier"/>
              </a:rPr>
              <a:t>"Ungültiger Antrag von User {U}: {Msg}"</a:t>
            </a:r>
            <a:r>
              <a:rPr>
                <a:solidFill>
                  <a:srgbClr val="666666"/>
                </a:solidFill>
                <a:latin typeface="Courier"/>
              </a:rPr>
              <a:t>,</a:t>
            </a:r>
            <a:r>
              <a:rPr>
                <a:latin typeface="Courier"/>
              </a:rPr>
              <a:t> antrag</a:t>
            </a:r>
            <a:r>
              <a:rPr>
                <a:solidFill>
                  <a:srgbClr val="666666"/>
                </a:solidFill>
                <a:latin typeface="Courier"/>
              </a:rPr>
              <a:t>.</a:t>
            </a:r>
            <a:r>
              <a:rPr>
                <a:solidFill>
                  <a:srgbClr val="06287E"/>
                </a:solidFill>
                <a:latin typeface="Courier"/>
              </a:rPr>
              <a:t>UserId</a:t>
            </a:r>
            <a:r>
              <a:rPr>
                <a:solidFill>
                  <a:srgbClr val="666666"/>
                </a:solidFill>
                <a:latin typeface="Courier"/>
              </a:rPr>
              <a:t>,</a:t>
            </a:r>
            <a:r>
              <a:rPr>
                <a:latin typeface="Courier"/>
              </a:rPr>
              <a:t> ex</a:t>
            </a:r>
            <a:r>
              <a:rPr>
                <a:solidFill>
                  <a:srgbClr val="666666"/>
                </a:solidFill>
                <a:latin typeface="Courier"/>
              </a:rPr>
              <a:t>.</a:t>
            </a:r>
            <a:r>
              <a:rPr>
                <a:solidFill>
                  <a:srgbClr val="06287E"/>
                </a:solidFill>
                <a:latin typeface="Courier"/>
              </a:rPr>
              <a:t>Message</a:t>
            </a:r>
            <a:r>
              <a:rPr>
                <a:solidFill>
                  <a:srgbClr val="666666"/>
                </a:solidFill>
                <a:latin typeface="Courier"/>
              </a:rPr>
              <a:t>);</a:t>
            </a:r>
            <a:br/>
            <a:r>
              <a:rPr>
                <a:latin typeface="Courier"/>
              </a:rPr>
              <a:t>    </a:t>
            </a:r>
            <a:r>
              <a:rPr>
                <a:solidFill>
                  <a:srgbClr val="06287E"/>
                </a:solidFill>
                <a:latin typeface="Courier"/>
              </a:rPr>
              <a:t>ZeigeFehlerMeldung</a:t>
            </a:r>
            <a:r>
              <a:rPr>
                <a:solidFill>
                  <a:srgbClr val="666666"/>
                </a:solidFill>
                <a:latin typeface="Courier"/>
              </a:rPr>
              <a:t>(</a:t>
            </a:r>
            <a:r>
              <a:rPr>
                <a:solidFill>
                  <a:srgbClr val="4070A0"/>
                </a:solidFill>
                <a:latin typeface="Courier"/>
              </a:rPr>
              <a:t>"Bitte prüfen Sie Ihre Eingaben."</a:t>
            </a:r>
            <a:r>
              <a:rPr>
                <a:solidFill>
                  <a:srgbClr val="666666"/>
                </a:solidFill>
                <a:latin typeface="Courier"/>
              </a:rPr>
              <a:t>);</a:t>
            </a:r>
            <a:br/>
            <a:r>
              <a:rPr>
                <a:solidFill>
                  <a:srgbClr val="666666"/>
                </a:solidFill>
                <a:latin typeface="Courier"/>
              </a:rPr>
              <a:t>}</a:t>
            </a:r>
            <a:br/>
            <a:r>
              <a:rPr b="1">
                <a:solidFill>
                  <a:srgbClr val="007020"/>
                </a:solidFill>
                <a:latin typeface="Courier"/>
              </a:rPr>
              <a:t>catch</a:t>
            </a:r>
            <a:r>
              <a:rPr>
                <a:latin typeface="Courier"/>
              </a:rPr>
              <a:t> </a:t>
            </a:r>
            <a:r>
              <a:rPr>
                <a:solidFill>
                  <a:srgbClr val="666666"/>
                </a:solidFill>
                <a:latin typeface="Courier"/>
              </a:rPr>
              <a:t>(</a:t>
            </a:r>
            <a:r>
              <a:rPr>
                <a:latin typeface="Courier"/>
              </a:rPr>
              <a:t>Exception ex</a:t>
            </a:r>
            <a:r>
              <a:rPr>
                <a:solidFill>
                  <a:srgbClr val="666666"/>
                </a:solidFill>
                <a:latin typeface="Courier"/>
              </a:rPr>
              <a:t>)</a:t>
            </a:r>
            <a:br/>
            <a:r>
              <a:rPr>
                <a:solidFill>
                  <a:srgbClr val="666666"/>
                </a:solidFill>
                <a:latin typeface="Courier"/>
              </a:rPr>
              <a:t>{</a:t>
            </a:r>
            <a:br/>
            <a:r>
              <a:rPr>
                <a:latin typeface="Courier"/>
              </a:rPr>
              <a:t>    </a:t>
            </a:r>
            <a:r>
              <a:rPr i="1">
                <a:solidFill>
                  <a:srgbClr val="60A0B0"/>
                </a:solidFill>
                <a:latin typeface="Courier"/>
              </a:rPr>
              <a:t>// Technischer Fehler (z.B. Datenbank weg)</a:t>
            </a:r>
            <a:br/>
            <a:r>
              <a:rPr>
                <a:latin typeface="Courier"/>
              </a:rPr>
              <a:t>    _logger</a:t>
            </a:r>
            <a:r>
              <a:rPr>
                <a:solidFill>
                  <a:srgbClr val="666666"/>
                </a:solidFill>
                <a:latin typeface="Courier"/>
              </a:rPr>
              <a:t>.</a:t>
            </a:r>
            <a:r>
              <a:rPr>
                <a:solidFill>
                  <a:srgbClr val="06287E"/>
                </a:solidFill>
                <a:latin typeface="Courier"/>
              </a:rPr>
              <a:t>Error</a:t>
            </a:r>
            <a:r>
              <a:rPr>
                <a:solidFill>
                  <a:srgbClr val="666666"/>
                </a:solidFill>
                <a:latin typeface="Courier"/>
              </a:rPr>
              <a:t>(</a:t>
            </a:r>
            <a:r>
              <a:rPr>
                <a:latin typeface="Courier"/>
              </a:rPr>
              <a:t>ex</a:t>
            </a:r>
            <a:r>
              <a:rPr>
                <a:solidFill>
                  <a:srgbClr val="666666"/>
                </a:solidFill>
                <a:latin typeface="Courier"/>
              </a:rPr>
              <a:t>,</a:t>
            </a:r>
            <a:r>
              <a:rPr>
                <a:latin typeface="Courier"/>
              </a:rPr>
              <a:t> </a:t>
            </a:r>
            <a:r>
              <a:rPr>
                <a:solidFill>
                  <a:srgbClr val="4070A0"/>
                </a:solidFill>
                <a:latin typeface="Courier"/>
              </a:rPr>
              <a:t>"Kritischer technischer Fehler"</a:t>
            </a:r>
            <a:r>
              <a:rPr>
                <a:solidFill>
                  <a:srgbClr val="666666"/>
                </a:solidFill>
                <a:latin typeface="Courier"/>
              </a:rPr>
              <a:t>);</a:t>
            </a:r>
            <a:br/>
            <a:r>
              <a:rPr>
                <a:latin typeface="Courier"/>
              </a:rPr>
              <a:t>    </a:t>
            </a:r>
            <a:r>
              <a:rPr>
                <a:solidFill>
                  <a:srgbClr val="06287E"/>
                </a:solidFill>
                <a:latin typeface="Courier"/>
              </a:rPr>
              <a:t>ZeigeFehlerMeldung</a:t>
            </a:r>
            <a:r>
              <a:rPr>
                <a:solidFill>
                  <a:srgbClr val="666666"/>
                </a:solidFill>
                <a:latin typeface="Courier"/>
              </a:rPr>
              <a:t>(</a:t>
            </a:r>
            <a:r>
              <a:rPr>
                <a:solidFill>
                  <a:srgbClr val="4070A0"/>
                </a:solidFill>
                <a:latin typeface="Courier"/>
              </a:rPr>
              <a:t>"Ein technisches Problem ist aufgetreten. Versuch später erneut."</a:t>
            </a:r>
            <a:r>
              <a:rPr>
                <a:solidFill>
                  <a:srgbClr val="666666"/>
                </a:solidFill>
                <a:latin typeface="Courier"/>
              </a:rPr>
              <a:t>);</a:t>
            </a:r>
            <a:br/>
            <a:r>
              <a:rPr>
                <a:solidFill>
                  <a:srgbClr val="666666"/>
                </a:solidFill>
                <a:latin typeface="Courie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Teil 4: Projektstart &amp; Abschluss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Das Abschlussprojekt</a:t>
            </a:r>
          </a:p>
        </p:txBody>
      </p:sp>
      <p:sp>
        <p:nvSpPr>
          <p:cNvPr id="3" name="Content Placeholder 2"/>
          <p:cNvSpPr>
            <a:spLocks noGrp="1"/>
          </p:cNvSpPr>
          <p:nvPr>
            <p:ph idx="1"/>
          </p:nvPr>
        </p:nvSpPr>
        <p:spPr/>
        <p:txBody>
          <a:bodyPr/>
          <a:lstStyle/>
          <a:p>
            <a:pPr lvl="0" indent="0" marL="0">
              <a:buNone/>
            </a:pPr>
            <a:r>
              <a:rPr/>
              <a:t>Ab heute beginnt die Praxis-Phase. Sie haben nun den restlichen Kurszeitraum Zeit, ein eigenes Fachverfahren zu entwickeln.</a:t>
            </a:r>
          </a:p>
          <a:p>
            <a:pPr lvl="0" indent="0" marL="0">
              <a:buNone/>
            </a:pPr>
            <a:r>
              <a:rPr/>
              <a:t>Es geht nicht darum, ein riesiges System mit hunderten Funktionen zu bauen. Es geht darum, ein </a:t>
            </a:r>
            <a:r>
              <a:rPr b="1"/>
              <a:t>kleines System architektonisch gut</a:t>
            </a:r>
            <a:r>
              <a:rPr/>
              <a:t> zu konstruieren.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Architektur-Anforderungen</a:t>
            </a:r>
          </a:p>
        </p:txBody>
      </p:sp>
      <p:sp>
        <p:nvSpPr>
          <p:cNvPr id="3" name="Content Placeholder 2"/>
          <p:cNvSpPr>
            <a:spLocks noGrp="1"/>
          </p:cNvSpPr>
          <p:nvPr>
            <p:ph idx="1"/>
          </p:nvPr>
        </p:nvSpPr>
        <p:spPr/>
        <p:txBody>
          <a:bodyPr/>
          <a:lstStyle/>
          <a:p>
            <a:pPr lvl="0" indent="0" marL="0">
              <a:buNone/>
            </a:pPr>
            <a:r>
              <a:rPr/>
              <a:t>Ihr Projekt muss folgende Kriterien erfüllen:</a:t>
            </a:r>
          </a:p>
          <a:p>
            <a:pPr lvl="0" indent="-342900" marL="342900">
              <a:buAutoNum type="arabicPeriod"/>
            </a:pPr>
            <a:r>
              <a:rPr b="1"/>
              <a:t>Schichtenarchitektur:</a:t>
            </a:r>
            <a:r>
              <a:rPr/>
              <a:t> UI, Business Logic und Data Access Layer strikt getrennt.</a:t>
            </a:r>
          </a:p>
          <a:p>
            <a:pPr lvl="0" indent="-342900" marL="342900">
              <a:buAutoNum type="arabicPeriod"/>
            </a:pPr>
            <a:r>
              <a:rPr b="1"/>
              <a:t>SOLID:</a:t>
            </a:r>
            <a:r>
              <a:rPr/>
              <a:t> Bewusste Anwendung der Prinzipien (insb. DI).</a:t>
            </a:r>
          </a:p>
          <a:p>
            <a:pPr lvl="0" indent="-342900" marL="342900">
              <a:buAutoNum type="arabicPeriod"/>
            </a:pPr>
            <a:r>
              <a:rPr b="1"/>
              <a:t>Design Patterns:</a:t>
            </a:r>
            <a:r>
              <a:rPr/>
              <a:t> Mindestens zwei Muster implementiert.</a:t>
            </a:r>
          </a:p>
          <a:p>
            <a:pPr lvl="0" indent="-342900" marL="342900">
              <a:buAutoNum type="arabicPeriod"/>
            </a:pPr>
            <a:r>
              <a:rPr b="1"/>
              <a:t>Testing:</a:t>
            </a:r>
            <a:r>
              <a:rPr/>
              <a:t> Kernlogik mit Unit Tests (xUnit) abgesichert.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Clean Code Kriterien</a:t>
            </a:r>
          </a:p>
        </p:txBody>
      </p:sp>
      <p:sp>
        <p:nvSpPr>
          <p:cNvPr id="3" name="Content Placeholder 2"/>
          <p:cNvSpPr>
            <a:spLocks noGrp="1"/>
          </p:cNvSpPr>
          <p:nvPr>
            <p:ph idx="1"/>
          </p:nvPr>
        </p:nvSpPr>
        <p:spPr/>
        <p:txBody>
          <a:bodyPr/>
          <a:lstStyle/>
          <a:p>
            <a:pPr lvl="0"/>
            <a:r>
              <a:rPr b="1"/>
              <a:t>Sprechende Namen:</a:t>
            </a:r>
            <a:r>
              <a:rPr/>
              <a:t> Klassen und Methoden müssen selbsterklärend sein.</a:t>
            </a:r>
          </a:p>
          <a:p>
            <a:pPr lvl="0"/>
            <a:r>
              <a:rPr b="1"/>
              <a:t>Kleine Methoden:</a:t>
            </a:r>
            <a:r>
              <a:rPr/>
              <a:t> Jede Methode sollte nur eine Sache tun.</a:t>
            </a:r>
          </a:p>
          <a:p>
            <a:pPr lvl="0"/>
            <a:r>
              <a:rPr b="1"/>
              <a:t>Kommentare:</a:t>
            </a:r>
            <a:r>
              <a:rPr/>
              <a:t> Nur dort, wo das “Warum” nicht aus dem Code hervorgeht.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Dokumentation des Projekts</a:t>
            </a:r>
          </a:p>
        </p:txBody>
      </p:sp>
      <p:sp>
        <p:nvSpPr>
          <p:cNvPr id="3" name="Content Placeholder 2"/>
          <p:cNvSpPr>
            <a:spLocks noGrp="1"/>
          </p:cNvSpPr>
          <p:nvPr>
            <p:ph idx="1"/>
          </p:nvPr>
        </p:nvSpPr>
        <p:spPr/>
        <p:txBody>
          <a:bodyPr/>
          <a:lstStyle/>
          <a:p>
            <a:pPr lvl="0" indent="0" marL="0">
              <a:buNone/>
            </a:pPr>
            <a:r>
              <a:rPr/>
              <a:t>Erwarten Sie nicht nur Code. Ein kurzes README, das Ihre Design-Entscheidungen (Welche Patterns? Warum diese Architektur?) erläutert, ist Teil der Abgabe und hilft bei der Bewertung.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Themenvorschläge</a:t>
            </a:r>
          </a:p>
        </p:txBody>
      </p:sp>
      <p:sp>
        <p:nvSpPr>
          <p:cNvPr id="3" name="Content Placeholder 2"/>
          <p:cNvSpPr>
            <a:spLocks noGrp="1"/>
          </p:cNvSpPr>
          <p:nvPr>
            <p:ph idx="1"/>
          </p:nvPr>
        </p:nvSpPr>
        <p:spPr/>
        <p:txBody>
          <a:bodyPr/>
          <a:lstStyle/>
          <a:p>
            <a:pPr lvl="0"/>
            <a:r>
              <a:rPr b="1"/>
              <a:t>KFZ-Zulassungsstelle:</a:t>
            </a:r>
            <a:r>
              <a:rPr/>
              <a:t> Verwaltung von Kennzeichen und Haltern.</a:t>
            </a:r>
          </a:p>
          <a:p>
            <a:pPr lvl="0"/>
            <a:r>
              <a:rPr b="1"/>
              <a:t>Bauantrags-Workflow:</a:t>
            </a:r>
            <a:r>
              <a:rPr/>
              <a:t> Status-Management von Anträgen.</a:t>
            </a:r>
          </a:p>
          <a:p>
            <a:pPr lvl="0"/>
            <a:r>
              <a:rPr b="1"/>
              <a:t>Wohngeld-Rechner:</a:t>
            </a:r>
            <a:r>
              <a:rPr/>
              <a:t> Komplexe Berechnungslogik (Strategy-Pattern!).</a:t>
            </a:r>
          </a:p>
          <a:p>
            <a:pPr lvl="0"/>
            <a:r>
              <a:rPr b="1"/>
              <a:t>Hundesteuer-Portal:</a:t>
            </a:r>
            <a:r>
              <a:rPr/>
              <a:t> Anmeldung und Bescheiderstellung.</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Der Workflow für die nächsten beiden Wochen</a:t>
            </a:r>
          </a:p>
        </p:txBody>
      </p:sp>
      <p:sp>
        <p:nvSpPr>
          <p:cNvPr id="3" name="Content Placeholder 2"/>
          <p:cNvSpPr>
            <a:spLocks noGrp="1"/>
          </p:cNvSpPr>
          <p:nvPr>
            <p:ph idx="1"/>
          </p:nvPr>
        </p:nvSpPr>
        <p:spPr/>
        <p:txBody>
          <a:bodyPr/>
          <a:lstStyle/>
          <a:p>
            <a:pPr lvl="0"/>
            <a:r>
              <a:rPr/>
              <a:t>Überlegen Sie sich Ihr Thema und definieren Sie das Kern-Feature.</a:t>
            </a:r>
          </a:p>
          <a:p>
            <a:pPr lvl="0"/>
            <a:r>
              <a:rPr/>
              <a:t>Skizzieren Sie die Klassenstruktur (Welche Schichten? Welche Patterns?).</a:t>
            </a:r>
          </a:p>
          <a:p>
            <a:pPr lvl="0"/>
            <a:r>
              <a:rPr/>
              <a:t>Starten Sie mit der Fachlogik und schreiben Sie Tests (TDD!).</a:t>
            </a:r>
          </a:p>
          <a:p>
            <a:pPr lvl="0"/>
            <a:r>
              <a:rPr/>
              <a:t>Bauen Sie die UI und die Datenbank-Anbindung erst ganz am Schluss um Ihre Logik herum.</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Zusammenfassung &amp; Startschuss</a:t>
            </a:r>
          </a:p>
        </p:txBody>
      </p:sp>
      <p:sp>
        <p:nvSpPr>
          <p:cNvPr id="3" name="Content Placeholder 2"/>
          <p:cNvSpPr>
            <a:spLocks noGrp="1"/>
          </p:cNvSpPr>
          <p:nvPr>
            <p:ph idx="1"/>
          </p:nvPr>
        </p:nvSpPr>
        <p:spPr/>
        <p:txBody>
          <a:bodyPr/>
          <a:lstStyle/>
          <a:p>
            <a:pPr lvl="0"/>
            <a:r>
              <a:rPr/>
              <a:t>Asynchronität und Fehlerbehandlung sind die Kür für den Produktivbetrieb.</a:t>
            </a:r>
          </a:p>
          <a:p>
            <a:pPr lvl="0"/>
            <a:r>
              <a:rPr/>
              <a:t>Jetzt liegt es an Ihnen, das Theoriewissen in praktischen, langlebigen Code zu gießen.</a:t>
            </a:r>
          </a:p>
          <a:p>
            <a:pPr lvl="0"/>
            <a:r>
              <a:rPr/>
              <a:t>Viel Erfolg bei der Konzeption und Programmierung Ihrer Abschlussprojekte!</a:t>
            </a:r>
          </a:p>
          <a:p>
            <a:pPr lvl="0" indent="0" marL="0">
              <a:buNone/>
            </a:pPr>
            <a:r>
              <a:rPr b="1"/>
              <a:t>Die “Projektwerkstatt” ist hiermit eröffnet.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Objektorientierte Programmierung (Vertiefung)</dc:title>
  <dc:creator>Peter Bernhardt</dc:creator>
  <cp:keywords/>
  <dcterms:created xsi:type="dcterms:W3CDTF">2026-04-21T08:36:07Z</dcterms:created>
  <dcterms:modified xsi:type="dcterms:W3CDTF">2026-04-21T08:36:07Z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März 2026</vt:lpwstr>
  </property>
  <property fmtid="{D5CDD505-2E9C-101B-9397-08002B2CF9AE}" pid="3" name="section-titles">
    <vt:lpwstr>True</vt:lpwstr>
  </property>
  <property fmtid="{D5CDD505-2E9C-101B-9397-08002B2CF9AE}" pid="4" name="subtitle">
    <vt:lpwstr>Woche 6: Fortgeschrittene Konzepte und Projektstart</vt:lpwstr>
  </property>
</Properties>
</file>